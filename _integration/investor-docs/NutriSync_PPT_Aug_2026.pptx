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Poppins Italics" charset="1" panose="00000500000000000000"/>
      <p:regular r:id="rId29"/>
    </p:embeddedFont>
    <p:embeddedFont>
      <p:font typeface="Aileron Italics" charset="1" panose="00000500000000000000"/>
      <p:regular r:id="rId30"/>
    </p:embeddedFont>
    <p:embeddedFont>
      <p:font typeface="Aileron" charset="1" panose="00000500000000000000"/>
      <p:regular r:id="rId34"/>
    </p:embeddedFont>
    <p:embeddedFont>
      <p:font typeface="Poppins Bold" charset="1" panose="00000800000000000000"/>
      <p:regular r:id="rId35"/>
    </p:embeddedFont>
    <p:embeddedFont>
      <p:font typeface="Aileron Bold" charset="1" panose="00000800000000000000"/>
      <p:regular r:id="rId37"/>
    </p:embeddedFont>
    <p:embeddedFont>
      <p:font typeface="Poppins" charset="1" panose="00000500000000000000"/>
      <p:regular r:id="rId38"/>
    </p:embeddedFont>
    <p:embeddedFont>
      <p:font typeface="Canva Sans" charset="1" panose="020B0503030501040103"/>
      <p:regular r:id="rId39"/>
    </p:embeddedFont>
    <p:embeddedFont>
      <p:font typeface="Glacial Indifference" charset="1" panose="00000000000000000000"/>
      <p:regular r:id="rId41"/>
    </p:embeddedFont>
    <p:embeddedFont>
      <p:font typeface="Aileron Bold Italics" charset="1" panose="00000800000000000000"/>
      <p:regular r:id="rId42"/>
    </p:embeddedFont>
    <p:embeddedFont>
      <p:font typeface="Canva Sans Bold" charset="1" panose="020B0803030501040103"/>
      <p:regular r:id="rId44"/>
    </p:embeddedFont>
    <p:embeddedFont>
      <p:font typeface="Glacial Indifference Bold" charset="1" panose="0000080000000000000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2.xml" Type="http://schemas.openxmlformats.org/officeDocument/2006/relationships/notes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notesSlides/notesSlide4.xml" Type="http://schemas.openxmlformats.org/officeDocument/2006/relationships/notesSlide"/><Relationship Id="rId44" Target="fonts/font44.fntdata" Type="http://schemas.openxmlformats.org/officeDocument/2006/relationships/font"/><Relationship Id="rId45" Target="notesSlides/notesSlide5.xml" Type="http://schemas.openxmlformats.org/officeDocument/2006/relationships/notesSlide"/><Relationship Id="rId46" Target="notesSlides/notesSlide6.xml" Type="http://schemas.openxmlformats.org/officeDocument/2006/relationships/notesSlide"/><Relationship Id="rId47" Target="fonts/font47.fntdata" Type="http://schemas.openxmlformats.org/officeDocument/2006/relationships/font"/><Relationship Id="rId48" Target="notesSlides/notesSlide7.xml" Type="http://schemas.openxmlformats.org/officeDocument/2006/relationships/notesSlide"/><Relationship Id="rId49" Target="notesSlides/notesSlide8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9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Most nutrition and fitness guidance is built on male-normed data; large-scale research on how nutrition/movement affects individual women across their cycle barely exists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Competitors personalize content around a cycle. NutriSync is designed to learn which actions</a:t>
            </a:r>
          </a:p>
          <a:p>
            <a:r>
              <a:rPr lang="en-US"/>
              <a:t>produce better outcomes for each individual across cycles.</a:t>
            </a:r>
          </a:p>
          <a:p>
            <a:r>
              <a:rPr lang="en-US"/>
              <a:t/>
            </a:r>
          </a:p>
          <a:p>
            <a:r>
              <a:rPr lang="en-US"/>
              <a:t>NutriSync combines cycle context with the user’s symptoms, behaviours and biometric patterns. Recommendations adapt as the system learns the individual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compete in a narrower adaptive-personalization slice of this, not the whole category.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replace with icons so less words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make visuals better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make it go higher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“We are raising €250K pre-seed to validate our engine, clinical backbone, and early user behaviour. This sets us up for a strong Seed round once traction is proven.”</a:t>
            </a:r>
          </a:p>
          <a:p>
            <a:r>
              <a:rPr lang="en-US"/>
              <a:t/>
            </a:r>
          </a:p>
          <a:p>
            <a:r>
              <a:rPr lang="en-US"/>
              <a:t>ASK KANIKA FOR PRE-SEED</a:t>
            </a:r>
          </a:p>
          <a:p>
            <a:r>
              <a:rPr lang="en-US"/>
              <a:t/>
            </a:r>
          </a:p>
          <a:p>
            <a:r>
              <a:rPr lang="en-US"/>
              <a:t>GROWTH AND FUNDRISING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Recommendation → action/adherence → symptoms &amp; biomarkers → outcome change → model recalibration → better recommendation.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png" Type="http://schemas.openxmlformats.org/officeDocument/2006/relationships/image"/><Relationship Id="rId12" Target="../media/image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https://www.linkedin.com/in/pilar-gonzalez-522564240/" TargetMode="External" Type="http://schemas.openxmlformats.org/officeDocument/2006/relationships/hyperlink"/><Relationship Id="rId8" Target="https://www.linkedin.com/in/lucia-cebrian-7333b829a/" TargetMode="External" Type="http://schemas.openxmlformats.org/officeDocument/2006/relationships/hyperlink"/><Relationship Id="rId9" Target="https://www.linkedin.com/in/maria-paula-garz%C3%B3n-9410242b0/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12.png" Type="http://schemas.openxmlformats.org/officeDocument/2006/relationships/image"/><Relationship Id="rId13" Target="../media/image28.png" Type="http://schemas.openxmlformats.org/officeDocument/2006/relationships/image"/><Relationship Id="rId14" Target="../media/image29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0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12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12.pn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jpeg" Type="http://schemas.openxmlformats.org/officeDocument/2006/relationships/image"/><Relationship Id="rId3" Target="https://www.linkedin.com/in/pilar-gonzalez-522564240/" TargetMode="External" Type="http://schemas.openxmlformats.org/officeDocument/2006/relationships/hyperlink"/><Relationship Id="rId4" Target="../media/image54.jpeg" Type="http://schemas.openxmlformats.org/officeDocument/2006/relationships/image"/><Relationship Id="rId5" Target="../media/image55.jpeg" Type="http://schemas.openxmlformats.org/officeDocument/2006/relationships/image"/><Relationship Id="rId6" Target="https://www.linkedin.com/in/lucia-cebrian-7333b829a/" TargetMode="External" Type="http://schemas.openxmlformats.org/officeDocument/2006/relationships/hyperlink"/><Relationship Id="rId7" Target="../media/image56.jpeg" Type="http://schemas.openxmlformats.org/officeDocument/2006/relationships/image"/><Relationship Id="rId8" Target="https://www.linkedin.com/in/maria-paula-garz%C3%B3n-9410242b0/" TargetMode="External" Type="http://schemas.openxmlformats.org/officeDocument/2006/relationships/hyperlink"/><Relationship Id="rId9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linkedin.com/in/beatriz-serrano-sordo/?locale=en" TargetMode="External" Type="http://schemas.openxmlformats.org/officeDocument/2006/relationships/hyperlink"/><Relationship Id="rId11" Target="../media/image60.jpeg" Type="http://schemas.openxmlformats.org/officeDocument/2006/relationships/image"/><Relationship Id="rId12" Target="https://www.linkedin.com/in/constanzaramirezmilli/" TargetMode="External" Type="http://schemas.openxmlformats.org/officeDocument/2006/relationships/hyperlink"/><Relationship Id="rId13" Target="../media/image61.png" Type="http://schemas.openxmlformats.org/officeDocument/2006/relationships/image"/><Relationship Id="rId14" Target="https://www.linkedin.com/in/claramirandae/" TargetMode="External" Type="http://schemas.openxmlformats.org/officeDocument/2006/relationships/hyperlink"/><Relationship Id="rId15" Target="../media/image12.png" Type="http://schemas.openxmlformats.org/officeDocument/2006/relationships/image"/><Relationship Id="rId2" Target="../media/image54.jpeg" Type="http://schemas.openxmlformats.org/officeDocument/2006/relationships/image"/><Relationship Id="rId3" Target="../media/image57.png" Type="http://schemas.openxmlformats.org/officeDocument/2006/relationships/image"/><Relationship Id="rId4" Target="https://www.linkedin.com/in/kanika-pandey-959aa3a/" TargetMode="External" Type="http://schemas.openxmlformats.org/officeDocument/2006/relationships/hyperlink"/><Relationship Id="rId5" Target="https://www.linkedin.com/in/kanika-pandey-959aa3a/" TargetMode="External" Type="http://schemas.openxmlformats.org/officeDocument/2006/relationships/hyperlink"/><Relationship Id="rId6" Target="../media/image58.png" Type="http://schemas.openxmlformats.org/officeDocument/2006/relationships/image"/><Relationship Id="rId7" Target="https://www.linkedin.com/in/juanjosecebrian/" TargetMode="External" Type="http://schemas.openxmlformats.org/officeDocument/2006/relationships/hyperlink"/><Relationship Id="rId8" Target="https://www.linkedin.com/in/juanjosecebrian/" TargetMode="External" Type="http://schemas.openxmlformats.org/officeDocument/2006/relationships/hyperlink"/><Relationship Id="rId9" Target="../media/image5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62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https://www.linkedin.com/in/pilar-gonzalez-522564240/" TargetMode="External" Type="http://schemas.openxmlformats.org/officeDocument/2006/relationships/hyperlink"/><Relationship Id="rId6" Target="https://www.linkedin.com/in/lucia-cebrian-7333b829a/" TargetMode="External" Type="http://schemas.openxmlformats.org/officeDocument/2006/relationships/hyperlink"/><Relationship Id="rId7" Target="https://www.linkedin.com/in/maria-paula-garz%C3%B3n-9410242b0/" TargetMode="External" Type="http://schemas.openxmlformats.org/officeDocument/2006/relationships/hyperlink"/><Relationship Id="rId8" Target="../media/image4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svg" Type="http://schemas.openxmlformats.org/officeDocument/2006/relationships/image"/><Relationship Id="rId11" Target="../media/image68.png" Type="http://schemas.openxmlformats.org/officeDocument/2006/relationships/image"/><Relationship Id="rId12" Target="../media/image69.svg" Type="http://schemas.openxmlformats.org/officeDocument/2006/relationships/image"/><Relationship Id="rId13" Target="../media/image70.png" Type="http://schemas.openxmlformats.org/officeDocument/2006/relationships/image"/><Relationship Id="rId14" Target="../media/image71.svg" Type="http://schemas.openxmlformats.org/officeDocument/2006/relationships/image"/><Relationship Id="rId15" Target="../media/image72.png" Type="http://schemas.openxmlformats.org/officeDocument/2006/relationships/image"/><Relationship Id="rId16" Target="../media/image73.svg" Type="http://schemas.openxmlformats.org/officeDocument/2006/relationships/image"/><Relationship Id="rId17" Target="../media/image74.png" Type="http://schemas.openxmlformats.org/officeDocument/2006/relationships/image"/><Relationship Id="rId18" Target="../media/image75.svg" Type="http://schemas.openxmlformats.org/officeDocument/2006/relationships/image"/><Relationship Id="rId19" Target="../media/image76.png" Type="http://schemas.openxmlformats.org/officeDocument/2006/relationships/image"/><Relationship Id="rId2" Target="../notesSlides/notesSlide9.xml" Type="http://schemas.openxmlformats.org/officeDocument/2006/relationships/notesSlide"/><Relationship Id="rId20" Target="../media/image12.png" Type="http://schemas.openxmlformats.org/officeDocument/2006/relationships/image"/><Relationship Id="rId3" Target="../media/image29.png" Type="http://schemas.openxmlformats.org/officeDocument/2006/relationships/image"/><Relationship Id="rId4" Target="../media/image4.png" Type="http://schemas.openxmlformats.org/officeDocument/2006/relationships/image"/><Relationship Id="rId5" Target="../media/image63.png" Type="http://schemas.openxmlformats.org/officeDocument/2006/relationships/image"/><Relationship Id="rId6" Target="../media/image64.svg" Type="http://schemas.openxmlformats.org/officeDocument/2006/relationships/image"/><Relationship Id="rId7" Target="../media/image65.png" Type="http://schemas.openxmlformats.org/officeDocument/2006/relationships/image"/><Relationship Id="rId8" Target="../media/image7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47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47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1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0.png" Type="http://schemas.openxmlformats.org/officeDocument/2006/relationships/image"/><Relationship Id="rId3" Target="../embeddings/oleObject2.bin" Type="http://schemas.openxmlformats.org/officeDocument/2006/relationships/oleObject"/><Relationship Id="rId4" Target="../media/image1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Relationship Id="rId3" Target="../embeddings/oleObject3.bin" Type="http://schemas.openxmlformats.org/officeDocument/2006/relationships/oleObject"/><Relationship Id="rId4" Target="../media/image1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19094" y="3929558"/>
            <a:ext cx="9218552" cy="2172760"/>
          </a:xfrm>
          <a:custGeom>
            <a:avLst/>
            <a:gdLst/>
            <a:ahLst/>
            <a:cxnLst/>
            <a:rect r="r" b="b" t="t" l="l"/>
            <a:pathLst>
              <a:path h="2172760" w="9218552">
                <a:moveTo>
                  <a:pt x="0" y="0"/>
                </a:moveTo>
                <a:lnTo>
                  <a:pt x="9218552" y="0"/>
                </a:lnTo>
                <a:lnTo>
                  <a:pt x="9218552" y="2172759"/>
                </a:lnTo>
                <a:lnTo>
                  <a:pt x="0" y="2172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73" r="-2829" b="-1090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0127" y="6214110"/>
            <a:ext cx="102870" cy="100965"/>
            <a:chOff x="0" y="0"/>
            <a:chExt cx="137160" cy="1346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9252" y="49583"/>
              <a:ext cx="35838" cy="30765"/>
            </a:xfrm>
            <a:custGeom>
              <a:avLst/>
              <a:gdLst/>
              <a:ahLst/>
              <a:cxnLst/>
              <a:rect r="r" b="b" t="t" l="l"/>
              <a:pathLst>
                <a:path h="30765" w="35838">
                  <a:moveTo>
                    <a:pt x="35838" y="11377"/>
                  </a:moveTo>
                  <a:cubicBezTo>
                    <a:pt x="19328" y="36777"/>
                    <a:pt x="5358" y="31697"/>
                    <a:pt x="1548" y="26617"/>
                  </a:cubicBezTo>
                  <a:cubicBezTo>
                    <a:pt x="-2262" y="21537"/>
                    <a:pt x="1548" y="5027"/>
                    <a:pt x="6628" y="1217"/>
                  </a:cubicBezTo>
                  <a:cubicBezTo>
                    <a:pt x="11708" y="-2593"/>
                    <a:pt x="30758" y="3757"/>
                    <a:pt x="30758" y="3757"/>
                  </a:cubicBezTo>
                </a:path>
              </a:pathLst>
            </a:custGeom>
            <a:solidFill>
              <a:srgbClr val="2D2E3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549111" y="9056741"/>
            <a:ext cx="1725580" cy="136951"/>
          </a:xfrm>
          <a:custGeom>
            <a:avLst/>
            <a:gdLst/>
            <a:ahLst/>
            <a:cxnLst/>
            <a:rect r="r" b="b" t="t" l="l"/>
            <a:pathLst>
              <a:path h="136951" w="1725580">
                <a:moveTo>
                  <a:pt x="0" y="0"/>
                </a:moveTo>
                <a:lnTo>
                  <a:pt x="1725580" y="0"/>
                </a:lnTo>
                <a:lnTo>
                  <a:pt x="1725580" y="136950"/>
                </a:lnTo>
                <a:lnTo>
                  <a:pt x="0" y="136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99910" y="6946103"/>
            <a:ext cx="1469711" cy="1469711"/>
          </a:xfrm>
          <a:custGeom>
            <a:avLst/>
            <a:gdLst/>
            <a:ahLst/>
            <a:cxnLst/>
            <a:rect r="r" b="b" t="t" l="l"/>
            <a:pathLst>
              <a:path h="1469711" w="1469711">
                <a:moveTo>
                  <a:pt x="0" y="0"/>
                </a:moveTo>
                <a:lnTo>
                  <a:pt x="1469711" y="0"/>
                </a:lnTo>
                <a:lnTo>
                  <a:pt x="1469711" y="1469710"/>
                </a:lnTo>
                <a:lnTo>
                  <a:pt x="0" y="1469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34394">
            <a:off x="14088272" y="7163213"/>
            <a:ext cx="1021052" cy="959542"/>
          </a:xfrm>
          <a:custGeom>
            <a:avLst/>
            <a:gdLst/>
            <a:ahLst/>
            <a:cxnLst/>
            <a:rect r="r" b="b" t="t" l="l"/>
            <a:pathLst>
              <a:path h="959542" w="1021052">
                <a:moveTo>
                  <a:pt x="0" y="0"/>
                </a:moveTo>
                <a:lnTo>
                  <a:pt x="1021052" y="0"/>
                </a:lnTo>
                <a:lnTo>
                  <a:pt x="1021052" y="959542"/>
                </a:lnTo>
                <a:lnTo>
                  <a:pt x="0" y="959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88511" y="4197415"/>
            <a:ext cx="2186180" cy="4996277"/>
          </a:xfrm>
          <a:custGeom>
            <a:avLst/>
            <a:gdLst/>
            <a:ahLst/>
            <a:cxnLst/>
            <a:rect r="r" b="b" t="t" l="l"/>
            <a:pathLst>
              <a:path h="4996277" w="2186180">
                <a:moveTo>
                  <a:pt x="0" y="0"/>
                </a:moveTo>
                <a:lnTo>
                  <a:pt x="2186180" y="0"/>
                </a:lnTo>
                <a:lnTo>
                  <a:pt x="2186180" y="4996276"/>
                </a:lnTo>
                <a:lnTo>
                  <a:pt x="0" y="4996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474" t="-7825" r="-17883" b="-55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20172" y="4197415"/>
            <a:ext cx="2186180" cy="4996277"/>
          </a:xfrm>
          <a:custGeom>
            <a:avLst/>
            <a:gdLst/>
            <a:ahLst/>
            <a:cxnLst/>
            <a:rect r="r" b="b" t="t" l="l"/>
            <a:pathLst>
              <a:path h="4996277" w="2186180">
                <a:moveTo>
                  <a:pt x="0" y="0"/>
                </a:moveTo>
                <a:lnTo>
                  <a:pt x="2186180" y="0"/>
                </a:lnTo>
                <a:lnTo>
                  <a:pt x="2186180" y="4996276"/>
                </a:lnTo>
                <a:lnTo>
                  <a:pt x="0" y="4996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474" t="-7825" r="-17883" b="-558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20763" y="6215165"/>
            <a:ext cx="6896279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i="true">
                <a:solidFill>
                  <a:srgbClr val="FF004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Adaptive nutrition, movement and recovery guidance that learns across cycles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90600"/>
            <a:ext cx="3228156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i="true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nutrisynccollective.com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83672" y="8885557"/>
            <a:ext cx="1906993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 u="sng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  <a:hlinkClick r:id="rId7" tooltip="https://www.linkedin.com/in/pilar-gonzalez-522564240/"/>
              </a:rPr>
              <a:t>Pilar Gonzalez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56226" y="8885557"/>
            <a:ext cx="1801300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 u="sng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  <a:hlinkClick r:id="rId8" tooltip="https://www.linkedin.com/in/lucia-cebrian-7333b829a/"/>
              </a:rPr>
              <a:t>Lucia Cebrian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23086" y="8885557"/>
            <a:ext cx="2481242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 u="sng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  <a:hlinkClick r:id="rId9" tooltip="https://www.linkedin.com/in/maria-paula-garz%C3%B3n-9410242b0/"/>
              </a:rPr>
              <a:t>Maria Paula Garzon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29026" y="990600"/>
            <a:ext cx="4230274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0"/>
              </a:lnSpc>
              <a:spcBef>
                <a:spcPct val="0"/>
              </a:spcBef>
            </a:pPr>
            <a:r>
              <a:rPr lang="en-US" sz="2200" i="true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contact@</a:t>
            </a:r>
            <a:r>
              <a:rPr lang="en-US" sz="2200" i="true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nutrisynccollective.com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379660" y="9051947"/>
            <a:ext cx="1785981" cy="141745"/>
          </a:xfrm>
          <a:custGeom>
            <a:avLst/>
            <a:gdLst/>
            <a:ahLst/>
            <a:cxnLst/>
            <a:rect r="r" b="b" t="t" l="l"/>
            <a:pathLst>
              <a:path h="141745" w="1785981">
                <a:moveTo>
                  <a:pt x="0" y="0"/>
                </a:moveTo>
                <a:lnTo>
                  <a:pt x="1785981" y="0"/>
                </a:lnTo>
                <a:lnTo>
                  <a:pt x="1785981" y="141744"/>
                </a:lnTo>
                <a:lnTo>
                  <a:pt x="0" y="1417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892978" y="5614120"/>
            <a:ext cx="1538238" cy="1538238"/>
          </a:xfrm>
          <a:custGeom>
            <a:avLst/>
            <a:gdLst/>
            <a:ahLst/>
            <a:cxnLst/>
            <a:rect r="r" b="b" t="t" l="l"/>
            <a:pathLst>
              <a:path h="1538238" w="1538238">
                <a:moveTo>
                  <a:pt x="0" y="0"/>
                </a:moveTo>
                <a:lnTo>
                  <a:pt x="1538238" y="0"/>
                </a:lnTo>
                <a:lnTo>
                  <a:pt x="1538238" y="1538238"/>
                </a:lnTo>
                <a:lnTo>
                  <a:pt x="0" y="1538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892978" y="5614120"/>
            <a:ext cx="1538238" cy="1538238"/>
          </a:xfrm>
          <a:custGeom>
            <a:avLst/>
            <a:gdLst/>
            <a:ahLst/>
            <a:cxnLst/>
            <a:rect r="r" b="b" t="t" l="l"/>
            <a:pathLst>
              <a:path h="1538238" w="1538238">
                <a:moveTo>
                  <a:pt x="0" y="0"/>
                </a:moveTo>
                <a:lnTo>
                  <a:pt x="1538238" y="0"/>
                </a:lnTo>
                <a:lnTo>
                  <a:pt x="1538238" y="1538238"/>
                </a:lnTo>
                <a:lnTo>
                  <a:pt x="0" y="1538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193615">
            <a:off x="3166021" y="5870777"/>
            <a:ext cx="992152" cy="908126"/>
          </a:xfrm>
          <a:custGeom>
            <a:avLst/>
            <a:gdLst/>
            <a:ahLst/>
            <a:cxnLst/>
            <a:rect r="r" b="b" t="t" l="l"/>
            <a:pathLst>
              <a:path h="908126" w="992152">
                <a:moveTo>
                  <a:pt x="992152" y="0"/>
                </a:moveTo>
                <a:lnTo>
                  <a:pt x="0" y="0"/>
                </a:lnTo>
                <a:lnTo>
                  <a:pt x="0" y="908126"/>
                </a:lnTo>
                <a:lnTo>
                  <a:pt x="992152" y="908126"/>
                </a:lnTo>
                <a:lnTo>
                  <a:pt x="992152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1193615">
            <a:off x="3166021" y="5870777"/>
            <a:ext cx="992152" cy="908126"/>
          </a:xfrm>
          <a:custGeom>
            <a:avLst/>
            <a:gdLst/>
            <a:ahLst/>
            <a:cxnLst/>
            <a:rect r="r" b="b" t="t" l="l"/>
            <a:pathLst>
              <a:path h="908126" w="992152">
                <a:moveTo>
                  <a:pt x="992152" y="0"/>
                </a:moveTo>
                <a:lnTo>
                  <a:pt x="0" y="0"/>
                </a:lnTo>
                <a:lnTo>
                  <a:pt x="0" y="908126"/>
                </a:lnTo>
                <a:lnTo>
                  <a:pt x="992152" y="908126"/>
                </a:lnTo>
                <a:lnTo>
                  <a:pt x="992152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379660" y="4429454"/>
            <a:ext cx="2339434" cy="4764237"/>
          </a:xfrm>
          <a:custGeom>
            <a:avLst/>
            <a:gdLst/>
            <a:ahLst/>
            <a:cxnLst/>
            <a:rect r="r" b="b" t="t" l="l"/>
            <a:pathLst>
              <a:path h="4764237" w="2339434">
                <a:moveTo>
                  <a:pt x="0" y="0"/>
                </a:moveTo>
                <a:lnTo>
                  <a:pt x="2339434" y="0"/>
                </a:lnTo>
                <a:lnTo>
                  <a:pt x="2339434" y="4764237"/>
                </a:lnTo>
                <a:lnTo>
                  <a:pt x="0" y="47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55943" t="-15314" r="-22599" b="-1046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379660" y="9051947"/>
            <a:ext cx="1785981" cy="141745"/>
          </a:xfrm>
          <a:custGeom>
            <a:avLst/>
            <a:gdLst/>
            <a:ahLst/>
            <a:cxnLst/>
            <a:rect r="r" b="b" t="t" l="l"/>
            <a:pathLst>
              <a:path h="141745" w="1785981">
                <a:moveTo>
                  <a:pt x="0" y="0"/>
                </a:moveTo>
                <a:lnTo>
                  <a:pt x="1785981" y="0"/>
                </a:lnTo>
                <a:lnTo>
                  <a:pt x="1785981" y="141744"/>
                </a:lnTo>
                <a:lnTo>
                  <a:pt x="0" y="1417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47775"/>
            <a:ext cx="13899929" cy="175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7460" spc="-358">
                <a:solidFill>
                  <a:srgbClr val="EA5B45"/>
                </a:solidFill>
                <a:latin typeface="Aileron"/>
                <a:ea typeface="Aileron"/>
                <a:cs typeface="Aileron"/>
                <a:sym typeface="Aileron"/>
              </a:rPr>
              <a:t>Aligned with Global Priorities (SDGs) in </a:t>
            </a:r>
            <a:r>
              <a:rPr lang="en-US" sz="7460" spc="-358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Health &amp; Equality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10435304" y="4197087"/>
            <a:ext cx="10109473" cy="2190939"/>
            <a:chOff x="0" y="0"/>
            <a:chExt cx="375043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7626"/>
              <a:ext cx="3745045" cy="797548"/>
            </a:xfrm>
            <a:custGeom>
              <a:avLst/>
              <a:gdLst/>
              <a:ahLst/>
              <a:cxnLst/>
              <a:rect r="r" b="b" t="t" l="l"/>
              <a:pathLst>
                <a:path h="797548" w="3745045">
                  <a:moveTo>
                    <a:pt x="3741232" y="389568"/>
                  </a:moveTo>
                  <a:lnTo>
                    <a:pt x="3353243" y="1580"/>
                  </a:lnTo>
                  <a:cubicBezTo>
                    <a:pt x="3351701" y="37"/>
                    <a:pt x="3349381" y="-424"/>
                    <a:pt x="3347366" y="411"/>
                  </a:cubicBezTo>
                  <a:cubicBezTo>
                    <a:pt x="3345351" y="1245"/>
                    <a:pt x="3344037" y="3212"/>
                    <a:pt x="3344037" y="5393"/>
                  </a:cubicBezTo>
                  <a:lnTo>
                    <a:pt x="3344037" y="182555"/>
                  </a:lnTo>
                  <a:cubicBezTo>
                    <a:pt x="3344037" y="189745"/>
                    <a:pt x="3338209" y="195574"/>
                    <a:pt x="3331019" y="195574"/>
                  </a:cubicBezTo>
                  <a:lnTo>
                    <a:pt x="13019" y="195574"/>
                  </a:lnTo>
                  <a:cubicBezTo>
                    <a:pt x="5829" y="195574"/>
                    <a:pt x="0" y="201403"/>
                    <a:pt x="0" y="208593"/>
                  </a:cubicBezTo>
                  <a:lnTo>
                    <a:pt x="0" y="588955"/>
                  </a:lnTo>
                  <a:cubicBezTo>
                    <a:pt x="0" y="596145"/>
                    <a:pt x="5829" y="601974"/>
                    <a:pt x="13019" y="601974"/>
                  </a:cubicBezTo>
                  <a:lnTo>
                    <a:pt x="3331019" y="601974"/>
                  </a:lnTo>
                  <a:cubicBezTo>
                    <a:pt x="3334471" y="601974"/>
                    <a:pt x="3337783" y="603346"/>
                    <a:pt x="3340224" y="605787"/>
                  </a:cubicBezTo>
                  <a:cubicBezTo>
                    <a:pt x="3342666" y="608229"/>
                    <a:pt x="3344037" y="611540"/>
                    <a:pt x="3344037" y="614993"/>
                  </a:cubicBezTo>
                  <a:lnTo>
                    <a:pt x="3344037" y="792155"/>
                  </a:lnTo>
                  <a:cubicBezTo>
                    <a:pt x="3344037" y="794336"/>
                    <a:pt x="3345351" y="796303"/>
                    <a:pt x="3347366" y="797137"/>
                  </a:cubicBezTo>
                  <a:cubicBezTo>
                    <a:pt x="3349381" y="797972"/>
                    <a:pt x="3351701" y="797511"/>
                    <a:pt x="3353243" y="795968"/>
                  </a:cubicBezTo>
                  <a:lnTo>
                    <a:pt x="3741232" y="407980"/>
                  </a:lnTo>
                  <a:cubicBezTo>
                    <a:pt x="3743673" y="405538"/>
                    <a:pt x="3745045" y="402227"/>
                    <a:pt x="3745045" y="398774"/>
                  </a:cubicBezTo>
                  <a:cubicBezTo>
                    <a:pt x="3745045" y="395321"/>
                    <a:pt x="3743673" y="392010"/>
                    <a:pt x="3741232" y="389568"/>
                  </a:cubicBezTo>
                  <a:close/>
                </a:path>
              </a:pathLst>
            </a:custGeom>
            <a:solidFill>
              <a:srgbClr val="E65026"/>
            </a:solidFill>
            <a:ln w="257175" cap="sq">
              <a:solidFill>
                <a:srgbClr val="E65026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55575"/>
              <a:ext cx="364883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12105" y="6623171"/>
            <a:ext cx="2598770" cy="2598770"/>
            <a:chOff x="0" y="0"/>
            <a:chExt cx="3465027" cy="346502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3465027" cy="346502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402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28612" y="927218"/>
              <a:ext cx="2807804" cy="1553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47"/>
                </a:lnSpc>
                <a:spcBef>
                  <a:spcPct val="0"/>
                </a:spcBef>
              </a:pPr>
              <a:r>
                <a:rPr lang="en-US" b="true" sz="1676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Closi</a:t>
              </a:r>
              <a:r>
                <a:rPr lang="en-US" b="true" sz="1676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ng the women’s health data gap through real world data 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76823" y="3384293"/>
            <a:ext cx="3382477" cy="3382477"/>
            <a:chOff x="0" y="0"/>
            <a:chExt cx="4509969" cy="450996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509969" cy="450996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402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676417" y="690783"/>
              <a:ext cx="3157136" cy="3128402"/>
            </a:xfrm>
            <a:custGeom>
              <a:avLst/>
              <a:gdLst/>
              <a:ahLst/>
              <a:cxnLst/>
              <a:rect r="r" b="b" t="t" l="l"/>
              <a:pathLst>
                <a:path h="3128402" w="3157136">
                  <a:moveTo>
                    <a:pt x="0" y="0"/>
                  </a:moveTo>
                  <a:lnTo>
                    <a:pt x="3157135" y="0"/>
                  </a:lnTo>
                  <a:lnTo>
                    <a:pt x="3157135" y="3128402"/>
                  </a:lnTo>
                  <a:lnTo>
                    <a:pt x="0" y="3128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548" b="-9545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>
            <a:off x="6579335" y="6766769"/>
            <a:ext cx="1872821" cy="1173966"/>
          </a:xfrm>
          <a:custGeom>
            <a:avLst/>
            <a:gdLst/>
            <a:ahLst/>
            <a:cxnLst/>
            <a:rect r="r" b="b" t="t" l="l"/>
            <a:pathLst>
              <a:path h="1173966" w="1872821">
                <a:moveTo>
                  <a:pt x="0" y="1173966"/>
                </a:moveTo>
                <a:quadBezTo>
                  <a:pt x="1268928" y="759958"/>
                  <a:pt x="1872821" y="0"/>
                </a:quadBezTo>
              </a:path>
            </a:pathLst>
          </a:custGeom>
          <a:ln cap="rnd" w="85725">
            <a:solidFill>
              <a:srgbClr val="E65026">
                <a:alpha val="49804"/>
              </a:srgbClr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-2256777" y="4197087"/>
            <a:ext cx="10112462" cy="2190939"/>
            <a:chOff x="0" y="0"/>
            <a:chExt cx="3751546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7624"/>
              <a:ext cx="3746155" cy="797552"/>
            </a:xfrm>
            <a:custGeom>
              <a:avLst/>
              <a:gdLst/>
              <a:ahLst/>
              <a:cxnLst/>
              <a:rect r="r" b="b" t="t" l="l"/>
              <a:pathLst>
                <a:path h="797552" w="3746155">
                  <a:moveTo>
                    <a:pt x="3742343" y="389573"/>
                  </a:moveTo>
                  <a:lnTo>
                    <a:pt x="3354349" y="1579"/>
                  </a:lnTo>
                  <a:cubicBezTo>
                    <a:pt x="3352807" y="37"/>
                    <a:pt x="3350489" y="-424"/>
                    <a:pt x="3348474" y="410"/>
                  </a:cubicBezTo>
                  <a:cubicBezTo>
                    <a:pt x="3346460" y="1245"/>
                    <a:pt x="3345146" y="3210"/>
                    <a:pt x="3345146" y="5391"/>
                  </a:cubicBezTo>
                  <a:lnTo>
                    <a:pt x="3345146" y="182561"/>
                  </a:lnTo>
                  <a:cubicBezTo>
                    <a:pt x="3345146" y="189749"/>
                    <a:pt x="3339319" y="195576"/>
                    <a:pt x="3332131" y="195576"/>
                  </a:cubicBezTo>
                  <a:lnTo>
                    <a:pt x="13015" y="195576"/>
                  </a:lnTo>
                  <a:cubicBezTo>
                    <a:pt x="5827" y="195576"/>
                    <a:pt x="0" y="201403"/>
                    <a:pt x="0" y="208591"/>
                  </a:cubicBezTo>
                  <a:lnTo>
                    <a:pt x="0" y="588961"/>
                  </a:lnTo>
                  <a:cubicBezTo>
                    <a:pt x="0" y="596149"/>
                    <a:pt x="5827" y="601976"/>
                    <a:pt x="13015" y="601976"/>
                  </a:cubicBezTo>
                  <a:lnTo>
                    <a:pt x="3332131" y="601976"/>
                  </a:lnTo>
                  <a:cubicBezTo>
                    <a:pt x="3339319" y="601976"/>
                    <a:pt x="3345146" y="607803"/>
                    <a:pt x="3345146" y="614991"/>
                  </a:cubicBezTo>
                  <a:lnTo>
                    <a:pt x="3345146" y="792161"/>
                  </a:lnTo>
                  <a:cubicBezTo>
                    <a:pt x="3345146" y="794342"/>
                    <a:pt x="3346460" y="796307"/>
                    <a:pt x="3348474" y="797142"/>
                  </a:cubicBezTo>
                  <a:cubicBezTo>
                    <a:pt x="3350489" y="797976"/>
                    <a:pt x="3352807" y="797515"/>
                    <a:pt x="3354349" y="795973"/>
                  </a:cubicBezTo>
                  <a:lnTo>
                    <a:pt x="3742343" y="407979"/>
                  </a:lnTo>
                  <a:cubicBezTo>
                    <a:pt x="3747426" y="402896"/>
                    <a:pt x="3747426" y="394656"/>
                    <a:pt x="3742343" y="389573"/>
                  </a:cubicBezTo>
                  <a:close/>
                </a:path>
              </a:pathLst>
            </a:custGeom>
            <a:solidFill>
              <a:srgbClr val="E65026"/>
            </a:solidFill>
            <a:ln w="257175" cap="sq">
              <a:solidFill>
                <a:srgbClr val="E6502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55575"/>
              <a:ext cx="364994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944206" y="6623171"/>
            <a:ext cx="2635129" cy="2635129"/>
            <a:chOff x="0" y="0"/>
            <a:chExt cx="3513506" cy="351350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513506" cy="3513506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89B48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86613" y="940990"/>
              <a:ext cx="3140280" cy="1574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b="true" sz="17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Preventative &amp; personalized nutrition aligned </a:t>
              </a:r>
            </a:p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b="true" sz="17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with hormones 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3384293"/>
            <a:ext cx="3382477" cy="3382477"/>
            <a:chOff x="0" y="0"/>
            <a:chExt cx="4509969" cy="450996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509969" cy="4509969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89B48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582092" y="597317"/>
              <a:ext cx="3345785" cy="3315335"/>
            </a:xfrm>
            <a:custGeom>
              <a:avLst/>
              <a:gdLst/>
              <a:ahLst/>
              <a:cxnLst/>
              <a:rect r="r" b="b" t="t" l="l"/>
              <a:pathLst>
                <a:path h="3315335" w="3345785">
                  <a:moveTo>
                    <a:pt x="0" y="0"/>
                  </a:moveTo>
                  <a:lnTo>
                    <a:pt x="3345785" y="0"/>
                  </a:lnTo>
                  <a:lnTo>
                    <a:pt x="3345785" y="3315335"/>
                  </a:lnTo>
                  <a:lnTo>
                    <a:pt x="0" y="3315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423" b="-10428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8074760" y="4206177"/>
            <a:ext cx="2138479" cy="2172760"/>
          </a:xfrm>
          <a:custGeom>
            <a:avLst/>
            <a:gdLst/>
            <a:ahLst/>
            <a:cxnLst/>
            <a:rect r="r" b="b" t="t" l="l"/>
            <a:pathLst>
              <a:path h="2172760" w="2138479">
                <a:moveTo>
                  <a:pt x="0" y="0"/>
                </a:moveTo>
                <a:lnTo>
                  <a:pt x="2138480" y="0"/>
                </a:lnTo>
                <a:lnTo>
                  <a:pt x="2138480" y="2172760"/>
                </a:lnTo>
                <a:lnTo>
                  <a:pt x="0" y="2172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1079" t="-7273" r="-12197" b="-10909"/>
            </a:stretch>
          </a:blipFill>
        </p:spPr>
      </p:sp>
      <p:sp>
        <p:nvSpPr>
          <p:cNvPr name="Freeform 31" id="31"/>
          <p:cNvSpPr/>
          <p:nvPr/>
        </p:nvSpPr>
        <p:spPr>
          <a:xfrm>
            <a:off x="2719938" y="6766769"/>
            <a:ext cx="1224268" cy="1173966"/>
          </a:xfrm>
          <a:custGeom>
            <a:avLst/>
            <a:gdLst/>
            <a:ahLst/>
            <a:cxnLst/>
            <a:rect r="r" b="b" t="t" l="l"/>
            <a:pathLst>
              <a:path h="1173966" w="1224268">
                <a:moveTo>
                  <a:pt x="0" y="0"/>
                </a:moveTo>
                <a:quadBezTo>
                  <a:pt x="493627" y="921083"/>
                  <a:pt x="1224268" y="1173966"/>
                </a:quadBezTo>
              </a:path>
            </a:pathLst>
          </a:custGeom>
          <a:ln cap="flat" w="85725">
            <a:solidFill>
              <a:srgbClr val="E65026">
                <a:alpha val="49804"/>
              </a:srgbClr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>
            <a:off x="9982625" y="6766769"/>
            <a:ext cx="1729480" cy="1155787"/>
          </a:xfrm>
          <a:custGeom>
            <a:avLst/>
            <a:gdLst/>
            <a:ahLst/>
            <a:cxnLst/>
            <a:rect r="r" b="b" t="t" l="l"/>
            <a:pathLst>
              <a:path h="1155787" w="1729480">
                <a:moveTo>
                  <a:pt x="1729480" y="1155787"/>
                </a:moveTo>
                <a:quadBezTo>
                  <a:pt x="617684" y="947580"/>
                  <a:pt x="0" y="0"/>
                </a:quadBezTo>
              </a:path>
            </a:pathLst>
          </a:custGeom>
          <a:ln cap="rnd" w="85725">
            <a:solidFill>
              <a:srgbClr val="E65026">
                <a:alpha val="49804"/>
              </a:srgbClr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>
            <a:off x="14310875" y="6717661"/>
            <a:ext cx="1440808" cy="1204895"/>
          </a:xfrm>
          <a:custGeom>
            <a:avLst/>
            <a:gdLst/>
            <a:ahLst/>
            <a:cxnLst/>
            <a:rect r="r" b="b" t="t" l="l"/>
            <a:pathLst>
              <a:path h="1204895" w="1440808">
                <a:moveTo>
                  <a:pt x="1440809" y="0"/>
                </a:moveTo>
                <a:quadBezTo>
                  <a:pt x="1005646" y="943538"/>
                  <a:pt x="0" y="1204895"/>
                </a:quadBezTo>
              </a:path>
            </a:pathLst>
          </a:custGeom>
          <a:ln cap="rnd" w="85725">
            <a:solidFill>
              <a:srgbClr val="E65026">
                <a:alpha val="49804"/>
              </a:srgbClr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63907" y="3803430"/>
            <a:ext cx="3179726" cy="2533022"/>
            <a:chOff x="0" y="0"/>
            <a:chExt cx="930158" cy="7409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0158" cy="740979"/>
            </a:xfrm>
            <a:custGeom>
              <a:avLst/>
              <a:gdLst/>
              <a:ahLst/>
              <a:cxnLst/>
              <a:rect r="r" b="b" t="t" l="l"/>
              <a:pathLst>
                <a:path h="740979" w="930158">
                  <a:moveTo>
                    <a:pt x="465079" y="0"/>
                  </a:moveTo>
                  <a:cubicBezTo>
                    <a:pt x="208223" y="0"/>
                    <a:pt x="0" y="165874"/>
                    <a:pt x="0" y="370489"/>
                  </a:cubicBezTo>
                  <a:cubicBezTo>
                    <a:pt x="0" y="575105"/>
                    <a:pt x="208223" y="740979"/>
                    <a:pt x="465079" y="740979"/>
                  </a:cubicBezTo>
                  <a:cubicBezTo>
                    <a:pt x="721935" y="740979"/>
                    <a:pt x="930158" y="575105"/>
                    <a:pt x="930158" y="370489"/>
                  </a:cubicBezTo>
                  <a:cubicBezTo>
                    <a:pt x="930158" y="165874"/>
                    <a:pt x="721935" y="0"/>
                    <a:pt x="465079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87202" y="31367"/>
              <a:ext cx="755753" cy="640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53555" y="3803430"/>
            <a:ext cx="5079660" cy="4419058"/>
            <a:chOff x="0" y="0"/>
            <a:chExt cx="1233433" cy="10730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3432" cy="1073026"/>
            </a:xfrm>
            <a:custGeom>
              <a:avLst/>
              <a:gdLst/>
              <a:ahLst/>
              <a:cxnLst/>
              <a:rect r="r" b="b" t="t" l="l"/>
              <a:pathLst>
                <a:path h="1073026" w="1233432">
                  <a:moveTo>
                    <a:pt x="616716" y="0"/>
                  </a:moveTo>
                  <a:cubicBezTo>
                    <a:pt x="276113" y="0"/>
                    <a:pt x="0" y="240205"/>
                    <a:pt x="0" y="536513"/>
                  </a:cubicBezTo>
                  <a:cubicBezTo>
                    <a:pt x="0" y="832821"/>
                    <a:pt x="276113" y="1073026"/>
                    <a:pt x="616716" y="1073026"/>
                  </a:cubicBezTo>
                  <a:cubicBezTo>
                    <a:pt x="957319" y="1073026"/>
                    <a:pt x="1233432" y="832821"/>
                    <a:pt x="1233432" y="536513"/>
                  </a:cubicBezTo>
                  <a:cubicBezTo>
                    <a:pt x="1233432" y="240205"/>
                    <a:pt x="957319" y="0"/>
                    <a:pt x="616716" y="0"/>
                  </a:cubicBezTo>
                  <a:close/>
                </a:path>
              </a:pathLst>
            </a:custGeom>
            <a:solidFill>
              <a:srgbClr val="FFFFFF"/>
            </a:solidFill>
            <a:ln w="1143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15634" y="33921"/>
              <a:ext cx="1002164" cy="938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235735">
            <a:off x="10924021" y="6078846"/>
            <a:ext cx="459068" cy="1921685"/>
          </a:xfrm>
          <a:custGeom>
            <a:avLst/>
            <a:gdLst/>
            <a:ahLst/>
            <a:cxnLst/>
            <a:rect r="r" b="b" t="t" l="l"/>
            <a:pathLst>
              <a:path h="1921685" w="459068">
                <a:moveTo>
                  <a:pt x="0" y="0"/>
                </a:moveTo>
                <a:lnTo>
                  <a:pt x="459068" y="0"/>
                </a:lnTo>
                <a:lnTo>
                  <a:pt x="459068" y="1921685"/>
                </a:lnTo>
                <a:lnTo>
                  <a:pt x="0" y="19216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405104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364982">
            <a:off x="15982179" y="6147719"/>
            <a:ext cx="380828" cy="1936574"/>
          </a:xfrm>
          <a:custGeom>
            <a:avLst/>
            <a:gdLst/>
            <a:ahLst/>
            <a:cxnLst/>
            <a:rect r="r" b="b" t="t" l="l"/>
            <a:pathLst>
              <a:path h="1936574" w="380828">
                <a:moveTo>
                  <a:pt x="0" y="0"/>
                </a:moveTo>
                <a:lnTo>
                  <a:pt x="380828" y="0"/>
                </a:lnTo>
                <a:lnTo>
                  <a:pt x="380828" y="1936573"/>
                </a:lnTo>
                <a:lnTo>
                  <a:pt x="0" y="1936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39853" t="-4279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462405" y="4493776"/>
            <a:ext cx="4461960" cy="2545912"/>
          </a:xfrm>
          <a:custGeom>
            <a:avLst/>
            <a:gdLst/>
            <a:ahLst/>
            <a:cxnLst/>
            <a:rect r="r" b="b" t="t" l="l"/>
            <a:pathLst>
              <a:path h="2545912" w="4461960">
                <a:moveTo>
                  <a:pt x="0" y="0"/>
                </a:moveTo>
                <a:lnTo>
                  <a:pt x="4461960" y="0"/>
                </a:lnTo>
                <a:lnTo>
                  <a:pt x="4461960" y="2545912"/>
                </a:lnTo>
                <a:lnTo>
                  <a:pt x="0" y="2545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83" t="-52277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34643" y="3803430"/>
            <a:ext cx="3179726" cy="2533022"/>
            <a:chOff x="0" y="0"/>
            <a:chExt cx="930158" cy="7409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0158" cy="740979"/>
            </a:xfrm>
            <a:custGeom>
              <a:avLst/>
              <a:gdLst/>
              <a:ahLst/>
              <a:cxnLst/>
              <a:rect r="r" b="b" t="t" l="l"/>
              <a:pathLst>
                <a:path h="740979" w="930158">
                  <a:moveTo>
                    <a:pt x="465079" y="0"/>
                  </a:moveTo>
                  <a:cubicBezTo>
                    <a:pt x="208223" y="0"/>
                    <a:pt x="0" y="165874"/>
                    <a:pt x="0" y="370489"/>
                  </a:cubicBezTo>
                  <a:cubicBezTo>
                    <a:pt x="0" y="575105"/>
                    <a:pt x="208223" y="740979"/>
                    <a:pt x="465079" y="740979"/>
                  </a:cubicBezTo>
                  <a:cubicBezTo>
                    <a:pt x="721935" y="740979"/>
                    <a:pt x="930158" y="575105"/>
                    <a:pt x="930158" y="370489"/>
                  </a:cubicBezTo>
                  <a:cubicBezTo>
                    <a:pt x="930158" y="165874"/>
                    <a:pt x="721935" y="0"/>
                    <a:pt x="465079" y="0"/>
                  </a:cubicBezTo>
                  <a:close/>
                </a:path>
              </a:pathLst>
            </a:custGeom>
            <a:solidFill>
              <a:srgbClr val="289B4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87202" y="31367"/>
              <a:ext cx="755753" cy="640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490868" y="3803430"/>
            <a:ext cx="5079660" cy="4419058"/>
            <a:chOff x="0" y="0"/>
            <a:chExt cx="1233433" cy="10730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33432" cy="1073026"/>
            </a:xfrm>
            <a:custGeom>
              <a:avLst/>
              <a:gdLst/>
              <a:ahLst/>
              <a:cxnLst/>
              <a:rect r="r" b="b" t="t" l="l"/>
              <a:pathLst>
                <a:path h="1073026" w="1233432">
                  <a:moveTo>
                    <a:pt x="616716" y="0"/>
                  </a:moveTo>
                  <a:cubicBezTo>
                    <a:pt x="276113" y="0"/>
                    <a:pt x="0" y="240205"/>
                    <a:pt x="0" y="536513"/>
                  </a:cubicBezTo>
                  <a:cubicBezTo>
                    <a:pt x="0" y="832821"/>
                    <a:pt x="276113" y="1073026"/>
                    <a:pt x="616716" y="1073026"/>
                  </a:cubicBezTo>
                  <a:cubicBezTo>
                    <a:pt x="957319" y="1073026"/>
                    <a:pt x="1233432" y="832821"/>
                    <a:pt x="1233432" y="536513"/>
                  </a:cubicBezTo>
                  <a:cubicBezTo>
                    <a:pt x="1233432" y="240205"/>
                    <a:pt x="957319" y="0"/>
                    <a:pt x="616716" y="0"/>
                  </a:cubicBezTo>
                  <a:close/>
                </a:path>
              </a:pathLst>
            </a:custGeom>
            <a:solidFill>
              <a:srgbClr val="F5F5F5"/>
            </a:solidFill>
            <a:ln w="1143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15634" y="33921"/>
              <a:ext cx="1002164" cy="938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824763" y="5689465"/>
            <a:ext cx="4411869" cy="646986"/>
          </a:xfrm>
          <a:custGeom>
            <a:avLst/>
            <a:gdLst/>
            <a:ahLst/>
            <a:cxnLst/>
            <a:rect r="r" b="b" t="t" l="l"/>
            <a:pathLst>
              <a:path h="646986" w="4411869">
                <a:moveTo>
                  <a:pt x="0" y="0"/>
                </a:moveTo>
                <a:lnTo>
                  <a:pt x="4411869" y="0"/>
                </a:lnTo>
                <a:lnTo>
                  <a:pt x="4411869" y="646987"/>
                </a:lnTo>
                <a:lnTo>
                  <a:pt x="0" y="646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074" t="-181090" r="-40974" b="-57306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235735">
            <a:off x="3282848" y="6155163"/>
            <a:ext cx="459068" cy="1921685"/>
          </a:xfrm>
          <a:custGeom>
            <a:avLst/>
            <a:gdLst/>
            <a:ahLst/>
            <a:cxnLst/>
            <a:rect r="r" b="b" t="t" l="l"/>
            <a:pathLst>
              <a:path h="1921685" w="459068">
                <a:moveTo>
                  <a:pt x="0" y="0"/>
                </a:moveTo>
                <a:lnTo>
                  <a:pt x="459068" y="0"/>
                </a:lnTo>
                <a:lnTo>
                  <a:pt x="459068" y="1921685"/>
                </a:lnTo>
                <a:lnTo>
                  <a:pt x="0" y="19216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405104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1364982">
            <a:off x="8223450" y="6239893"/>
            <a:ext cx="380828" cy="1936574"/>
          </a:xfrm>
          <a:custGeom>
            <a:avLst/>
            <a:gdLst/>
            <a:ahLst/>
            <a:cxnLst/>
            <a:rect r="r" b="b" t="t" l="l"/>
            <a:pathLst>
              <a:path h="1936574" w="380828">
                <a:moveTo>
                  <a:pt x="0" y="0"/>
                </a:moveTo>
                <a:lnTo>
                  <a:pt x="380828" y="0"/>
                </a:lnTo>
                <a:lnTo>
                  <a:pt x="380828" y="1936574"/>
                </a:lnTo>
                <a:lnTo>
                  <a:pt x="0" y="19365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39853" t="-4279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7273" r="-2829" b="-10909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1276350"/>
            <a:ext cx="16474591" cy="106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70" spc="-416">
                <a:solidFill>
                  <a:srgbClr val="EB624A"/>
                </a:solidFill>
                <a:latin typeface="Aileron"/>
                <a:ea typeface="Aileron"/>
                <a:cs typeface="Aileron"/>
                <a:sym typeface="Aileron"/>
              </a:rPr>
              <a:t>Different </a:t>
            </a:r>
            <a:r>
              <a:rPr lang="en-US" sz="8670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Biology</a:t>
            </a:r>
            <a:r>
              <a:rPr lang="en-US" sz="8670" spc="-416">
                <a:solidFill>
                  <a:srgbClr val="EB624A"/>
                </a:solidFill>
                <a:latin typeface="Aileron"/>
                <a:ea typeface="Aileron"/>
                <a:cs typeface="Aileron"/>
                <a:sym typeface="Aileron"/>
              </a:rPr>
              <a:t> Same </a:t>
            </a:r>
            <a:r>
              <a:rPr lang="en-US" sz="8670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Nutrition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2297085"/>
            <a:ext cx="15588990" cy="97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Nutrition guidance is built on population averages that miss individual cycle variability, cycle length, symptoms, and hormonal response differ significantly from person to person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90171" y="8475127"/>
            <a:ext cx="5681054" cy="39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30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Male Hormonal pattern </a:t>
            </a:r>
            <a:r>
              <a:rPr lang="en-US" b="true" sz="3070">
                <a:solidFill>
                  <a:srgbClr val="3A8A24"/>
                </a:solidFill>
                <a:latin typeface="Aileron Bold"/>
                <a:ea typeface="Aileron Bold"/>
                <a:cs typeface="Aileron Bold"/>
                <a:sym typeface="Aileron Bold"/>
              </a:rPr>
              <a:t>28 days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33413" y="8475127"/>
            <a:ext cx="6228457" cy="392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sz="306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Female Hormonal pattern </a:t>
            </a:r>
            <a:r>
              <a:rPr lang="en-US" sz="3069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~</a:t>
            </a:r>
            <a:r>
              <a:rPr lang="en-US" b="true" sz="306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28 days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30573" y="4568778"/>
            <a:ext cx="1917284" cy="104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1"/>
              </a:lnSpc>
            </a:pPr>
            <a:r>
              <a:rPr lang="en-US" sz="271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The </a:t>
            </a:r>
            <a:r>
              <a:rPr lang="en-US" sz="2711" i="true">
                <a:solidFill>
                  <a:srgbClr val="FFFFFF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‘one size fits all diet’...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35742" y="4595345"/>
            <a:ext cx="2226663" cy="977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4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Does not take this into account.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5414" y="9489199"/>
            <a:ext cx="2705621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101010"/>
                </a:solidFill>
                <a:latin typeface="Canva Sans"/>
                <a:ea typeface="Canva Sans"/>
                <a:cs typeface="Canva Sans"/>
                <a:sym typeface="Canva Sans"/>
              </a:rPr>
              <a:t>(Source: FemTech Analytics, 2023)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47309" y="9090475"/>
            <a:ext cx="371960" cy="406160"/>
          </a:xfrm>
          <a:custGeom>
            <a:avLst/>
            <a:gdLst/>
            <a:ahLst/>
            <a:cxnLst/>
            <a:rect r="r" b="b" t="t" l="l"/>
            <a:pathLst>
              <a:path h="406160" w="371960">
                <a:moveTo>
                  <a:pt x="0" y="0"/>
                </a:moveTo>
                <a:lnTo>
                  <a:pt x="371960" y="0"/>
                </a:lnTo>
                <a:lnTo>
                  <a:pt x="371960" y="406160"/>
                </a:lnTo>
                <a:lnTo>
                  <a:pt x="0" y="406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88" t="-12028" r="-17075" b="-120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87968" y="9492870"/>
            <a:ext cx="1671332" cy="23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7"/>
              </a:lnSpc>
            </a:pPr>
            <a:r>
              <a:rPr lang="en-US" sz="2135" spc="27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NUTRISYNC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968563" y="3217547"/>
            <a:ext cx="2346157" cy="1438547"/>
            <a:chOff x="0" y="0"/>
            <a:chExt cx="812800" cy="4983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498369"/>
            </a:xfrm>
            <a:custGeom>
              <a:avLst/>
              <a:gdLst/>
              <a:ahLst/>
              <a:cxnLst/>
              <a:rect r="r" b="b" t="t" l="l"/>
              <a:pathLst>
                <a:path h="498369" w="812800">
                  <a:moveTo>
                    <a:pt x="102295" y="0"/>
                  </a:moveTo>
                  <a:lnTo>
                    <a:pt x="710505" y="0"/>
                  </a:lnTo>
                  <a:cubicBezTo>
                    <a:pt x="767001" y="0"/>
                    <a:pt x="812800" y="45799"/>
                    <a:pt x="812800" y="102295"/>
                  </a:cubicBezTo>
                  <a:lnTo>
                    <a:pt x="812800" y="396074"/>
                  </a:lnTo>
                  <a:cubicBezTo>
                    <a:pt x="812800" y="452570"/>
                    <a:pt x="767001" y="498369"/>
                    <a:pt x="710505" y="498369"/>
                  </a:cubicBezTo>
                  <a:lnTo>
                    <a:pt x="102295" y="498369"/>
                  </a:lnTo>
                  <a:cubicBezTo>
                    <a:pt x="45799" y="498369"/>
                    <a:pt x="0" y="452570"/>
                    <a:pt x="0" y="396074"/>
                  </a:cubicBezTo>
                  <a:lnTo>
                    <a:pt x="0" y="102295"/>
                  </a:lnTo>
                  <a:cubicBezTo>
                    <a:pt x="0" y="45799"/>
                    <a:pt x="45799" y="0"/>
                    <a:pt x="102295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0"/>
              <a:ext cx="812800" cy="403119"/>
            </a:xfrm>
            <a:prstGeom prst="rect">
              <a:avLst/>
            </a:prstGeom>
          </p:spPr>
          <p:txBody>
            <a:bodyPr anchor="ctr" rtlCol="false" tIns="38620" lIns="38620" bIns="38620" rIns="38620"/>
            <a:lstStyle/>
            <a:p>
              <a:pPr algn="ctr">
                <a:lnSpc>
                  <a:spcPts val="153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983456" y="3363513"/>
            <a:ext cx="2316370" cy="1158185"/>
          </a:xfrm>
          <a:custGeom>
            <a:avLst/>
            <a:gdLst/>
            <a:ahLst/>
            <a:cxnLst/>
            <a:rect r="r" b="b" t="t" l="l"/>
            <a:pathLst>
              <a:path h="1158185" w="2316370">
                <a:moveTo>
                  <a:pt x="0" y="0"/>
                </a:moveTo>
                <a:lnTo>
                  <a:pt x="2316371" y="0"/>
                </a:lnTo>
                <a:lnTo>
                  <a:pt x="2316371" y="1158185"/>
                </a:lnTo>
                <a:lnTo>
                  <a:pt x="0" y="1158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198028" y="3820629"/>
            <a:ext cx="1887227" cy="5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79" spc="-3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Cycle context, symptoms, </a:t>
            </a:r>
          </a:p>
          <a:p>
            <a:pPr algn="l">
              <a:lnSpc>
                <a:spcPts val="1497"/>
              </a:lnSpc>
            </a:pPr>
            <a:r>
              <a:rPr lang="en-US" sz="1279" spc="-3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nutrition/movement logs, </a:t>
            </a:r>
          </a:p>
          <a:p>
            <a:pPr algn="l">
              <a:lnSpc>
                <a:spcPts val="1497"/>
              </a:lnSpc>
            </a:pPr>
            <a:r>
              <a:rPr lang="en-US" sz="1279" spc="-3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biometrics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8709" y="3396613"/>
            <a:ext cx="905865" cy="41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  <a:spcBef>
                <a:spcPct val="0"/>
              </a:spcBef>
            </a:pPr>
            <a:r>
              <a:rPr lang="en-US" b="true" sz="247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Sense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611610" y="3217547"/>
            <a:ext cx="2346157" cy="1438547"/>
            <a:chOff x="0" y="0"/>
            <a:chExt cx="812800" cy="4983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98369"/>
            </a:xfrm>
            <a:custGeom>
              <a:avLst/>
              <a:gdLst/>
              <a:ahLst/>
              <a:cxnLst/>
              <a:rect r="r" b="b" t="t" l="l"/>
              <a:pathLst>
                <a:path h="498369" w="812800">
                  <a:moveTo>
                    <a:pt x="102295" y="0"/>
                  </a:moveTo>
                  <a:lnTo>
                    <a:pt x="710505" y="0"/>
                  </a:lnTo>
                  <a:cubicBezTo>
                    <a:pt x="767001" y="0"/>
                    <a:pt x="812800" y="45799"/>
                    <a:pt x="812800" y="102295"/>
                  </a:cubicBezTo>
                  <a:lnTo>
                    <a:pt x="812800" y="396074"/>
                  </a:lnTo>
                  <a:cubicBezTo>
                    <a:pt x="812800" y="452570"/>
                    <a:pt x="767001" y="498369"/>
                    <a:pt x="710505" y="498369"/>
                  </a:cubicBezTo>
                  <a:lnTo>
                    <a:pt x="102295" y="498369"/>
                  </a:lnTo>
                  <a:cubicBezTo>
                    <a:pt x="45799" y="498369"/>
                    <a:pt x="0" y="452570"/>
                    <a:pt x="0" y="396074"/>
                  </a:cubicBezTo>
                  <a:lnTo>
                    <a:pt x="0" y="102295"/>
                  </a:lnTo>
                  <a:cubicBezTo>
                    <a:pt x="0" y="45799"/>
                    <a:pt x="45799" y="0"/>
                    <a:pt x="102295" y="0"/>
                  </a:cubicBezTo>
                  <a:close/>
                </a:path>
              </a:pathLst>
            </a:custGeom>
            <a:solidFill>
              <a:srgbClr val="FF004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0"/>
              <a:ext cx="812800" cy="403119"/>
            </a:xfrm>
            <a:prstGeom prst="rect">
              <a:avLst/>
            </a:prstGeom>
          </p:spPr>
          <p:txBody>
            <a:bodyPr anchor="ctr" rtlCol="false" tIns="38620" lIns="38620" bIns="38620" rIns="38620"/>
            <a:lstStyle/>
            <a:p>
              <a:pPr algn="ctr">
                <a:lnSpc>
                  <a:spcPts val="1537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65710" y="3423627"/>
            <a:ext cx="1037957" cy="1037957"/>
          </a:xfrm>
          <a:custGeom>
            <a:avLst/>
            <a:gdLst/>
            <a:ahLst/>
            <a:cxnLst/>
            <a:rect r="r" b="b" t="t" l="l"/>
            <a:pathLst>
              <a:path h="1037957" w="1037957">
                <a:moveTo>
                  <a:pt x="0" y="0"/>
                </a:moveTo>
                <a:lnTo>
                  <a:pt x="1037957" y="0"/>
                </a:lnTo>
                <a:lnTo>
                  <a:pt x="1037957" y="1037957"/>
                </a:lnTo>
                <a:lnTo>
                  <a:pt x="0" y="10379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127774" y="3420548"/>
            <a:ext cx="1313828" cy="41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  <a:spcBef>
                <a:spcPct val="0"/>
              </a:spcBef>
            </a:pPr>
            <a:r>
              <a:rPr lang="en-US" b="true" sz="247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Interpret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93043" y="3820629"/>
            <a:ext cx="1616204" cy="5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79" spc="-3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Builds this person’s own baseline - not a population average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258106" y="3217547"/>
            <a:ext cx="2346157" cy="1438547"/>
            <a:chOff x="0" y="0"/>
            <a:chExt cx="812800" cy="4983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98369"/>
            </a:xfrm>
            <a:custGeom>
              <a:avLst/>
              <a:gdLst/>
              <a:ahLst/>
              <a:cxnLst/>
              <a:rect r="r" b="b" t="t" l="l"/>
              <a:pathLst>
                <a:path h="498369" w="812800">
                  <a:moveTo>
                    <a:pt x="102295" y="0"/>
                  </a:moveTo>
                  <a:lnTo>
                    <a:pt x="710505" y="0"/>
                  </a:lnTo>
                  <a:cubicBezTo>
                    <a:pt x="767001" y="0"/>
                    <a:pt x="812800" y="45799"/>
                    <a:pt x="812800" y="102295"/>
                  </a:cubicBezTo>
                  <a:lnTo>
                    <a:pt x="812800" y="396074"/>
                  </a:lnTo>
                  <a:cubicBezTo>
                    <a:pt x="812800" y="452570"/>
                    <a:pt x="767001" y="498369"/>
                    <a:pt x="710505" y="498369"/>
                  </a:cubicBezTo>
                  <a:lnTo>
                    <a:pt x="102295" y="498369"/>
                  </a:lnTo>
                  <a:cubicBezTo>
                    <a:pt x="45799" y="498369"/>
                    <a:pt x="0" y="452570"/>
                    <a:pt x="0" y="396074"/>
                  </a:cubicBezTo>
                  <a:lnTo>
                    <a:pt x="0" y="102295"/>
                  </a:lnTo>
                  <a:cubicBezTo>
                    <a:pt x="0" y="45799"/>
                    <a:pt x="45799" y="0"/>
                    <a:pt x="102295" y="0"/>
                  </a:cubicBezTo>
                  <a:close/>
                </a:path>
              </a:pathLst>
            </a:custGeom>
            <a:solidFill>
              <a:srgbClr val="FF8E0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0"/>
              <a:ext cx="812800" cy="403119"/>
            </a:xfrm>
            <a:prstGeom prst="rect">
              <a:avLst/>
            </a:prstGeom>
          </p:spPr>
          <p:txBody>
            <a:bodyPr anchor="ctr" rtlCol="false" tIns="38620" lIns="38620" bIns="38620" rIns="38620"/>
            <a:lstStyle/>
            <a:p>
              <a:pPr algn="ctr">
                <a:lnSpc>
                  <a:spcPts val="1537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2844695" y="3451043"/>
            <a:ext cx="1026533" cy="939277"/>
          </a:xfrm>
          <a:custGeom>
            <a:avLst/>
            <a:gdLst/>
            <a:ahLst/>
            <a:cxnLst/>
            <a:rect r="r" b="b" t="t" l="l"/>
            <a:pathLst>
              <a:path h="939277" w="1026533">
                <a:moveTo>
                  <a:pt x="0" y="0"/>
                </a:moveTo>
                <a:lnTo>
                  <a:pt x="1026533" y="0"/>
                </a:lnTo>
                <a:lnTo>
                  <a:pt x="1026533" y="939277"/>
                </a:lnTo>
                <a:lnTo>
                  <a:pt x="0" y="9392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487570" y="3420548"/>
            <a:ext cx="1909431" cy="41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  <a:spcBef>
                <a:spcPct val="0"/>
              </a:spcBef>
            </a:pPr>
            <a:r>
              <a:rPr lang="en-US" b="true" sz="247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Recommend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87570" y="3820629"/>
            <a:ext cx="1887227" cy="5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79" spc="-3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Daily Nutrition and Movement guidance for this specific person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901152" y="3217547"/>
            <a:ext cx="2346157" cy="1438547"/>
            <a:chOff x="0" y="0"/>
            <a:chExt cx="812800" cy="4983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98369"/>
            </a:xfrm>
            <a:custGeom>
              <a:avLst/>
              <a:gdLst/>
              <a:ahLst/>
              <a:cxnLst/>
              <a:rect r="r" b="b" t="t" l="l"/>
              <a:pathLst>
                <a:path h="498369" w="812800">
                  <a:moveTo>
                    <a:pt x="102295" y="0"/>
                  </a:moveTo>
                  <a:lnTo>
                    <a:pt x="710505" y="0"/>
                  </a:lnTo>
                  <a:cubicBezTo>
                    <a:pt x="767001" y="0"/>
                    <a:pt x="812800" y="45799"/>
                    <a:pt x="812800" y="102295"/>
                  </a:cubicBezTo>
                  <a:lnTo>
                    <a:pt x="812800" y="396074"/>
                  </a:lnTo>
                  <a:cubicBezTo>
                    <a:pt x="812800" y="452570"/>
                    <a:pt x="767001" y="498369"/>
                    <a:pt x="710505" y="498369"/>
                  </a:cubicBezTo>
                  <a:lnTo>
                    <a:pt x="102295" y="498369"/>
                  </a:lnTo>
                  <a:cubicBezTo>
                    <a:pt x="45799" y="498369"/>
                    <a:pt x="0" y="452570"/>
                    <a:pt x="0" y="396074"/>
                  </a:cubicBezTo>
                  <a:lnTo>
                    <a:pt x="0" y="102295"/>
                  </a:lnTo>
                  <a:cubicBezTo>
                    <a:pt x="0" y="45799"/>
                    <a:pt x="45799" y="0"/>
                    <a:pt x="102295" y="0"/>
                  </a:cubicBezTo>
                  <a:close/>
                </a:path>
              </a:pathLst>
            </a:custGeom>
            <a:solidFill>
              <a:srgbClr val="398B2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0"/>
              <a:ext cx="812800" cy="403119"/>
            </a:xfrm>
            <a:prstGeom prst="rect">
              <a:avLst/>
            </a:prstGeom>
          </p:spPr>
          <p:txBody>
            <a:bodyPr anchor="ctr" rtlCol="false" tIns="38620" lIns="38620" bIns="38620" rIns="38620"/>
            <a:lstStyle/>
            <a:p>
              <a:pPr algn="ctr">
                <a:lnSpc>
                  <a:spcPts val="1537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5757583">
            <a:off x="15536945" y="3469789"/>
            <a:ext cx="938031" cy="938031"/>
          </a:xfrm>
          <a:custGeom>
            <a:avLst/>
            <a:gdLst/>
            <a:ahLst/>
            <a:cxnLst/>
            <a:rect r="r" b="b" t="t" l="l"/>
            <a:pathLst>
              <a:path h="938031" w="938031">
                <a:moveTo>
                  <a:pt x="0" y="0"/>
                </a:moveTo>
                <a:lnTo>
                  <a:pt x="938032" y="0"/>
                </a:lnTo>
                <a:lnTo>
                  <a:pt x="938032" y="938032"/>
                </a:lnTo>
                <a:lnTo>
                  <a:pt x="0" y="9380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603551" y="3420548"/>
            <a:ext cx="862749" cy="41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  <a:spcBef>
                <a:spcPct val="0"/>
              </a:spcBef>
            </a:pPr>
            <a:r>
              <a:rPr lang="en-US" b="true" sz="247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Learn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49630" y="3820629"/>
            <a:ext cx="1649202" cy="5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79" spc="-3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Measures whether it worked, recalibrates for the next cycle</a:t>
            </a:r>
          </a:p>
        </p:txBody>
      </p:sp>
      <p:sp>
        <p:nvSpPr>
          <p:cNvPr name="Freeform 28" id="28"/>
          <p:cNvSpPr/>
          <p:nvPr/>
        </p:nvSpPr>
        <p:spPr>
          <a:xfrm>
            <a:off x="8141642" y="4656094"/>
            <a:ext cx="7913905" cy="423372"/>
          </a:xfrm>
          <a:custGeom>
            <a:avLst/>
            <a:gdLst/>
            <a:ahLst/>
            <a:cxnLst/>
            <a:rect r="r" b="b" t="t" l="l"/>
            <a:pathLst>
              <a:path h="423372" w="7913905">
                <a:moveTo>
                  <a:pt x="0" y="0"/>
                </a:moveTo>
                <a:lnTo>
                  <a:pt x="0" y="242398"/>
                </a:lnTo>
                <a:cubicBezTo>
                  <a:pt x="0" y="342347"/>
                  <a:pt x="81025" y="423373"/>
                  <a:pt x="180975" y="423373"/>
                </a:cubicBezTo>
                <a:lnTo>
                  <a:pt x="7740516" y="423373"/>
                </a:lnTo>
                <a:cubicBezTo>
                  <a:pt x="7836276" y="423373"/>
                  <a:pt x="7913905" y="345743"/>
                  <a:pt x="7913905" y="249983"/>
                </a:cubicBezTo>
                <a:lnTo>
                  <a:pt x="7913905" y="76593"/>
                </a:lnTo>
              </a:path>
            </a:pathLst>
          </a:custGeom>
          <a:ln cap="flat" w="38100">
            <a:solidFill>
              <a:srgbClr val="000000"/>
            </a:solidFill>
            <a:prstDash val="sysDot"/>
            <a:headEnd type="triangle" len="med" w="lg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9314720" y="3936821"/>
            <a:ext cx="296890" cy="0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>
            <a:off x="11957767" y="3936821"/>
            <a:ext cx="300339" cy="0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triangle" len="med" w="lg"/>
          </a:ln>
        </p:spPr>
      </p:sp>
      <p:sp>
        <p:nvSpPr>
          <p:cNvPr name="AutoShape 31" id="31"/>
          <p:cNvSpPr/>
          <p:nvPr/>
        </p:nvSpPr>
        <p:spPr>
          <a:xfrm flipV="true">
            <a:off x="14604262" y="3936821"/>
            <a:ext cx="296890" cy="0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triangle" len="med" w="lg"/>
          </a:ln>
        </p:spPr>
      </p:sp>
      <p:grpSp>
        <p:nvGrpSpPr>
          <p:cNvPr name="Group 32" id="32"/>
          <p:cNvGrpSpPr/>
          <p:nvPr/>
        </p:nvGrpSpPr>
        <p:grpSpPr>
          <a:xfrm rot="0">
            <a:off x="-2136028" y="3984884"/>
            <a:ext cx="10825473" cy="10825473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243644" y="5912431"/>
            <a:ext cx="3981008" cy="32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  <a:spcBef>
                <a:spcPct val="0"/>
              </a:spcBef>
            </a:pPr>
            <a:r>
              <a:rPr lang="en-US" sz="1915" i="true">
                <a:solidFill>
                  <a:srgbClr val="FFFFFF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recalibrates every cycle, not just once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7273" r="-2829" b="-10909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28700" y="3076361"/>
            <a:ext cx="5247222" cy="4672386"/>
          </a:xfrm>
          <a:custGeom>
            <a:avLst/>
            <a:gdLst/>
            <a:ahLst/>
            <a:cxnLst/>
            <a:rect r="r" b="b" t="t" l="l"/>
            <a:pathLst>
              <a:path h="4672386" w="5247222">
                <a:moveTo>
                  <a:pt x="0" y="0"/>
                </a:moveTo>
                <a:lnTo>
                  <a:pt x="5247222" y="0"/>
                </a:lnTo>
                <a:lnTo>
                  <a:pt x="5247222" y="4672387"/>
                </a:lnTo>
                <a:lnTo>
                  <a:pt x="0" y="46723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3687" t="0" r="-18344" b="-6337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028700" y="854070"/>
            <a:ext cx="15794350" cy="207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8799" spc="-422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NutriSync </a:t>
            </a:r>
            <a:r>
              <a:rPr lang="en-US" sz="8799" spc="-422">
                <a:solidFill>
                  <a:srgbClr val="EB624A"/>
                </a:solidFill>
                <a:latin typeface="Aileron"/>
                <a:ea typeface="Aileron"/>
                <a:cs typeface="Aileron"/>
                <a:sym typeface="Aileron"/>
              </a:rPr>
              <a:t>The Adaptive Cycle Intelligence 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925875" y="5392644"/>
            <a:ext cx="6946554" cy="3865656"/>
            <a:chOff x="0" y="0"/>
            <a:chExt cx="9262073" cy="51542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4226920" y="0"/>
              <a:ext cx="4650369" cy="4650369"/>
            </a:xfrm>
            <a:custGeom>
              <a:avLst/>
              <a:gdLst/>
              <a:ahLst/>
              <a:cxnLst/>
              <a:rect r="r" b="b" t="t" l="l"/>
              <a:pathLst>
                <a:path h="4650369" w="4650369">
                  <a:moveTo>
                    <a:pt x="0" y="0"/>
                  </a:moveTo>
                  <a:lnTo>
                    <a:pt x="4650370" y="0"/>
                  </a:lnTo>
                  <a:lnTo>
                    <a:pt x="4650370" y="4650369"/>
                  </a:lnTo>
                  <a:lnTo>
                    <a:pt x="0" y="4650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659965" y="0"/>
              <a:ext cx="4529861" cy="4529861"/>
            </a:xfrm>
            <a:custGeom>
              <a:avLst/>
              <a:gdLst/>
              <a:ahLst/>
              <a:cxnLst/>
              <a:rect r="r" b="b" t="t" l="l"/>
              <a:pathLst>
                <a:path h="4529861" w="4529861">
                  <a:moveTo>
                    <a:pt x="0" y="0"/>
                  </a:moveTo>
                  <a:lnTo>
                    <a:pt x="4529861" y="0"/>
                  </a:lnTo>
                  <a:lnTo>
                    <a:pt x="4529861" y="4529861"/>
                  </a:lnTo>
                  <a:lnTo>
                    <a:pt x="0" y="4529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grpSp>
          <p:nvGrpSpPr>
            <p:cNvPr name="Group 42" id="42"/>
            <p:cNvGrpSpPr/>
            <p:nvPr/>
          </p:nvGrpSpPr>
          <p:grpSpPr>
            <a:xfrm rot="0">
              <a:off x="1617803" y="1078795"/>
              <a:ext cx="2464350" cy="2464350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1300">
                      <a:alpha val="100000"/>
                    </a:srgbClr>
                  </a:gs>
                  <a:gs pos="100000">
                    <a:srgbClr val="FF00AF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  <a:ln w="180975" cap="sq">
                <a:solidFill>
                  <a:srgbClr val="FF0000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171450"/>
                <a:ext cx="660400" cy="565150"/>
              </a:xfrm>
              <a:prstGeom prst="rect">
                <a:avLst/>
              </a:prstGeom>
            </p:spPr>
            <p:txBody>
              <a:bodyPr anchor="ctr" rtlCol="false" tIns="42612" lIns="42612" bIns="42612" rIns="42612"/>
              <a:lstStyle/>
              <a:p>
                <a:pPr algn="ctr">
                  <a:lnSpc>
                    <a:spcPts val="1537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5319930" y="1075549"/>
              <a:ext cx="2464350" cy="2464350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1300">
                      <a:alpha val="100000"/>
                    </a:srgbClr>
                  </a:gs>
                  <a:gs pos="100000">
                    <a:srgbClr val="FF00AF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  <a:ln w="180975" cap="sq">
                <a:solidFill>
                  <a:srgbClr val="FF0000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171450"/>
                <a:ext cx="660400" cy="565150"/>
              </a:xfrm>
              <a:prstGeom prst="rect">
                <a:avLst/>
              </a:prstGeom>
            </p:spPr>
            <p:txBody>
              <a:bodyPr anchor="ctr" rtlCol="false" tIns="42612" lIns="42612" bIns="42612" rIns="42612"/>
              <a:lstStyle/>
              <a:p>
                <a:pPr algn="ctr">
                  <a:lnSpc>
                    <a:spcPts val="1537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2120572" y="1680008"/>
              <a:ext cx="1376064" cy="1223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8"/>
                </a:lnSpc>
              </a:pPr>
              <a:r>
                <a:rPr lang="en-US" b="true" sz="179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Cycle </a:t>
              </a:r>
            </a:p>
            <a:p>
              <a:pPr algn="ctr">
                <a:lnSpc>
                  <a:spcPts val="2508"/>
                </a:lnSpc>
              </a:pPr>
              <a:r>
                <a:rPr lang="en-US" b="true" sz="179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Aligment </a:t>
              </a:r>
            </a:p>
            <a:p>
              <a:pPr algn="ctr">
                <a:lnSpc>
                  <a:spcPts val="2508"/>
                </a:lnSpc>
                <a:spcBef>
                  <a:spcPct val="0"/>
                </a:spcBef>
              </a:pPr>
              <a:r>
                <a:rPr lang="en-US" b="true" sz="179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Score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5929447" y="1676762"/>
              <a:ext cx="1245315" cy="1223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8"/>
                </a:lnSpc>
              </a:pPr>
              <a:r>
                <a:rPr lang="en-US" b="true" sz="179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Cycle </a:t>
              </a:r>
            </a:p>
            <a:p>
              <a:pPr algn="ctr">
                <a:lnSpc>
                  <a:spcPts val="2508"/>
                </a:lnSpc>
              </a:pPr>
              <a:r>
                <a:rPr lang="en-US" b="true" sz="179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Stability </a:t>
              </a:r>
            </a:p>
            <a:p>
              <a:pPr algn="ctr">
                <a:lnSpc>
                  <a:spcPts val="2508"/>
                </a:lnSpc>
                <a:spcBef>
                  <a:spcPct val="0"/>
                </a:spcBef>
              </a:pPr>
              <a:r>
                <a:rPr lang="en-US" b="true" sz="179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Score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785174" y="427020"/>
              <a:ext cx="5976502" cy="396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8"/>
                </a:lnSpc>
                <a:spcBef>
                  <a:spcPct val="0"/>
                </a:spcBef>
              </a:pPr>
              <a:r>
                <a:rPr lang="en-US" b="true" sz="1791">
                  <a:solidFill>
                    <a:srgbClr val="FF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</a:t>
              </a:r>
              <a:r>
                <a:rPr lang="en-US" b="true" sz="1791">
                  <a:solidFill>
                    <a:srgbClr val="FF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WO OUTPUTS, UPDATED EVERY CYCLE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232637" y="3858429"/>
              <a:ext cx="3248110" cy="594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1"/>
                </a:lnSpc>
              </a:pPr>
              <a:r>
                <a:rPr lang="en-US" sz="1715" i="true">
                  <a:solidFill>
                    <a:srgbClr val="FF0000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Do today’s actions fit</a:t>
              </a:r>
            </a:p>
            <a:p>
              <a:pPr algn="ctr">
                <a:lnSpc>
                  <a:spcPts val="1681"/>
                </a:lnSpc>
              </a:pPr>
              <a:r>
                <a:rPr lang="en-US" sz="1715" i="true">
                  <a:solidFill>
                    <a:srgbClr val="FF0000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this person’s context? 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4631036" y="3858429"/>
              <a:ext cx="3692022" cy="594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1"/>
                </a:lnSpc>
              </a:pPr>
              <a:r>
                <a:rPr lang="en-US" sz="1715" i="true">
                  <a:solidFill>
                    <a:srgbClr val="FF0000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Are outcomes getting more predictable over cycles? 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4839458"/>
              <a:ext cx="9262073" cy="314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1"/>
                </a:lnSpc>
              </a:pPr>
              <a:r>
                <a:rPr lang="en-US" b="true" sz="1715" i="true">
                  <a:solidFill>
                    <a:srgbClr val="FF0000"/>
                  </a:solidFill>
                  <a:latin typeface="Aileron Bold Italics"/>
                  <a:ea typeface="Aileron Bold Italics"/>
                  <a:cs typeface="Aileron Bold Italics"/>
                  <a:sym typeface="Aileron Bold Italics"/>
                </a:rPr>
                <a:t>Phase is context. Individual Response is the intelligence.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8700" y="7790051"/>
            <a:ext cx="5039418" cy="1468249"/>
            <a:chOff x="0" y="0"/>
            <a:chExt cx="6719225" cy="1957665"/>
          </a:xfrm>
        </p:grpSpPr>
        <p:sp>
          <p:nvSpPr>
            <p:cNvPr name="AutoShape 55" id="55"/>
            <p:cNvSpPr/>
            <p:nvPr/>
          </p:nvSpPr>
          <p:spPr>
            <a:xfrm flipV="true">
              <a:off x="44450" y="0"/>
              <a:ext cx="0" cy="1932771"/>
            </a:xfrm>
            <a:prstGeom prst="line">
              <a:avLst/>
            </a:prstGeom>
            <a:ln cap="flat" w="88900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6" id="56"/>
            <p:cNvSpPr txBox="true"/>
            <p:nvPr/>
          </p:nvSpPr>
          <p:spPr>
            <a:xfrm rot="0">
              <a:off x="269596" y="-3680"/>
              <a:ext cx="6449628" cy="19613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199" b="true">
                  <a:solidFill>
                    <a:srgbClr val="FF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Personalized </a:t>
              </a:r>
              <a:r>
                <a:rPr lang="en-US" sz="2199">
                  <a:solidFill>
                    <a:srgbClr val="FF0000"/>
                  </a:solidFill>
                  <a:latin typeface="Aileron"/>
                  <a:ea typeface="Aileron"/>
                  <a:cs typeface="Aileron"/>
                  <a:sym typeface="Aileron"/>
                </a:rPr>
                <a:t>Adaption</a:t>
              </a:r>
            </a:p>
            <a:p>
              <a:pPr algn="l">
                <a:lnSpc>
                  <a:spcPts val="2925"/>
                </a:lnSpc>
              </a:pPr>
              <a:r>
                <a:rPr lang="en-US" sz="2199" b="true">
                  <a:solidFill>
                    <a:srgbClr val="FF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Grounded</a:t>
              </a:r>
              <a:r>
                <a:rPr lang="en-US" sz="2199">
                  <a:solidFill>
                    <a:srgbClr val="FF0000"/>
                  </a:solidFill>
                  <a:latin typeface="Aileron"/>
                  <a:ea typeface="Aileron"/>
                  <a:cs typeface="Aileron"/>
                  <a:sym typeface="Aileron"/>
                </a:rPr>
                <a:t> in physiological research on hormone linked variation</a:t>
              </a:r>
            </a:p>
            <a:p>
              <a:pPr algn="l">
                <a:lnSpc>
                  <a:spcPts val="2925"/>
                </a:lnSpc>
              </a:pPr>
              <a:r>
                <a:rPr lang="en-US" sz="2199" b="true">
                  <a:solidFill>
                    <a:srgbClr val="FF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Privacy by Design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1152" y="3734449"/>
            <a:ext cx="16137972" cy="5528786"/>
            <a:chOff x="0" y="0"/>
            <a:chExt cx="21517296" cy="737171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0">
              <a:off x="-2151730" y="-2151730"/>
              <a:ext cx="25820755" cy="11675174"/>
            </a:xfrm>
            <a:prstGeom prst="rect">
              <a:avLst/>
            </a:prstGeom>
          </p:spPr>
        </p:pic>
        <p:sp>
          <p:nvSpPr>
            <p:cNvPr name="TextBox 4" id="4"/>
            <p:cNvSpPr txBox="true"/>
            <p:nvPr/>
          </p:nvSpPr>
          <p:spPr>
            <a:xfrm rot="0">
              <a:off x="2148782" y="3187695"/>
              <a:ext cx="807225" cy="374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52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962865" y="3010558"/>
              <a:ext cx="807225" cy="374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52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5776948" y="2833420"/>
              <a:ext cx="807225" cy="374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52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-5400000">
              <a:off x="-1965331" y="3497546"/>
              <a:ext cx="5175414" cy="299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0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57389" y="3211913"/>
            <a:ext cx="2875397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CAGR:</a:t>
            </a:r>
            <a:r>
              <a:rPr lang="en-US" b="true" sz="2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20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18%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7389" y="3546557"/>
            <a:ext cx="2156668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 2033:</a:t>
            </a:r>
            <a:r>
              <a:rPr lang="en-US" b="true" sz="2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200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$7.7Bn</a:t>
            </a:r>
            <a:r>
              <a:rPr lang="en-US" b="true" sz="2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3357" y="9490495"/>
            <a:ext cx="10225949" cy="23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Sources: (Grand View Reaserch, June 2026)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276350"/>
            <a:ext cx="15617679" cy="106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70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Menstrual Health Apps Market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452408"/>
            <a:ext cx="10807183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Menstrual health apps market ≠ NutriSync's addressable market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4478693" y="5376584"/>
            <a:ext cx="753296" cy="481723"/>
            <a:chOff x="0" y="0"/>
            <a:chExt cx="694408" cy="444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0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4478693" y="5927092"/>
            <a:ext cx="753296" cy="481723"/>
            <a:chOff x="0" y="0"/>
            <a:chExt cx="694408" cy="4440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0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1482370" y="5377213"/>
            <a:ext cx="753296" cy="481723"/>
            <a:chOff x="0" y="0"/>
            <a:chExt cx="694408" cy="4440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05"/>
            </a:solidFill>
            <a:ln w="76200" cap="sq">
              <a:solidFill>
                <a:srgbClr val="FF8E0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1482370" y="5927092"/>
            <a:ext cx="753296" cy="481723"/>
            <a:chOff x="0" y="0"/>
            <a:chExt cx="694408" cy="4440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ln w="76200" cap="sq">
              <a:solidFill>
                <a:srgbClr val="FF8E05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8488109" y="4284447"/>
            <a:ext cx="753296" cy="481723"/>
            <a:chOff x="0" y="0"/>
            <a:chExt cx="694408" cy="4440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ln w="762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5400000">
            <a:off x="8475367" y="5939736"/>
            <a:ext cx="753296" cy="481723"/>
            <a:chOff x="0" y="0"/>
            <a:chExt cx="694408" cy="4440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ln w="76200" cap="sq">
              <a:solidFill>
                <a:srgbClr val="FF8E0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8488109" y="3724147"/>
            <a:ext cx="753296" cy="481723"/>
            <a:chOff x="0" y="0"/>
            <a:chExt cx="694408" cy="4440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4D"/>
            </a:solidFill>
            <a:ln w="762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85949" y="5226096"/>
            <a:ext cx="6434096" cy="1331150"/>
            <a:chOff x="0" y="0"/>
            <a:chExt cx="1694577" cy="3505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94577" cy="350591"/>
            </a:xfrm>
            <a:custGeom>
              <a:avLst/>
              <a:gdLst/>
              <a:ahLst/>
              <a:cxnLst/>
              <a:rect r="r" b="b" t="t" l="l"/>
              <a:pathLst>
                <a:path h="350591" w="1694577">
                  <a:moveTo>
                    <a:pt x="0" y="0"/>
                  </a:moveTo>
                  <a:lnTo>
                    <a:pt x="1694577" y="0"/>
                  </a:lnTo>
                  <a:lnTo>
                    <a:pt x="1694577" y="350591"/>
                  </a:lnTo>
                  <a:lnTo>
                    <a:pt x="0" y="350591"/>
                  </a:lnTo>
                  <a:close/>
                </a:path>
              </a:pathLst>
            </a:custGeom>
            <a:solidFill>
              <a:srgbClr val="FF8E0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694577" cy="398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946842" y="2954864"/>
            <a:ext cx="1945031" cy="499421"/>
            <a:chOff x="0" y="0"/>
            <a:chExt cx="2593374" cy="6658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147931"/>
              <a:ext cx="911741" cy="370032"/>
            </a:xfrm>
            <a:custGeom>
              <a:avLst/>
              <a:gdLst/>
              <a:ahLst/>
              <a:cxnLst/>
              <a:rect r="r" b="b" t="t" l="l"/>
              <a:pathLst>
                <a:path h="370032" w="911741">
                  <a:moveTo>
                    <a:pt x="0" y="0"/>
                  </a:moveTo>
                  <a:lnTo>
                    <a:pt x="911741" y="0"/>
                  </a:lnTo>
                  <a:lnTo>
                    <a:pt x="911741" y="370033"/>
                  </a:lnTo>
                  <a:lnTo>
                    <a:pt x="0" y="370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58" r="0" b="-2358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132359" y="80744"/>
              <a:ext cx="504407" cy="504407"/>
            </a:xfrm>
            <a:custGeom>
              <a:avLst/>
              <a:gdLst/>
              <a:ahLst/>
              <a:cxnLst/>
              <a:rect r="r" b="b" t="t" l="l"/>
              <a:pathLst>
                <a:path h="504407" w="504407">
                  <a:moveTo>
                    <a:pt x="0" y="0"/>
                  </a:moveTo>
                  <a:lnTo>
                    <a:pt x="504408" y="0"/>
                  </a:lnTo>
                  <a:lnTo>
                    <a:pt x="504408" y="504407"/>
                  </a:lnTo>
                  <a:lnTo>
                    <a:pt x="0" y="504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857385" y="0"/>
              <a:ext cx="735989" cy="665895"/>
            </a:xfrm>
            <a:custGeom>
              <a:avLst/>
              <a:gdLst/>
              <a:ahLst/>
              <a:cxnLst/>
              <a:rect r="r" b="b" t="t" l="l"/>
              <a:pathLst>
                <a:path h="665895" w="735989">
                  <a:moveTo>
                    <a:pt x="0" y="0"/>
                  </a:moveTo>
                  <a:lnTo>
                    <a:pt x="735989" y="0"/>
                  </a:lnTo>
                  <a:lnTo>
                    <a:pt x="735989" y="665895"/>
                  </a:lnTo>
                  <a:lnTo>
                    <a:pt x="0" y="665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177081" y="3041303"/>
            <a:ext cx="3363876" cy="364443"/>
            <a:chOff x="0" y="0"/>
            <a:chExt cx="4485168" cy="4859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5924" cy="485924"/>
            </a:xfrm>
            <a:custGeom>
              <a:avLst/>
              <a:gdLst/>
              <a:ahLst/>
              <a:cxnLst/>
              <a:rect r="r" b="b" t="t" l="l"/>
              <a:pathLst>
                <a:path h="485924" w="485924">
                  <a:moveTo>
                    <a:pt x="0" y="0"/>
                  </a:moveTo>
                  <a:lnTo>
                    <a:pt x="485924" y="0"/>
                  </a:lnTo>
                  <a:lnTo>
                    <a:pt x="485924" y="485924"/>
                  </a:lnTo>
                  <a:lnTo>
                    <a:pt x="0" y="485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4030970" y="6335"/>
              <a:ext cx="454198" cy="473255"/>
            </a:xfrm>
            <a:custGeom>
              <a:avLst/>
              <a:gdLst/>
              <a:ahLst/>
              <a:cxnLst/>
              <a:rect r="r" b="b" t="t" l="l"/>
              <a:pathLst>
                <a:path h="473255" w="454198">
                  <a:moveTo>
                    <a:pt x="0" y="0"/>
                  </a:moveTo>
                  <a:lnTo>
                    <a:pt x="454198" y="0"/>
                  </a:lnTo>
                  <a:lnTo>
                    <a:pt x="454198" y="473255"/>
                  </a:lnTo>
                  <a:lnTo>
                    <a:pt x="0" y="473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707520" y="53945"/>
              <a:ext cx="1047196" cy="378034"/>
            </a:xfrm>
            <a:custGeom>
              <a:avLst/>
              <a:gdLst/>
              <a:ahLst/>
              <a:cxnLst/>
              <a:rect r="r" b="b" t="t" l="l"/>
              <a:pathLst>
                <a:path h="378034" w="1047196">
                  <a:moveTo>
                    <a:pt x="0" y="0"/>
                  </a:moveTo>
                  <a:lnTo>
                    <a:pt x="1047196" y="0"/>
                  </a:lnTo>
                  <a:lnTo>
                    <a:pt x="1047196" y="378034"/>
                  </a:lnTo>
                  <a:lnTo>
                    <a:pt x="0" y="378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3327899" y="15863"/>
              <a:ext cx="481475" cy="454198"/>
            </a:xfrm>
            <a:custGeom>
              <a:avLst/>
              <a:gdLst/>
              <a:ahLst/>
              <a:cxnLst/>
              <a:rect r="r" b="b" t="t" l="l"/>
              <a:pathLst>
                <a:path h="454198" w="481475">
                  <a:moveTo>
                    <a:pt x="0" y="0"/>
                  </a:moveTo>
                  <a:lnTo>
                    <a:pt x="481475" y="0"/>
                  </a:lnTo>
                  <a:lnTo>
                    <a:pt x="481475" y="454198"/>
                  </a:lnTo>
                  <a:lnTo>
                    <a:pt x="0" y="454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822" t="-11483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652105" y="15863"/>
              <a:ext cx="454198" cy="454198"/>
            </a:xfrm>
            <a:custGeom>
              <a:avLst/>
              <a:gdLst/>
              <a:ahLst/>
              <a:cxnLst/>
              <a:rect r="r" b="b" t="t" l="l"/>
              <a:pathLst>
                <a:path h="454198" w="454198">
                  <a:moveTo>
                    <a:pt x="0" y="0"/>
                  </a:moveTo>
                  <a:lnTo>
                    <a:pt x="454199" y="0"/>
                  </a:lnTo>
                  <a:lnTo>
                    <a:pt x="454199" y="454198"/>
                  </a:lnTo>
                  <a:lnTo>
                    <a:pt x="0" y="454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976312" y="15863"/>
              <a:ext cx="454198" cy="454198"/>
            </a:xfrm>
            <a:custGeom>
              <a:avLst/>
              <a:gdLst/>
              <a:ahLst/>
              <a:cxnLst/>
              <a:rect r="r" b="b" t="t" l="l"/>
              <a:pathLst>
                <a:path h="454198" w="454198">
                  <a:moveTo>
                    <a:pt x="0" y="0"/>
                  </a:moveTo>
                  <a:lnTo>
                    <a:pt x="454198" y="0"/>
                  </a:lnTo>
                  <a:lnTo>
                    <a:pt x="454198" y="454198"/>
                  </a:lnTo>
                  <a:lnTo>
                    <a:pt x="0" y="454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8755721" y="7691939"/>
            <a:ext cx="16363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3A8A2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485949" y="7003568"/>
            <a:ext cx="6434096" cy="1268761"/>
            <a:chOff x="0" y="0"/>
            <a:chExt cx="1694577" cy="3341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94577" cy="334159"/>
            </a:xfrm>
            <a:custGeom>
              <a:avLst/>
              <a:gdLst/>
              <a:ahLst/>
              <a:cxnLst/>
              <a:rect r="r" b="b" t="t" l="l"/>
              <a:pathLst>
                <a:path h="334159" w="1694577">
                  <a:moveTo>
                    <a:pt x="0" y="0"/>
                  </a:moveTo>
                  <a:lnTo>
                    <a:pt x="1694577" y="0"/>
                  </a:lnTo>
                  <a:lnTo>
                    <a:pt x="1694577" y="334159"/>
                  </a:lnTo>
                  <a:lnTo>
                    <a:pt x="0" y="334159"/>
                  </a:lnTo>
                  <a:close/>
                </a:path>
              </a:pathLst>
            </a:custGeom>
            <a:solidFill>
              <a:srgbClr val="398B2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694577" cy="381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41" id="41"/>
          <p:cNvSpPr/>
          <p:nvPr/>
        </p:nvSpPr>
        <p:spPr>
          <a:xfrm flipH="true">
            <a:off x="1509761" y="7003568"/>
            <a:ext cx="0" cy="2017332"/>
          </a:xfrm>
          <a:prstGeom prst="line">
            <a:avLst/>
          </a:prstGeom>
          <a:ln cap="flat" w="47625">
            <a:solidFill>
              <a:srgbClr val="3A8A2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-5400000">
            <a:off x="8475367" y="7174635"/>
            <a:ext cx="753296" cy="481723"/>
            <a:chOff x="0" y="0"/>
            <a:chExt cx="694408" cy="44406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B24"/>
            </a:solidFill>
            <a:ln w="38100" cap="sq">
              <a:solidFill>
                <a:srgbClr val="3A8A24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5400000">
            <a:off x="11477030" y="7174635"/>
            <a:ext cx="753296" cy="481723"/>
            <a:chOff x="0" y="0"/>
            <a:chExt cx="694408" cy="4440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B24"/>
            </a:solidFill>
            <a:ln w="76200" cap="sq">
              <a:solidFill>
                <a:srgbClr val="3A8A24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14380114" y="2463057"/>
            <a:ext cx="950455" cy="942689"/>
          </a:xfrm>
          <a:custGeom>
            <a:avLst/>
            <a:gdLst/>
            <a:ahLst/>
            <a:cxnLst/>
            <a:rect r="r" b="b" t="t" l="l"/>
            <a:pathLst>
              <a:path h="942689" w="950455">
                <a:moveTo>
                  <a:pt x="0" y="0"/>
                </a:moveTo>
                <a:lnTo>
                  <a:pt x="950455" y="0"/>
                </a:lnTo>
                <a:lnTo>
                  <a:pt x="950455" y="942690"/>
                </a:lnTo>
                <a:lnTo>
                  <a:pt x="0" y="94269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20811" t="-7273" r="-11907" b="-10909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-5400000">
            <a:off x="11482370" y="4284447"/>
            <a:ext cx="753296" cy="481723"/>
            <a:chOff x="0" y="0"/>
            <a:chExt cx="694408" cy="44406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4D"/>
            </a:solidFill>
            <a:ln w="762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-5400000">
            <a:off x="11482370" y="3730170"/>
            <a:ext cx="753296" cy="481723"/>
            <a:chOff x="0" y="0"/>
            <a:chExt cx="694408" cy="44406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4D"/>
            </a:solidFill>
            <a:ln w="762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-5400000">
            <a:off x="14478693" y="4284447"/>
            <a:ext cx="753296" cy="481723"/>
            <a:chOff x="0" y="0"/>
            <a:chExt cx="694408" cy="44406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4D"/>
            </a:solidFill>
            <a:ln w="762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-5400000">
            <a:off x="14478693" y="3730170"/>
            <a:ext cx="753296" cy="481723"/>
            <a:chOff x="0" y="0"/>
            <a:chExt cx="694408" cy="44406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4D"/>
            </a:solidFill>
            <a:ln w="762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-5400000">
            <a:off x="14478693" y="7099492"/>
            <a:ext cx="753296" cy="481723"/>
            <a:chOff x="0" y="0"/>
            <a:chExt cx="694408" cy="44406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B24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-5400000">
            <a:off x="14478693" y="7646775"/>
            <a:ext cx="753296" cy="481723"/>
            <a:chOff x="0" y="0"/>
            <a:chExt cx="694408" cy="44406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94408" cy="444065"/>
            </a:xfrm>
            <a:custGeom>
              <a:avLst/>
              <a:gdLst/>
              <a:ahLst/>
              <a:cxnLst/>
              <a:rect r="r" b="b" t="t" l="l"/>
              <a:pathLst>
                <a:path h="444065" w="694408">
                  <a:moveTo>
                    <a:pt x="0" y="0"/>
                  </a:moveTo>
                  <a:lnTo>
                    <a:pt x="491208" y="0"/>
                  </a:lnTo>
                  <a:lnTo>
                    <a:pt x="694408" y="222032"/>
                  </a:lnTo>
                  <a:lnTo>
                    <a:pt x="491208" y="444065"/>
                  </a:lnTo>
                  <a:lnTo>
                    <a:pt x="0" y="444065"/>
                  </a:lnTo>
                  <a:lnTo>
                    <a:pt x="203200" y="222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8B24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177800" y="-47625"/>
              <a:ext cx="440408" cy="49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58417" y="3637236"/>
            <a:ext cx="6461628" cy="1307574"/>
            <a:chOff x="0" y="0"/>
            <a:chExt cx="1701828" cy="34438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701828" cy="344382"/>
            </a:xfrm>
            <a:custGeom>
              <a:avLst/>
              <a:gdLst/>
              <a:ahLst/>
              <a:cxnLst/>
              <a:rect r="r" b="b" t="t" l="l"/>
              <a:pathLst>
                <a:path h="344382" w="1701828">
                  <a:moveTo>
                    <a:pt x="0" y="0"/>
                  </a:moveTo>
                  <a:lnTo>
                    <a:pt x="1701828" y="0"/>
                  </a:lnTo>
                  <a:lnTo>
                    <a:pt x="1701828" y="344382"/>
                  </a:lnTo>
                  <a:lnTo>
                    <a:pt x="0" y="344382"/>
                  </a:lnTo>
                  <a:close/>
                </a:path>
              </a:pathLst>
            </a:custGeom>
            <a:solidFill>
              <a:srgbClr val="FF004D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701828" cy="392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7947576" y="2542995"/>
            <a:ext cx="180887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GENERIC APPS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463208" y="2542995"/>
            <a:ext cx="294457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ADDITIONAL CONTENT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771860" y="7725470"/>
            <a:ext cx="16363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3A8A2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680034" y="5435650"/>
            <a:ext cx="626680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INTEGRATED CYCLE, NUTRITION &amp; FITNESS PLANS</a:t>
            </a:r>
          </a:p>
        </p:txBody>
      </p:sp>
      <p:sp>
        <p:nvSpPr>
          <p:cNvPr name="TextBox 74" id="74"/>
          <p:cNvSpPr txBox="true"/>
          <p:nvPr/>
        </p:nvSpPr>
        <p:spPr>
          <a:xfrm rot="-5400000">
            <a:off x="320910" y="5568420"/>
            <a:ext cx="1531882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b="true" sz="1799">
                <a:solidFill>
                  <a:srgbClr val="FF8C00"/>
                </a:solidFill>
                <a:latin typeface="Aileron Bold"/>
                <a:ea typeface="Aileron Bold"/>
                <a:cs typeface="Aileron Bold"/>
                <a:sym typeface="Aileron Bold"/>
              </a:rPr>
              <a:t>PRODUCT &amp;</a:t>
            </a:r>
          </a:p>
          <a:p>
            <a:pPr algn="l">
              <a:lnSpc>
                <a:spcPts val="1799"/>
              </a:lnSpc>
            </a:pPr>
            <a:r>
              <a:rPr lang="en-US" b="true" sz="1799">
                <a:solidFill>
                  <a:srgbClr val="FF8C00"/>
                </a:solidFill>
                <a:latin typeface="Aileron Bold"/>
                <a:ea typeface="Aileron Bold"/>
                <a:cs typeface="Aileron Bold"/>
                <a:sym typeface="Aileron Bold"/>
              </a:rPr>
              <a:t>AI LAYER</a:t>
            </a:r>
          </a:p>
        </p:txBody>
      </p:sp>
      <p:sp>
        <p:nvSpPr>
          <p:cNvPr name="TextBox 75" id="75"/>
          <p:cNvSpPr txBox="true"/>
          <p:nvPr/>
        </p:nvSpPr>
        <p:spPr>
          <a:xfrm rot="-5400000">
            <a:off x="130573" y="7789350"/>
            <a:ext cx="2017332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b="true" sz="1799">
                <a:solidFill>
                  <a:srgbClr val="3A8A24"/>
                </a:solidFill>
                <a:latin typeface="Aileron Bold"/>
                <a:ea typeface="Aileron Bold"/>
                <a:cs typeface="Aileron Bold"/>
                <a:sym typeface="Aileron Bold"/>
              </a:rPr>
              <a:t>DISTRIBUTION &amp;</a:t>
            </a:r>
          </a:p>
          <a:p>
            <a:pPr algn="r">
              <a:lnSpc>
                <a:spcPts val="1799"/>
              </a:lnSpc>
            </a:pPr>
            <a:r>
              <a:rPr lang="en-US" b="true" sz="1799">
                <a:solidFill>
                  <a:srgbClr val="3A8A24"/>
                </a:solidFill>
                <a:latin typeface="Aileron Bold"/>
                <a:ea typeface="Aileron Bold"/>
                <a:cs typeface="Aileron Bold"/>
                <a:sym typeface="Aileron Bold"/>
              </a:rPr>
              <a:t>DATA   FLYWHEEL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658445" y="4267090"/>
            <a:ext cx="507488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ETHICAL DATA &amp; PRIVACY DESIGN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658445" y="5932827"/>
            <a:ext cx="4186876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SOCIAL &amp; COMMUNITY FEATURES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657399" y="7198009"/>
            <a:ext cx="389334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INSTITUTIONAL ATL OUTREACH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658445" y="7691642"/>
            <a:ext cx="320709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ADAPTIVE SYSTEM LOOP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658445" y="3757046"/>
            <a:ext cx="599351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</a:t>
            </a:r>
            <a:r>
              <a:rPr lang="en-US" b="true" sz="1999" spc="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IENCE-BACKED CYCLE-SYNC FRAMEWORK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15986533" y="4134715"/>
            <a:ext cx="1272767" cy="2212164"/>
            <a:chOff x="0" y="0"/>
            <a:chExt cx="1697023" cy="2949552"/>
          </a:xfrm>
        </p:grpSpPr>
        <p:grpSp>
          <p:nvGrpSpPr>
            <p:cNvPr name="Group 82" id="82"/>
            <p:cNvGrpSpPr/>
            <p:nvPr/>
          </p:nvGrpSpPr>
          <p:grpSpPr>
            <a:xfrm rot="0">
              <a:off x="0" y="0"/>
              <a:ext cx="1697023" cy="2949552"/>
              <a:chOff x="0" y="0"/>
              <a:chExt cx="564890" cy="98188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564890" cy="981883"/>
              </a:xfrm>
              <a:custGeom>
                <a:avLst/>
                <a:gdLst/>
                <a:ahLst/>
                <a:cxnLst/>
                <a:rect r="r" b="b" t="t" l="l"/>
                <a:pathLst>
                  <a:path h="981883" w="564890">
                    <a:moveTo>
                      <a:pt x="564890" y="42579"/>
                    </a:moveTo>
                    <a:lnTo>
                      <a:pt x="564890" y="939304"/>
                    </a:lnTo>
                    <a:cubicBezTo>
                      <a:pt x="564890" y="950597"/>
                      <a:pt x="560404" y="961427"/>
                      <a:pt x="552418" y="969412"/>
                    </a:cubicBezTo>
                    <a:cubicBezTo>
                      <a:pt x="544433" y="977398"/>
                      <a:pt x="533603" y="981883"/>
                      <a:pt x="522310" y="981883"/>
                    </a:cubicBezTo>
                    <a:lnTo>
                      <a:pt x="42579" y="981883"/>
                    </a:lnTo>
                    <a:cubicBezTo>
                      <a:pt x="19063" y="981883"/>
                      <a:pt x="0" y="962820"/>
                      <a:pt x="0" y="939304"/>
                    </a:cubicBezTo>
                    <a:lnTo>
                      <a:pt x="0" y="42579"/>
                    </a:lnTo>
                    <a:cubicBezTo>
                      <a:pt x="0" y="19063"/>
                      <a:pt x="19063" y="0"/>
                      <a:pt x="42579" y="0"/>
                    </a:cubicBezTo>
                    <a:lnTo>
                      <a:pt x="522310" y="0"/>
                    </a:lnTo>
                    <a:cubicBezTo>
                      <a:pt x="545826" y="0"/>
                      <a:pt x="564890" y="19063"/>
                      <a:pt x="564890" y="42579"/>
                    </a:cubicBezTo>
                    <a:close/>
                  </a:path>
                </a:pathLst>
              </a:custGeom>
              <a:ln w="19050" cap="sq">
                <a:solidFill>
                  <a:srgbClr val="FF0000">
                    <a:alpha val="80784"/>
                  </a:srgbClr>
                </a:solidFill>
                <a:prstDash val="solid"/>
                <a:miter/>
              </a:ln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47625"/>
                <a:ext cx="564890" cy="1029508"/>
              </a:xfrm>
              <a:prstGeom prst="rect">
                <a:avLst/>
              </a:prstGeom>
            </p:spPr>
            <p:txBody>
              <a:bodyPr anchor="ctr" rtlCol="false" tIns="43521" lIns="43521" bIns="43521" rIns="43521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-5400000">
              <a:off x="-30825" y="2069443"/>
              <a:ext cx="757676" cy="484524"/>
              <a:chOff x="0" y="0"/>
              <a:chExt cx="694408" cy="444065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694408" cy="444065"/>
              </a:xfrm>
              <a:custGeom>
                <a:avLst/>
                <a:gdLst/>
                <a:ahLst/>
                <a:cxnLst/>
                <a:rect r="r" b="b" t="t" l="l"/>
                <a:pathLst>
                  <a:path h="444065" w="694408">
                    <a:moveTo>
                      <a:pt x="0" y="0"/>
                    </a:moveTo>
                    <a:lnTo>
                      <a:pt x="491208" y="0"/>
                    </a:lnTo>
                    <a:lnTo>
                      <a:pt x="694408" y="222032"/>
                    </a:lnTo>
                    <a:lnTo>
                      <a:pt x="491208" y="444065"/>
                    </a:lnTo>
                    <a:lnTo>
                      <a:pt x="0" y="444065"/>
                    </a:lnTo>
                    <a:lnTo>
                      <a:pt x="203200" y="2220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177800" y="-47625"/>
                <a:ext cx="440408" cy="491690"/>
              </a:xfrm>
              <a:prstGeom prst="rect">
                <a:avLst/>
              </a:prstGeom>
            </p:spPr>
            <p:txBody>
              <a:bodyPr anchor="ctr" rtlCol="false" tIns="43521" lIns="43521" bIns="43521" rIns="43521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-5400000">
              <a:off x="-28866" y="1216492"/>
              <a:ext cx="746803" cy="477571"/>
              <a:chOff x="0" y="0"/>
              <a:chExt cx="694408" cy="444065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694408" cy="444065"/>
              </a:xfrm>
              <a:custGeom>
                <a:avLst/>
                <a:gdLst/>
                <a:ahLst/>
                <a:cxnLst/>
                <a:rect r="r" b="b" t="t" l="l"/>
                <a:pathLst>
                  <a:path h="444065" w="694408">
                    <a:moveTo>
                      <a:pt x="0" y="0"/>
                    </a:moveTo>
                    <a:lnTo>
                      <a:pt x="491208" y="0"/>
                    </a:lnTo>
                    <a:lnTo>
                      <a:pt x="694408" y="222032"/>
                    </a:lnTo>
                    <a:lnTo>
                      <a:pt x="491208" y="444065"/>
                    </a:lnTo>
                    <a:lnTo>
                      <a:pt x="0" y="444065"/>
                    </a:lnTo>
                    <a:lnTo>
                      <a:pt x="203200" y="222032"/>
                    </a:lnTo>
                    <a:lnTo>
                      <a:pt x="0" y="0"/>
                    </a:lnTo>
                    <a:close/>
                  </a:path>
                </a:pathLst>
              </a:custGeom>
              <a:ln w="76200" cap="sq">
                <a:solidFill>
                  <a:srgbClr val="FF0000"/>
                </a:solidFill>
                <a:prstDash val="solid"/>
                <a:miter/>
              </a:ln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177800" y="-47625"/>
                <a:ext cx="440408" cy="491690"/>
              </a:xfrm>
              <a:prstGeom prst="rect">
                <a:avLst/>
              </a:prstGeom>
            </p:spPr>
            <p:txBody>
              <a:bodyPr anchor="ctr" rtlCol="false" tIns="43521" lIns="43521" bIns="43521" rIns="43521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91" id="91"/>
            <p:cNvSpPr txBox="true"/>
            <p:nvPr/>
          </p:nvSpPr>
          <p:spPr>
            <a:xfrm rot="0">
              <a:off x="744593" y="2210549"/>
              <a:ext cx="849672" cy="383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19"/>
                </a:lnSpc>
                <a:spcBef>
                  <a:spcPct val="0"/>
                </a:spcBef>
              </a:pPr>
              <a:r>
                <a:rPr lang="en-US" sz="871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CORE CAPABILITY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0">
              <a:off x="744593" y="1405111"/>
              <a:ext cx="633876" cy="186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19"/>
                </a:lnSpc>
                <a:spcBef>
                  <a:spcPct val="0"/>
                </a:spcBef>
              </a:pPr>
              <a:r>
                <a:rPr lang="en-US" sz="871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PARTIAL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279802" y="480176"/>
              <a:ext cx="129467" cy="454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4"/>
                </a:lnSpc>
              </a:pPr>
              <a:r>
                <a:rPr lang="en-US" sz="2017">
                  <a:solidFill>
                    <a:srgbClr val="FF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718297" y="628699"/>
              <a:ext cx="875968" cy="160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31"/>
                </a:lnSpc>
                <a:spcBef>
                  <a:spcPct val="0"/>
                </a:spcBef>
              </a:pPr>
              <a:r>
                <a:rPr lang="en-US" sz="73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NOT EXISTENT</a:t>
              </a:r>
            </a:p>
          </p:txBody>
        </p:sp>
        <p:sp>
          <p:nvSpPr>
            <p:cNvPr name="TextBox 95" id="95"/>
            <p:cNvSpPr txBox="true"/>
            <p:nvPr/>
          </p:nvSpPr>
          <p:spPr>
            <a:xfrm rot="0">
              <a:off x="522380" y="33091"/>
              <a:ext cx="652262" cy="391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1"/>
                </a:lnSpc>
                <a:spcBef>
                  <a:spcPct val="0"/>
                </a:spcBef>
              </a:pPr>
              <a:r>
                <a:rPr lang="en-US" b="true" sz="1729">
                  <a:solidFill>
                    <a:srgbClr val="FF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KEY</a:t>
              </a: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1028700" y="838200"/>
            <a:ext cx="14067503" cy="106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70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The NutriSync Difference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8770197" y="5223559"/>
            <a:ext cx="16363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8C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</a:t>
            </a:r>
          </a:p>
        </p:txBody>
      </p:sp>
      <p:sp>
        <p:nvSpPr>
          <p:cNvPr name="TextBox 98" id="98"/>
          <p:cNvSpPr txBox="true"/>
          <p:nvPr/>
        </p:nvSpPr>
        <p:spPr>
          <a:xfrm rot="-5400000">
            <a:off x="-21145" y="3570991"/>
            <a:ext cx="2175353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9"/>
              </a:lnSpc>
            </a:pPr>
            <a:r>
              <a:rPr lang="en-US" b="true" sz="1899">
                <a:solidFill>
                  <a:srgbClr val="FF004D"/>
                </a:solidFill>
                <a:latin typeface="Aileron Bold"/>
                <a:ea typeface="Aileron Bold"/>
                <a:cs typeface="Aileron Bold"/>
                <a:sym typeface="Aileron Bold"/>
              </a:rPr>
              <a:t>SCIENTIFIC &amp;</a:t>
            </a:r>
          </a:p>
          <a:p>
            <a:pPr algn="just">
              <a:lnSpc>
                <a:spcPts val="1899"/>
              </a:lnSpc>
            </a:pPr>
            <a:r>
              <a:rPr lang="en-US" b="true" sz="1899">
                <a:solidFill>
                  <a:srgbClr val="FF004D"/>
                </a:solidFill>
                <a:latin typeface="Aileron Bold"/>
                <a:ea typeface="Aileron Bold"/>
                <a:cs typeface="Aileron Bold"/>
                <a:sym typeface="Aileron Bold"/>
              </a:rPr>
              <a:t>CLINICAL BASE</a:t>
            </a:r>
          </a:p>
        </p:txBody>
      </p:sp>
      <p:sp>
        <p:nvSpPr>
          <p:cNvPr name="AutoShape 99" id="99"/>
          <p:cNvSpPr/>
          <p:nvPr/>
        </p:nvSpPr>
        <p:spPr>
          <a:xfrm flipH="true">
            <a:off x="1458417" y="2997254"/>
            <a:ext cx="0" cy="1947556"/>
          </a:xfrm>
          <a:prstGeom prst="line">
            <a:avLst/>
          </a:prstGeom>
          <a:ln cap="flat" w="47625">
            <a:solidFill>
              <a:srgbClr val="FF00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0" id="100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02208" y="3415057"/>
            <a:ext cx="4985847" cy="3053824"/>
            <a:chOff x="0" y="0"/>
            <a:chExt cx="1313145" cy="804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3145" cy="804299"/>
            </a:xfrm>
            <a:custGeom>
              <a:avLst/>
              <a:gdLst/>
              <a:ahLst/>
              <a:cxnLst/>
              <a:rect r="r" b="b" t="t" l="l"/>
              <a:pathLst>
                <a:path h="804299" w="1313145">
                  <a:moveTo>
                    <a:pt x="57453" y="0"/>
                  </a:moveTo>
                  <a:lnTo>
                    <a:pt x="1255692" y="0"/>
                  </a:lnTo>
                  <a:cubicBezTo>
                    <a:pt x="1270929" y="0"/>
                    <a:pt x="1285543" y="6053"/>
                    <a:pt x="1296317" y="16828"/>
                  </a:cubicBezTo>
                  <a:cubicBezTo>
                    <a:pt x="1307092" y="27602"/>
                    <a:pt x="1313145" y="42215"/>
                    <a:pt x="1313145" y="57453"/>
                  </a:cubicBezTo>
                  <a:lnTo>
                    <a:pt x="1313145" y="746846"/>
                  </a:lnTo>
                  <a:cubicBezTo>
                    <a:pt x="1313145" y="762084"/>
                    <a:pt x="1307092" y="776697"/>
                    <a:pt x="1296317" y="787472"/>
                  </a:cubicBezTo>
                  <a:cubicBezTo>
                    <a:pt x="1285543" y="798246"/>
                    <a:pt x="1270929" y="804299"/>
                    <a:pt x="1255692" y="804299"/>
                  </a:cubicBezTo>
                  <a:lnTo>
                    <a:pt x="57453" y="804299"/>
                  </a:lnTo>
                  <a:cubicBezTo>
                    <a:pt x="42215" y="804299"/>
                    <a:pt x="27602" y="798246"/>
                    <a:pt x="16828" y="787472"/>
                  </a:cubicBezTo>
                  <a:cubicBezTo>
                    <a:pt x="6053" y="776697"/>
                    <a:pt x="0" y="762084"/>
                    <a:pt x="0" y="746846"/>
                  </a:cubicBezTo>
                  <a:lnTo>
                    <a:pt x="0" y="57453"/>
                  </a:lnTo>
                  <a:cubicBezTo>
                    <a:pt x="0" y="42215"/>
                    <a:pt x="6053" y="27602"/>
                    <a:pt x="16828" y="16828"/>
                  </a:cubicBezTo>
                  <a:cubicBezTo>
                    <a:pt x="27602" y="6053"/>
                    <a:pt x="42215" y="0"/>
                    <a:pt x="57453" y="0"/>
                  </a:cubicBezTo>
                  <a:close/>
                </a:path>
              </a:pathLst>
            </a:custGeom>
            <a:solidFill>
              <a:srgbClr val="FF1300"/>
            </a:solidFill>
            <a:ln w="19050" cap="rnd">
              <a:solidFill>
                <a:srgbClr val="F4ECE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13145" cy="851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973334" y="3717929"/>
            <a:ext cx="443596" cy="428625"/>
          </a:xfrm>
          <a:custGeom>
            <a:avLst/>
            <a:gdLst/>
            <a:ahLst/>
            <a:cxnLst/>
            <a:rect r="r" b="b" t="t" l="l"/>
            <a:pathLst>
              <a:path h="428625" w="443596">
                <a:moveTo>
                  <a:pt x="0" y="0"/>
                </a:moveTo>
                <a:lnTo>
                  <a:pt x="443596" y="0"/>
                </a:lnTo>
                <a:lnTo>
                  <a:pt x="443596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0797" y="4356910"/>
            <a:ext cx="2162377" cy="4441340"/>
            <a:chOff x="0" y="0"/>
            <a:chExt cx="2883170" cy="592178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1971077" y="1248186"/>
              <a:ext cx="589280" cy="808990"/>
              <a:chOff x="0" y="0"/>
              <a:chExt cx="589280" cy="8089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50800" y="42863"/>
                <a:ext cx="487918" cy="714730"/>
              </a:xfrm>
              <a:custGeom>
                <a:avLst/>
                <a:gdLst/>
                <a:ahLst/>
                <a:cxnLst/>
                <a:rect r="r" b="b" t="t" l="l"/>
                <a:pathLst>
                  <a:path h="714730" w="487918">
                    <a:moveTo>
                      <a:pt x="22860" y="470217"/>
                    </a:moveTo>
                    <a:cubicBezTo>
                      <a:pt x="64770" y="441007"/>
                      <a:pt x="87630" y="395287"/>
                      <a:pt x="107950" y="348297"/>
                    </a:cubicBezTo>
                    <a:cubicBezTo>
                      <a:pt x="139700" y="273367"/>
                      <a:pt x="171450" y="99377"/>
                      <a:pt x="203200" y="48577"/>
                    </a:cubicBezTo>
                    <a:cubicBezTo>
                      <a:pt x="215900" y="26987"/>
                      <a:pt x="223520" y="16827"/>
                      <a:pt x="242570" y="9207"/>
                    </a:cubicBezTo>
                    <a:cubicBezTo>
                      <a:pt x="273050" y="-3493"/>
                      <a:pt x="341630" y="-2223"/>
                      <a:pt x="378460" y="7937"/>
                    </a:cubicBezTo>
                    <a:cubicBezTo>
                      <a:pt x="406400" y="15557"/>
                      <a:pt x="434340" y="32067"/>
                      <a:pt x="445770" y="51117"/>
                    </a:cubicBezTo>
                    <a:cubicBezTo>
                      <a:pt x="454660" y="65087"/>
                      <a:pt x="455930" y="84137"/>
                      <a:pt x="452120" y="101917"/>
                    </a:cubicBezTo>
                    <a:cubicBezTo>
                      <a:pt x="448310" y="124777"/>
                      <a:pt x="414020" y="151447"/>
                      <a:pt x="411480" y="176847"/>
                    </a:cubicBezTo>
                    <a:cubicBezTo>
                      <a:pt x="408940" y="203517"/>
                      <a:pt x="419100" y="246697"/>
                      <a:pt x="434340" y="258127"/>
                    </a:cubicBezTo>
                    <a:cubicBezTo>
                      <a:pt x="444500" y="265747"/>
                      <a:pt x="467360" y="251777"/>
                      <a:pt x="476250" y="258127"/>
                    </a:cubicBezTo>
                    <a:cubicBezTo>
                      <a:pt x="485140" y="265747"/>
                      <a:pt x="488950" y="283527"/>
                      <a:pt x="487680" y="300037"/>
                    </a:cubicBezTo>
                    <a:cubicBezTo>
                      <a:pt x="483870" y="327977"/>
                      <a:pt x="439420" y="409257"/>
                      <a:pt x="421640" y="410527"/>
                    </a:cubicBezTo>
                    <a:cubicBezTo>
                      <a:pt x="410210" y="411797"/>
                      <a:pt x="389890" y="381317"/>
                      <a:pt x="392430" y="376237"/>
                    </a:cubicBezTo>
                    <a:cubicBezTo>
                      <a:pt x="394970" y="371157"/>
                      <a:pt x="425450" y="373697"/>
                      <a:pt x="438150" y="382587"/>
                    </a:cubicBezTo>
                    <a:cubicBezTo>
                      <a:pt x="452120" y="391477"/>
                      <a:pt x="466090" y="411797"/>
                      <a:pt x="468630" y="432117"/>
                    </a:cubicBezTo>
                    <a:cubicBezTo>
                      <a:pt x="473710" y="453707"/>
                      <a:pt x="467360" y="489267"/>
                      <a:pt x="452120" y="510857"/>
                    </a:cubicBezTo>
                    <a:cubicBezTo>
                      <a:pt x="436880" y="532447"/>
                      <a:pt x="406400" y="545147"/>
                      <a:pt x="372110" y="559117"/>
                    </a:cubicBezTo>
                    <a:cubicBezTo>
                      <a:pt x="320040" y="579437"/>
                      <a:pt x="207010" y="569277"/>
                      <a:pt x="161290" y="601027"/>
                    </a:cubicBezTo>
                    <a:cubicBezTo>
                      <a:pt x="128270" y="623887"/>
                      <a:pt x="123190" y="679767"/>
                      <a:pt x="102870" y="697547"/>
                    </a:cubicBezTo>
                    <a:cubicBezTo>
                      <a:pt x="90170" y="708977"/>
                      <a:pt x="76200" y="715327"/>
                      <a:pt x="63500" y="714057"/>
                    </a:cubicBezTo>
                    <a:cubicBezTo>
                      <a:pt x="50800" y="714057"/>
                      <a:pt x="33020" y="702627"/>
                      <a:pt x="27940" y="691197"/>
                    </a:cubicBezTo>
                    <a:cubicBezTo>
                      <a:pt x="21590" y="679767"/>
                      <a:pt x="33020" y="640397"/>
                      <a:pt x="31750" y="640397"/>
                    </a:cubicBezTo>
                    <a:cubicBezTo>
                      <a:pt x="31750" y="640397"/>
                      <a:pt x="26670" y="679767"/>
                      <a:pt x="22860" y="679767"/>
                    </a:cubicBezTo>
                    <a:cubicBezTo>
                      <a:pt x="20320" y="679767"/>
                      <a:pt x="16510" y="654367"/>
                      <a:pt x="13970" y="636587"/>
                    </a:cubicBezTo>
                    <a:cubicBezTo>
                      <a:pt x="8890" y="606107"/>
                      <a:pt x="0" y="541337"/>
                      <a:pt x="5080" y="513397"/>
                    </a:cubicBezTo>
                    <a:cubicBezTo>
                      <a:pt x="7620" y="496887"/>
                      <a:pt x="11430" y="484187"/>
                      <a:pt x="21590" y="476567"/>
                    </a:cubicBezTo>
                    <a:cubicBezTo>
                      <a:pt x="30480" y="470217"/>
                      <a:pt x="48260" y="466407"/>
                      <a:pt x="60960" y="468947"/>
                    </a:cubicBezTo>
                    <a:cubicBezTo>
                      <a:pt x="73660" y="471487"/>
                      <a:pt x="90170" y="482917"/>
                      <a:pt x="99060" y="496887"/>
                    </a:cubicBezTo>
                    <a:cubicBezTo>
                      <a:pt x="107950" y="512127"/>
                      <a:pt x="110490" y="540067"/>
                      <a:pt x="106680" y="557847"/>
                    </a:cubicBezTo>
                    <a:cubicBezTo>
                      <a:pt x="104140" y="573087"/>
                      <a:pt x="97790" y="589597"/>
                      <a:pt x="86360" y="595947"/>
                    </a:cubicBezTo>
                    <a:cubicBezTo>
                      <a:pt x="73660" y="603567"/>
                      <a:pt x="43180" y="602297"/>
                      <a:pt x="31750" y="593407"/>
                    </a:cubicBezTo>
                    <a:cubicBezTo>
                      <a:pt x="20320" y="585787"/>
                      <a:pt x="13970" y="566737"/>
                      <a:pt x="15240" y="554037"/>
                    </a:cubicBezTo>
                    <a:cubicBezTo>
                      <a:pt x="16510" y="541337"/>
                      <a:pt x="27940" y="523557"/>
                      <a:pt x="39370" y="518477"/>
                    </a:cubicBezTo>
                    <a:cubicBezTo>
                      <a:pt x="50800" y="512127"/>
                      <a:pt x="71120" y="512127"/>
                      <a:pt x="82550" y="518477"/>
                    </a:cubicBezTo>
                    <a:cubicBezTo>
                      <a:pt x="93980" y="523557"/>
                      <a:pt x="105410" y="541337"/>
                      <a:pt x="106680" y="554037"/>
                    </a:cubicBezTo>
                    <a:cubicBezTo>
                      <a:pt x="107950" y="565467"/>
                      <a:pt x="100330" y="585787"/>
                      <a:pt x="90170" y="593407"/>
                    </a:cubicBezTo>
                    <a:cubicBezTo>
                      <a:pt x="81280" y="601027"/>
                      <a:pt x="60960" y="607377"/>
                      <a:pt x="48260" y="602297"/>
                    </a:cubicBezTo>
                    <a:cubicBezTo>
                      <a:pt x="35560" y="597217"/>
                      <a:pt x="11430" y="570547"/>
                      <a:pt x="15240" y="559117"/>
                    </a:cubicBezTo>
                    <a:cubicBezTo>
                      <a:pt x="19050" y="543877"/>
                      <a:pt x="80010" y="521017"/>
                      <a:pt x="96520" y="531177"/>
                    </a:cubicBezTo>
                    <a:cubicBezTo>
                      <a:pt x="115570" y="543877"/>
                      <a:pt x="110490" y="622617"/>
                      <a:pt x="110490" y="653097"/>
                    </a:cubicBezTo>
                    <a:cubicBezTo>
                      <a:pt x="109220" y="672147"/>
                      <a:pt x="109220" y="688657"/>
                      <a:pt x="102870" y="697547"/>
                    </a:cubicBezTo>
                    <a:cubicBezTo>
                      <a:pt x="99060" y="705167"/>
                      <a:pt x="92710" y="708977"/>
                      <a:pt x="85090" y="711517"/>
                    </a:cubicBezTo>
                    <a:cubicBezTo>
                      <a:pt x="76200" y="714057"/>
                      <a:pt x="62230" y="716597"/>
                      <a:pt x="53340" y="712787"/>
                    </a:cubicBezTo>
                    <a:cubicBezTo>
                      <a:pt x="41910" y="707707"/>
                      <a:pt x="27940" y="692467"/>
                      <a:pt x="24130" y="682307"/>
                    </a:cubicBezTo>
                    <a:cubicBezTo>
                      <a:pt x="20320" y="672147"/>
                      <a:pt x="21590" y="663257"/>
                      <a:pt x="26670" y="649287"/>
                    </a:cubicBezTo>
                    <a:cubicBezTo>
                      <a:pt x="35560" y="621347"/>
                      <a:pt x="73660" y="556577"/>
                      <a:pt x="102870" y="531177"/>
                    </a:cubicBezTo>
                    <a:cubicBezTo>
                      <a:pt x="124460" y="513397"/>
                      <a:pt x="143510" y="509587"/>
                      <a:pt x="175260" y="499427"/>
                    </a:cubicBezTo>
                    <a:cubicBezTo>
                      <a:pt x="226060" y="484187"/>
                      <a:pt x="386080" y="477837"/>
                      <a:pt x="386080" y="466407"/>
                    </a:cubicBezTo>
                    <a:cubicBezTo>
                      <a:pt x="387350" y="461327"/>
                      <a:pt x="355600" y="460057"/>
                      <a:pt x="346710" y="449897"/>
                    </a:cubicBezTo>
                    <a:cubicBezTo>
                      <a:pt x="337820" y="441007"/>
                      <a:pt x="331470" y="425767"/>
                      <a:pt x="330200" y="410527"/>
                    </a:cubicBezTo>
                    <a:cubicBezTo>
                      <a:pt x="330200" y="388937"/>
                      <a:pt x="339090" y="348297"/>
                      <a:pt x="353060" y="335597"/>
                    </a:cubicBezTo>
                    <a:cubicBezTo>
                      <a:pt x="363220" y="325437"/>
                      <a:pt x="393700" y="330517"/>
                      <a:pt x="393700" y="325437"/>
                    </a:cubicBezTo>
                    <a:cubicBezTo>
                      <a:pt x="394970" y="319087"/>
                      <a:pt x="367030" y="314007"/>
                      <a:pt x="355600" y="301307"/>
                    </a:cubicBezTo>
                    <a:cubicBezTo>
                      <a:pt x="341630" y="282257"/>
                      <a:pt x="330200" y="236537"/>
                      <a:pt x="325120" y="212407"/>
                    </a:cubicBezTo>
                    <a:cubicBezTo>
                      <a:pt x="322580" y="195897"/>
                      <a:pt x="320040" y="183197"/>
                      <a:pt x="321310" y="169227"/>
                    </a:cubicBezTo>
                    <a:cubicBezTo>
                      <a:pt x="323850" y="155257"/>
                      <a:pt x="328930" y="140017"/>
                      <a:pt x="336550" y="128587"/>
                    </a:cubicBezTo>
                    <a:cubicBezTo>
                      <a:pt x="344170" y="117157"/>
                      <a:pt x="370840" y="106997"/>
                      <a:pt x="369570" y="98107"/>
                    </a:cubicBezTo>
                    <a:cubicBezTo>
                      <a:pt x="365760" y="87947"/>
                      <a:pt x="309880" y="65087"/>
                      <a:pt x="287020" y="77787"/>
                    </a:cubicBezTo>
                    <a:cubicBezTo>
                      <a:pt x="248920" y="98107"/>
                      <a:pt x="242570" y="241617"/>
                      <a:pt x="214630" y="311467"/>
                    </a:cubicBezTo>
                    <a:cubicBezTo>
                      <a:pt x="191770" y="371157"/>
                      <a:pt x="158750" y="437197"/>
                      <a:pt x="138430" y="471487"/>
                    </a:cubicBezTo>
                    <a:cubicBezTo>
                      <a:pt x="128270" y="487997"/>
                      <a:pt x="125730" y="495617"/>
                      <a:pt x="113030" y="507047"/>
                    </a:cubicBezTo>
                    <a:cubicBezTo>
                      <a:pt x="95250" y="521017"/>
                      <a:pt x="55880" y="543877"/>
                      <a:pt x="36830" y="543877"/>
                    </a:cubicBezTo>
                    <a:cubicBezTo>
                      <a:pt x="26670" y="545147"/>
                      <a:pt x="17780" y="538797"/>
                      <a:pt x="11430" y="533717"/>
                    </a:cubicBezTo>
                    <a:cubicBezTo>
                      <a:pt x="6350" y="527367"/>
                      <a:pt x="0" y="517207"/>
                      <a:pt x="0" y="508317"/>
                    </a:cubicBezTo>
                    <a:cubicBezTo>
                      <a:pt x="1270" y="496887"/>
                      <a:pt x="22860" y="470217"/>
                      <a:pt x="22860" y="470217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2039657" y="1304066"/>
              <a:ext cx="452120" cy="596900"/>
              <a:chOff x="0" y="0"/>
              <a:chExt cx="452120" cy="5969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50800" y="50607"/>
                <a:ext cx="350520" cy="494223"/>
              </a:xfrm>
              <a:custGeom>
                <a:avLst/>
                <a:gdLst/>
                <a:ahLst/>
                <a:cxnLst/>
                <a:rect r="r" b="b" t="t" l="l"/>
                <a:pathLst>
                  <a:path h="494223" w="350520">
                    <a:moveTo>
                      <a:pt x="0" y="457393"/>
                    </a:moveTo>
                    <a:cubicBezTo>
                      <a:pt x="1270" y="445963"/>
                      <a:pt x="2540" y="442153"/>
                      <a:pt x="3810" y="439613"/>
                    </a:cubicBezTo>
                    <a:cubicBezTo>
                      <a:pt x="5080" y="437073"/>
                      <a:pt x="6350" y="433263"/>
                      <a:pt x="7620" y="430723"/>
                    </a:cubicBezTo>
                    <a:cubicBezTo>
                      <a:pt x="10160" y="429453"/>
                      <a:pt x="11430" y="426913"/>
                      <a:pt x="15240" y="424373"/>
                    </a:cubicBezTo>
                    <a:cubicBezTo>
                      <a:pt x="21590" y="418023"/>
                      <a:pt x="36830" y="406593"/>
                      <a:pt x="46990" y="398973"/>
                    </a:cubicBezTo>
                    <a:cubicBezTo>
                      <a:pt x="57150" y="391353"/>
                      <a:pt x="76200" y="385003"/>
                      <a:pt x="76200" y="376113"/>
                    </a:cubicBezTo>
                    <a:cubicBezTo>
                      <a:pt x="77470" y="365953"/>
                      <a:pt x="45720" y="351983"/>
                      <a:pt x="43180" y="338013"/>
                    </a:cubicBezTo>
                    <a:cubicBezTo>
                      <a:pt x="39370" y="324043"/>
                      <a:pt x="48260" y="306263"/>
                      <a:pt x="55880" y="291023"/>
                    </a:cubicBezTo>
                    <a:cubicBezTo>
                      <a:pt x="63500" y="274513"/>
                      <a:pt x="77470" y="256733"/>
                      <a:pt x="88900" y="241493"/>
                    </a:cubicBezTo>
                    <a:cubicBezTo>
                      <a:pt x="99060" y="226253"/>
                      <a:pt x="110490" y="212283"/>
                      <a:pt x="120650" y="198313"/>
                    </a:cubicBezTo>
                    <a:cubicBezTo>
                      <a:pt x="128270" y="185613"/>
                      <a:pt x="135890" y="171643"/>
                      <a:pt x="142240" y="158943"/>
                    </a:cubicBezTo>
                    <a:cubicBezTo>
                      <a:pt x="148590" y="147513"/>
                      <a:pt x="153670" y="136083"/>
                      <a:pt x="157480" y="123383"/>
                    </a:cubicBezTo>
                    <a:cubicBezTo>
                      <a:pt x="160020" y="110683"/>
                      <a:pt x="157480" y="94173"/>
                      <a:pt x="161290" y="80203"/>
                    </a:cubicBezTo>
                    <a:cubicBezTo>
                      <a:pt x="165100" y="66233"/>
                      <a:pt x="171450" y="53533"/>
                      <a:pt x="179070" y="42103"/>
                    </a:cubicBezTo>
                    <a:cubicBezTo>
                      <a:pt x="186690" y="31943"/>
                      <a:pt x="195580" y="21783"/>
                      <a:pt x="205740" y="15433"/>
                    </a:cubicBezTo>
                    <a:cubicBezTo>
                      <a:pt x="217170" y="7813"/>
                      <a:pt x="233680" y="193"/>
                      <a:pt x="247650" y="193"/>
                    </a:cubicBezTo>
                    <a:cubicBezTo>
                      <a:pt x="261620" y="-1077"/>
                      <a:pt x="281940" y="4003"/>
                      <a:pt x="292100" y="12893"/>
                    </a:cubicBezTo>
                    <a:cubicBezTo>
                      <a:pt x="303530" y="23053"/>
                      <a:pt x="311150" y="40833"/>
                      <a:pt x="313690" y="54803"/>
                    </a:cubicBezTo>
                    <a:cubicBezTo>
                      <a:pt x="314960" y="70043"/>
                      <a:pt x="306070" y="87823"/>
                      <a:pt x="302260" y="103063"/>
                    </a:cubicBezTo>
                    <a:cubicBezTo>
                      <a:pt x="299720" y="117033"/>
                      <a:pt x="293370" y="128463"/>
                      <a:pt x="294640" y="141163"/>
                    </a:cubicBezTo>
                    <a:cubicBezTo>
                      <a:pt x="297180" y="155133"/>
                      <a:pt x="309880" y="167833"/>
                      <a:pt x="316230" y="180533"/>
                    </a:cubicBezTo>
                    <a:cubicBezTo>
                      <a:pt x="323850" y="193233"/>
                      <a:pt x="331470" y="204663"/>
                      <a:pt x="336550" y="218633"/>
                    </a:cubicBezTo>
                    <a:cubicBezTo>
                      <a:pt x="342900" y="231333"/>
                      <a:pt x="349250" y="246573"/>
                      <a:pt x="350520" y="261813"/>
                    </a:cubicBezTo>
                    <a:cubicBezTo>
                      <a:pt x="350520" y="277053"/>
                      <a:pt x="337820" y="292293"/>
                      <a:pt x="337820" y="307533"/>
                    </a:cubicBezTo>
                    <a:cubicBezTo>
                      <a:pt x="337820" y="321503"/>
                      <a:pt x="350520" y="334203"/>
                      <a:pt x="350520" y="348173"/>
                    </a:cubicBezTo>
                    <a:cubicBezTo>
                      <a:pt x="350520" y="362143"/>
                      <a:pt x="346710" y="382463"/>
                      <a:pt x="337820" y="393893"/>
                    </a:cubicBezTo>
                    <a:cubicBezTo>
                      <a:pt x="327660" y="405323"/>
                      <a:pt x="300990" y="412943"/>
                      <a:pt x="293370" y="414213"/>
                    </a:cubicBezTo>
                    <a:cubicBezTo>
                      <a:pt x="290830" y="415483"/>
                      <a:pt x="290830" y="414213"/>
                      <a:pt x="287020" y="414213"/>
                    </a:cubicBezTo>
                    <a:cubicBezTo>
                      <a:pt x="280670" y="414213"/>
                      <a:pt x="264160" y="419293"/>
                      <a:pt x="251460" y="421833"/>
                    </a:cubicBezTo>
                    <a:cubicBezTo>
                      <a:pt x="237490" y="423103"/>
                      <a:pt x="222250" y="424373"/>
                      <a:pt x="207010" y="425643"/>
                    </a:cubicBezTo>
                    <a:cubicBezTo>
                      <a:pt x="193040" y="425643"/>
                      <a:pt x="179070" y="423103"/>
                      <a:pt x="166370" y="424373"/>
                    </a:cubicBezTo>
                    <a:cubicBezTo>
                      <a:pt x="153670" y="426913"/>
                      <a:pt x="140970" y="429453"/>
                      <a:pt x="128270" y="434533"/>
                    </a:cubicBezTo>
                    <a:cubicBezTo>
                      <a:pt x="116840" y="440883"/>
                      <a:pt x="106680" y="451043"/>
                      <a:pt x="95250" y="459933"/>
                    </a:cubicBezTo>
                    <a:cubicBezTo>
                      <a:pt x="85090" y="467553"/>
                      <a:pt x="71120" y="480253"/>
                      <a:pt x="63500" y="485333"/>
                    </a:cubicBezTo>
                    <a:cubicBezTo>
                      <a:pt x="59690" y="487873"/>
                      <a:pt x="58420" y="489143"/>
                      <a:pt x="55880" y="490413"/>
                    </a:cubicBezTo>
                    <a:cubicBezTo>
                      <a:pt x="53340" y="491683"/>
                      <a:pt x="49530" y="492953"/>
                      <a:pt x="46990" y="492953"/>
                    </a:cubicBezTo>
                    <a:cubicBezTo>
                      <a:pt x="43180" y="494223"/>
                      <a:pt x="40640" y="494223"/>
                      <a:pt x="36830" y="494223"/>
                    </a:cubicBezTo>
                    <a:cubicBezTo>
                      <a:pt x="34290" y="494223"/>
                      <a:pt x="30480" y="492953"/>
                      <a:pt x="27940" y="492953"/>
                    </a:cubicBezTo>
                    <a:cubicBezTo>
                      <a:pt x="25400" y="491683"/>
                      <a:pt x="21590" y="490413"/>
                      <a:pt x="19050" y="489143"/>
                    </a:cubicBezTo>
                    <a:cubicBezTo>
                      <a:pt x="16510" y="486603"/>
                      <a:pt x="13970" y="485333"/>
                      <a:pt x="11430" y="482793"/>
                    </a:cubicBezTo>
                    <a:cubicBezTo>
                      <a:pt x="10160" y="480253"/>
                      <a:pt x="7620" y="477713"/>
                      <a:pt x="6350" y="475173"/>
                    </a:cubicBezTo>
                    <a:cubicBezTo>
                      <a:pt x="3810" y="472633"/>
                      <a:pt x="2540" y="470093"/>
                      <a:pt x="2540" y="467553"/>
                    </a:cubicBezTo>
                    <a:cubicBezTo>
                      <a:pt x="1270" y="463743"/>
                      <a:pt x="0" y="457393"/>
                      <a:pt x="0" y="457393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1" id="11"/>
            <p:cNvGrpSpPr/>
            <p:nvPr/>
          </p:nvGrpSpPr>
          <p:grpSpPr>
            <a:xfrm rot="1189643">
              <a:off x="1860587" y="1804446"/>
              <a:ext cx="294640" cy="466090"/>
              <a:chOff x="0" y="0"/>
              <a:chExt cx="294640" cy="4660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50763" y="50800"/>
                <a:ext cx="195229" cy="364611"/>
              </a:xfrm>
              <a:custGeom>
                <a:avLst/>
                <a:gdLst/>
                <a:ahLst/>
                <a:cxnLst/>
                <a:rect r="r" b="b" t="t" l="l"/>
                <a:pathLst>
                  <a:path h="364611" w="195229">
                    <a:moveTo>
                      <a:pt x="127037" y="156210"/>
                    </a:moveTo>
                    <a:cubicBezTo>
                      <a:pt x="114337" y="270510"/>
                      <a:pt x="96557" y="323850"/>
                      <a:pt x="77507" y="344170"/>
                    </a:cubicBezTo>
                    <a:cubicBezTo>
                      <a:pt x="64807" y="356870"/>
                      <a:pt x="48297" y="365760"/>
                      <a:pt x="35597" y="364490"/>
                    </a:cubicBezTo>
                    <a:cubicBezTo>
                      <a:pt x="22897" y="361950"/>
                      <a:pt x="5117" y="347980"/>
                      <a:pt x="1307" y="331470"/>
                    </a:cubicBezTo>
                    <a:cubicBezTo>
                      <a:pt x="-5043" y="297180"/>
                      <a:pt x="63537" y="212090"/>
                      <a:pt x="83857" y="154940"/>
                    </a:cubicBezTo>
                    <a:cubicBezTo>
                      <a:pt x="100367" y="106680"/>
                      <a:pt x="97827" y="36830"/>
                      <a:pt x="116877" y="15240"/>
                    </a:cubicBezTo>
                    <a:cubicBezTo>
                      <a:pt x="127037" y="2540"/>
                      <a:pt x="143547" y="0"/>
                      <a:pt x="154977" y="0"/>
                    </a:cubicBezTo>
                    <a:cubicBezTo>
                      <a:pt x="165137" y="1270"/>
                      <a:pt x="175297" y="5080"/>
                      <a:pt x="180377" y="12700"/>
                    </a:cubicBezTo>
                    <a:cubicBezTo>
                      <a:pt x="189267" y="22860"/>
                      <a:pt x="193077" y="52070"/>
                      <a:pt x="189267" y="64770"/>
                    </a:cubicBezTo>
                    <a:cubicBezTo>
                      <a:pt x="185457" y="73660"/>
                      <a:pt x="176567" y="81280"/>
                      <a:pt x="167677" y="83820"/>
                    </a:cubicBezTo>
                    <a:cubicBezTo>
                      <a:pt x="157517" y="87630"/>
                      <a:pt x="137197" y="87630"/>
                      <a:pt x="127037" y="81280"/>
                    </a:cubicBezTo>
                    <a:cubicBezTo>
                      <a:pt x="116877" y="74930"/>
                      <a:pt x="107987" y="57150"/>
                      <a:pt x="106717" y="45720"/>
                    </a:cubicBezTo>
                    <a:cubicBezTo>
                      <a:pt x="105447" y="36830"/>
                      <a:pt x="107987" y="25400"/>
                      <a:pt x="114337" y="19050"/>
                    </a:cubicBezTo>
                    <a:cubicBezTo>
                      <a:pt x="123227" y="8890"/>
                      <a:pt x="151167" y="-1270"/>
                      <a:pt x="165137" y="2540"/>
                    </a:cubicBezTo>
                    <a:cubicBezTo>
                      <a:pt x="176567" y="5080"/>
                      <a:pt x="187997" y="16510"/>
                      <a:pt x="193077" y="33020"/>
                    </a:cubicBezTo>
                    <a:cubicBezTo>
                      <a:pt x="201967" y="63500"/>
                      <a:pt x="181647" y="140970"/>
                      <a:pt x="162597" y="193040"/>
                    </a:cubicBezTo>
                    <a:cubicBezTo>
                      <a:pt x="141007" y="248920"/>
                      <a:pt x="94017" y="339090"/>
                      <a:pt x="63537" y="358140"/>
                    </a:cubicBezTo>
                    <a:cubicBezTo>
                      <a:pt x="50837" y="365760"/>
                      <a:pt x="35597" y="365760"/>
                      <a:pt x="25437" y="360680"/>
                    </a:cubicBezTo>
                    <a:cubicBezTo>
                      <a:pt x="14007" y="355600"/>
                      <a:pt x="1307" y="337820"/>
                      <a:pt x="37" y="321310"/>
                    </a:cubicBezTo>
                    <a:cubicBezTo>
                      <a:pt x="-1233" y="298450"/>
                      <a:pt x="30517" y="264160"/>
                      <a:pt x="40677" y="232410"/>
                    </a:cubicBezTo>
                    <a:cubicBezTo>
                      <a:pt x="50837" y="200660"/>
                      <a:pt x="43217" y="146050"/>
                      <a:pt x="59727" y="129540"/>
                    </a:cubicBezTo>
                    <a:cubicBezTo>
                      <a:pt x="69887" y="118110"/>
                      <a:pt x="91477" y="115570"/>
                      <a:pt x="102907" y="119380"/>
                    </a:cubicBezTo>
                    <a:cubicBezTo>
                      <a:pt x="114337" y="124460"/>
                      <a:pt x="127037" y="156210"/>
                      <a:pt x="127037" y="1562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83170" cy="5921786"/>
            </a:xfrm>
            <a:custGeom>
              <a:avLst/>
              <a:gdLst/>
              <a:ahLst/>
              <a:cxnLst/>
              <a:rect r="r" b="b" t="t" l="l"/>
              <a:pathLst>
                <a:path h="5921786" w="2883170">
                  <a:moveTo>
                    <a:pt x="0" y="0"/>
                  </a:moveTo>
                  <a:lnTo>
                    <a:pt x="2883170" y="0"/>
                  </a:lnTo>
                  <a:lnTo>
                    <a:pt x="2883170" y="5921786"/>
                  </a:lnTo>
                  <a:lnTo>
                    <a:pt x="0" y="5921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695512" y="4086864"/>
            <a:ext cx="3811267" cy="45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2"/>
              </a:lnSpc>
              <a:spcBef>
                <a:spcPct val="0"/>
              </a:spcBef>
            </a:pPr>
            <a:r>
              <a:rPr lang="en-US" b="true" sz="270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Early Demand Signals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29143" y="4173275"/>
            <a:ext cx="37319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Customer Validation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47503" y="4711755"/>
            <a:ext cx="3895257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160 Interviews</a:t>
            </a: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96% report cycle impacts performance</a:t>
            </a: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86% want a personalised solution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68344" y="789913"/>
            <a:ext cx="4870198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Traction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26486" y="2153313"/>
            <a:ext cx="8753915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On track to launch to </a:t>
            </a:r>
            <a:r>
              <a:rPr lang="en-US" sz="3200" b="true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250 users in Q4 2</a:t>
            </a:r>
            <a:r>
              <a:rPr lang="en-US" sz="3200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97699" y="7411855"/>
            <a:ext cx="6292602" cy="88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RUNNER-UP – IE VENTURE LAB (200+ STARTUPS)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FINALIST IN IE ENTREPRENEURSHIP SUMMIT (60 STARTUPS))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2ND PLACE - ESADE SHARK TANK (100+ STARTUPS)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44455" y="5129177"/>
            <a:ext cx="85725" cy="82868"/>
            <a:chOff x="0" y="0"/>
            <a:chExt cx="114300" cy="1104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6798" y="50800"/>
              <a:ext cx="5432" cy="4877"/>
            </a:xfrm>
            <a:custGeom>
              <a:avLst/>
              <a:gdLst/>
              <a:ahLst/>
              <a:cxnLst/>
              <a:rect r="r" b="b" t="t" l="l"/>
              <a:pathLst>
                <a:path h="4877" w="5432">
                  <a:moveTo>
                    <a:pt x="5432" y="3810"/>
                  </a:moveTo>
                  <a:cubicBezTo>
                    <a:pt x="-5998" y="7620"/>
                    <a:pt x="4162" y="0"/>
                    <a:pt x="4162" y="0"/>
                  </a:cubicBezTo>
                </a:path>
              </a:pathLst>
            </a:custGeom>
            <a:solidFill>
              <a:srgbClr val="2D2E3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44455" y="5124414"/>
            <a:ext cx="94298" cy="92392"/>
            <a:chOff x="0" y="0"/>
            <a:chExt cx="125730" cy="1231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9748" y="49927"/>
              <a:ext cx="23912" cy="20208"/>
            </a:xfrm>
            <a:custGeom>
              <a:avLst/>
              <a:gdLst/>
              <a:ahLst/>
              <a:cxnLst/>
              <a:rect r="r" b="b" t="t" l="l"/>
              <a:pathLst>
                <a:path h="20208" w="23912">
                  <a:moveTo>
                    <a:pt x="23912" y="7223"/>
                  </a:moveTo>
                  <a:cubicBezTo>
                    <a:pt x="13752" y="23733"/>
                    <a:pt x="3592" y="21193"/>
                    <a:pt x="1052" y="17383"/>
                  </a:cubicBezTo>
                  <a:cubicBezTo>
                    <a:pt x="-1488" y="13573"/>
                    <a:pt x="1052" y="3413"/>
                    <a:pt x="3592" y="873"/>
                  </a:cubicBezTo>
                  <a:cubicBezTo>
                    <a:pt x="7402" y="-1667"/>
                    <a:pt x="21372" y="2143"/>
                    <a:pt x="21372" y="2143"/>
                  </a:cubicBezTo>
                </a:path>
              </a:pathLst>
            </a:custGeom>
            <a:solidFill>
              <a:srgbClr val="2D2E3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5030352" y="4838011"/>
            <a:ext cx="2413990" cy="3678175"/>
          </a:xfrm>
          <a:custGeom>
            <a:avLst/>
            <a:gdLst/>
            <a:ahLst/>
            <a:cxnLst/>
            <a:rect r="r" b="b" t="t" l="l"/>
            <a:pathLst>
              <a:path h="3678175" w="2413990">
                <a:moveTo>
                  <a:pt x="0" y="0"/>
                </a:moveTo>
                <a:lnTo>
                  <a:pt x="2413990" y="0"/>
                </a:lnTo>
                <a:lnTo>
                  <a:pt x="2413990" y="3678175"/>
                </a:lnTo>
                <a:lnTo>
                  <a:pt x="0" y="36781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62236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7788593" y="8366570"/>
            <a:ext cx="78105" cy="86677"/>
            <a:chOff x="0" y="0"/>
            <a:chExt cx="104140" cy="1155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0800" y="50800"/>
              <a:ext cx="1270" cy="5644"/>
            </a:xfrm>
            <a:custGeom>
              <a:avLst/>
              <a:gdLst/>
              <a:ahLst/>
              <a:cxnLst/>
              <a:rect r="r" b="b" t="t" l="l"/>
              <a:pathLst>
                <a:path h="5644" w="1270">
                  <a:moveTo>
                    <a:pt x="1270" y="0"/>
                  </a:moveTo>
                  <a:cubicBezTo>
                    <a:pt x="0" y="1270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28700" y="8427458"/>
            <a:ext cx="2014405" cy="47625"/>
            <a:chOff x="0" y="0"/>
            <a:chExt cx="2685873" cy="63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9747" y="19098"/>
              <a:ext cx="2544875" cy="31058"/>
            </a:xfrm>
            <a:custGeom>
              <a:avLst/>
              <a:gdLst/>
              <a:ahLst/>
              <a:cxnLst/>
              <a:rect r="r" b="b" t="t" l="l"/>
              <a:pathLst>
                <a:path h="31058" w="2544875">
                  <a:moveTo>
                    <a:pt x="2405" y="0"/>
                  </a:moveTo>
                  <a:cubicBezTo>
                    <a:pt x="2506094" y="18620"/>
                    <a:pt x="2538562" y="17665"/>
                    <a:pt x="2543974" y="20052"/>
                  </a:cubicBezTo>
                  <a:cubicBezTo>
                    <a:pt x="2547581" y="21485"/>
                    <a:pt x="2538562" y="24827"/>
                    <a:pt x="2538562" y="24827"/>
                  </a:cubicBezTo>
                  <a:cubicBezTo>
                    <a:pt x="2538562" y="24827"/>
                    <a:pt x="2543974" y="20052"/>
                    <a:pt x="2543974" y="20052"/>
                  </a:cubicBezTo>
                  <a:cubicBezTo>
                    <a:pt x="2543974" y="20052"/>
                    <a:pt x="2547581" y="23394"/>
                    <a:pt x="2540366" y="24827"/>
                  </a:cubicBezTo>
                  <a:cubicBezTo>
                    <a:pt x="2462802" y="41060"/>
                    <a:pt x="69146" y="22440"/>
                    <a:pt x="2405" y="4774"/>
                  </a:cubicBezTo>
                  <a:cubicBezTo>
                    <a:pt x="-3006" y="2864"/>
                    <a:pt x="2405" y="0"/>
                    <a:pt x="2405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5524989" y="8427720"/>
            <a:ext cx="1734311" cy="47625"/>
            <a:chOff x="0" y="0"/>
            <a:chExt cx="2312414" cy="63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0049" y="19098"/>
              <a:ext cx="2191021" cy="31058"/>
            </a:xfrm>
            <a:custGeom>
              <a:avLst/>
              <a:gdLst/>
              <a:ahLst/>
              <a:cxnLst/>
              <a:rect r="r" b="b" t="t" l="l"/>
              <a:pathLst>
                <a:path h="31058" w="2191021">
                  <a:moveTo>
                    <a:pt x="2071" y="0"/>
                  </a:moveTo>
                  <a:cubicBezTo>
                    <a:pt x="2157632" y="18620"/>
                    <a:pt x="2185586" y="17665"/>
                    <a:pt x="2190245" y="20052"/>
                  </a:cubicBezTo>
                  <a:cubicBezTo>
                    <a:pt x="2193351" y="21485"/>
                    <a:pt x="2185586" y="24827"/>
                    <a:pt x="2185586" y="24827"/>
                  </a:cubicBezTo>
                  <a:cubicBezTo>
                    <a:pt x="2185586" y="24827"/>
                    <a:pt x="2190245" y="20052"/>
                    <a:pt x="2190245" y="20052"/>
                  </a:cubicBezTo>
                  <a:cubicBezTo>
                    <a:pt x="2190245" y="20052"/>
                    <a:pt x="2193351" y="23394"/>
                    <a:pt x="2187139" y="24827"/>
                  </a:cubicBezTo>
                  <a:cubicBezTo>
                    <a:pt x="2120360" y="41060"/>
                    <a:pt x="59532" y="22440"/>
                    <a:pt x="2071" y="4774"/>
                  </a:cubicBezTo>
                  <a:cubicBezTo>
                    <a:pt x="-2588" y="2864"/>
                    <a:pt x="2071" y="0"/>
                    <a:pt x="2071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7273" r="-2829" b="-10909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9644455" y="3415057"/>
            <a:ext cx="4985847" cy="3053824"/>
            <a:chOff x="0" y="0"/>
            <a:chExt cx="1313145" cy="80429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13145" cy="804299"/>
            </a:xfrm>
            <a:custGeom>
              <a:avLst/>
              <a:gdLst/>
              <a:ahLst/>
              <a:cxnLst/>
              <a:rect r="r" b="b" t="t" l="l"/>
              <a:pathLst>
                <a:path h="804299" w="1313145">
                  <a:moveTo>
                    <a:pt x="57453" y="0"/>
                  </a:moveTo>
                  <a:lnTo>
                    <a:pt x="1255692" y="0"/>
                  </a:lnTo>
                  <a:cubicBezTo>
                    <a:pt x="1270929" y="0"/>
                    <a:pt x="1285543" y="6053"/>
                    <a:pt x="1296317" y="16828"/>
                  </a:cubicBezTo>
                  <a:cubicBezTo>
                    <a:pt x="1307092" y="27602"/>
                    <a:pt x="1313145" y="42215"/>
                    <a:pt x="1313145" y="57453"/>
                  </a:cubicBezTo>
                  <a:lnTo>
                    <a:pt x="1313145" y="746846"/>
                  </a:lnTo>
                  <a:cubicBezTo>
                    <a:pt x="1313145" y="762084"/>
                    <a:pt x="1307092" y="776697"/>
                    <a:pt x="1296317" y="787472"/>
                  </a:cubicBezTo>
                  <a:cubicBezTo>
                    <a:pt x="1285543" y="798246"/>
                    <a:pt x="1270929" y="804299"/>
                    <a:pt x="1255692" y="804299"/>
                  </a:cubicBezTo>
                  <a:lnTo>
                    <a:pt x="57453" y="804299"/>
                  </a:lnTo>
                  <a:cubicBezTo>
                    <a:pt x="42215" y="804299"/>
                    <a:pt x="27602" y="798246"/>
                    <a:pt x="16828" y="787472"/>
                  </a:cubicBezTo>
                  <a:cubicBezTo>
                    <a:pt x="6053" y="776697"/>
                    <a:pt x="0" y="762084"/>
                    <a:pt x="0" y="746846"/>
                  </a:cubicBezTo>
                  <a:lnTo>
                    <a:pt x="0" y="57453"/>
                  </a:lnTo>
                  <a:cubicBezTo>
                    <a:pt x="0" y="42215"/>
                    <a:pt x="6053" y="27602"/>
                    <a:pt x="16828" y="16828"/>
                  </a:cubicBezTo>
                  <a:cubicBezTo>
                    <a:pt x="27602" y="6053"/>
                    <a:pt x="42215" y="0"/>
                    <a:pt x="57453" y="0"/>
                  </a:cubicBezTo>
                  <a:close/>
                </a:path>
              </a:pathLst>
            </a:custGeom>
            <a:solidFill>
              <a:srgbClr val="FF1300"/>
            </a:solidFill>
            <a:ln w="19050" cap="rnd">
              <a:solidFill>
                <a:srgbClr val="F4ECE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313145" cy="851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1920018" y="3706090"/>
            <a:ext cx="434722" cy="428399"/>
          </a:xfrm>
          <a:custGeom>
            <a:avLst/>
            <a:gdLst/>
            <a:ahLst/>
            <a:cxnLst/>
            <a:rect r="r" b="b" t="t" l="l"/>
            <a:pathLst>
              <a:path h="428399" w="434722">
                <a:moveTo>
                  <a:pt x="0" y="0"/>
                </a:moveTo>
                <a:lnTo>
                  <a:pt x="434722" y="0"/>
                </a:lnTo>
                <a:lnTo>
                  <a:pt x="434722" y="428399"/>
                </a:lnTo>
                <a:lnTo>
                  <a:pt x="0" y="4283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163751" y="4166596"/>
            <a:ext cx="3947255" cy="48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7"/>
              </a:lnSpc>
              <a:spcBef>
                <a:spcPct val="0"/>
              </a:spcBef>
            </a:pPr>
            <a:r>
              <a:rPr lang="en-US" b="true" sz="2797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Demand Signals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131223" y="4680631"/>
            <a:ext cx="4012312" cy="151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4952" indent="-187476" lvl="1">
              <a:lnSpc>
                <a:spcPts val="2431"/>
              </a:lnSpc>
              <a:buFont typeface="Arial"/>
              <a:buChar char="•"/>
            </a:pPr>
            <a:r>
              <a:rPr lang="en-US" sz="173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150+ Women Waitlist</a:t>
            </a:r>
          </a:p>
          <a:p>
            <a:pPr algn="l" marL="374952" indent="-187476" lvl="1">
              <a:lnSpc>
                <a:spcPts val="2431"/>
              </a:lnSpc>
              <a:buFont typeface="Arial"/>
              <a:buChar char="•"/>
            </a:pPr>
            <a:r>
              <a:rPr lang="en-US" sz="173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40k+</a:t>
            </a:r>
            <a:r>
              <a:rPr lang="en-US" sz="173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Organic Views</a:t>
            </a:r>
          </a:p>
          <a:p>
            <a:pPr algn="l" marL="374952" indent="-187476" lvl="1">
              <a:lnSpc>
                <a:spcPts val="2431"/>
              </a:lnSpc>
              <a:buFont typeface="Arial"/>
              <a:buChar char="•"/>
            </a:pPr>
            <a:r>
              <a:rPr lang="en-US" sz="173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University + Corporate Partnerships</a:t>
            </a:r>
          </a:p>
          <a:p>
            <a:pPr algn="l" marL="374952" indent="-187476" lvl="1">
              <a:lnSpc>
                <a:spcPts val="2431"/>
              </a:lnSpc>
              <a:buFont typeface="Arial"/>
              <a:buChar char="•"/>
            </a:pPr>
            <a:r>
              <a:rPr lang="en-US" sz="173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40 women piloting wave 1</a:t>
            </a:r>
          </a:p>
          <a:p>
            <a:pPr algn="l" marL="374952" indent="-187476" lvl="1">
              <a:lnSpc>
                <a:spcPts val="2431"/>
              </a:lnSpc>
              <a:buFont typeface="Arial"/>
              <a:buChar char="•"/>
            </a:pPr>
            <a:r>
              <a:rPr lang="en-US" sz="173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150+ women piloting wave 2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84901" y="2289745"/>
            <a:ext cx="14118197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Four revenue streams, subscription first, B2B as the multiplier, clinical partnerships as the moa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65641" y="1276350"/>
            <a:ext cx="8633094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Business Model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8104" y="3052379"/>
            <a:ext cx="7658392" cy="1933478"/>
            <a:chOff x="0" y="0"/>
            <a:chExt cx="10211190" cy="257797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211190" cy="2577971"/>
              <a:chOff x="0" y="0"/>
              <a:chExt cx="2017025" cy="509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17025" cy="509229"/>
              </a:xfrm>
              <a:custGeom>
                <a:avLst/>
                <a:gdLst/>
                <a:ahLst/>
                <a:cxnLst/>
                <a:rect r="r" b="b" t="t" l="l"/>
                <a:pathLst>
                  <a:path h="509229" w="2017025">
                    <a:moveTo>
                      <a:pt x="39425" y="0"/>
                    </a:moveTo>
                    <a:lnTo>
                      <a:pt x="1977600" y="0"/>
                    </a:lnTo>
                    <a:cubicBezTo>
                      <a:pt x="1988056" y="0"/>
                      <a:pt x="1998084" y="4154"/>
                      <a:pt x="2005478" y="11547"/>
                    </a:cubicBezTo>
                    <a:cubicBezTo>
                      <a:pt x="2012871" y="18941"/>
                      <a:pt x="2017025" y="28969"/>
                      <a:pt x="2017025" y="39425"/>
                    </a:cubicBezTo>
                    <a:lnTo>
                      <a:pt x="2017025" y="469803"/>
                    </a:lnTo>
                    <a:cubicBezTo>
                      <a:pt x="2017025" y="491577"/>
                      <a:pt x="1999374" y="509229"/>
                      <a:pt x="1977600" y="509229"/>
                    </a:cubicBezTo>
                    <a:lnTo>
                      <a:pt x="39425" y="509229"/>
                    </a:lnTo>
                    <a:cubicBezTo>
                      <a:pt x="17651" y="509229"/>
                      <a:pt x="0" y="491577"/>
                      <a:pt x="0" y="469803"/>
                    </a:cubicBezTo>
                    <a:lnTo>
                      <a:pt x="0" y="39425"/>
                    </a:lnTo>
                    <a:cubicBezTo>
                      <a:pt x="0" y="17651"/>
                      <a:pt x="17651" y="0"/>
                      <a:pt x="39425" y="0"/>
                    </a:cubicBezTo>
                    <a:close/>
                  </a:path>
                </a:pathLst>
              </a:custGeom>
              <a:solidFill>
                <a:srgbClr val="FF004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017025" cy="547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61076" y="0"/>
              <a:ext cx="9950114" cy="2577971"/>
              <a:chOff x="0" y="0"/>
              <a:chExt cx="1965455" cy="50922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65455" cy="509229"/>
              </a:xfrm>
              <a:custGeom>
                <a:avLst/>
                <a:gdLst/>
                <a:ahLst/>
                <a:cxnLst/>
                <a:rect r="r" b="b" t="t" l="l"/>
                <a:pathLst>
                  <a:path h="509229" w="1965455">
                    <a:moveTo>
                      <a:pt x="40460" y="0"/>
                    </a:moveTo>
                    <a:lnTo>
                      <a:pt x="1924995" y="0"/>
                    </a:lnTo>
                    <a:cubicBezTo>
                      <a:pt x="1935725" y="0"/>
                      <a:pt x="1946016" y="4263"/>
                      <a:pt x="1953604" y="11850"/>
                    </a:cubicBezTo>
                    <a:cubicBezTo>
                      <a:pt x="1961192" y="19438"/>
                      <a:pt x="1965455" y="29729"/>
                      <a:pt x="1965455" y="40460"/>
                    </a:cubicBezTo>
                    <a:lnTo>
                      <a:pt x="1965455" y="468769"/>
                    </a:lnTo>
                    <a:cubicBezTo>
                      <a:pt x="1965455" y="479500"/>
                      <a:pt x="1961192" y="489791"/>
                      <a:pt x="1953604" y="497378"/>
                    </a:cubicBezTo>
                    <a:cubicBezTo>
                      <a:pt x="1946016" y="504966"/>
                      <a:pt x="1935725" y="509229"/>
                      <a:pt x="1924995" y="509229"/>
                    </a:cubicBezTo>
                    <a:lnTo>
                      <a:pt x="40460" y="509229"/>
                    </a:lnTo>
                    <a:cubicBezTo>
                      <a:pt x="29729" y="509229"/>
                      <a:pt x="19438" y="504966"/>
                      <a:pt x="11850" y="497378"/>
                    </a:cubicBezTo>
                    <a:cubicBezTo>
                      <a:pt x="4263" y="489791"/>
                      <a:pt x="0" y="479500"/>
                      <a:pt x="0" y="468769"/>
                    </a:cubicBezTo>
                    <a:lnTo>
                      <a:pt x="0" y="40460"/>
                    </a:lnTo>
                    <a:cubicBezTo>
                      <a:pt x="0" y="29729"/>
                      <a:pt x="4263" y="19438"/>
                      <a:pt x="11850" y="11850"/>
                    </a:cubicBezTo>
                    <a:cubicBezTo>
                      <a:pt x="19438" y="4263"/>
                      <a:pt x="29729" y="0"/>
                      <a:pt x="404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75" cap="rnd">
                <a:solidFill>
                  <a:srgbClr val="FF1300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965455" cy="547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79296" y="732801"/>
              <a:ext cx="2940191" cy="5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  <a:spcBef>
                  <a:spcPct val="0"/>
                </a:spcBef>
              </a:pPr>
              <a:r>
                <a:rPr lang="en-US" sz="2514" b="true">
                  <a:solidFill>
                    <a:srgbClr val="FF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€4.99</a:t>
              </a:r>
              <a:r>
                <a:rPr lang="en-US" sz="251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/mo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79296" y="138653"/>
              <a:ext cx="4974648" cy="6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B2C BASIC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79296" y="1344031"/>
              <a:ext cx="9196265" cy="814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0"/>
                </a:lnSpc>
                <a:spcBef>
                  <a:spcPct val="0"/>
                </a:spcBef>
              </a:pPr>
              <a:r>
                <a:rPr lang="en-US" sz="1814" spc="58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Core subscription. Cycle aware nutrition + fitness plans. Penetration pricing to maximise Y1 user volume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41503" y="3052379"/>
            <a:ext cx="7658392" cy="1933478"/>
            <a:chOff x="0" y="0"/>
            <a:chExt cx="10211190" cy="257797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875561" cy="2577971"/>
              <a:chOff x="0" y="0"/>
              <a:chExt cx="1950728" cy="50922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50728" cy="509229"/>
              </a:xfrm>
              <a:custGeom>
                <a:avLst/>
                <a:gdLst/>
                <a:ahLst/>
                <a:cxnLst/>
                <a:rect r="r" b="b" t="t" l="l"/>
                <a:pathLst>
                  <a:path h="509229" w="1950728">
                    <a:moveTo>
                      <a:pt x="40765" y="0"/>
                    </a:moveTo>
                    <a:lnTo>
                      <a:pt x="1909963" y="0"/>
                    </a:lnTo>
                    <a:cubicBezTo>
                      <a:pt x="1932477" y="0"/>
                      <a:pt x="1950728" y="18251"/>
                      <a:pt x="1950728" y="40765"/>
                    </a:cubicBezTo>
                    <a:lnTo>
                      <a:pt x="1950728" y="468464"/>
                    </a:lnTo>
                    <a:cubicBezTo>
                      <a:pt x="1950728" y="479275"/>
                      <a:pt x="1946433" y="489644"/>
                      <a:pt x="1938788" y="497289"/>
                    </a:cubicBezTo>
                    <a:cubicBezTo>
                      <a:pt x="1931143" y="504934"/>
                      <a:pt x="1920774" y="509229"/>
                      <a:pt x="1909963" y="509229"/>
                    </a:cubicBezTo>
                    <a:lnTo>
                      <a:pt x="40765" y="509229"/>
                    </a:lnTo>
                    <a:cubicBezTo>
                      <a:pt x="18251" y="509229"/>
                      <a:pt x="0" y="490978"/>
                      <a:pt x="0" y="468464"/>
                    </a:cubicBezTo>
                    <a:lnTo>
                      <a:pt x="0" y="40765"/>
                    </a:lnTo>
                    <a:cubicBezTo>
                      <a:pt x="0" y="29954"/>
                      <a:pt x="4295" y="19585"/>
                      <a:pt x="11940" y="11940"/>
                    </a:cubicBezTo>
                    <a:cubicBezTo>
                      <a:pt x="19585" y="4295"/>
                      <a:pt x="29954" y="0"/>
                      <a:pt x="40765" y="0"/>
                    </a:cubicBezTo>
                    <a:close/>
                  </a:path>
                </a:pathLst>
              </a:custGeom>
              <a:solidFill>
                <a:srgbClr val="FF8E05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950728" cy="547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61076" y="0"/>
              <a:ext cx="9950114" cy="2577971"/>
              <a:chOff x="0" y="0"/>
              <a:chExt cx="1965455" cy="50922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65455" cy="509229"/>
              </a:xfrm>
              <a:custGeom>
                <a:avLst/>
                <a:gdLst/>
                <a:ahLst/>
                <a:cxnLst/>
                <a:rect r="r" b="b" t="t" l="l"/>
                <a:pathLst>
                  <a:path h="509229" w="1965455">
                    <a:moveTo>
                      <a:pt x="40460" y="0"/>
                    </a:moveTo>
                    <a:lnTo>
                      <a:pt x="1924995" y="0"/>
                    </a:lnTo>
                    <a:cubicBezTo>
                      <a:pt x="1935725" y="0"/>
                      <a:pt x="1946016" y="4263"/>
                      <a:pt x="1953604" y="11850"/>
                    </a:cubicBezTo>
                    <a:cubicBezTo>
                      <a:pt x="1961192" y="19438"/>
                      <a:pt x="1965455" y="29729"/>
                      <a:pt x="1965455" y="40460"/>
                    </a:cubicBezTo>
                    <a:lnTo>
                      <a:pt x="1965455" y="468769"/>
                    </a:lnTo>
                    <a:cubicBezTo>
                      <a:pt x="1965455" y="479500"/>
                      <a:pt x="1961192" y="489791"/>
                      <a:pt x="1953604" y="497378"/>
                    </a:cubicBezTo>
                    <a:cubicBezTo>
                      <a:pt x="1946016" y="504966"/>
                      <a:pt x="1935725" y="509229"/>
                      <a:pt x="1924995" y="509229"/>
                    </a:cubicBezTo>
                    <a:lnTo>
                      <a:pt x="40460" y="509229"/>
                    </a:lnTo>
                    <a:cubicBezTo>
                      <a:pt x="29729" y="509229"/>
                      <a:pt x="19438" y="504966"/>
                      <a:pt x="11850" y="497378"/>
                    </a:cubicBezTo>
                    <a:cubicBezTo>
                      <a:pt x="4263" y="489791"/>
                      <a:pt x="0" y="479500"/>
                      <a:pt x="0" y="468769"/>
                    </a:cubicBezTo>
                    <a:lnTo>
                      <a:pt x="0" y="40460"/>
                    </a:lnTo>
                    <a:cubicBezTo>
                      <a:pt x="0" y="29729"/>
                      <a:pt x="4263" y="19438"/>
                      <a:pt x="11850" y="11850"/>
                    </a:cubicBezTo>
                    <a:cubicBezTo>
                      <a:pt x="19438" y="4263"/>
                      <a:pt x="29729" y="0"/>
                      <a:pt x="404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75" cap="rnd">
                <a:solidFill>
                  <a:srgbClr val="FF8E05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965455" cy="547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79296" y="732801"/>
              <a:ext cx="2940191" cy="5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  <a:spcBef>
                  <a:spcPct val="0"/>
                </a:spcBef>
              </a:pPr>
              <a:r>
                <a:rPr lang="en-US" sz="2514" b="true">
                  <a:solidFill>
                    <a:srgbClr val="FF8C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€12.99</a:t>
              </a:r>
              <a:r>
                <a:rPr lang="en-US" sz="251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/mo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79296" y="138653"/>
              <a:ext cx="4974648" cy="6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B2C PREMIUM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79296" y="1344031"/>
              <a:ext cx="9196265" cy="814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0"/>
                </a:lnSpc>
                <a:spcBef>
                  <a:spcPct val="0"/>
                </a:spcBef>
              </a:pPr>
              <a:r>
                <a:rPr lang="en-US" sz="1814" spc="58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Launches month 13. AI personalised cycle plans + clinical consultation booking. 160% more revenue per user 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560498" y="6062141"/>
            <a:ext cx="2205144" cy="43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2514" spc="8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€3.99</a:t>
            </a:r>
            <a:r>
              <a:rPr lang="en-US" sz="2514" spc="8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/mo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21156" y="5462320"/>
            <a:ext cx="2883827" cy="65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2"/>
              </a:lnSpc>
            </a:pPr>
            <a:r>
              <a:rPr lang="en-US" sz="26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B2B CORPORATE WELLBEING 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41503" y="5301143"/>
            <a:ext cx="7658392" cy="1933478"/>
            <a:chOff x="0" y="0"/>
            <a:chExt cx="10211190" cy="2577971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9875561" cy="2577971"/>
              <a:chOff x="0" y="0"/>
              <a:chExt cx="1950728" cy="50922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950728" cy="509229"/>
              </a:xfrm>
              <a:custGeom>
                <a:avLst/>
                <a:gdLst/>
                <a:ahLst/>
                <a:cxnLst/>
                <a:rect r="r" b="b" t="t" l="l"/>
                <a:pathLst>
                  <a:path h="509229" w="1950728">
                    <a:moveTo>
                      <a:pt x="40765" y="0"/>
                    </a:moveTo>
                    <a:lnTo>
                      <a:pt x="1909963" y="0"/>
                    </a:lnTo>
                    <a:cubicBezTo>
                      <a:pt x="1932477" y="0"/>
                      <a:pt x="1950728" y="18251"/>
                      <a:pt x="1950728" y="40765"/>
                    </a:cubicBezTo>
                    <a:lnTo>
                      <a:pt x="1950728" y="468464"/>
                    </a:lnTo>
                    <a:cubicBezTo>
                      <a:pt x="1950728" y="479275"/>
                      <a:pt x="1946433" y="489644"/>
                      <a:pt x="1938788" y="497289"/>
                    </a:cubicBezTo>
                    <a:cubicBezTo>
                      <a:pt x="1931143" y="504934"/>
                      <a:pt x="1920774" y="509229"/>
                      <a:pt x="1909963" y="509229"/>
                    </a:cubicBezTo>
                    <a:lnTo>
                      <a:pt x="40765" y="509229"/>
                    </a:lnTo>
                    <a:cubicBezTo>
                      <a:pt x="18251" y="509229"/>
                      <a:pt x="0" y="490978"/>
                      <a:pt x="0" y="468464"/>
                    </a:cubicBezTo>
                    <a:lnTo>
                      <a:pt x="0" y="40765"/>
                    </a:lnTo>
                    <a:cubicBezTo>
                      <a:pt x="0" y="29954"/>
                      <a:pt x="4295" y="19585"/>
                      <a:pt x="11940" y="11940"/>
                    </a:cubicBezTo>
                    <a:cubicBezTo>
                      <a:pt x="19585" y="4295"/>
                      <a:pt x="29954" y="0"/>
                      <a:pt x="40765" y="0"/>
                    </a:cubicBezTo>
                    <a:close/>
                  </a:path>
                </a:pathLst>
              </a:custGeom>
              <a:solidFill>
                <a:srgbClr val="FF004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950728" cy="547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61076" y="0"/>
              <a:ext cx="9950114" cy="2577971"/>
              <a:chOff x="0" y="0"/>
              <a:chExt cx="1965455" cy="50922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965455" cy="509229"/>
              </a:xfrm>
              <a:custGeom>
                <a:avLst/>
                <a:gdLst/>
                <a:ahLst/>
                <a:cxnLst/>
                <a:rect r="r" b="b" t="t" l="l"/>
                <a:pathLst>
                  <a:path h="509229" w="1965455">
                    <a:moveTo>
                      <a:pt x="40460" y="0"/>
                    </a:moveTo>
                    <a:lnTo>
                      <a:pt x="1924995" y="0"/>
                    </a:lnTo>
                    <a:cubicBezTo>
                      <a:pt x="1935725" y="0"/>
                      <a:pt x="1946016" y="4263"/>
                      <a:pt x="1953604" y="11850"/>
                    </a:cubicBezTo>
                    <a:cubicBezTo>
                      <a:pt x="1961192" y="19438"/>
                      <a:pt x="1965455" y="29729"/>
                      <a:pt x="1965455" y="40460"/>
                    </a:cubicBezTo>
                    <a:lnTo>
                      <a:pt x="1965455" y="468769"/>
                    </a:lnTo>
                    <a:cubicBezTo>
                      <a:pt x="1965455" y="479500"/>
                      <a:pt x="1961192" y="489791"/>
                      <a:pt x="1953604" y="497378"/>
                    </a:cubicBezTo>
                    <a:cubicBezTo>
                      <a:pt x="1946016" y="504966"/>
                      <a:pt x="1935725" y="509229"/>
                      <a:pt x="1924995" y="509229"/>
                    </a:cubicBezTo>
                    <a:lnTo>
                      <a:pt x="40460" y="509229"/>
                    </a:lnTo>
                    <a:cubicBezTo>
                      <a:pt x="29729" y="509229"/>
                      <a:pt x="19438" y="504966"/>
                      <a:pt x="11850" y="497378"/>
                    </a:cubicBezTo>
                    <a:cubicBezTo>
                      <a:pt x="4263" y="489791"/>
                      <a:pt x="0" y="479500"/>
                      <a:pt x="0" y="468769"/>
                    </a:cubicBezTo>
                    <a:lnTo>
                      <a:pt x="0" y="40460"/>
                    </a:lnTo>
                    <a:cubicBezTo>
                      <a:pt x="0" y="29729"/>
                      <a:pt x="4263" y="19438"/>
                      <a:pt x="11850" y="11850"/>
                    </a:cubicBezTo>
                    <a:cubicBezTo>
                      <a:pt x="19438" y="4263"/>
                      <a:pt x="29729" y="0"/>
                      <a:pt x="404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75" cap="rnd">
                <a:solidFill>
                  <a:srgbClr val="FF1300"/>
                </a:soli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965455" cy="547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679296" y="732801"/>
              <a:ext cx="4258484" cy="5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  <a:spcBef>
                  <a:spcPct val="0"/>
                </a:spcBef>
              </a:pPr>
              <a:r>
                <a:rPr lang="en-US" sz="2514" b="true">
                  <a:solidFill>
                    <a:srgbClr val="FF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€500-8K</a:t>
              </a:r>
              <a:r>
                <a:rPr lang="en-US" sz="251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/source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679296" y="138653"/>
              <a:ext cx="7263758" cy="6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-1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CLINICAL + EVENTS + BRAND 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679296" y="1344031"/>
              <a:ext cx="9196265" cy="814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0"/>
                </a:lnSpc>
                <a:spcBef>
                  <a:spcPct val="0"/>
                </a:spcBef>
              </a:pPr>
              <a:r>
                <a:rPr lang="en-US" sz="1814" spc="58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Clinic referral fees, paid workshops/masterclasses, and founder brand partnerships as social audience scales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8104" y="5301143"/>
            <a:ext cx="7406671" cy="1933478"/>
            <a:chOff x="0" y="0"/>
            <a:chExt cx="1950728" cy="5092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50728" cy="509229"/>
            </a:xfrm>
            <a:custGeom>
              <a:avLst/>
              <a:gdLst/>
              <a:ahLst/>
              <a:cxnLst/>
              <a:rect r="r" b="b" t="t" l="l"/>
              <a:pathLst>
                <a:path h="509229" w="1950728">
                  <a:moveTo>
                    <a:pt x="40765" y="0"/>
                  </a:moveTo>
                  <a:lnTo>
                    <a:pt x="1909963" y="0"/>
                  </a:lnTo>
                  <a:cubicBezTo>
                    <a:pt x="1932477" y="0"/>
                    <a:pt x="1950728" y="18251"/>
                    <a:pt x="1950728" y="40765"/>
                  </a:cubicBezTo>
                  <a:lnTo>
                    <a:pt x="1950728" y="468464"/>
                  </a:lnTo>
                  <a:cubicBezTo>
                    <a:pt x="1950728" y="479275"/>
                    <a:pt x="1946433" y="489644"/>
                    <a:pt x="1938788" y="497289"/>
                  </a:cubicBezTo>
                  <a:cubicBezTo>
                    <a:pt x="1931143" y="504934"/>
                    <a:pt x="1920774" y="509229"/>
                    <a:pt x="1909963" y="509229"/>
                  </a:cubicBezTo>
                  <a:lnTo>
                    <a:pt x="40765" y="509229"/>
                  </a:lnTo>
                  <a:cubicBezTo>
                    <a:pt x="18251" y="509229"/>
                    <a:pt x="0" y="490978"/>
                    <a:pt x="0" y="468464"/>
                  </a:cubicBezTo>
                  <a:lnTo>
                    <a:pt x="0" y="40765"/>
                  </a:lnTo>
                  <a:cubicBezTo>
                    <a:pt x="0" y="29954"/>
                    <a:pt x="4295" y="19585"/>
                    <a:pt x="11940" y="11940"/>
                  </a:cubicBezTo>
                  <a:cubicBezTo>
                    <a:pt x="19585" y="4295"/>
                    <a:pt x="29954" y="0"/>
                    <a:pt x="40765" y="0"/>
                  </a:cubicBezTo>
                  <a:close/>
                </a:path>
              </a:pathLst>
            </a:custGeom>
            <a:solidFill>
              <a:srgbClr val="FF8E05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950728" cy="54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83911" y="5301143"/>
            <a:ext cx="7462585" cy="1933478"/>
            <a:chOff x="0" y="0"/>
            <a:chExt cx="1965455" cy="5092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65455" cy="509229"/>
            </a:xfrm>
            <a:custGeom>
              <a:avLst/>
              <a:gdLst/>
              <a:ahLst/>
              <a:cxnLst/>
              <a:rect r="r" b="b" t="t" l="l"/>
              <a:pathLst>
                <a:path h="509229" w="1965455">
                  <a:moveTo>
                    <a:pt x="40460" y="0"/>
                  </a:moveTo>
                  <a:lnTo>
                    <a:pt x="1924995" y="0"/>
                  </a:lnTo>
                  <a:cubicBezTo>
                    <a:pt x="1935725" y="0"/>
                    <a:pt x="1946016" y="4263"/>
                    <a:pt x="1953604" y="11850"/>
                  </a:cubicBezTo>
                  <a:cubicBezTo>
                    <a:pt x="1961192" y="19438"/>
                    <a:pt x="1965455" y="29729"/>
                    <a:pt x="1965455" y="40460"/>
                  </a:cubicBezTo>
                  <a:lnTo>
                    <a:pt x="1965455" y="468769"/>
                  </a:lnTo>
                  <a:cubicBezTo>
                    <a:pt x="1965455" y="479500"/>
                    <a:pt x="1961192" y="489791"/>
                    <a:pt x="1953604" y="497378"/>
                  </a:cubicBezTo>
                  <a:cubicBezTo>
                    <a:pt x="1946016" y="504966"/>
                    <a:pt x="1935725" y="509229"/>
                    <a:pt x="1924995" y="509229"/>
                  </a:cubicBezTo>
                  <a:lnTo>
                    <a:pt x="40460" y="509229"/>
                  </a:lnTo>
                  <a:cubicBezTo>
                    <a:pt x="29729" y="509229"/>
                    <a:pt x="19438" y="504966"/>
                    <a:pt x="11850" y="497378"/>
                  </a:cubicBezTo>
                  <a:cubicBezTo>
                    <a:pt x="4263" y="489791"/>
                    <a:pt x="0" y="479500"/>
                    <a:pt x="0" y="468769"/>
                  </a:cubicBezTo>
                  <a:lnTo>
                    <a:pt x="0" y="40460"/>
                  </a:lnTo>
                  <a:cubicBezTo>
                    <a:pt x="0" y="29729"/>
                    <a:pt x="4263" y="19438"/>
                    <a:pt x="11850" y="11850"/>
                  </a:cubicBezTo>
                  <a:cubicBezTo>
                    <a:pt x="19438" y="4263"/>
                    <a:pt x="29729" y="0"/>
                    <a:pt x="40460" y="0"/>
                  </a:cubicBezTo>
                  <a:close/>
                </a:path>
              </a:pathLst>
            </a:custGeom>
            <a:solidFill>
              <a:srgbClr val="FFFFFF"/>
            </a:solidFill>
            <a:ln w="142875" cap="rnd">
              <a:solidFill>
                <a:srgbClr val="FF8E05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965455" cy="54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797576" y="5836457"/>
            <a:ext cx="2205144" cy="43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  <a:spcBef>
                <a:spcPct val="0"/>
              </a:spcBef>
            </a:pPr>
            <a:r>
              <a:rPr lang="en-US" sz="2514" b="true">
                <a:solidFill>
                  <a:srgbClr val="FF8C00"/>
                </a:solidFill>
                <a:latin typeface="Aileron Bold"/>
                <a:ea typeface="Aileron Bold"/>
                <a:cs typeface="Aileron Bold"/>
                <a:sym typeface="Aileron Bold"/>
              </a:rPr>
              <a:t>€3.99</a:t>
            </a:r>
            <a:r>
              <a:rPr lang="en-US" sz="251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/mo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97576" y="5383702"/>
            <a:ext cx="559005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B2B CORPORATE WELLBEING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97576" y="6299642"/>
            <a:ext cx="6897198" cy="62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  <a:spcBef>
                <a:spcPct val="0"/>
              </a:spcBef>
            </a:pPr>
            <a:r>
              <a:rPr lang="en-US" sz="1814" spc="5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Corporate wellness contracts. Warm leads active. Avg 150 employees = €7,182/yr per contract. Renews at €5.99. 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28700" y="7477972"/>
            <a:ext cx="1855103" cy="1754129"/>
            <a:chOff x="0" y="0"/>
            <a:chExt cx="2473471" cy="2338838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2473471" cy="2338838"/>
              <a:chOff x="0" y="0"/>
              <a:chExt cx="859588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5958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9588">
                    <a:moveTo>
                      <a:pt x="429794" y="0"/>
                    </a:moveTo>
                    <a:cubicBezTo>
                      <a:pt x="192425" y="0"/>
                      <a:pt x="0" y="181951"/>
                      <a:pt x="0" y="406400"/>
                    </a:cubicBezTo>
                    <a:cubicBezTo>
                      <a:pt x="0" y="630849"/>
                      <a:pt x="192425" y="812800"/>
                      <a:pt x="429794" y="812800"/>
                    </a:cubicBezTo>
                    <a:cubicBezTo>
                      <a:pt x="667163" y="812800"/>
                      <a:pt x="859588" y="630849"/>
                      <a:pt x="859588" y="406400"/>
                    </a:cubicBezTo>
                    <a:cubicBezTo>
                      <a:pt x="859588" y="181951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80586" y="28575"/>
                <a:ext cx="698415" cy="708025"/>
              </a:xfrm>
              <a:prstGeom prst="rect">
                <a:avLst/>
              </a:prstGeom>
            </p:spPr>
            <p:txBody>
              <a:bodyPr anchor="ctr" rtlCol="false" tIns="69046" lIns="69046" bIns="69046" rIns="69046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367790" y="347771"/>
              <a:ext cx="1737890" cy="1649185"/>
              <a:chOff x="0" y="0"/>
              <a:chExt cx="859588" cy="815713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59588" cy="815713"/>
              </a:xfrm>
              <a:custGeom>
                <a:avLst/>
                <a:gdLst/>
                <a:ahLst/>
                <a:cxnLst/>
                <a:rect r="r" b="b" t="t" l="l"/>
                <a:pathLst>
                  <a:path h="815713" w="859588">
                    <a:moveTo>
                      <a:pt x="429794" y="0"/>
                    </a:moveTo>
                    <a:cubicBezTo>
                      <a:pt x="192425" y="0"/>
                      <a:pt x="0" y="182604"/>
                      <a:pt x="0" y="407856"/>
                    </a:cubicBezTo>
                    <a:cubicBezTo>
                      <a:pt x="0" y="633109"/>
                      <a:pt x="192425" y="815713"/>
                      <a:pt x="429794" y="815713"/>
                    </a:cubicBezTo>
                    <a:cubicBezTo>
                      <a:pt x="667163" y="815713"/>
                      <a:pt x="859588" y="633109"/>
                      <a:pt x="859588" y="407856"/>
                    </a:cubicBezTo>
                    <a:cubicBezTo>
                      <a:pt x="859588" y="182604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80586" y="38373"/>
                <a:ext cx="698415" cy="700867"/>
              </a:xfrm>
              <a:prstGeom prst="rect">
                <a:avLst/>
              </a:prstGeom>
            </p:spPr>
            <p:txBody>
              <a:bodyPr anchor="ctr" rtlCol="false" tIns="59517" lIns="59517" bIns="59517" rIns="59517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686823" y="578152"/>
              <a:ext cx="1099825" cy="564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  <a:spcBef>
                  <a:spcPct val="0"/>
                </a:spcBef>
              </a:pPr>
              <a:r>
                <a:rPr lang="en-US" b="true" sz="2544" spc="-193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13.6x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595367" y="1104800"/>
              <a:ext cx="1282738" cy="633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7"/>
                </a:lnSpc>
              </a:pPr>
              <a:r>
                <a:rPr lang="en-US" sz="1616" spc="-106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LTV:CAC</a:t>
              </a:r>
            </a:p>
            <a:p>
              <a:pPr algn="ctr">
                <a:lnSpc>
                  <a:spcPts val="1827"/>
                </a:lnSpc>
              </a:pPr>
              <a:r>
                <a:rPr lang="en-US" sz="1616" spc="-106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ORGANIC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424616" y="7477972"/>
            <a:ext cx="1855103" cy="1754129"/>
            <a:chOff x="0" y="0"/>
            <a:chExt cx="2473471" cy="2338838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2473471" cy="2338838"/>
              <a:chOff x="0" y="0"/>
              <a:chExt cx="859588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5958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9588">
                    <a:moveTo>
                      <a:pt x="429794" y="0"/>
                    </a:moveTo>
                    <a:cubicBezTo>
                      <a:pt x="192425" y="0"/>
                      <a:pt x="0" y="181951"/>
                      <a:pt x="0" y="406400"/>
                    </a:cubicBezTo>
                    <a:cubicBezTo>
                      <a:pt x="0" y="630849"/>
                      <a:pt x="192425" y="812800"/>
                      <a:pt x="429794" y="812800"/>
                    </a:cubicBezTo>
                    <a:cubicBezTo>
                      <a:pt x="667163" y="812800"/>
                      <a:pt x="859588" y="630849"/>
                      <a:pt x="859588" y="406400"/>
                    </a:cubicBezTo>
                    <a:cubicBezTo>
                      <a:pt x="859588" y="181951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80586" y="28575"/>
                <a:ext cx="698415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367790" y="347771"/>
              <a:ext cx="1737890" cy="1649185"/>
              <a:chOff x="0" y="0"/>
              <a:chExt cx="859588" cy="815713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859588" cy="815713"/>
              </a:xfrm>
              <a:custGeom>
                <a:avLst/>
                <a:gdLst/>
                <a:ahLst/>
                <a:cxnLst/>
                <a:rect r="r" b="b" t="t" l="l"/>
                <a:pathLst>
                  <a:path h="815713" w="859588">
                    <a:moveTo>
                      <a:pt x="429794" y="0"/>
                    </a:moveTo>
                    <a:cubicBezTo>
                      <a:pt x="192425" y="0"/>
                      <a:pt x="0" y="182604"/>
                      <a:pt x="0" y="407856"/>
                    </a:cubicBezTo>
                    <a:cubicBezTo>
                      <a:pt x="0" y="633109"/>
                      <a:pt x="192425" y="815713"/>
                      <a:pt x="429794" y="815713"/>
                    </a:cubicBezTo>
                    <a:cubicBezTo>
                      <a:pt x="667163" y="815713"/>
                      <a:pt x="859588" y="633109"/>
                      <a:pt x="859588" y="407856"/>
                    </a:cubicBezTo>
                    <a:cubicBezTo>
                      <a:pt x="859588" y="182604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80586" y="38373"/>
                <a:ext cx="698415" cy="700867"/>
              </a:xfrm>
              <a:prstGeom prst="rect">
                <a:avLst/>
              </a:prstGeom>
            </p:spPr>
            <p:txBody>
              <a:bodyPr anchor="ctr" rtlCol="false" tIns="43789" lIns="43789" bIns="43789" rIns="43789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686823" y="718992"/>
              <a:ext cx="1099825" cy="564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  <a:spcBef>
                  <a:spcPct val="0"/>
                </a:spcBef>
              </a:pPr>
              <a:r>
                <a:rPr lang="en-US" b="true" sz="2544" spc="-193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2.85x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595367" y="1245639"/>
              <a:ext cx="1282738" cy="3265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7"/>
                </a:lnSpc>
              </a:pPr>
              <a:r>
                <a:rPr lang="en-US" sz="1616" spc="-106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LTV:CAC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820532" y="7477972"/>
            <a:ext cx="1855103" cy="1754129"/>
            <a:chOff x="0" y="0"/>
            <a:chExt cx="2473471" cy="2338838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2473471" cy="2338838"/>
              <a:chOff x="0" y="0"/>
              <a:chExt cx="859588" cy="812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5958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9588">
                    <a:moveTo>
                      <a:pt x="429794" y="0"/>
                    </a:moveTo>
                    <a:cubicBezTo>
                      <a:pt x="192425" y="0"/>
                      <a:pt x="0" y="181951"/>
                      <a:pt x="0" y="406400"/>
                    </a:cubicBezTo>
                    <a:cubicBezTo>
                      <a:pt x="0" y="630849"/>
                      <a:pt x="192425" y="812800"/>
                      <a:pt x="429794" y="812800"/>
                    </a:cubicBezTo>
                    <a:cubicBezTo>
                      <a:pt x="667163" y="812800"/>
                      <a:pt x="859588" y="630849"/>
                      <a:pt x="859588" y="406400"/>
                    </a:cubicBezTo>
                    <a:cubicBezTo>
                      <a:pt x="859588" y="181951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80586" y="28575"/>
                <a:ext cx="698415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367790" y="347771"/>
              <a:ext cx="1737890" cy="1649185"/>
              <a:chOff x="0" y="0"/>
              <a:chExt cx="859588" cy="815713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859588" cy="815713"/>
              </a:xfrm>
              <a:custGeom>
                <a:avLst/>
                <a:gdLst/>
                <a:ahLst/>
                <a:cxnLst/>
                <a:rect r="r" b="b" t="t" l="l"/>
                <a:pathLst>
                  <a:path h="815713" w="859588">
                    <a:moveTo>
                      <a:pt x="429794" y="0"/>
                    </a:moveTo>
                    <a:cubicBezTo>
                      <a:pt x="192425" y="0"/>
                      <a:pt x="0" y="182604"/>
                      <a:pt x="0" y="407856"/>
                    </a:cubicBezTo>
                    <a:cubicBezTo>
                      <a:pt x="0" y="633109"/>
                      <a:pt x="192425" y="815713"/>
                      <a:pt x="429794" y="815713"/>
                    </a:cubicBezTo>
                    <a:cubicBezTo>
                      <a:pt x="667163" y="815713"/>
                      <a:pt x="859588" y="633109"/>
                      <a:pt x="859588" y="407856"/>
                    </a:cubicBezTo>
                    <a:cubicBezTo>
                      <a:pt x="859588" y="182604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80586" y="38373"/>
                <a:ext cx="698415" cy="700867"/>
              </a:xfrm>
              <a:prstGeom prst="rect">
                <a:avLst/>
              </a:prstGeom>
            </p:spPr>
            <p:txBody>
              <a:bodyPr anchor="ctr" rtlCol="false" tIns="43789" lIns="43789" bIns="43789" rIns="43789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686823" y="718992"/>
              <a:ext cx="1099825" cy="564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  <a:spcBef>
                  <a:spcPct val="0"/>
                </a:spcBef>
              </a:pPr>
              <a:r>
                <a:rPr lang="en-US" b="true" sz="2544" spc="-193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€4.20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595367" y="1245639"/>
              <a:ext cx="1282738" cy="633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7"/>
                </a:lnSpc>
              </a:pPr>
              <a:r>
                <a:rPr lang="en-US" sz="1616" spc="-106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CAC </a:t>
              </a:r>
            </a:p>
            <a:p>
              <a:pPr algn="ctr">
                <a:lnSpc>
                  <a:spcPts val="1827"/>
                </a:lnSpc>
              </a:pPr>
              <a:r>
                <a:rPr lang="en-US" sz="1616" spc="-106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ORGANIC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216448" y="7477972"/>
            <a:ext cx="1855103" cy="1754129"/>
            <a:chOff x="0" y="0"/>
            <a:chExt cx="2473471" cy="2338838"/>
          </a:xfrm>
        </p:grpSpPr>
        <p:grpSp>
          <p:nvGrpSpPr>
            <p:cNvPr name="Group 73" id="73"/>
            <p:cNvGrpSpPr/>
            <p:nvPr/>
          </p:nvGrpSpPr>
          <p:grpSpPr>
            <a:xfrm rot="0">
              <a:off x="0" y="0"/>
              <a:ext cx="2473471" cy="2338838"/>
              <a:chOff x="0" y="0"/>
              <a:chExt cx="859588" cy="81280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5958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9588">
                    <a:moveTo>
                      <a:pt x="429794" y="0"/>
                    </a:moveTo>
                    <a:cubicBezTo>
                      <a:pt x="192425" y="0"/>
                      <a:pt x="0" y="181951"/>
                      <a:pt x="0" y="406400"/>
                    </a:cubicBezTo>
                    <a:cubicBezTo>
                      <a:pt x="0" y="630849"/>
                      <a:pt x="192425" y="812800"/>
                      <a:pt x="429794" y="812800"/>
                    </a:cubicBezTo>
                    <a:cubicBezTo>
                      <a:pt x="667163" y="812800"/>
                      <a:pt x="859588" y="630849"/>
                      <a:pt x="859588" y="406400"/>
                    </a:cubicBezTo>
                    <a:cubicBezTo>
                      <a:pt x="859588" y="181951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80586" y="28575"/>
                <a:ext cx="698415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367790" y="347771"/>
              <a:ext cx="1737890" cy="1649185"/>
              <a:chOff x="0" y="0"/>
              <a:chExt cx="859588" cy="81571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859588" cy="815713"/>
              </a:xfrm>
              <a:custGeom>
                <a:avLst/>
                <a:gdLst/>
                <a:ahLst/>
                <a:cxnLst/>
                <a:rect r="r" b="b" t="t" l="l"/>
                <a:pathLst>
                  <a:path h="815713" w="859588">
                    <a:moveTo>
                      <a:pt x="429794" y="0"/>
                    </a:moveTo>
                    <a:cubicBezTo>
                      <a:pt x="192425" y="0"/>
                      <a:pt x="0" y="182604"/>
                      <a:pt x="0" y="407856"/>
                    </a:cubicBezTo>
                    <a:cubicBezTo>
                      <a:pt x="0" y="633109"/>
                      <a:pt x="192425" y="815713"/>
                      <a:pt x="429794" y="815713"/>
                    </a:cubicBezTo>
                    <a:cubicBezTo>
                      <a:pt x="667163" y="815713"/>
                      <a:pt x="859588" y="633109"/>
                      <a:pt x="859588" y="407856"/>
                    </a:cubicBezTo>
                    <a:cubicBezTo>
                      <a:pt x="859588" y="182604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80586" y="38373"/>
                <a:ext cx="698415" cy="700867"/>
              </a:xfrm>
              <a:prstGeom prst="rect">
                <a:avLst/>
              </a:prstGeom>
            </p:spPr>
            <p:txBody>
              <a:bodyPr anchor="ctr" rtlCol="false" tIns="43789" lIns="43789" bIns="43789" rIns="43789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79" id="79"/>
            <p:cNvSpPr txBox="true"/>
            <p:nvPr/>
          </p:nvSpPr>
          <p:spPr>
            <a:xfrm rot="0">
              <a:off x="686823" y="718992"/>
              <a:ext cx="1099825" cy="564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  <a:spcBef>
                  <a:spcPct val="0"/>
                </a:spcBef>
              </a:pPr>
              <a:r>
                <a:rPr lang="en-US" b="true" sz="2544" spc="-193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€20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595367" y="1245639"/>
              <a:ext cx="1282738" cy="3265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7"/>
                </a:lnSpc>
              </a:pPr>
              <a:r>
                <a:rPr lang="en-US" sz="1616" spc="-106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CAC 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612364" y="7477972"/>
            <a:ext cx="1855103" cy="1754129"/>
            <a:chOff x="0" y="0"/>
            <a:chExt cx="2473471" cy="2338838"/>
          </a:xfrm>
        </p:grpSpPr>
        <p:grpSp>
          <p:nvGrpSpPr>
            <p:cNvPr name="Group 82" id="82"/>
            <p:cNvGrpSpPr/>
            <p:nvPr/>
          </p:nvGrpSpPr>
          <p:grpSpPr>
            <a:xfrm rot="0">
              <a:off x="0" y="0"/>
              <a:ext cx="2473471" cy="2338838"/>
              <a:chOff x="0" y="0"/>
              <a:chExt cx="859588" cy="81280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85958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9588">
                    <a:moveTo>
                      <a:pt x="429794" y="0"/>
                    </a:moveTo>
                    <a:cubicBezTo>
                      <a:pt x="192425" y="0"/>
                      <a:pt x="0" y="181951"/>
                      <a:pt x="0" y="406400"/>
                    </a:cubicBezTo>
                    <a:cubicBezTo>
                      <a:pt x="0" y="630849"/>
                      <a:pt x="192425" y="812800"/>
                      <a:pt x="429794" y="812800"/>
                    </a:cubicBezTo>
                    <a:cubicBezTo>
                      <a:pt x="667163" y="812800"/>
                      <a:pt x="859588" y="630849"/>
                      <a:pt x="859588" y="406400"/>
                    </a:cubicBezTo>
                    <a:cubicBezTo>
                      <a:pt x="859588" y="181951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80586" y="28575"/>
                <a:ext cx="698415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0">
              <a:off x="367790" y="347771"/>
              <a:ext cx="1737890" cy="1649185"/>
              <a:chOff x="0" y="0"/>
              <a:chExt cx="859588" cy="81571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859588" cy="815713"/>
              </a:xfrm>
              <a:custGeom>
                <a:avLst/>
                <a:gdLst/>
                <a:ahLst/>
                <a:cxnLst/>
                <a:rect r="r" b="b" t="t" l="l"/>
                <a:pathLst>
                  <a:path h="815713" w="859588">
                    <a:moveTo>
                      <a:pt x="429794" y="0"/>
                    </a:moveTo>
                    <a:cubicBezTo>
                      <a:pt x="192425" y="0"/>
                      <a:pt x="0" y="182604"/>
                      <a:pt x="0" y="407856"/>
                    </a:cubicBezTo>
                    <a:cubicBezTo>
                      <a:pt x="0" y="633109"/>
                      <a:pt x="192425" y="815713"/>
                      <a:pt x="429794" y="815713"/>
                    </a:cubicBezTo>
                    <a:cubicBezTo>
                      <a:pt x="667163" y="815713"/>
                      <a:pt x="859588" y="633109"/>
                      <a:pt x="859588" y="407856"/>
                    </a:cubicBezTo>
                    <a:cubicBezTo>
                      <a:pt x="859588" y="182604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80586" y="38373"/>
                <a:ext cx="698415" cy="700867"/>
              </a:xfrm>
              <a:prstGeom prst="rect">
                <a:avLst/>
              </a:prstGeom>
            </p:spPr>
            <p:txBody>
              <a:bodyPr anchor="ctr" rtlCol="false" tIns="43789" lIns="43789" bIns="43789" rIns="43789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88" id="88"/>
            <p:cNvSpPr txBox="true"/>
            <p:nvPr/>
          </p:nvSpPr>
          <p:spPr>
            <a:xfrm rot="0">
              <a:off x="686823" y="568228"/>
              <a:ext cx="1099825" cy="564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  <a:spcBef>
                  <a:spcPct val="0"/>
                </a:spcBef>
              </a:pPr>
              <a:r>
                <a:rPr lang="en-US" b="true" sz="2544" spc="-193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89%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595367" y="1094875"/>
              <a:ext cx="1282738" cy="633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7"/>
                </a:lnSpc>
              </a:pPr>
              <a:r>
                <a:rPr lang="en-US" sz="1616" spc="-106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GROSS </a:t>
              </a:r>
            </a:p>
            <a:p>
              <a:pPr algn="ctr">
                <a:lnSpc>
                  <a:spcPts val="1827"/>
                </a:lnSpc>
              </a:pPr>
              <a:r>
                <a:rPr lang="en-US" sz="1616" spc="-106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MARGIN  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3008281" y="7463221"/>
            <a:ext cx="1855103" cy="1783630"/>
            <a:chOff x="0" y="0"/>
            <a:chExt cx="2473471" cy="2378174"/>
          </a:xfrm>
        </p:grpSpPr>
        <p:grpSp>
          <p:nvGrpSpPr>
            <p:cNvPr name="Group 91" id="91"/>
            <p:cNvGrpSpPr/>
            <p:nvPr/>
          </p:nvGrpSpPr>
          <p:grpSpPr>
            <a:xfrm rot="0">
              <a:off x="0" y="0"/>
              <a:ext cx="2473471" cy="2378174"/>
              <a:chOff x="0" y="0"/>
              <a:chExt cx="859588" cy="826470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859588" cy="826470"/>
              </a:xfrm>
              <a:custGeom>
                <a:avLst/>
                <a:gdLst/>
                <a:ahLst/>
                <a:cxnLst/>
                <a:rect r="r" b="b" t="t" l="l"/>
                <a:pathLst>
                  <a:path h="826470" w="859588">
                    <a:moveTo>
                      <a:pt x="429794" y="0"/>
                    </a:moveTo>
                    <a:cubicBezTo>
                      <a:pt x="192425" y="0"/>
                      <a:pt x="0" y="185012"/>
                      <a:pt x="0" y="413235"/>
                    </a:cubicBezTo>
                    <a:cubicBezTo>
                      <a:pt x="0" y="641458"/>
                      <a:pt x="192425" y="826470"/>
                      <a:pt x="429794" y="826470"/>
                    </a:cubicBezTo>
                    <a:cubicBezTo>
                      <a:pt x="667163" y="826470"/>
                      <a:pt x="859588" y="641458"/>
                      <a:pt x="859588" y="413235"/>
                    </a:cubicBezTo>
                    <a:cubicBezTo>
                      <a:pt x="859588" y="185012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80586" y="29857"/>
                <a:ext cx="698415" cy="7191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367790" y="347771"/>
              <a:ext cx="1737890" cy="1649185"/>
              <a:chOff x="0" y="0"/>
              <a:chExt cx="859588" cy="81571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859588" cy="815713"/>
              </a:xfrm>
              <a:custGeom>
                <a:avLst/>
                <a:gdLst/>
                <a:ahLst/>
                <a:cxnLst/>
                <a:rect r="r" b="b" t="t" l="l"/>
                <a:pathLst>
                  <a:path h="815713" w="859588">
                    <a:moveTo>
                      <a:pt x="429794" y="0"/>
                    </a:moveTo>
                    <a:cubicBezTo>
                      <a:pt x="192425" y="0"/>
                      <a:pt x="0" y="182604"/>
                      <a:pt x="0" y="407856"/>
                    </a:cubicBezTo>
                    <a:cubicBezTo>
                      <a:pt x="0" y="633109"/>
                      <a:pt x="192425" y="815713"/>
                      <a:pt x="429794" y="815713"/>
                    </a:cubicBezTo>
                    <a:cubicBezTo>
                      <a:pt x="667163" y="815713"/>
                      <a:pt x="859588" y="633109"/>
                      <a:pt x="859588" y="407856"/>
                    </a:cubicBezTo>
                    <a:cubicBezTo>
                      <a:pt x="859588" y="182604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80586" y="38373"/>
                <a:ext cx="698415" cy="700867"/>
              </a:xfrm>
              <a:prstGeom prst="rect">
                <a:avLst/>
              </a:prstGeom>
            </p:spPr>
            <p:txBody>
              <a:bodyPr anchor="ctr" rtlCol="false" tIns="43789" lIns="43789" bIns="43789" rIns="43789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97" id="97"/>
            <p:cNvSpPr txBox="true"/>
            <p:nvPr/>
          </p:nvSpPr>
          <p:spPr>
            <a:xfrm rot="0">
              <a:off x="686823" y="568228"/>
              <a:ext cx="1099825" cy="564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  <a:spcBef>
                  <a:spcPct val="0"/>
                </a:spcBef>
              </a:pPr>
              <a:r>
                <a:rPr lang="en-US" b="true" sz="2544" spc="-193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~1mo</a:t>
              </a:r>
            </a:p>
          </p:txBody>
        </p:sp>
        <p:sp>
          <p:nvSpPr>
            <p:cNvPr name="TextBox 98" id="98"/>
            <p:cNvSpPr txBox="true"/>
            <p:nvPr/>
          </p:nvSpPr>
          <p:spPr>
            <a:xfrm rot="0">
              <a:off x="595367" y="1094875"/>
              <a:ext cx="1282738" cy="9414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7"/>
                </a:lnSpc>
              </a:pPr>
              <a:r>
                <a:rPr lang="en-US" sz="1616" spc="-106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PAYBACKPERIOD </a:t>
              </a:r>
            </a:p>
            <a:p>
              <a:pPr algn="ctr">
                <a:lnSpc>
                  <a:spcPts val="1827"/>
                </a:lnSpc>
              </a:pPr>
              <a:r>
                <a:rPr lang="en-US" sz="1616" spc="-106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ORGANIC  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5404197" y="7477972"/>
            <a:ext cx="1855103" cy="1754129"/>
            <a:chOff x="0" y="0"/>
            <a:chExt cx="2473471" cy="2338838"/>
          </a:xfrm>
        </p:grpSpPr>
        <p:grpSp>
          <p:nvGrpSpPr>
            <p:cNvPr name="Group 100" id="100"/>
            <p:cNvGrpSpPr/>
            <p:nvPr/>
          </p:nvGrpSpPr>
          <p:grpSpPr>
            <a:xfrm rot="0">
              <a:off x="0" y="0"/>
              <a:ext cx="2473471" cy="2338838"/>
              <a:chOff x="0" y="0"/>
              <a:chExt cx="859588" cy="812800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85958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9588">
                    <a:moveTo>
                      <a:pt x="429794" y="0"/>
                    </a:moveTo>
                    <a:cubicBezTo>
                      <a:pt x="192425" y="0"/>
                      <a:pt x="0" y="181951"/>
                      <a:pt x="0" y="406400"/>
                    </a:cubicBezTo>
                    <a:cubicBezTo>
                      <a:pt x="0" y="630849"/>
                      <a:pt x="192425" y="812800"/>
                      <a:pt x="429794" y="812800"/>
                    </a:cubicBezTo>
                    <a:cubicBezTo>
                      <a:pt x="667163" y="812800"/>
                      <a:pt x="859588" y="630849"/>
                      <a:pt x="859588" y="406400"/>
                    </a:cubicBezTo>
                    <a:cubicBezTo>
                      <a:pt x="859588" y="181951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80586" y="28575"/>
                <a:ext cx="698415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367790" y="347771"/>
              <a:ext cx="1737890" cy="1649185"/>
              <a:chOff x="0" y="0"/>
              <a:chExt cx="859588" cy="81571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859588" cy="815713"/>
              </a:xfrm>
              <a:custGeom>
                <a:avLst/>
                <a:gdLst/>
                <a:ahLst/>
                <a:cxnLst/>
                <a:rect r="r" b="b" t="t" l="l"/>
                <a:pathLst>
                  <a:path h="815713" w="859588">
                    <a:moveTo>
                      <a:pt x="429794" y="0"/>
                    </a:moveTo>
                    <a:cubicBezTo>
                      <a:pt x="192425" y="0"/>
                      <a:pt x="0" y="182604"/>
                      <a:pt x="0" y="407856"/>
                    </a:cubicBezTo>
                    <a:cubicBezTo>
                      <a:pt x="0" y="633109"/>
                      <a:pt x="192425" y="815713"/>
                      <a:pt x="429794" y="815713"/>
                    </a:cubicBezTo>
                    <a:cubicBezTo>
                      <a:pt x="667163" y="815713"/>
                      <a:pt x="859588" y="633109"/>
                      <a:pt x="859588" y="407856"/>
                    </a:cubicBezTo>
                    <a:cubicBezTo>
                      <a:pt x="859588" y="182604"/>
                      <a:pt x="667163" y="0"/>
                      <a:pt x="429794" y="0"/>
                    </a:cubicBezTo>
                    <a:close/>
                  </a:path>
                </a:pathLst>
              </a:custGeom>
              <a:solidFill>
                <a:srgbClr val="FF1300"/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80586" y="38373"/>
                <a:ext cx="698415" cy="700867"/>
              </a:xfrm>
              <a:prstGeom prst="rect">
                <a:avLst/>
              </a:prstGeom>
            </p:spPr>
            <p:txBody>
              <a:bodyPr anchor="ctr" rtlCol="false" tIns="43789" lIns="43789" bIns="43789" rIns="43789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106" id="106"/>
            <p:cNvSpPr txBox="true"/>
            <p:nvPr/>
          </p:nvSpPr>
          <p:spPr>
            <a:xfrm rot="0">
              <a:off x="686823" y="568228"/>
              <a:ext cx="1191282" cy="564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  <a:spcBef>
                  <a:spcPct val="0"/>
                </a:spcBef>
              </a:pPr>
              <a:r>
                <a:rPr lang="en-US" b="true" sz="2544" spc="-193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4.7mo</a:t>
              </a:r>
            </a:p>
          </p:txBody>
        </p:sp>
        <p:sp>
          <p:nvSpPr>
            <p:cNvPr name="TextBox 107" id="107"/>
            <p:cNvSpPr txBox="true"/>
            <p:nvPr/>
          </p:nvSpPr>
          <p:spPr>
            <a:xfrm rot="0">
              <a:off x="595367" y="1094875"/>
              <a:ext cx="1282738" cy="633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7"/>
                </a:lnSpc>
              </a:pPr>
              <a:r>
                <a:rPr lang="en-US" sz="1616" spc="-106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PAYBACKPERIOD   </a:t>
              </a:r>
            </a:p>
          </p:txBody>
        </p:sp>
      </p:grpSp>
      <p:sp>
        <p:nvSpPr>
          <p:cNvPr name="Freeform 108" id="108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8001" y="2634970"/>
            <a:ext cx="5709144" cy="57091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1300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14510" y="2742428"/>
            <a:ext cx="5709144" cy="57091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4D">
                <a:alpha val="4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80854" y="2761617"/>
            <a:ext cx="5709144" cy="5670766"/>
            <a:chOff x="0" y="0"/>
            <a:chExt cx="812800" cy="8073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07336"/>
            </a:xfrm>
            <a:custGeom>
              <a:avLst/>
              <a:gdLst/>
              <a:ahLst/>
              <a:cxnLst/>
              <a:rect r="r" b="b" t="t" l="l"/>
              <a:pathLst>
                <a:path h="807336" w="812800">
                  <a:moveTo>
                    <a:pt x="406400" y="0"/>
                  </a:moveTo>
                  <a:cubicBezTo>
                    <a:pt x="181951" y="0"/>
                    <a:pt x="0" y="180728"/>
                    <a:pt x="0" y="403668"/>
                  </a:cubicBezTo>
                  <a:cubicBezTo>
                    <a:pt x="0" y="626608"/>
                    <a:pt x="181951" y="807336"/>
                    <a:pt x="406400" y="807336"/>
                  </a:cubicBezTo>
                  <a:cubicBezTo>
                    <a:pt x="630849" y="807336"/>
                    <a:pt x="812800" y="626608"/>
                    <a:pt x="812800" y="403668"/>
                  </a:cubicBezTo>
                  <a:cubicBezTo>
                    <a:pt x="812800" y="18072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1300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7588"/>
              <a:ext cx="660400" cy="694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84933" y="4539900"/>
            <a:ext cx="4739002" cy="222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Pilot launch August 2026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Official app launch October 2026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AI personalisation engine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2 clinical partners signed, B2B pilot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Integrate wearables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Target: 8K+ users €36K MRR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27364" y="3292586"/>
            <a:ext cx="3483437" cy="81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3499" spc="-304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 M13-24 ACTIVE </a:t>
            </a:r>
          </a:p>
          <a:p>
            <a:pPr algn="ctr">
              <a:lnSpc>
                <a:spcPts val="3079"/>
              </a:lnSpc>
            </a:pPr>
            <a:r>
              <a:rPr lang="en-US" b="true" sz="3499" spc="-304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DEEP TECH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17940" y="4478897"/>
            <a:ext cx="4660282" cy="222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Premium tier live €12.99 live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Predictive hormonal modelling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UK + Australia + Portugual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10 B2B, 5 clinical partners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Perimenopause tracking 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Target: 32K+ users €172k MRR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14046" y="4474426"/>
            <a:ext cx="5042762" cy="222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CGM integration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 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At home hormone test kit integration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Menopause as dedicated product tier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1946C"/>
                </a:solidFill>
                <a:latin typeface="Aileron"/>
                <a:ea typeface="Aileron"/>
                <a:cs typeface="Aileron"/>
                <a:sym typeface="Aileron"/>
              </a:rPr>
              <a:t>⟶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Academic publication of clinical findings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Target: 135K+ users €612k MRR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3445" y="7327692"/>
            <a:ext cx="3881403" cy="1769905"/>
            <a:chOff x="0" y="0"/>
            <a:chExt cx="5175203" cy="235987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175203" cy="2359873"/>
              <a:chOff x="0" y="0"/>
              <a:chExt cx="1812072" cy="82629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812072" cy="826298"/>
              </a:xfrm>
              <a:custGeom>
                <a:avLst/>
                <a:gdLst/>
                <a:ahLst/>
                <a:cxnLst/>
                <a:rect r="r" b="b" t="t" l="l"/>
                <a:pathLst>
                  <a:path h="826298" w="1812072">
                    <a:moveTo>
                      <a:pt x="37898" y="0"/>
                    </a:moveTo>
                    <a:lnTo>
                      <a:pt x="1774174" y="0"/>
                    </a:lnTo>
                    <a:cubicBezTo>
                      <a:pt x="1784226" y="0"/>
                      <a:pt x="1793865" y="3993"/>
                      <a:pt x="1800972" y="11100"/>
                    </a:cubicBezTo>
                    <a:cubicBezTo>
                      <a:pt x="1808079" y="18207"/>
                      <a:pt x="1812072" y="27847"/>
                      <a:pt x="1812072" y="37898"/>
                    </a:cubicBezTo>
                    <a:lnTo>
                      <a:pt x="1812072" y="788400"/>
                    </a:lnTo>
                    <a:cubicBezTo>
                      <a:pt x="1812072" y="809330"/>
                      <a:pt x="1795105" y="826298"/>
                      <a:pt x="1774174" y="826298"/>
                    </a:cubicBezTo>
                    <a:lnTo>
                      <a:pt x="37898" y="826298"/>
                    </a:lnTo>
                    <a:cubicBezTo>
                      <a:pt x="27847" y="826298"/>
                      <a:pt x="18207" y="822305"/>
                      <a:pt x="11100" y="815198"/>
                    </a:cubicBezTo>
                    <a:cubicBezTo>
                      <a:pt x="3993" y="808091"/>
                      <a:pt x="0" y="798451"/>
                      <a:pt x="0" y="788400"/>
                    </a:cubicBezTo>
                    <a:lnTo>
                      <a:pt x="0" y="37898"/>
                    </a:lnTo>
                    <a:cubicBezTo>
                      <a:pt x="0" y="27847"/>
                      <a:pt x="3993" y="18207"/>
                      <a:pt x="11100" y="11100"/>
                    </a:cubicBezTo>
                    <a:cubicBezTo>
                      <a:pt x="18207" y="3993"/>
                      <a:pt x="27847" y="0"/>
                      <a:pt x="37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FF004D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812072" cy="864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58639" y="1693380"/>
              <a:ext cx="4591438" cy="428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4"/>
                </a:lnSpc>
                <a:spcBef>
                  <a:spcPct val="0"/>
                </a:spcBef>
              </a:pPr>
              <a:r>
                <a:rPr lang="en-US" b="true" sz="1967" spc="-161">
                  <a:solidFill>
                    <a:srgbClr val="FF004D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4K followers today ⟶ 50K+ Y3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58639" y="780584"/>
              <a:ext cx="4591438" cy="861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2"/>
                </a:lnSpc>
                <a:spcBef>
                  <a:spcPct val="0"/>
                </a:spcBef>
              </a:pPr>
              <a:r>
                <a:rPr lang="en-US" sz="1266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Founders posting on Linkedin, Instagram, Tiktok. Target demograhic audience, Zero marginal CAC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58639" y="294734"/>
              <a:ext cx="4204761" cy="428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FOUNDER SOCIAL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125949" y="7361516"/>
            <a:ext cx="3881403" cy="1736080"/>
            <a:chOff x="0" y="0"/>
            <a:chExt cx="5175203" cy="2314774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175203" cy="2314774"/>
              <a:chOff x="0" y="0"/>
              <a:chExt cx="1812072" cy="81050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812072" cy="810507"/>
              </a:xfrm>
              <a:custGeom>
                <a:avLst/>
                <a:gdLst/>
                <a:ahLst/>
                <a:cxnLst/>
                <a:rect r="r" b="b" t="t" l="l"/>
                <a:pathLst>
                  <a:path h="810507" w="1812072">
                    <a:moveTo>
                      <a:pt x="37898" y="0"/>
                    </a:moveTo>
                    <a:lnTo>
                      <a:pt x="1774174" y="0"/>
                    </a:lnTo>
                    <a:cubicBezTo>
                      <a:pt x="1784226" y="0"/>
                      <a:pt x="1793865" y="3993"/>
                      <a:pt x="1800972" y="11100"/>
                    </a:cubicBezTo>
                    <a:cubicBezTo>
                      <a:pt x="1808079" y="18207"/>
                      <a:pt x="1812072" y="27847"/>
                      <a:pt x="1812072" y="37898"/>
                    </a:cubicBezTo>
                    <a:lnTo>
                      <a:pt x="1812072" y="772609"/>
                    </a:lnTo>
                    <a:cubicBezTo>
                      <a:pt x="1812072" y="782660"/>
                      <a:pt x="1808079" y="792300"/>
                      <a:pt x="1800972" y="799407"/>
                    </a:cubicBezTo>
                    <a:cubicBezTo>
                      <a:pt x="1793865" y="806514"/>
                      <a:pt x="1784226" y="810507"/>
                      <a:pt x="1774174" y="810507"/>
                    </a:cubicBezTo>
                    <a:lnTo>
                      <a:pt x="37898" y="810507"/>
                    </a:lnTo>
                    <a:cubicBezTo>
                      <a:pt x="27847" y="810507"/>
                      <a:pt x="18207" y="806514"/>
                      <a:pt x="11100" y="799407"/>
                    </a:cubicBezTo>
                    <a:cubicBezTo>
                      <a:pt x="3993" y="792300"/>
                      <a:pt x="0" y="782660"/>
                      <a:pt x="0" y="772609"/>
                    </a:cubicBezTo>
                    <a:lnTo>
                      <a:pt x="0" y="37898"/>
                    </a:lnTo>
                    <a:cubicBezTo>
                      <a:pt x="0" y="27847"/>
                      <a:pt x="3993" y="18207"/>
                      <a:pt x="11100" y="11100"/>
                    </a:cubicBezTo>
                    <a:cubicBezTo>
                      <a:pt x="18207" y="3993"/>
                      <a:pt x="27847" y="0"/>
                      <a:pt x="37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FF0000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812072" cy="848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286940" y="735514"/>
              <a:ext cx="4322559" cy="86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4"/>
                </a:lnSpc>
                <a:spcBef>
                  <a:spcPct val="0"/>
                </a:spcBef>
              </a:pPr>
              <a:r>
                <a:rPr lang="en-US" sz="1267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€3-5k/mo on Instagram &amp; Tiktok from month 4. CAC €6-8 (50% below industry average) 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86940" y="249635"/>
              <a:ext cx="4204761" cy="428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PAID SOCIAL M4+ 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86940" y="1678809"/>
              <a:ext cx="3576592" cy="428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7"/>
                </a:lnSpc>
                <a:spcBef>
                  <a:spcPct val="0"/>
                </a:spcBef>
              </a:pPr>
              <a:r>
                <a:rPr lang="en-US" b="true" sz="1969" spc="-161">
                  <a:solidFill>
                    <a:srgbClr val="FF004D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375-625 new users/month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96579" y="7373834"/>
            <a:ext cx="3881403" cy="1723763"/>
            <a:chOff x="0" y="0"/>
            <a:chExt cx="5175203" cy="2298351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5175203" cy="2298351"/>
              <a:chOff x="0" y="0"/>
              <a:chExt cx="1812072" cy="80475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12072" cy="804756"/>
              </a:xfrm>
              <a:custGeom>
                <a:avLst/>
                <a:gdLst/>
                <a:ahLst/>
                <a:cxnLst/>
                <a:rect r="r" b="b" t="t" l="l"/>
                <a:pathLst>
                  <a:path h="804756" w="1812072">
                    <a:moveTo>
                      <a:pt x="37898" y="0"/>
                    </a:moveTo>
                    <a:lnTo>
                      <a:pt x="1774174" y="0"/>
                    </a:lnTo>
                    <a:cubicBezTo>
                      <a:pt x="1784226" y="0"/>
                      <a:pt x="1793865" y="3993"/>
                      <a:pt x="1800972" y="11100"/>
                    </a:cubicBezTo>
                    <a:cubicBezTo>
                      <a:pt x="1808079" y="18207"/>
                      <a:pt x="1812072" y="27847"/>
                      <a:pt x="1812072" y="37898"/>
                    </a:cubicBezTo>
                    <a:lnTo>
                      <a:pt x="1812072" y="766858"/>
                    </a:lnTo>
                    <a:cubicBezTo>
                      <a:pt x="1812072" y="776910"/>
                      <a:pt x="1808079" y="786549"/>
                      <a:pt x="1800972" y="793656"/>
                    </a:cubicBezTo>
                    <a:cubicBezTo>
                      <a:pt x="1793865" y="800763"/>
                      <a:pt x="1784226" y="804756"/>
                      <a:pt x="1774174" y="804756"/>
                    </a:cubicBezTo>
                    <a:lnTo>
                      <a:pt x="37898" y="804756"/>
                    </a:lnTo>
                    <a:cubicBezTo>
                      <a:pt x="27847" y="804756"/>
                      <a:pt x="18207" y="800763"/>
                      <a:pt x="11100" y="793656"/>
                    </a:cubicBezTo>
                    <a:cubicBezTo>
                      <a:pt x="3993" y="786549"/>
                      <a:pt x="0" y="776910"/>
                      <a:pt x="0" y="766858"/>
                    </a:cubicBezTo>
                    <a:lnTo>
                      <a:pt x="0" y="37898"/>
                    </a:lnTo>
                    <a:cubicBezTo>
                      <a:pt x="0" y="27847"/>
                      <a:pt x="3993" y="18207"/>
                      <a:pt x="11100" y="11100"/>
                    </a:cubicBezTo>
                    <a:cubicBezTo>
                      <a:pt x="18207" y="3993"/>
                      <a:pt x="27847" y="0"/>
                      <a:pt x="37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FF0000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812072" cy="8428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260443" y="1662386"/>
              <a:ext cx="4329005" cy="428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7"/>
                </a:lnSpc>
                <a:spcBef>
                  <a:spcPct val="0"/>
                </a:spcBef>
              </a:pPr>
              <a:r>
                <a:rPr lang="en-US" b="true" sz="1969" spc="-161">
                  <a:solidFill>
                    <a:srgbClr val="FF004D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 contracts = 750 B2B users Y1 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60443" y="741728"/>
              <a:ext cx="4580996" cy="86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4"/>
                </a:lnSpc>
                <a:spcBef>
                  <a:spcPct val="0"/>
                </a:spcBef>
              </a:pPr>
              <a:r>
                <a:rPr lang="en-US" sz="1267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One 150 employee contract = 150 users instantly. Clinic referrals: 50 patient conversions/clinic/mo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60443" y="244790"/>
              <a:ext cx="4204761" cy="428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B2B &amp; CLINICAL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543260" y="7373834"/>
            <a:ext cx="3881403" cy="1723763"/>
            <a:chOff x="0" y="0"/>
            <a:chExt cx="5175203" cy="2298351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5175203" cy="2298351"/>
              <a:chOff x="0" y="0"/>
              <a:chExt cx="1812072" cy="80475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812072" cy="804756"/>
              </a:xfrm>
              <a:custGeom>
                <a:avLst/>
                <a:gdLst/>
                <a:ahLst/>
                <a:cxnLst/>
                <a:rect r="r" b="b" t="t" l="l"/>
                <a:pathLst>
                  <a:path h="804756" w="1812072">
                    <a:moveTo>
                      <a:pt x="37898" y="0"/>
                    </a:moveTo>
                    <a:lnTo>
                      <a:pt x="1774174" y="0"/>
                    </a:lnTo>
                    <a:cubicBezTo>
                      <a:pt x="1784226" y="0"/>
                      <a:pt x="1793865" y="3993"/>
                      <a:pt x="1800972" y="11100"/>
                    </a:cubicBezTo>
                    <a:cubicBezTo>
                      <a:pt x="1808079" y="18207"/>
                      <a:pt x="1812072" y="27847"/>
                      <a:pt x="1812072" y="37898"/>
                    </a:cubicBezTo>
                    <a:lnTo>
                      <a:pt x="1812072" y="766858"/>
                    </a:lnTo>
                    <a:cubicBezTo>
                      <a:pt x="1812072" y="776910"/>
                      <a:pt x="1808079" y="786549"/>
                      <a:pt x="1800972" y="793656"/>
                    </a:cubicBezTo>
                    <a:cubicBezTo>
                      <a:pt x="1793865" y="800763"/>
                      <a:pt x="1784226" y="804756"/>
                      <a:pt x="1774174" y="804756"/>
                    </a:cubicBezTo>
                    <a:lnTo>
                      <a:pt x="37898" y="804756"/>
                    </a:lnTo>
                    <a:cubicBezTo>
                      <a:pt x="27847" y="804756"/>
                      <a:pt x="18207" y="800763"/>
                      <a:pt x="11100" y="793656"/>
                    </a:cubicBezTo>
                    <a:cubicBezTo>
                      <a:pt x="3993" y="786549"/>
                      <a:pt x="0" y="776910"/>
                      <a:pt x="0" y="766858"/>
                    </a:cubicBezTo>
                    <a:lnTo>
                      <a:pt x="0" y="37898"/>
                    </a:lnTo>
                    <a:cubicBezTo>
                      <a:pt x="0" y="27847"/>
                      <a:pt x="3993" y="18207"/>
                      <a:pt x="11100" y="11100"/>
                    </a:cubicBezTo>
                    <a:cubicBezTo>
                      <a:pt x="18207" y="3993"/>
                      <a:pt x="27847" y="0"/>
                      <a:pt x="37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FF0000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812072" cy="8428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235935" y="719091"/>
              <a:ext cx="4400166" cy="86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4"/>
                </a:lnSpc>
                <a:spcBef>
                  <a:spcPct val="0"/>
                </a:spcBef>
              </a:pPr>
              <a:r>
                <a:rPr lang="en-US" sz="1267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Paid events already generating revenue. Attendees convert to subscribers at 40-60% rate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55021" y="233249"/>
              <a:ext cx="4204761" cy="428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EVENTS &amp; COMMUNITY 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235935" y="1662386"/>
              <a:ext cx="4298884" cy="428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7"/>
                </a:lnSpc>
                <a:spcBef>
                  <a:spcPct val="0"/>
                </a:spcBef>
              </a:pPr>
              <a:r>
                <a:rPr lang="en-US" b="true" sz="1969" spc="-161">
                  <a:solidFill>
                    <a:srgbClr val="FF004D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 events run ⟶ €500-1k/event 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3150097" y="3357864"/>
            <a:ext cx="3765437" cy="81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3499" spc="-304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M25-36 HORMONAL HEALTH 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32821" y="3292586"/>
            <a:ext cx="3239505" cy="81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3499" spc="-304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M1-12 LAUNCH &amp; FIRST DATA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1276350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From Waitlist to Global Platform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983230" y="1762779"/>
            <a:ext cx="11482409" cy="746906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649000" y="7917899"/>
            <a:ext cx="1604986" cy="53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32"/>
              </a:lnSpc>
            </a:pPr>
            <a:r>
              <a:rPr lang="en-US" b="true" sz="220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USER</a:t>
            </a:r>
          </a:p>
          <a:p>
            <a:pPr algn="r">
              <a:lnSpc>
                <a:spcPts val="2032"/>
              </a:lnSpc>
            </a:pPr>
            <a:r>
              <a:rPr lang="en-US" b="true" sz="220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GROWTH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59916" y="726299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15788" y="726299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59916" y="573621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15788" y="573621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59916" y="496488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15788" y="496488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59916" y="417461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15788" y="417461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59916" y="340802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5788" y="340802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797192" y="3176572"/>
            <a:ext cx="1724536" cy="4415684"/>
            <a:chOff x="0" y="0"/>
            <a:chExt cx="438916" cy="11238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6" cy="1123847"/>
            </a:xfrm>
            <a:custGeom>
              <a:avLst/>
              <a:gdLst/>
              <a:ahLst/>
              <a:cxnLst/>
              <a:rect r="r" b="b" t="t" l="l"/>
              <a:pathLst>
                <a:path h="1123847" w="438916">
                  <a:moveTo>
                    <a:pt x="0" y="0"/>
                  </a:moveTo>
                  <a:lnTo>
                    <a:pt x="438916" y="0"/>
                  </a:lnTo>
                  <a:lnTo>
                    <a:pt x="438916" y="1123847"/>
                  </a:lnTo>
                  <a:lnTo>
                    <a:pt x="0" y="11238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38916" cy="117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-5400000">
            <a:off x="7423853" y="4970052"/>
            <a:ext cx="1909518" cy="37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  <a:spcBef>
                <a:spcPct val="0"/>
              </a:spcBef>
            </a:pPr>
            <a:r>
              <a:rPr lang="en-US" b="true" sz="2214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€(Thousands)</a:t>
            </a:r>
          </a:p>
        </p:txBody>
      </p:sp>
      <p:grpSp>
        <p:nvGrpSpPr>
          <p:cNvPr name="Group 18" id="18"/>
          <p:cNvGrpSpPr/>
          <p:nvPr/>
        </p:nvGrpSpPr>
        <p:grpSpPr>
          <a:xfrm rot="-5400000">
            <a:off x="8333896" y="6569028"/>
            <a:ext cx="598475" cy="1607587"/>
            <a:chOff x="0" y="0"/>
            <a:chExt cx="152319" cy="4091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319" cy="409151"/>
            </a:xfrm>
            <a:custGeom>
              <a:avLst/>
              <a:gdLst/>
              <a:ahLst/>
              <a:cxnLst/>
              <a:rect r="r" b="b" t="t" l="l"/>
              <a:pathLst>
                <a:path h="409151" w="152319">
                  <a:moveTo>
                    <a:pt x="0" y="0"/>
                  </a:moveTo>
                  <a:lnTo>
                    <a:pt x="152319" y="0"/>
                  </a:lnTo>
                  <a:lnTo>
                    <a:pt x="152319" y="409151"/>
                  </a:lnTo>
                  <a:lnTo>
                    <a:pt x="0" y="4091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52319" cy="456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13346779" y="-141538"/>
            <a:ext cx="598475" cy="5052880"/>
            <a:chOff x="0" y="0"/>
            <a:chExt cx="152319" cy="12860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319" cy="1286021"/>
            </a:xfrm>
            <a:custGeom>
              <a:avLst/>
              <a:gdLst/>
              <a:ahLst/>
              <a:cxnLst/>
              <a:rect r="r" b="b" t="t" l="l"/>
              <a:pathLst>
                <a:path h="1286021" w="152319">
                  <a:moveTo>
                    <a:pt x="0" y="0"/>
                  </a:moveTo>
                  <a:lnTo>
                    <a:pt x="152319" y="0"/>
                  </a:lnTo>
                  <a:lnTo>
                    <a:pt x="152319" y="1286021"/>
                  </a:lnTo>
                  <a:lnTo>
                    <a:pt x="0" y="128602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52319" cy="1333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580379" y="2427227"/>
            <a:ext cx="7482189" cy="32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5"/>
              </a:lnSpc>
            </a:pPr>
            <a:r>
              <a:rPr lang="en-US" b="true" sz="2635" spc="-126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NutriSync Projections  - Realistic (quarterly)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124486" y="7860749"/>
            <a:ext cx="826876" cy="317965"/>
            <a:chOff x="0" y="0"/>
            <a:chExt cx="210450" cy="809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0450" cy="80926"/>
            </a:xfrm>
            <a:custGeom>
              <a:avLst/>
              <a:gdLst/>
              <a:ahLst/>
              <a:cxnLst/>
              <a:rect r="r" b="b" t="t" l="l"/>
              <a:pathLst>
                <a:path h="80926" w="210450">
                  <a:moveTo>
                    <a:pt x="0" y="0"/>
                  </a:moveTo>
                  <a:lnTo>
                    <a:pt x="210450" y="0"/>
                  </a:lnTo>
                  <a:lnTo>
                    <a:pt x="210450" y="80926"/>
                  </a:lnTo>
                  <a:lnTo>
                    <a:pt x="0" y="809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10450" cy="128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580379" y="7954972"/>
            <a:ext cx="542501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&gt;1K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79023" y="7361138"/>
            <a:ext cx="1557904" cy="37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00"/>
              </a:lnSpc>
            </a:pPr>
            <a:r>
              <a:rPr lang="en-US" b="true" sz="221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QUARTERS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349442" y="6464673"/>
            <a:ext cx="870917" cy="773375"/>
            <a:chOff x="0" y="0"/>
            <a:chExt cx="1161222" cy="1031167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318350" y="348807"/>
              <a:ext cx="682360" cy="682360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624A">
                  <a:alpha val="65882"/>
                </a:srgbClr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399"/>
                  </a:lnSpc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434348" y="493148"/>
              <a:ext cx="450363" cy="457334"/>
            </a:xfrm>
            <a:custGeom>
              <a:avLst/>
              <a:gdLst/>
              <a:ahLst/>
              <a:cxnLst/>
              <a:rect r="r" b="b" t="t" l="l"/>
              <a:pathLst>
                <a:path h="457334" w="450363">
                  <a:moveTo>
                    <a:pt x="0" y="0"/>
                  </a:moveTo>
                  <a:lnTo>
                    <a:pt x="450363" y="0"/>
                  </a:lnTo>
                  <a:lnTo>
                    <a:pt x="450363" y="457333"/>
                  </a:lnTo>
                  <a:lnTo>
                    <a:pt x="0" y="457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388" t="-20464" r="-17075" b="-1293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0" y="-28575"/>
              <a:ext cx="1161222" cy="299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32"/>
                </a:lnSpc>
                <a:spcBef>
                  <a:spcPct val="0"/>
                </a:spcBef>
              </a:pPr>
              <a:r>
                <a:rPr lang="en-US" sz="1380" i="true">
                  <a:solidFill>
                    <a:srgbClr val="000000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Breakeven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1806941" y="7954972"/>
            <a:ext cx="542501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+8K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05428" y="7954972"/>
            <a:ext cx="717842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+32K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453749" y="7954972"/>
            <a:ext cx="893259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+135K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657272" y="4291587"/>
            <a:ext cx="836222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600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57497" y="6248455"/>
            <a:ext cx="839530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200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657272" y="5251116"/>
            <a:ext cx="839530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400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4706" y="3126024"/>
            <a:ext cx="309981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Y3 Annual revenue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52897" y="2192695"/>
            <a:ext cx="3091619" cy="104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3"/>
              </a:lnSpc>
              <a:spcBef>
                <a:spcPct val="0"/>
              </a:spcBef>
            </a:pPr>
            <a:r>
              <a:rPr lang="en-US" sz="6138" spc="-30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€4.9M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6703" y="3541949"/>
            <a:ext cx="4687628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749">
                <a:solidFill>
                  <a:srgbClr val="737373"/>
                </a:solidFill>
                <a:latin typeface="Aileron"/>
                <a:ea typeface="Aileron"/>
                <a:cs typeface="Aileron"/>
                <a:sym typeface="Aileron"/>
              </a:rPr>
              <a:t>ARR: €8.4M annualised</a:t>
            </a:r>
          </a:p>
          <a:p>
            <a:pPr algn="l">
              <a:lnSpc>
                <a:spcPts val="3849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036703" y="5465733"/>
            <a:ext cx="4296519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Year 3 paying users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36703" y="4478651"/>
            <a:ext cx="3008471" cy="104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3"/>
              </a:lnSpc>
              <a:spcBef>
                <a:spcPct val="0"/>
              </a:spcBef>
            </a:pPr>
            <a:r>
              <a:rPr lang="en-US" sz="6138" spc="-30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135K+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36703" y="5879324"/>
            <a:ext cx="3625713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737373"/>
                </a:solidFill>
                <a:latin typeface="Aileron"/>
                <a:ea typeface="Aileron"/>
                <a:cs typeface="Aileron"/>
                <a:sym typeface="Aileron"/>
              </a:rPr>
              <a:t>Deep tech Y2+ impact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8700" y="7723709"/>
            <a:ext cx="5464275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Reach profitability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8700" y="6737060"/>
            <a:ext cx="2456047" cy="2130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4"/>
              </a:lnSpc>
            </a:pPr>
            <a:r>
              <a:rPr lang="en-US" sz="6131" spc="-30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M18</a:t>
            </a:r>
          </a:p>
          <a:p>
            <a:pPr algn="l">
              <a:lnSpc>
                <a:spcPts val="8584"/>
              </a:lnSpc>
              <a:spcBef>
                <a:spcPct val="0"/>
              </a:spcBef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8657272" y="3319088"/>
            <a:ext cx="836222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800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8700" y="719866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Capital Efficient Growth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68379" y="3253456"/>
            <a:ext cx="19325619" cy="2464409"/>
            <a:chOff x="0" y="0"/>
            <a:chExt cx="5089875" cy="649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75" cy="649063"/>
            </a:xfrm>
            <a:custGeom>
              <a:avLst/>
              <a:gdLst/>
              <a:ahLst/>
              <a:cxnLst/>
              <a:rect r="r" b="b" t="t" l="l"/>
              <a:pathLst>
                <a:path h="649063" w="5089875">
                  <a:moveTo>
                    <a:pt x="0" y="0"/>
                  </a:moveTo>
                  <a:lnTo>
                    <a:pt x="5089875" y="0"/>
                  </a:lnTo>
                  <a:lnTo>
                    <a:pt x="5089875" y="649063"/>
                  </a:lnTo>
                  <a:lnTo>
                    <a:pt x="0" y="649063"/>
                  </a:lnTo>
                  <a:close/>
                </a:path>
              </a:pathLst>
            </a:custGeom>
            <a:solidFill>
              <a:srgbClr val="FF004D">
                <a:alpha val="3372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75" cy="687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982869" y="2783811"/>
            <a:ext cx="8445440" cy="1759466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982869" y="4413271"/>
            <a:ext cx="8445440" cy="1759466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982869" y="3597422"/>
            <a:ext cx="8445440" cy="1759466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982869" y="4004228"/>
            <a:ext cx="8445440" cy="1759466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982869" y="3191106"/>
            <a:ext cx="8445440" cy="1759466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 rot="0">
            <a:off x="15782842" y="3487598"/>
            <a:ext cx="1597769" cy="351405"/>
            <a:chOff x="0" y="0"/>
            <a:chExt cx="420812" cy="925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0812" cy="92551"/>
            </a:xfrm>
            <a:custGeom>
              <a:avLst/>
              <a:gdLst/>
              <a:ahLst/>
              <a:cxnLst/>
              <a:rect r="r" b="b" t="t" l="l"/>
              <a:pathLst>
                <a:path h="92551" w="420812">
                  <a:moveTo>
                    <a:pt x="46275" y="0"/>
                  </a:moveTo>
                  <a:lnTo>
                    <a:pt x="374536" y="0"/>
                  </a:lnTo>
                  <a:cubicBezTo>
                    <a:pt x="386809" y="0"/>
                    <a:pt x="398579" y="4875"/>
                    <a:pt x="407258" y="13554"/>
                  </a:cubicBezTo>
                  <a:cubicBezTo>
                    <a:pt x="415936" y="22232"/>
                    <a:pt x="420812" y="34002"/>
                    <a:pt x="420812" y="46275"/>
                  </a:cubicBezTo>
                  <a:lnTo>
                    <a:pt x="420812" y="46275"/>
                  </a:lnTo>
                  <a:cubicBezTo>
                    <a:pt x="420812" y="71833"/>
                    <a:pt x="400093" y="92551"/>
                    <a:pt x="374536" y="92551"/>
                  </a:cubicBezTo>
                  <a:lnTo>
                    <a:pt x="46275" y="92551"/>
                  </a:lnTo>
                  <a:cubicBezTo>
                    <a:pt x="34002" y="92551"/>
                    <a:pt x="22232" y="87676"/>
                    <a:pt x="13554" y="78997"/>
                  </a:cubicBezTo>
                  <a:cubicBezTo>
                    <a:pt x="4875" y="70319"/>
                    <a:pt x="0" y="58549"/>
                    <a:pt x="0" y="46275"/>
                  </a:cubicBezTo>
                  <a:lnTo>
                    <a:pt x="0" y="46275"/>
                  </a:lnTo>
                  <a:cubicBezTo>
                    <a:pt x="0" y="34002"/>
                    <a:pt x="4875" y="22232"/>
                    <a:pt x="13554" y="13554"/>
                  </a:cubicBezTo>
                  <a:cubicBezTo>
                    <a:pt x="22232" y="4875"/>
                    <a:pt x="34002" y="0"/>
                    <a:pt x="46275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20812" cy="130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994391" y="3491085"/>
            <a:ext cx="517884" cy="30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  <a:spcBef>
                <a:spcPct val="0"/>
              </a:spcBef>
            </a:pPr>
            <a:r>
              <a:rPr lang="en-US" b="true" sz="1814" spc="-18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34%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782842" y="3894893"/>
            <a:ext cx="1597769" cy="351405"/>
            <a:chOff x="0" y="0"/>
            <a:chExt cx="420812" cy="925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812" cy="92551"/>
            </a:xfrm>
            <a:custGeom>
              <a:avLst/>
              <a:gdLst/>
              <a:ahLst/>
              <a:cxnLst/>
              <a:rect r="r" b="b" t="t" l="l"/>
              <a:pathLst>
                <a:path h="92551" w="420812">
                  <a:moveTo>
                    <a:pt x="46275" y="0"/>
                  </a:moveTo>
                  <a:lnTo>
                    <a:pt x="374536" y="0"/>
                  </a:lnTo>
                  <a:cubicBezTo>
                    <a:pt x="386809" y="0"/>
                    <a:pt x="398579" y="4875"/>
                    <a:pt x="407258" y="13554"/>
                  </a:cubicBezTo>
                  <a:cubicBezTo>
                    <a:pt x="415936" y="22232"/>
                    <a:pt x="420812" y="34002"/>
                    <a:pt x="420812" y="46275"/>
                  </a:cubicBezTo>
                  <a:lnTo>
                    <a:pt x="420812" y="46275"/>
                  </a:lnTo>
                  <a:cubicBezTo>
                    <a:pt x="420812" y="71833"/>
                    <a:pt x="400093" y="92551"/>
                    <a:pt x="374536" y="92551"/>
                  </a:cubicBezTo>
                  <a:lnTo>
                    <a:pt x="46275" y="92551"/>
                  </a:lnTo>
                  <a:cubicBezTo>
                    <a:pt x="34002" y="92551"/>
                    <a:pt x="22232" y="87676"/>
                    <a:pt x="13554" y="78997"/>
                  </a:cubicBezTo>
                  <a:cubicBezTo>
                    <a:pt x="4875" y="70319"/>
                    <a:pt x="0" y="58549"/>
                    <a:pt x="0" y="46275"/>
                  </a:cubicBezTo>
                  <a:lnTo>
                    <a:pt x="0" y="46275"/>
                  </a:lnTo>
                  <a:cubicBezTo>
                    <a:pt x="0" y="34002"/>
                    <a:pt x="4875" y="22232"/>
                    <a:pt x="13554" y="13554"/>
                  </a:cubicBezTo>
                  <a:cubicBezTo>
                    <a:pt x="22232" y="4875"/>
                    <a:pt x="34002" y="0"/>
                    <a:pt x="46275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0812" cy="130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82842" y="4297766"/>
            <a:ext cx="1597769" cy="351405"/>
            <a:chOff x="0" y="0"/>
            <a:chExt cx="420812" cy="92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0812" cy="92551"/>
            </a:xfrm>
            <a:custGeom>
              <a:avLst/>
              <a:gdLst/>
              <a:ahLst/>
              <a:cxnLst/>
              <a:rect r="r" b="b" t="t" l="l"/>
              <a:pathLst>
                <a:path h="92551" w="420812">
                  <a:moveTo>
                    <a:pt x="46275" y="0"/>
                  </a:moveTo>
                  <a:lnTo>
                    <a:pt x="374536" y="0"/>
                  </a:lnTo>
                  <a:cubicBezTo>
                    <a:pt x="386809" y="0"/>
                    <a:pt x="398579" y="4875"/>
                    <a:pt x="407258" y="13554"/>
                  </a:cubicBezTo>
                  <a:cubicBezTo>
                    <a:pt x="415936" y="22232"/>
                    <a:pt x="420812" y="34002"/>
                    <a:pt x="420812" y="46275"/>
                  </a:cubicBezTo>
                  <a:lnTo>
                    <a:pt x="420812" y="46275"/>
                  </a:lnTo>
                  <a:cubicBezTo>
                    <a:pt x="420812" y="71833"/>
                    <a:pt x="400093" y="92551"/>
                    <a:pt x="374536" y="92551"/>
                  </a:cubicBezTo>
                  <a:lnTo>
                    <a:pt x="46275" y="92551"/>
                  </a:lnTo>
                  <a:cubicBezTo>
                    <a:pt x="34002" y="92551"/>
                    <a:pt x="22232" y="87676"/>
                    <a:pt x="13554" y="78997"/>
                  </a:cubicBezTo>
                  <a:cubicBezTo>
                    <a:pt x="4875" y="70319"/>
                    <a:pt x="0" y="58549"/>
                    <a:pt x="0" y="46275"/>
                  </a:cubicBezTo>
                  <a:lnTo>
                    <a:pt x="0" y="46275"/>
                  </a:lnTo>
                  <a:cubicBezTo>
                    <a:pt x="0" y="34002"/>
                    <a:pt x="4875" y="22232"/>
                    <a:pt x="13554" y="13554"/>
                  </a:cubicBezTo>
                  <a:cubicBezTo>
                    <a:pt x="22232" y="4875"/>
                    <a:pt x="34002" y="0"/>
                    <a:pt x="46275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20812" cy="130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782842" y="4712884"/>
            <a:ext cx="1597769" cy="351405"/>
            <a:chOff x="0" y="0"/>
            <a:chExt cx="420812" cy="925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0812" cy="92551"/>
            </a:xfrm>
            <a:custGeom>
              <a:avLst/>
              <a:gdLst/>
              <a:ahLst/>
              <a:cxnLst/>
              <a:rect r="r" b="b" t="t" l="l"/>
              <a:pathLst>
                <a:path h="92551" w="420812">
                  <a:moveTo>
                    <a:pt x="46275" y="0"/>
                  </a:moveTo>
                  <a:lnTo>
                    <a:pt x="374536" y="0"/>
                  </a:lnTo>
                  <a:cubicBezTo>
                    <a:pt x="386809" y="0"/>
                    <a:pt x="398579" y="4875"/>
                    <a:pt x="407258" y="13554"/>
                  </a:cubicBezTo>
                  <a:cubicBezTo>
                    <a:pt x="415936" y="22232"/>
                    <a:pt x="420812" y="34002"/>
                    <a:pt x="420812" y="46275"/>
                  </a:cubicBezTo>
                  <a:lnTo>
                    <a:pt x="420812" y="46275"/>
                  </a:lnTo>
                  <a:cubicBezTo>
                    <a:pt x="420812" y="71833"/>
                    <a:pt x="400093" y="92551"/>
                    <a:pt x="374536" y="92551"/>
                  </a:cubicBezTo>
                  <a:lnTo>
                    <a:pt x="46275" y="92551"/>
                  </a:lnTo>
                  <a:cubicBezTo>
                    <a:pt x="34002" y="92551"/>
                    <a:pt x="22232" y="87676"/>
                    <a:pt x="13554" y="78997"/>
                  </a:cubicBezTo>
                  <a:cubicBezTo>
                    <a:pt x="4875" y="70319"/>
                    <a:pt x="0" y="58549"/>
                    <a:pt x="0" y="46275"/>
                  </a:cubicBezTo>
                  <a:lnTo>
                    <a:pt x="0" y="46275"/>
                  </a:lnTo>
                  <a:cubicBezTo>
                    <a:pt x="0" y="34002"/>
                    <a:pt x="4875" y="22232"/>
                    <a:pt x="13554" y="13554"/>
                  </a:cubicBezTo>
                  <a:cubicBezTo>
                    <a:pt x="22232" y="4875"/>
                    <a:pt x="34002" y="0"/>
                    <a:pt x="46275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20812" cy="130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782842" y="5122729"/>
            <a:ext cx="1597769" cy="351405"/>
            <a:chOff x="0" y="0"/>
            <a:chExt cx="420812" cy="925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0812" cy="92551"/>
            </a:xfrm>
            <a:custGeom>
              <a:avLst/>
              <a:gdLst/>
              <a:ahLst/>
              <a:cxnLst/>
              <a:rect r="r" b="b" t="t" l="l"/>
              <a:pathLst>
                <a:path h="92551" w="420812">
                  <a:moveTo>
                    <a:pt x="46275" y="0"/>
                  </a:moveTo>
                  <a:lnTo>
                    <a:pt x="374536" y="0"/>
                  </a:lnTo>
                  <a:cubicBezTo>
                    <a:pt x="386809" y="0"/>
                    <a:pt x="398579" y="4875"/>
                    <a:pt x="407258" y="13554"/>
                  </a:cubicBezTo>
                  <a:cubicBezTo>
                    <a:pt x="415936" y="22232"/>
                    <a:pt x="420812" y="34002"/>
                    <a:pt x="420812" y="46275"/>
                  </a:cubicBezTo>
                  <a:lnTo>
                    <a:pt x="420812" y="46275"/>
                  </a:lnTo>
                  <a:cubicBezTo>
                    <a:pt x="420812" y="71833"/>
                    <a:pt x="400093" y="92551"/>
                    <a:pt x="374536" y="92551"/>
                  </a:cubicBezTo>
                  <a:lnTo>
                    <a:pt x="46275" y="92551"/>
                  </a:lnTo>
                  <a:cubicBezTo>
                    <a:pt x="34002" y="92551"/>
                    <a:pt x="22232" y="87676"/>
                    <a:pt x="13554" y="78997"/>
                  </a:cubicBezTo>
                  <a:cubicBezTo>
                    <a:pt x="4875" y="70319"/>
                    <a:pt x="0" y="58549"/>
                    <a:pt x="0" y="46275"/>
                  </a:cubicBezTo>
                  <a:lnTo>
                    <a:pt x="0" y="46275"/>
                  </a:lnTo>
                  <a:cubicBezTo>
                    <a:pt x="0" y="34002"/>
                    <a:pt x="4875" y="22232"/>
                    <a:pt x="13554" y="13554"/>
                  </a:cubicBezTo>
                  <a:cubicBezTo>
                    <a:pt x="22232" y="4875"/>
                    <a:pt x="34002" y="0"/>
                    <a:pt x="46275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20812" cy="130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5991223" y="3894036"/>
            <a:ext cx="587335" cy="31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 spc="-184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26%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004165" y="4296909"/>
            <a:ext cx="587335" cy="31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 spc="-184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20%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994391" y="4712027"/>
            <a:ext cx="587335" cy="31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 spc="-184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12%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328619" y="6175065"/>
            <a:ext cx="2906938" cy="2906938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8B2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509131" y="6355577"/>
            <a:ext cx="2545914" cy="254591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192771" y="6663316"/>
            <a:ext cx="1196491" cy="291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 spc="-132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MONTH 13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18471" y="7068727"/>
            <a:ext cx="1745090" cy="123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4"/>
              </a:lnSpc>
            </a:pPr>
            <a:r>
              <a:rPr lang="en-US" b="true" sz="3687" spc="-232">
                <a:solidFill>
                  <a:srgbClr val="101010"/>
                </a:solidFill>
                <a:latin typeface="Aileron Bold"/>
                <a:ea typeface="Aileron Bold"/>
                <a:cs typeface="Aileron Bold"/>
                <a:sym typeface="Aileron Bold"/>
              </a:rPr>
              <a:t>Seed </a:t>
            </a:r>
          </a:p>
          <a:p>
            <a:pPr algn="ctr">
              <a:lnSpc>
                <a:spcPts val="3134"/>
              </a:lnSpc>
            </a:pPr>
            <a:r>
              <a:rPr lang="en-US" b="true" sz="3687" spc="-232">
                <a:solidFill>
                  <a:srgbClr val="101010"/>
                </a:solidFill>
                <a:latin typeface="Aileron Bold"/>
                <a:ea typeface="Aileron Bold"/>
                <a:cs typeface="Aileron Bold"/>
                <a:sym typeface="Aileron Bold"/>
              </a:rPr>
              <a:t>Round</a:t>
            </a:r>
          </a:p>
          <a:p>
            <a:pPr algn="ctr">
              <a:lnSpc>
                <a:spcPts val="3134"/>
              </a:lnSpc>
            </a:pPr>
            <a:r>
              <a:rPr lang="en-US" b="true" sz="3687" spc="-232">
                <a:solidFill>
                  <a:srgbClr val="101010"/>
                </a:solidFill>
                <a:latin typeface="Aileron Bold"/>
                <a:ea typeface="Aileron Bold"/>
                <a:cs typeface="Aileron Bold"/>
                <a:sym typeface="Aileron Bold"/>
              </a:rPr>
              <a:t>Closes 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690531" y="6175065"/>
            <a:ext cx="2906938" cy="2906938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8B24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871043" y="6355577"/>
            <a:ext cx="2545914" cy="2545914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8523204" y="6663316"/>
            <a:ext cx="1241591" cy="291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 spc="-132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MONTH 12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280768" y="7068727"/>
            <a:ext cx="1726464" cy="123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4"/>
              </a:lnSpc>
            </a:pPr>
            <a:r>
              <a:rPr lang="en-US" b="true" sz="3687" spc="-232">
                <a:solidFill>
                  <a:srgbClr val="101010"/>
                </a:solidFill>
                <a:latin typeface="Aileron Bold"/>
                <a:ea typeface="Aileron Bold"/>
                <a:cs typeface="Aileron Bold"/>
                <a:sym typeface="Aileron Bold"/>
              </a:rPr>
              <a:t>5000+ </a:t>
            </a:r>
          </a:p>
          <a:p>
            <a:pPr algn="ctr">
              <a:lnSpc>
                <a:spcPts val="3134"/>
              </a:lnSpc>
            </a:pPr>
            <a:r>
              <a:rPr lang="en-US" b="true" sz="3687" spc="-232">
                <a:solidFill>
                  <a:srgbClr val="101010"/>
                </a:solidFill>
                <a:latin typeface="Aileron Bold"/>
                <a:ea typeface="Aileron Bold"/>
                <a:cs typeface="Aileron Bold"/>
                <a:sym typeface="Aileron Bold"/>
              </a:rPr>
              <a:t>paying </a:t>
            </a:r>
          </a:p>
          <a:p>
            <a:pPr algn="ctr">
              <a:lnSpc>
                <a:spcPts val="3134"/>
              </a:lnSpc>
            </a:pPr>
            <a:r>
              <a:rPr lang="en-US" b="true" sz="3687" spc="-232">
                <a:solidFill>
                  <a:srgbClr val="101010"/>
                </a:solidFill>
                <a:latin typeface="Aileron Bold"/>
                <a:ea typeface="Aileron Bold"/>
                <a:cs typeface="Aileron Bold"/>
                <a:sym typeface="Aileron Bold"/>
              </a:rPr>
              <a:t>users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052443" y="6175065"/>
            <a:ext cx="2906938" cy="2906938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8B24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217746" y="6355577"/>
            <a:ext cx="2545914" cy="2545914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4180932" y="7266111"/>
            <a:ext cx="2649960" cy="83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4"/>
              </a:lnSpc>
            </a:pPr>
            <a:r>
              <a:rPr lang="en-US" b="true" sz="3687" spc="-232">
                <a:solidFill>
                  <a:srgbClr val="101010"/>
                </a:solidFill>
                <a:latin typeface="Aileron Bold"/>
                <a:ea typeface="Aileron Bold"/>
                <a:cs typeface="Aileron Bold"/>
                <a:sym typeface="Aileron Bold"/>
              </a:rPr>
              <a:t> App live &amp; first revenue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892458" y="6771638"/>
            <a:ext cx="1196491" cy="291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 spc="-132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MONTH 1 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-486361" y="2474302"/>
            <a:ext cx="5495999" cy="4008348"/>
            <a:chOff x="0" y="0"/>
            <a:chExt cx="1447506" cy="105569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47506" cy="1055697"/>
            </a:xfrm>
            <a:custGeom>
              <a:avLst/>
              <a:gdLst/>
              <a:ahLst/>
              <a:cxnLst/>
              <a:rect r="r" b="b" t="t" l="l"/>
              <a:pathLst>
                <a:path h="1055697" w="1447506">
                  <a:moveTo>
                    <a:pt x="1447506" y="527848"/>
                  </a:moveTo>
                  <a:lnTo>
                    <a:pt x="1041106" y="0"/>
                  </a:lnTo>
                  <a:lnTo>
                    <a:pt x="1041106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041106" y="852497"/>
                  </a:lnTo>
                  <a:lnTo>
                    <a:pt x="1041106" y="1055697"/>
                  </a:lnTo>
                  <a:lnTo>
                    <a:pt x="1447506" y="527848"/>
                  </a:ln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165100"/>
              <a:ext cx="1345906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40653" y="3461723"/>
            <a:ext cx="3130822" cy="184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76"/>
              </a:lnSpc>
              <a:spcBef>
                <a:spcPct val="0"/>
              </a:spcBef>
            </a:pPr>
            <a:r>
              <a:rPr lang="en-US" b="true" sz="10768" spc="-50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350k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40653" y="3570991"/>
            <a:ext cx="2314966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57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RAISING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872000" y="3477437"/>
            <a:ext cx="2524829" cy="30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40"/>
              </a:lnSpc>
              <a:spcBef>
                <a:spcPct val="0"/>
              </a:spcBef>
            </a:pPr>
            <a:r>
              <a:rPr lang="en-US" sz="1814" spc="5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Tech infrastructure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017990" y="5116469"/>
            <a:ext cx="3378839" cy="31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9"/>
              </a:lnSpc>
              <a:spcBef>
                <a:spcPct val="0"/>
              </a:spcBef>
            </a:pPr>
            <a:r>
              <a:rPr lang="en-US" sz="1849" spc="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Legal, ops &amp; admin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017990" y="4291501"/>
            <a:ext cx="3378839" cy="31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9"/>
              </a:lnSpc>
              <a:spcBef>
                <a:spcPct val="0"/>
              </a:spcBef>
            </a:pPr>
            <a:r>
              <a:rPr lang="en-US" sz="1849" spc="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Marketing &amp; paid social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017990" y="4703985"/>
            <a:ext cx="3378839" cy="31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9"/>
              </a:lnSpc>
              <a:spcBef>
                <a:spcPct val="0"/>
              </a:spcBef>
            </a:pPr>
            <a:r>
              <a:rPr lang="en-US" sz="1849" spc="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Clinical partnerships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083690" y="3879017"/>
            <a:ext cx="3313139" cy="31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9"/>
              </a:lnSpc>
              <a:spcBef>
                <a:spcPct val="0"/>
              </a:spcBef>
            </a:pPr>
            <a:r>
              <a:rPr lang="en-US" sz="1849" spc="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Team stipends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626225" y="3478568"/>
            <a:ext cx="863310" cy="30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  <a:spcBef>
                <a:spcPct val="0"/>
              </a:spcBef>
            </a:pPr>
            <a:r>
              <a:rPr lang="en-US" b="true" sz="1814" spc="-181">
                <a:solidFill>
                  <a:srgbClr val="FFE500"/>
                </a:solidFill>
                <a:latin typeface="Aileron Bold"/>
                <a:ea typeface="Aileron Bold"/>
                <a:cs typeface="Aileron Bold"/>
                <a:sym typeface="Aileron Bold"/>
              </a:rPr>
              <a:t>€119K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683961" y="4921890"/>
            <a:ext cx="2951022" cy="51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b="true" sz="1847" spc="-184">
                <a:solidFill>
                  <a:srgbClr val="FFE500"/>
                </a:solidFill>
                <a:latin typeface="Aileron Bold"/>
                <a:ea typeface="Aileron Bold"/>
                <a:cs typeface="Aileron Bold"/>
                <a:sym typeface="Aileron Bold"/>
              </a:rPr>
              <a:t>€28K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683961" y="4296909"/>
            <a:ext cx="2951022" cy="31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 spc="-184">
                <a:solidFill>
                  <a:srgbClr val="FFE500"/>
                </a:solidFill>
                <a:latin typeface="Aileron Bold"/>
                <a:ea typeface="Aileron Bold"/>
                <a:cs typeface="Aileron Bold"/>
                <a:sym typeface="Aileron Bold"/>
              </a:rPr>
              <a:t>€70K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683961" y="4715845"/>
            <a:ext cx="2951022" cy="31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 spc="-184">
                <a:solidFill>
                  <a:srgbClr val="FFE500"/>
                </a:solidFill>
                <a:latin typeface="Aileron Bold"/>
                <a:ea typeface="Aileron Bold"/>
                <a:cs typeface="Aileron Bold"/>
                <a:sym typeface="Aileron Bold"/>
              </a:rPr>
              <a:t>€42K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6668884" y="3877973"/>
            <a:ext cx="705879" cy="31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 spc="-184">
                <a:solidFill>
                  <a:srgbClr val="FFE500"/>
                </a:solidFill>
                <a:latin typeface="Aileron Bold"/>
                <a:ea typeface="Aileron Bold"/>
                <a:cs typeface="Aileron Bold"/>
                <a:sym typeface="Aileron Bold"/>
              </a:rPr>
              <a:t>€91K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019798" y="5121438"/>
            <a:ext cx="496921" cy="31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 spc="5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8%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53593" y="1276350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Join Our Growth Journey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50410" y="2348206"/>
            <a:ext cx="2972492" cy="5032088"/>
            <a:chOff x="0" y="0"/>
            <a:chExt cx="3963322" cy="670945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963322" cy="3963322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37679" t="-8230" r="-30563" b="-3861"/>
                </a:stretch>
              </a:blip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0" y="4358012"/>
              <a:ext cx="3795284" cy="555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2"/>
                </a:lnSpc>
                <a:spcBef>
                  <a:spcPct val="0"/>
                </a:spcBef>
              </a:pPr>
              <a:r>
                <a:rPr lang="en-US" b="true" sz="2465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3" tooltip="https://www.linkedin.com/in/pilar-gonzalez-522564240/"/>
                </a:rPr>
                <a:t>Pilar Gonzalez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963741"/>
              <a:ext cx="3473587" cy="1745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8"/>
                </a:lnSpc>
              </a:pPr>
              <a:r>
                <a:rPr lang="en-US" sz="1870" b="tru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CEO - Co Founder </a:t>
              </a:r>
            </a:p>
            <a:p>
              <a:pPr algn="l">
                <a:lnSpc>
                  <a:spcPts val="2618"/>
                </a:lnSpc>
                <a:spcBef>
                  <a:spcPct val="0"/>
                </a:spcBef>
              </a:pPr>
              <a:r>
                <a:rPr lang="en-US" sz="187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Experienced in strategy, finance, outreach, partnerships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81650" y="2348206"/>
            <a:ext cx="3336499" cy="4700033"/>
            <a:chOff x="0" y="0"/>
            <a:chExt cx="4448666" cy="626671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3963322" cy="3963322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78303" t="0" r="-78303" b="0"/>
                </a:stretch>
              </a:blip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3963322" cy="3963322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41545" t="-10992" r="-25046" b="0"/>
                </a:stretch>
              </a:blip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214861" y="4358012"/>
              <a:ext cx="3533599" cy="555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2"/>
                </a:lnSpc>
                <a:spcBef>
                  <a:spcPct val="0"/>
                </a:spcBef>
              </a:pPr>
              <a:r>
                <a:rPr lang="en-US" b="true" sz="2465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6" tooltip="https://www.linkedin.com/in/lucia-cebrian-7333b829a/"/>
                </a:rPr>
                <a:t>Lucia Cebrian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14861" y="4963741"/>
              <a:ext cx="4233804" cy="1302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8"/>
                </a:lnSpc>
              </a:pPr>
              <a:r>
                <a:rPr lang="en-US" sz="1870" b="tru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COO - Co Founder</a:t>
              </a:r>
            </a:p>
            <a:p>
              <a:pPr algn="l">
                <a:lnSpc>
                  <a:spcPts val="2618"/>
                </a:lnSpc>
                <a:spcBef>
                  <a:spcPct val="0"/>
                </a:spcBef>
              </a:pPr>
              <a:r>
                <a:rPr lang="en-US" sz="187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Experienced in branding, marketing &amp; UX design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04974" y="2348206"/>
            <a:ext cx="2972492" cy="297249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5046" t="0" r="-25046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551599" y="5602427"/>
            <a:ext cx="3585991" cy="43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  <a:spcBef>
                <a:spcPct val="0"/>
              </a:spcBef>
            </a:pPr>
            <a:r>
              <a:rPr lang="en-US" b="true" sz="2465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  <a:hlinkClick r:id="rId8" tooltip="https://www.linkedin.com/in/maria-paula-garz%C3%B3n-9410242b0/"/>
              </a:rPr>
              <a:t>Maria Paula Garzon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51599" y="6061487"/>
            <a:ext cx="3507497" cy="98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187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CMO - Co Founder </a:t>
            </a:r>
          </a:p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Experienced in </a:t>
            </a:r>
            <a:r>
              <a:rPr lang="en-US" sz="18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branding, social media management, marketing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8193062"/>
            <a:ext cx="6287624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Your Vision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092" y="3760199"/>
            <a:ext cx="7654155" cy="1914298"/>
            <a:chOff x="0" y="0"/>
            <a:chExt cx="10205540" cy="255239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76872" y="0"/>
              <a:ext cx="2375524" cy="237552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78303" t="0" r="-78303" b="0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0"/>
              <a:ext cx="2552397" cy="2552397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3523" t="-5615" r="-6183" b="-2638"/>
                </a:stretch>
              </a:blip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2832447" y="-38100"/>
              <a:ext cx="7373093" cy="1005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8"/>
                </a:lnSpc>
              </a:pPr>
              <a:r>
                <a:rPr lang="en-US" b="true" sz="2199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4" tooltip="https://www.linkedin.com/in/kanika-pandey-959aa3a/"/>
                </a:rPr>
                <a:t>Kanika Pandey  </a:t>
              </a:r>
            </a:p>
            <a:p>
              <a:pPr algn="l">
                <a:lnSpc>
                  <a:spcPts val="3078"/>
                </a:lnSpc>
                <a:spcBef>
                  <a:spcPct val="0"/>
                </a:spcBef>
              </a:pPr>
              <a:r>
                <a:rPr lang="en-US" b="true" sz="2199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5" tooltip="https://www.linkedin.com/in/kanika-pandey-959aa3a/"/>
                </a:rPr>
                <a:t>AI &amp; Growth Strategy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829906" y="941170"/>
              <a:ext cx="7375635" cy="37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4975" indent="-177488" lvl="1">
                <a:lnSpc>
                  <a:spcPts val="230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4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2x founder, expert in GTM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74765" y="1576897"/>
            <a:ext cx="7484535" cy="1781643"/>
            <a:chOff x="0" y="0"/>
            <a:chExt cx="9979380" cy="237552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375524" cy="2375524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tru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4390" r="0" b="-10387"/>
                </a:stretch>
              </a:blip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2652395" y="-38100"/>
              <a:ext cx="7326985" cy="1004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4"/>
                </a:lnSpc>
              </a:pPr>
              <a:r>
                <a:rPr lang="en-US" b="true" sz="2203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7" tooltip="https://www.linkedin.com/in/juanjosecebrian/"/>
                </a:rPr>
                <a:t>J</a:t>
              </a:r>
              <a:r>
                <a:rPr lang="en-US" b="true" sz="2203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8" tooltip="https://www.linkedin.com/in/juanjosecebrian/"/>
                </a:rPr>
                <a:t>uan Jose Cebrian Gonzalez </a:t>
              </a:r>
            </a:p>
            <a:p>
              <a:pPr algn="l">
                <a:lnSpc>
                  <a:spcPts val="3084"/>
                </a:lnSpc>
                <a:spcBef>
                  <a:spcPct val="0"/>
                </a:spcBef>
              </a:pPr>
              <a:r>
                <a:rPr lang="en-US" b="true" sz="2203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Technology &amp; Digital Transformation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696906" y="1053463"/>
              <a:ext cx="7282474" cy="37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4954" indent="-177477" lvl="1">
                <a:lnSpc>
                  <a:spcPts val="230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4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EMEA CTO and head of engineering at CHUBB.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62275" y="6638793"/>
            <a:ext cx="7497025" cy="2004586"/>
            <a:chOff x="0" y="0"/>
            <a:chExt cx="9996033" cy="267278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608083" cy="2672782"/>
              <a:chOff x="0" y="0"/>
              <a:chExt cx="793125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9312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93125">
                    <a:moveTo>
                      <a:pt x="396562" y="0"/>
                    </a:moveTo>
                    <a:cubicBezTo>
                      <a:pt x="177547" y="0"/>
                      <a:pt x="0" y="181951"/>
                      <a:pt x="0" y="406400"/>
                    </a:cubicBezTo>
                    <a:cubicBezTo>
                      <a:pt x="0" y="630849"/>
                      <a:pt x="177547" y="812800"/>
                      <a:pt x="396562" y="812800"/>
                    </a:cubicBezTo>
                    <a:cubicBezTo>
                      <a:pt x="615578" y="812800"/>
                      <a:pt x="793125" y="630849"/>
                      <a:pt x="793125" y="406400"/>
                    </a:cubicBezTo>
                    <a:cubicBezTo>
                      <a:pt x="793125" y="181951"/>
                      <a:pt x="615578" y="0"/>
                      <a:pt x="396562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1240" t="0" r="-1240" b="0"/>
                </a:stretch>
              </a:blip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608083" y="-27477"/>
              <a:ext cx="7387950" cy="10378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7"/>
                </a:lnSpc>
              </a:pPr>
              <a:r>
                <a:rPr lang="en-US" b="true" sz="2262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10" tooltip="https://www.linkedin.com/in/beatriz-serrano-sordo/?locale=en"/>
                </a:rPr>
                <a:t>Beatriz Serrano Sordo </a:t>
              </a:r>
            </a:p>
            <a:p>
              <a:pPr algn="l">
                <a:lnSpc>
                  <a:spcPts val="3167"/>
                </a:lnSpc>
                <a:spcBef>
                  <a:spcPct val="0"/>
                </a:spcBef>
              </a:pPr>
              <a:r>
                <a:rPr lang="en-US" b="true" sz="226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Finance &amp; Governance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608083" y="1113241"/>
              <a:ext cx="7387950" cy="763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4455" indent="-182227" lvl="1">
                <a:lnSpc>
                  <a:spcPts val="23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88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1x founder, ex MD Banco Santander Head of Investor Relations, senior analyst AXA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2060" y="6683937"/>
            <a:ext cx="7692188" cy="1914298"/>
            <a:chOff x="0" y="0"/>
            <a:chExt cx="10256250" cy="255239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2552397" cy="2552397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1"/>
                <a:stretch>
                  <a:fillRect l="0" t="-251" r="0" b="-251"/>
                </a:stretch>
              </a:blip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880616" y="-32716"/>
              <a:ext cx="7375635" cy="1004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4"/>
                </a:lnSpc>
              </a:pPr>
              <a:r>
                <a:rPr lang="en-US" b="true" sz="2203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12" tooltip="https://www.linkedin.com/in/constanzaramirezmilli/"/>
                </a:rPr>
                <a:t>Constanza Ramirez Milli </a:t>
              </a:r>
            </a:p>
            <a:p>
              <a:pPr algn="l">
                <a:lnSpc>
                  <a:spcPts val="3084"/>
                </a:lnSpc>
                <a:spcBef>
                  <a:spcPct val="0"/>
                </a:spcBef>
              </a:pPr>
              <a:r>
                <a:rPr lang="en-US" b="true" sz="2203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Clinical Nutrition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880616" y="987236"/>
              <a:ext cx="7375635" cy="753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4954" indent="-177477" lvl="1">
                <a:lnSpc>
                  <a:spcPts val="230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44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Nutritionist specialized in clinical nutrition &amp; corporate wellness. 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74765" y="4078805"/>
            <a:ext cx="7484535" cy="1847783"/>
            <a:chOff x="0" y="0"/>
            <a:chExt cx="9979380" cy="246371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463710" cy="2463710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3"/>
                <a:stretch>
                  <a:fillRect l="-15824" t="-2315" r="-12019" b="-9068"/>
                </a:stretch>
              </a:blip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2614205" y="1013404"/>
              <a:ext cx="7365174" cy="355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4930" indent="-172465" lvl="1">
                <a:lnSpc>
                  <a:spcPts val="223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7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Former Global Innovation Lead at ING.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591162" y="-38950"/>
              <a:ext cx="6745066" cy="492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143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14" tooltip="https://www.linkedin.com/in/claramirandae/"/>
                </a:rPr>
                <a:t>Clara Miranda</a:t>
              </a:r>
              <a:r>
                <a:rPr lang="en-US" b="true" sz="2143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 Escribano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630325" y="466772"/>
              <a:ext cx="6745066" cy="459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4"/>
                </a:lnSpc>
                <a:spcBef>
                  <a:spcPct val="0"/>
                </a:spcBef>
              </a:pPr>
              <a:r>
                <a:rPr lang="en-US" b="true" sz="2074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Strategy &amp; Brand Innovation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8700" y="1224474"/>
            <a:ext cx="7504530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4D"/>
                </a:solidFill>
                <a:latin typeface="Aileron"/>
                <a:ea typeface="Aileron"/>
                <a:cs typeface="Aileron"/>
                <a:sym typeface="Aileron"/>
              </a:rPr>
              <a:t>Advisory Board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2713662"/>
            <a:ext cx="7902416" cy="42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3396" spc="-163">
                <a:solidFill>
                  <a:srgbClr val="FF004D"/>
                </a:solidFill>
                <a:latin typeface="Aileron"/>
                <a:ea typeface="Aileron"/>
                <a:cs typeface="Aileron"/>
                <a:sym typeface="Aileron"/>
              </a:rPr>
              <a:t>Global experts in tech, growth and nutrition.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19094" y="3929558"/>
            <a:ext cx="9218552" cy="2172760"/>
          </a:xfrm>
          <a:custGeom>
            <a:avLst/>
            <a:gdLst/>
            <a:ahLst/>
            <a:cxnLst/>
            <a:rect r="r" b="b" t="t" l="l"/>
            <a:pathLst>
              <a:path h="2172760" w="9218552">
                <a:moveTo>
                  <a:pt x="0" y="0"/>
                </a:moveTo>
                <a:lnTo>
                  <a:pt x="9218552" y="0"/>
                </a:lnTo>
                <a:lnTo>
                  <a:pt x="9218552" y="2172759"/>
                </a:lnTo>
                <a:lnTo>
                  <a:pt x="0" y="2172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73" r="-2829" b="-1090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0127" y="6214110"/>
            <a:ext cx="102870" cy="100965"/>
            <a:chOff x="0" y="0"/>
            <a:chExt cx="137160" cy="1346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9252" y="49583"/>
              <a:ext cx="35838" cy="30765"/>
            </a:xfrm>
            <a:custGeom>
              <a:avLst/>
              <a:gdLst/>
              <a:ahLst/>
              <a:cxnLst/>
              <a:rect r="r" b="b" t="t" l="l"/>
              <a:pathLst>
                <a:path h="30765" w="35838">
                  <a:moveTo>
                    <a:pt x="35838" y="11377"/>
                  </a:moveTo>
                  <a:cubicBezTo>
                    <a:pt x="19328" y="36777"/>
                    <a:pt x="5358" y="31697"/>
                    <a:pt x="1548" y="26617"/>
                  </a:cubicBezTo>
                  <a:cubicBezTo>
                    <a:pt x="-2262" y="21537"/>
                    <a:pt x="1548" y="5027"/>
                    <a:pt x="6628" y="1217"/>
                  </a:cubicBezTo>
                  <a:cubicBezTo>
                    <a:pt x="11708" y="-2593"/>
                    <a:pt x="30758" y="3757"/>
                    <a:pt x="30758" y="3757"/>
                  </a:cubicBezTo>
                </a:path>
              </a:pathLst>
            </a:custGeom>
            <a:solidFill>
              <a:srgbClr val="2D2E3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082815" y="9056741"/>
            <a:ext cx="1725580" cy="136951"/>
          </a:xfrm>
          <a:custGeom>
            <a:avLst/>
            <a:gdLst/>
            <a:ahLst/>
            <a:cxnLst/>
            <a:rect r="r" b="b" t="t" l="l"/>
            <a:pathLst>
              <a:path h="136951" w="1725580">
                <a:moveTo>
                  <a:pt x="0" y="0"/>
                </a:moveTo>
                <a:lnTo>
                  <a:pt x="1725579" y="0"/>
                </a:lnTo>
                <a:lnTo>
                  <a:pt x="1725579" y="136950"/>
                </a:lnTo>
                <a:lnTo>
                  <a:pt x="0" y="136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49111" y="9056741"/>
            <a:ext cx="1725580" cy="136951"/>
          </a:xfrm>
          <a:custGeom>
            <a:avLst/>
            <a:gdLst/>
            <a:ahLst/>
            <a:cxnLst/>
            <a:rect r="r" b="b" t="t" l="l"/>
            <a:pathLst>
              <a:path h="136951" w="1725580">
                <a:moveTo>
                  <a:pt x="0" y="0"/>
                </a:moveTo>
                <a:lnTo>
                  <a:pt x="1725580" y="0"/>
                </a:lnTo>
                <a:lnTo>
                  <a:pt x="1725580" y="136950"/>
                </a:lnTo>
                <a:lnTo>
                  <a:pt x="0" y="136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1193615">
            <a:off x="2842581" y="5983158"/>
            <a:ext cx="958598" cy="877413"/>
          </a:xfrm>
          <a:custGeom>
            <a:avLst/>
            <a:gdLst/>
            <a:ahLst/>
            <a:cxnLst/>
            <a:rect r="r" b="b" t="t" l="l"/>
            <a:pathLst>
              <a:path h="877413" w="958598">
                <a:moveTo>
                  <a:pt x="958598" y="0"/>
                </a:moveTo>
                <a:lnTo>
                  <a:pt x="0" y="0"/>
                </a:lnTo>
                <a:lnTo>
                  <a:pt x="0" y="877413"/>
                </a:lnTo>
                <a:lnTo>
                  <a:pt x="958598" y="877413"/>
                </a:lnTo>
                <a:lnTo>
                  <a:pt x="95859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20763" y="6215165"/>
            <a:ext cx="6896279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i="true">
                <a:solidFill>
                  <a:srgbClr val="FF004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Adaptive nutrition, movement and recovery guidance that learns across cycles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90600"/>
            <a:ext cx="3228156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i="true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nutrisynccollective.com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20763" y="8885557"/>
            <a:ext cx="1906993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 u="sng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  <a:hlinkClick r:id="rId5" tooltip="https://www.linkedin.com/in/pilar-gonzalez-522564240/"/>
              </a:rPr>
              <a:t>Pilar Gonzalez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93316" y="8885557"/>
            <a:ext cx="1801300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 u="sng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  <a:hlinkClick r:id="rId6" tooltip="https://www.linkedin.com/in/lucia-cebrian-7333b829a/"/>
              </a:rPr>
              <a:t>Lucia Cebrian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60176" y="8885557"/>
            <a:ext cx="2481242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 u="sng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  <a:hlinkClick r:id="rId7" tooltip="https://www.linkedin.com/in/maria-paula-garz%C3%B3n-9410242b0/"/>
              </a:rPr>
              <a:t>Maria Paula Garzon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29026" y="990600"/>
            <a:ext cx="4230274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i="true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contact@</a:t>
            </a:r>
            <a:r>
              <a:rPr lang="en-US" sz="2200" i="true">
                <a:solidFill>
                  <a:srgbClr val="EC634B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nutrisynccollective.com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1434394">
            <a:off x="14088272" y="7163213"/>
            <a:ext cx="1021052" cy="959542"/>
          </a:xfrm>
          <a:custGeom>
            <a:avLst/>
            <a:gdLst/>
            <a:ahLst/>
            <a:cxnLst/>
            <a:rect r="r" b="b" t="t" l="l"/>
            <a:pathLst>
              <a:path h="959542" w="1021052">
                <a:moveTo>
                  <a:pt x="0" y="0"/>
                </a:moveTo>
                <a:lnTo>
                  <a:pt x="1021052" y="0"/>
                </a:lnTo>
                <a:lnTo>
                  <a:pt x="1021052" y="959542"/>
                </a:lnTo>
                <a:lnTo>
                  <a:pt x="0" y="9595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013309" y="4547254"/>
            <a:ext cx="2260315" cy="4711046"/>
          </a:xfrm>
          <a:custGeom>
            <a:avLst/>
            <a:gdLst/>
            <a:ahLst/>
            <a:cxnLst/>
            <a:rect r="r" b="b" t="t" l="l"/>
            <a:pathLst>
              <a:path h="4711046" w="2260315">
                <a:moveTo>
                  <a:pt x="0" y="0"/>
                </a:moveTo>
                <a:lnTo>
                  <a:pt x="2260316" y="0"/>
                </a:lnTo>
                <a:lnTo>
                  <a:pt x="2260316" y="4711046"/>
                </a:lnTo>
                <a:lnTo>
                  <a:pt x="0" y="47110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5943" t="-14963" r="-22599" b="-792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088511" y="4197415"/>
            <a:ext cx="2186180" cy="4996277"/>
          </a:xfrm>
          <a:custGeom>
            <a:avLst/>
            <a:gdLst/>
            <a:ahLst/>
            <a:cxnLst/>
            <a:rect r="r" b="b" t="t" l="l"/>
            <a:pathLst>
              <a:path h="4996277" w="2186180">
                <a:moveTo>
                  <a:pt x="0" y="0"/>
                </a:moveTo>
                <a:lnTo>
                  <a:pt x="2186180" y="0"/>
                </a:lnTo>
                <a:lnTo>
                  <a:pt x="2186180" y="4996276"/>
                </a:lnTo>
                <a:lnTo>
                  <a:pt x="0" y="4996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474" t="-7825" r="-17883" b="-558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088511" y="4197415"/>
            <a:ext cx="2186180" cy="4996277"/>
          </a:xfrm>
          <a:custGeom>
            <a:avLst/>
            <a:gdLst/>
            <a:ahLst/>
            <a:cxnLst/>
            <a:rect r="r" b="b" t="t" l="l"/>
            <a:pathLst>
              <a:path h="4996277" w="2186180">
                <a:moveTo>
                  <a:pt x="0" y="0"/>
                </a:moveTo>
                <a:lnTo>
                  <a:pt x="2186180" y="0"/>
                </a:lnTo>
                <a:lnTo>
                  <a:pt x="2186180" y="4996276"/>
                </a:lnTo>
                <a:lnTo>
                  <a:pt x="0" y="4996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474" t="-7825" r="-17883" b="-558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088511" y="4197415"/>
            <a:ext cx="2186180" cy="4996277"/>
          </a:xfrm>
          <a:custGeom>
            <a:avLst/>
            <a:gdLst/>
            <a:ahLst/>
            <a:cxnLst/>
            <a:rect r="r" b="b" t="t" l="l"/>
            <a:pathLst>
              <a:path h="4996277" w="2186180">
                <a:moveTo>
                  <a:pt x="0" y="0"/>
                </a:moveTo>
                <a:lnTo>
                  <a:pt x="2186180" y="0"/>
                </a:lnTo>
                <a:lnTo>
                  <a:pt x="2186180" y="4996276"/>
                </a:lnTo>
                <a:lnTo>
                  <a:pt x="0" y="4996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474" t="-7825" r="-17883" b="-558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088511" y="4193661"/>
            <a:ext cx="2186180" cy="4996277"/>
          </a:xfrm>
          <a:custGeom>
            <a:avLst/>
            <a:gdLst/>
            <a:ahLst/>
            <a:cxnLst/>
            <a:rect r="r" b="b" t="t" l="l"/>
            <a:pathLst>
              <a:path h="4996277" w="2186180">
                <a:moveTo>
                  <a:pt x="0" y="0"/>
                </a:moveTo>
                <a:lnTo>
                  <a:pt x="2186180" y="0"/>
                </a:lnTo>
                <a:lnTo>
                  <a:pt x="2186180" y="4996277"/>
                </a:lnTo>
                <a:lnTo>
                  <a:pt x="0" y="49962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474" t="-7825" r="-17883" b="-5589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09398" y="1953408"/>
            <a:ext cx="6920791" cy="692079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6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99805" y="5158718"/>
            <a:ext cx="3535935" cy="3555027"/>
            <a:chOff x="0" y="0"/>
            <a:chExt cx="880062" cy="8848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0062" cy="884814"/>
            </a:xfrm>
            <a:custGeom>
              <a:avLst/>
              <a:gdLst/>
              <a:ahLst/>
              <a:cxnLst/>
              <a:rect r="r" b="b" t="t" l="l"/>
              <a:pathLst>
                <a:path h="884814" w="880062">
                  <a:moveTo>
                    <a:pt x="440031" y="0"/>
                  </a:moveTo>
                  <a:cubicBezTo>
                    <a:pt x="197009" y="0"/>
                    <a:pt x="0" y="198072"/>
                    <a:pt x="0" y="442407"/>
                  </a:cubicBezTo>
                  <a:cubicBezTo>
                    <a:pt x="0" y="686741"/>
                    <a:pt x="197009" y="884814"/>
                    <a:pt x="440031" y="884814"/>
                  </a:cubicBezTo>
                  <a:cubicBezTo>
                    <a:pt x="683053" y="884814"/>
                    <a:pt x="880062" y="686741"/>
                    <a:pt x="880062" y="442407"/>
                  </a:cubicBezTo>
                  <a:cubicBezTo>
                    <a:pt x="880062" y="198072"/>
                    <a:pt x="683053" y="0"/>
                    <a:pt x="440031" y="0"/>
                  </a:cubicBezTo>
                  <a:close/>
                </a:path>
              </a:pathLst>
            </a:custGeom>
            <a:solidFill>
              <a:srgbClr val="FF13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82506" y="16276"/>
              <a:ext cx="715050" cy="785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11419305" y="6825780"/>
            <a:ext cx="1697075" cy="169707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003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7474295"/>
            <a:ext cx="4459729" cy="99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7697">
                <a:solidFill>
                  <a:srgbClr val="CF013F"/>
                </a:solidFill>
                <a:latin typeface="Aileron"/>
                <a:ea typeface="Aileron"/>
                <a:cs typeface="Aileron"/>
                <a:sym typeface="Aileron"/>
              </a:rPr>
              <a:t>~€1.67M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878979"/>
            <a:ext cx="4773535" cy="996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5"/>
              </a:lnSpc>
            </a:pPr>
            <a:r>
              <a:rPr lang="en-US" sz="7700">
                <a:solidFill>
                  <a:srgbClr val="FFC700"/>
                </a:solidFill>
                <a:latin typeface="Aileron"/>
                <a:ea typeface="Aileron"/>
                <a:cs typeface="Aileron"/>
                <a:sym typeface="Aileron"/>
              </a:rPr>
              <a:t>~€1.4Bn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517275"/>
            <a:ext cx="8375021" cy="57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2317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NutriSync's Year 3 revenue target (realistic scenario)</a:t>
            </a:r>
          </a:p>
          <a:p>
            <a:pPr algn="l">
              <a:lnSpc>
                <a:spcPts val="2201"/>
              </a:lnSpc>
            </a:pPr>
            <a:r>
              <a:rPr lang="en-US" sz="231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30.3K+ paying users by Year 3 — ~1% penetration of SAM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298455"/>
            <a:ext cx="7880698" cy="30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2317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Women paying for digital health + B2B wellness buyers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923555"/>
            <a:ext cx="7880698" cy="30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2317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Spain’s women’s health app + corporate wellness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3357" y="9490495"/>
            <a:ext cx="10225949" cy="23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Sources: (INE, 2024), (Heraldo, 2023), (Agencia SINC, 2023), (European Psychiatry, 2022)</a:t>
            </a:r>
          </a:p>
        </p:txBody>
      </p:sp>
      <p:sp>
        <p:nvSpPr>
          <p:cNvPr name="AutoShape 17" id="17"/>
          <p:cNvSpPr/>
          <p:nvPr/>
        </p:nvSpPr>
        <p:spPr>
          <a:xfrm>
            <a:off x="7161196" y="3367447"/>
            <a:ext cx="5106647" cy="0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oval" len="lg" w="lg"/>
            <a:tailEnd type="oval" len="lg" w="lg"/>
          </a:ln>
        </p:spPr>
      </p:sp>
      <p:sp>
        <p:nvSpPr>
          <p:cNvPr name="AutoShape 18" id="18"/>
          <p:cNvSpPr/>
          <p:nvPr/>
        </p:nvSpPr>
        <p:spPr>
          <a:xfrm>
            <a:off x="7161196" y="5831730"/>
            <a:ext cx="5106647" cy="0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oval" len="lg" w="lg"/>
            <a:tailEnd type="oval" len="lg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5253968"/>
            <a:ext cx="4459729" cy="99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7697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~€168M</a:t>
            </a:r>
          </a:p>
        </p:txBody>
      </p:sp>
      <p:sp>
        <p:nvSpPr>
          <p:cNvPr name="AutoShape 20" id="20"/>
          <p:cNvSpPr/>
          <p:nvPr/>
        </p:nvSpPr>
        <p:spPr>
          <a:xfrm>
            <a:off x="7161266" y="7955300"/>
            <a:ext cx="5106577" cy="0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oval" len="lg" w="lg"/>
            <a:tailEnd type="oval" len="lg" w="lg"/>
          </a:ln>
        </p:spPr>
      </p:sp>
      <p:sp>
        <p:nvSpPr>
          <p:cNvPr name="TextBox 21" id="21"/>
          <p:cNvSpPr txBox="true"/>
          <p:nvPr/>
        </p:nvSpPr>
        <p:spPr>
          <a:xfrm rot="0">
            <a:off x="1028700" y="4273350"/>
            <a:ext cx="7954979" cy="30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231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All Spanish companies and women who could ever pay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6648250"/>
            <a:ext cx="7512230" cy="57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231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2M Spanish women already paying and companies actively purchasing digital employee wellness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838200"/>
            <a:ext cx="15617679" cy="106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70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Spanish Market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07177" y="3139326"/>
            <a:ext cx="8288906" cy="4008348"/>
            <a:chOff x="0" y="0"/>
            <a:chExt cx="2183086" cy="10556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3086" cy="1055697"/>
            </a:xfrm>
            <a:custGeom>
              <a:avLst/>
              <a:gdLst/>
              <a:ahLst/>
              <a:cxnLst/>
              <a:rect r="r" b="b" t="t" l="l"/>
              <a:pathLst>
                <a:path h="1055697" w="2183086">
                  <a:moveTo>
                    <a:pt x="2183086" y="527848"/>
                  </a:moveTo>
                  <a:lnTo>
                    <a:pt x="1776686" y="0"/>
                  </a:lnTo>
                  <a:lnTo>
                    <a:pt x="1776686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776686" y="852497"/>
                  </a:lnTo>
                  <a:lnTo>
                    <a:pt x="1776686" y="1055697"/>
                  </a:lnTo>
                  <a:lnTo>
                    <a:pt x="2183086" y="527848"/>
                  </a:lnTo>
                  <a:close/>
                </a:path>
              </a:pathLst>
            </a:custGeom>
            <a:solidFill>
              <a:srgbClr val="C6003B"/>
            </a:solidFill>
            <a:ln w="38100" cap="sq">
              <a:solidFill>
                <a:srgbClr val="E8014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65100"/>
              <a:ext cx="2081486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44942" y="3139326"/>
            <a:ext cx="7509790" cy="4008348"/>
            <a:chOff x="0" y="0"/>
            <a:chExt cx="1977887" cy="10556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7887" cy="1055697"/>
            </a:xfrm>
            <a:custGeom>
              <a:avLst/>
              <a:gdLst/>
              <a:ahLst/>
              <a:cxnLst/>
              <a:rect r="r" b="b" t="t" l="l"/>
              <a:pathLst>
                <a:path h="1055697" w="1977887">
                  <a:moveTo>
                    <a:pt x="1977887" y="527848"/>
                  </a:moveTo>
                  <a:lnTo>
                    <a:pt x="1571487" y="0"/>
                  </a:lnTo>
                  <a:lnTo>
                    <a:pt x="1571487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571487" y="852497"/>
                  </a:lnTo>
                  <a:lnTo>
                    <a:pt x="1571487" y="1055697"/>
                  </a:lnTo>
                  <a:lnTo>
                    <a:pt x="1977887" y="527848"/>
                  </a:lnTo>
                  <a:close/>
                </a:path>
              </a:pathLst>
            </a:custGeom>
            <a:solidFill>
              <a:srgbClr val="E80046"/>
            </a:solidFill>
            <a:ln w="38100" cap="sq">
              <a:solidFill>
                <a:srgbClr val="E80046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65100"/>
              <a:ext cx="1876287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83152" y="3139326"/>
            <a:ext cx="7509790" cy="4008348"/>
            <a:chOff x="0" y="0"/>
            <a:chExt cx="1977887" cy="10556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7887" cy="1055697"/>
            </a:xfrm>
            <a:custGeom>
              <a:avLst/>
              <a:gdLst/>
              <a:ahLst/>
              <a:cxnLst/>
              <a:rect r="r" b="b" t="t" l="l"/>
              <a:pathLst>
                <a:path h="1055697" w="1977887">
                  <a:moveTo>
                    <a:pt x="1977887" y="527848"/>
                  </a:moveTo>
                  <a:lnTo>
                    <a:pt x="1571487" y="0"/>
                  </a:lnTo>
                  <a:lnTo>
                    <a:pt x="1571487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571487" y="852497"/>
                  </a:lnTo>
                  <a:lnTo>
                    <a:pt x="1571487" y="1055697"/>
                  </a:lnTo>
                  <a:lnTo>
                    <a:pt x="1977887" y="527848"/>
                  </a:lnTo>
                  <a:close/>
                </a:path>
              </a:pathLst>
            </a:custGeom>
            <a:solidFill>
              <a:srgbClr val="FF004D"/>
            </a:solidFill>
            <a:ln w="381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65100"/>
              <a:ext cx="1876287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441741" y="3139326"/>
            <a:ext cx="5495999" cy="4008348"/>
            <a:chOff x="0" y="0"/>
            <a:chExt cx="1447506" cy="10556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7506" cy="1055697"/>
            </a:xfrm>
            <a:custGeom>
              <a:avLst/>
              <a:gdLst/>
              <a:ahLst/>
              <a:cxnLst/>
              <a:rect r="r" b="b" t="t" l="l"/>
              <a:pathLst>
                <a:path h="1055697" w="1447506">
                  <a:moveTo>
                    <a:pt x="1447506" y="527848"/>
                  </a:moveTo>
                  <a:lnTo>
                    <a:pt x="1041106" y="0"/>
                  </a:lnTo>
                  <a:lnTo>
                    <a:pt x="1041106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041106" y="852497"/>
                  </a:lnTo>
                  <a:lnTo>
                    <a:pt x="1041106" y="1055697"/>
                  </a:lnTo>
                  <a:lnTo>
                    <a:pt x="1447506" y="527848"/>
                  </a:lnTo>
                  <a:close/>
                </a:path>
              </a:pathLst>
            </a:custGeom>
            <a:solidFill>
              <a:srgbClr val="FF1300"/>
            </a:solidFill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65100"/>
              <a:ext cx="1345906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52000" y="4657998"/>
            <a:ext cx="3904135" cy="108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CONVERSATIONAL AI NUTRI COMPANION </a:t>
            </a:r>
          </a:p>
          <a:p>
            <a:pPr algn="l">
              <a:lnSpc>
                <a:spcPts val="2823"/>
              </a:lnSpc>
            </a:pPr>
            <a:r>
              <a:rPr lang="en-US" sz="300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(M13 Premium)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059056" y="2605792"/>
            <a:ext cx="2044393" cy="2044393"/>
          </a:xfrm>
          <a:custGeom>
            <a:avLst/>
            <a:gdLst/>
            <a:ahLst/>
            <a:cxnLst/>
            <a:rect r="r" b="b" t="t" l="l"/>
            <a:pathLst>
              <a:path h="2044393" w="2044393">
                <a:moveTo>
                  <a:pt x="0" y="0"/>
                </a:moveTo>
                <a:lnTo>
                  <a:pt x="2044393" y="0"/>
                </a:lnTo>
                <a:lnTo>
                  <a:pt x="2044393" y="2044392"/>
                </a:lnTo>
                <a:lnTo>
                  <a:pt x="0" y="204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1755083">
            <a:off x="6358801" y="3022803"/>
            <a:ext cx="1414855" cy="1329622"/>
          </a:xfrm>
          <a:custGeom>
            <a:avLst/>
            <a:gdLst/>
            <a:ahLst/>
            <a:cxnLst/>
            <a:rect r="r" b="b" t="t" l="l"/>
            <a:pathLst>
              <a:path h="1329622" w="1414855">
                <a:moveTo>
                  <a:pt x="1414854" y="0"/>
                </a:moveTo>
                <a:lnTo>
                  <a:pt x="0" y="0"/>
                </a:lnTo>
                <a:lnTo>
                  <a:pt x="0" y="1329623"/>
                </a:lnTo>
                <a:lnTo>
                  <a:pt x="1414854" y="1329623"/>
                </a:lnTo>
                <a:lnTo>
                  <a:pt x="141485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6124154" y="2844291"/>
            <a:ext cx="773410" cy="665132"/>
          </a:xfrm>
          <a:custGeom>
            <a:avLst/>
            <a:gdLst/>
            <a:ahLst/>
            <a:cxnLst/>
            <a:rect r="r" b="b" t="t" l="l"/>
            <a:pathLst>
              <a:path h="665132" w="773410">
                <a:moveTo>
                  <a:pt x="773409" y="0"/>
                </a:moveTo>
                <a:lnTo>
                  <a:pt x="0" y="0"/>
                </a:lnTo>
                <a:lnTo>
                  <a:pt x="0" y="665132"/>
                </a:lnTo>
                <a:lnTo>
                  <a:pt x="773409" y="665132"/>
                </a:lnTo>
                <a:lnTo>
                  <a:pt x="77340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15574" y="4455740"/>
            <a:ext cx="3581369" cy="144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ADAPTIVE AI </a:t>
            </a:r>
          </a:p>
          <a:p>
            <a:pPr algn="l">
              <a:lnSpc>
                <a:spcPts val="2823"/>
              </a:lnSpc>
            </a:pPr>
            <a:r>
              <a:rPr lang="en-US" sz="3003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PERSONALIZATION ENGINE </a:t>
            </a:r>
          </a:p>
          <a:p>
            <a:pPr algn="l">
              <a:lnSpc>
                <a:spcPts val="2823"/>
              </a:lnSpc>
            </a:pPr>
            <a:r>
              <a:rPr lang="en-US" sz="3003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</a:t>
            </a:r>
            <a:r>
              <a:rPr lang="en-US" sz="300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now-M6)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746159" y="2736245"/>
            <a:ext cx="1783486" cy="1783486"/>
          </a:xfrm>
          <a:custGeom>
            <a:avLst/>
            <a:gdLst/>
            <a:ahLst/>
            <a:cxnLst/>
            <a:rect r="r" b="b" t="t" l="l"/>
            <a:pathLst>
              <a:path h="1783486" w="1783486">
                <a:moveTo>
                  <a:pt x="0" y="0"/>
                </a:moveTo>
                <a:lnTo>
                  <a:pt x="1783485" y="0"/>
                </a:lnTo>
                <a:lnTo>
                  <a:pt x="1783485" y="1783486"/>
                </a:lnTo>
                <a:lnTo>
                  <a:pt x="0" y="17834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2129003">
            <a:off x="2068760" y="3071836"/>
            <a:ext cx="1215223" cy="1112305"/>
          </a:xfrm>
          <a:custGeom>
            <a:avLst/>
            <a:gdLst/>
            <a:ahLst/>
            <a:cxnLst/>
            <a:rect r="r" b="b" t="t" l="l"/>
            <a:pathLst>
              <a:path h="1112305" w="1215223">
                <a:moveTo>
                  <a:pt x="0" y="0"/>
                </a:moveTo>
                <a:lnTo>
                  <a:pt x="1215222" y="0"/>
                </a:lnTo>
                <a:lnTo>
                  <a:pt x="1215222" y="1112305"/>
                </a:lnTo>
                <a:lnTo>
                  <a:pt x="0" y="11123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247921">
            <a:off x="2676371" y="3011983"/>
            <a:ext cx="387533" cy="387533"/>
          </a:xfrm>
          <a:custGeom>
            <a:avLst/>
            <a:gdLst/>
            <a:ahLst/>
            <a:cxnLst/>
            <a:rect r="r" b="b" t="t" l="l"/>
            <a:pathLst>
              <a:path h="387533" w="387533">
                <a:moveTo>
                  <a:pt x="0" y="0"/>
                </a:moveTo>
                <a:lnTo>
                  <a:pt x="387533" y="0"/>
                </a:lnTo>
                <a:lnTo>
                  <a:pt x="387533" y="387533"/>
                </a:lnTo>
                <a:lnTo>
                  <a:pt x="0" y="3875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368366" y="2736245"/>
            <a:ext cx="1683740" cy="1229130"/>
          </a:xfrm>
          <a:custGeom>
            <a:avLst/>
            <a:gdLst/>
            <a:ahLst/>
            <a:cxnLst/>
            <a:rect r="r" b="b" t="t" l="l"/>
            <a:pathLst>
              <a:path h="1229130" w="1683740">
                <a:moveTo>
                  <a:pt x="0" y="0"/>
                </a:moveTo>
                <a:lnTo>
                  <a:pt x="1683740" y="0"/>
                </a:lnTo>
                <a:lnTo>
                  <a:pt x="1683740" y="1229131"/>
                </a:lnTo>
                <a:lnTo>
                  <a:pt x="0" y="12291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111191" y="4624216"/>
            <a:ext cx="2301773" cy="110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b="true" sz="3003" spc="4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PREDICTIVE HORMONAL MODELLING </a:t>
            </a:r>
          </a:p>
        </p:txBody>
      </p:sp>
      <p:sp>
        <p:nvSpPr>
          <p:cNvPr name="Freeform 24" id="24"/>
          <p:cNvSpPr/>
          <p:nvPr/>
        </p:nvSpPr>
        <p:spPr>
          <a:xfrm flipH="true" flipV="false" rot="1755083">
            <a:off x="11088788" y="3059657"/>
            <a:ext cx="1414855" cy="1329622"/>
          </a:xfrm>
          <a:custGeom>
            <a:avLst/>
            <a:gdLst/>
            <a:ahLst/>
            <a:cxnLst/>
            <a:rect r="r" b="b" t="t" l="l"/>
            <a:pathLst>
              <a:path h="1329622" w="1414855">
                <a:moveTo>
                  <a:pt x="1414854" y="0"/>
                </a:moveTo>
                <a:lnTo>
                  <a:pt x="0" y="0"/>
                </a:lnTo>
                <a:lnTo>
                  <a:pt x="0" y="1329622"/>
                </a:lnTo>
                <a:lnTo>
                  <a:pt x="1414854" y="1329622"/>
                </a:lnTo>
                <a:lnTo>
                  <a:pt x="141485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957946" y="3100847"/>
            <a:ext cx="671517" cy="527141"/>
          </a:xfrm>
          <a:custGeom>
            <a:avLst/>
            <a:gdLst/>
            <a:ahLst/>
            <a:cxnLst/>
            <a:rect r="r" b="b" t="t" l="l"/>
            <a:pathLst>
              <a:path h="527141" w="671517">
                <a:moveTo>
                  <a:pt x="0" y="0"/>
                </a:moveTo>
                <a:lnTo>
                  <a:pt x="671517" y="0"/>
                </a:lnTo>
                <a:lnTo>
                  <a:pt x="671517" y="527141"/>
                </a:lnTo>
                <a:lnTo>
                  <a:pt x="0" y="5271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1247921">
            <a:off x="6622518" y="2762040"/>
            <a:ext cx="387533" cy="387533"/>
          </a:xfrm>
          <a:custGeom>
            <a:avLst/>
            <a:gdLst/>
            <a:ahLst/>
            <a:cxnLst/>
            <a:rect r="r" b="b" t="t" l="l"/>
            <a:pathLst>
              <a:path h="387533" w="387533">
                <a:moveTo>
                  <a:pt x="0" y="0"/>
                </a:moveTo>
                <a:lnTo>
                  <a:pt x="387533" y="0"/>
                </a:lnTo>
                <a:lnTo>
                  <a:pt x="387533" y="387533"/>
                </a:lnTo>
                <a:lnTo>
                  <a:pt x="0" y="3875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4464511" y="4591323"/>
            <a:ext cx="3224760" cy="1138136"/>
            <a:chOff x="0" y="0"/>
            <a:chExt cx="4299680" cy="1517514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66675"/>
              <a:ext cx="4299680" cy="1005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3"/>
                </a:lnSpc>
              </a:pPr>
              <a:r>
                <a:rPr lang="en-US" b="true" sz="3003" spc="48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LAB TEST + CGM INTEGRATION 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841239"/>
              <a:ext cx="2986088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(series A Y3) 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6508329" y="2955807"/>
            <a:ext cx="673592" cy="886306"/>
          </a:xfrm>
          <a:custGeom>
            <a:avLst/>
            <a:gdLst/>
            <a:ahLst/>
            <a:cxnLst/>
            <a:rect r="r" b="b" t="t" l="l"/>
            <a:pathLst>
              <a:path h="886306" w="673592">
                <a:moveTo>
                  <a:pt x="0" y="0"/>
                </a:moveTo>
                <a:lnTo>
                  <a:pt x="673593" y="0"/>
                </a:lnTo>
                <a:lnTo>
                  <a:pt x="673593" y="886306"/>
                </a:lnTo>
                <a:lnTo>
                  <a:pt x="0" y="8863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-1084427">
            <a:off x="15032824" y="2966314"/>
            <a:ext cx="1103029" cy="1103029"/>
          </a:xfrm>
          <a:custGeom>
            <a:avLst/>
            <a:gdLst/>
            <a:ahLst/>
            <a:cxnLst/>
            <a:rect r="r" b="b" t="t" l="l"/>
            <a:pathLst>
              <a:path h="1103029" w="1103029">
                <a:moveTo>
                  <a:pt x="1103029" y="0"/>
                </a:moveTo>
                <a:lnTo>
                  <a:pt x="0" y="0"/>
                </a:lnTo>
                <a:lnTo>
                  <a:pt x="0" y="1103029"/>
                </a:lnTo>
                <a:lnTo>
                  <a:pt x="1103029" y="1103029"/>
                </a:lnTo>
                <a:lnTo>
                  <a:pt x="1103029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true" flipV="false" rot="1755083">
            <a:off x="15532420" y="3022803"/>
            <a:ext cx="1414855" cy="1329622"/>
          </a:xfrm>
          <a:custGeom>
            <a:avLst/>
            <a:gdLst/>
            <a:ahLst/>
            <a:cxnLst/>
            <a:rect r="r" b="b" t="t" l="l"/>
            <a:pathLst>
              <a:path h="1329622" w="1414855">
                <a:moveTo>
                  <a:pt x="1414855" y="0"/>
                </a:moveTo>
                <a:lnTo>
                  <a:pt x="0" y="0"/>
                </a:lnTo>
                <a:lnTo>
                  <a:pt x="0" y="1329623"/>
                </a:lnTo>
                <a:lnTo>
                  <a:pt x="1414855" y="1329623"/>
                </a:lnTo>
                <a:lnTo>
                  <a:pt x="1414855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28700" y="2190880"/>
            <a:ext cx="14133847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Four deep tech layers sequenced by funding stage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1315537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Deep Tech Rollout 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2785997" y="7490574"/>
            <a:ext cx="3881403" cy="1300075"/>
            <a:chOff x="0" y="0"/>
            <a:chExt cx="5175203" cy="1733434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5175203" cy="1733434"/>
              <a:chOff x="0" y="0"/>
              <a:chExt cx="1812072" cy="60695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812072" cy="606953"/>
              </a:xfrm>
              <a:custGeom>
                <a:avLst/>
                <a:gdLst/>
                <a:ahLst/>
                <a:cxnLst/>
                <a:rect r="r" b="b" t="t" l="l"/>
                <a:pathLst>
                  <a:path h="606953" w="1812072">
                    <a:moveTo>
                      <a:pt x="75796" y="0"/>
                    </a:moveTo>
                    <a:lnTo>
                      <a:pt x="1736277" y="0"/>
                    </a:lnTo>
                    <a:cubicBezTo>
                      <a:pt x="1778137" y="0"/>
                      <a:pt x="1812072" y="33935"/>
                      <a:pt x="1812072" y="75796"/>
                    </a:cubicBezTo>
                    <a:lnTo>
                      <a:pt x="1812072" y="531158"/>
                    </a:lnTo>
                    <a:cubicBezTo>
                      <a:pt x="1812072" y="573018"/>
                      <a:pt x="1778137" y="606953"/>
                      <a:pt x="1736277" y="606953"/>
                    </a:cubicBezTo>
                    <a:lnTo>
                      <a:pt x="75796" y="606953"/>
                    </a:lnTo>
                    <a:cubicBezTo>
                      <a:pt x="33935" y="606953"/>
                      <a:pt x="0" y="573018"/>
                      <a:pt x="0" y="531158"/>
                    </a:cubicBezTo>
                    <a:lnTo>
                      <a:pt x="0" y="75796"/>
                    </a:lnTo>
                    <a:cubicBezTo>
                      <a:pt x="0" y="33935"/>
                      <a:pt x="33935" y="0"/>
                      <a:pt x="757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FF004D"/>
                </a:solidFill>
                <a:prstDash val="solid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812072" cy="6450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86940" y="735514"/>
              <a:ext cx="4322559" cy="5698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4"/>
                </a:lnSpc>
                <a:spcBef>
                  <a:spcPct val="0"/>
                </a:spcBef>
              </a:pPr>
              <a:r>
                <a:rPr lang="en-US" sz="1267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Every user who tracks 3+ months creates a unique hormonal data signature. 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86940" y="225838"/>
              <a:ext cx="4204761" cy="447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FF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MOAT 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15791" y="7541433"/>
            <a:ext cx="3703914" cy="1249216"/>
            <a:chOff x="0" y="0"/>
            <a:chExt cx="4938552" cy="1665621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4938552" cy="1665621"/>
              <a:chOff x="0" y="0"/>
              <a:chExt cx="1729210" cy="58320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729210" cy="583209"/>
              </a:xfrm>
              <a:custGeom>
                <a:avLst/>
                <a:gdLst/>
                <a:ahLst/>
                <a:cxnLst/>
                <a:rect r="r" b="b" t="t" l="l"/>
                <a:pathLst>
                  <a:path h="583209" w="1729210">
                    <a:moveTo>
                      <a:pt x="79428" y="0"/>
                    </a:moveTo>
                    <a:lnTo>
                      <a:pt x="1649782" y="0"/>
                    </a:lnTo>
                    <a:cubicBezTo>
                      <a:pt x="1693649" y="0"/>
                      <a:pt x="1729210" y="35561"/>
                      <a:pt x="1729210" y="79428"/>
                    </a:cubicBezTo>
                    <a:lnTo>
                      <a:pt x="1729210" y="503782"/>
                    </a:lnTo>
                    <a:cubicBezTo>
                      <a:pt x="1729210" y="547648"/>
                      <a:pt x="1693649" y="583209"/>
                      <a:pt x="1649782" y="583209"/>
                    </a:cubicBezTo>
                    <a:lnTo>
                      <a:pt x="79428" y="583209"/>
                    </a:lnTo>
                    <a:cubicBezTo>
                      <a:pt x="35561" y="583209"/>
                      <a:pt x="0" y="547648"/>
                      <a:pt x="0" y="503782"/>
                    </a:cubicBezTo>
                    <a:lnTo>
                      <a:pt x="0" y="79428"/>
                    </a:lnTo>
                    <a:cubicBezTo>
                      <a:pt x="0" y="35561"/>
                      <a:pt x="35561" y="0"/>
                      <a:pt x="794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FF004D"/>
                </a:solidFill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1729210" cy="6213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286940" y="735514"/>
              <a:ext cx="4322559" cy="5698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4"/>
                </a:lnSpc>
                <a:spcBef>
                  <a:spcPct val="0"/>
                </a:spcBef>
              </a:pPr>
              <a:r>
                <a:rPr lang="en-US" sz="1267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Clinical partnerships take 12-18 months to build. We start now. 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286940" y="158026"/>
              <a:ext cx="4204761" cy="447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FF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CLINICAL MOAT 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444869" y="7490574"/>
            <a:ext cx="3881403" cy="1300075"/>
            <a:chOff x="0" y="0"/>
            <a:chExt cx="5175203" cy="1733434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5175203" cy="1733434"/>
              <a:chOff x="0" y="0"/>
              <a:chExt cx="1812072" cy="60695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812072" cy="606953"/>
              </a:xfrm>
              <a:custGeom>
                <a:avLst/>
                <a:gdLst/>
                <a:ahLst/>
                <a:cxnLst/>
                <a:rect r="r" b="b" t="t" l="l"/>
                <a:pathLst>
                  <a:path h="606953" w="1812072">
                    <a:moveTo>
                      <a:pt x="75796" y="0"/>
                    </a:moveTo>
                    <a:lnTo>
                      <a:pt x="1736277" y="0"/>
                    </a:lnTo>
                    <a:cubicBezTo>
                      <a:pt x="1778137" y="0"/>
                      <a:pt x="1812072" y="33935"/>
                      <a:pt x="1812072" y="75796"/>
                    </a:cubicBezTo>
                    <a:lnTo>
                      <a:pt x="1812072" y="531158"/>
                    </a:lnTo>
                    <a:cubicBezTo>
                      <a:pt x="1812072" y="573018"/>
                      <a:pt x="1778137" y="606953"/>
                      <a:pt x="1736277" y="606953"/>
                    </a:cubicBezTo>
                    <a:lnTo>
                      <a:pt x="75796" y="606953"/>
                    </a:lnTo>
                    <a:cubicBezTo>
                      <a:pt x="33935" y="606953"/>
                      <a:pt x="0" y="573018"/>
                      <a:pt x="0" y="531158"/>
                    </a:cubicBezTo>
                    <a:lnTo>
                      <a:pt x="0" y="75796"/>
                    </a:lnTo>
                    <a:cubicBezTo>
                      <a:pt x="0" y="33935"/>
                      <a:pt x="33935" y="0"/>
                      <a:pt x="757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solidFill>
                  <a:srgbClr val="FF004D"/>
                </a:solidFill>
                <a:prstDash val="solid"/>
                <a:round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1812072" cy="6450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449149" y="658207"/>
              <a:ext cx="4322559" cy="86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4"/>
                </a:lnSpc>
                <a:spcBef>
                  <a:spcPct val="0"/>
                </a:spcBef>
              </a:pPr>
              <a:r>
                <a:rPr lang="en-US" sz="1267" spc="4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Founder social channels are the acquisition engine. 50K+ combined audience in exact target demographic. 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449149" y="225838"/>
              <a:ext cx="4204761" cy="447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3"/>
                </a:lnSpc>
              </a:pPr>
              <a:r>
                <a:rPr lang="en-US" b="true" sz="1966" spc="7">
                  <a:solidFill>
                    <a:srgbClr val="FF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DISTRIBUTION MOAT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515574" y="3989560"/>
            <a:ext cx="259461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835841" y="3979245"/>
            <a:ext cx="551247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283" indent="-275641" lvl="1">
              <a:lnSpc>
                <a:spcPts val="3574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TextBox 55" id="55"/>
          <p:cNvSpPr txBox="true"/>
          <p:nvPr/>
        </p:nvSpPr>
        <p:spPr>
          <a:xfrm rot="0">
            <a:off x="9851730" y="3989560"/>
            <a:ext cx="259461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3.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109101" y="3989560"/>
            <a:ext cx="551247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283" indent="-275641" lvl="1">
              <a:lnSpc>
                <a:spcPts val="3574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15615871" y="2955807"/>
            <a:ext cx="671517" cy="527141"/>
          </a:xfrm>
          <a:custGeom>
            <a:avLst/>
            <a:gdLst/>
            <a:ahLst/>
            <a:cxnLst/>
            <a:rect r="r" b="b" t="t" l="l"/>
            <a:pathLst>
              <a:path h="527141" w="671517">
                <a:moveTo>
                  <a:pt x="0" y="0"/>
                </a:moveTo>
                <a:lnTo>
                  <a:pt x="671517" y="0"/>
                </a:lnTo>
                <a:lnTo>
                  <a:pt x="671517" y="527141"/>
                </a:lnTo>
                <a:lnTo>
                  <a:pt x="0" y="5271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14451" y="7452567"/>
            <a:ext cx="7059099" cy="1805733"/>
            <a:chOff x="0" y="0"/>
            <a:chExt cx="2706351" cy="692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6351" cy="692290"/>
            </a:xfrm>
            <a:custGeom>
              <a:avLst/>
              <a:gdLst/>
              <a:ahLst/>
              <a:cxnLst/>
              <a:rect r="r" b="b" t="t" l="l"/>
              <a:pathLst>
                <a:path h="692290" w="2706351">
                  <a:moveTo>
                    <a:pt x="42772" y="0"/>
                  </a:moveTo>
                  <a:lnTo>
                    <a:pt x="2663578" y="0"/>
                  </a:lnTo>
                  <a:cubicBezTo>
                    <a:pt x="2687201" y="0"/>
                    <a:pt x="2706351" y="19150"/>
                    <a:pt x="2706351" y="42772"/>
                  </a:cubicBezTo>
                  <a:lnTo>
                    <a:pt x="2706351" y="649518"/>
                  </a:lnTo>
                  <a:cubicBezTo>
                    <a:pt x="2706351" y="660862"/>
                    <a:pt x="2701844" y="671741"/>
                    <a:pt x="2693823" y="679763"/>
                  </a:cubicBezTo>
                  <a:cubicBezTo>
                    <a:pt x="2685802" y="687784"/>
                    <a:pt x="2674922" y="692290"/>
                    <a:pt x="2663578" y="692290"/>
                  </a:cubicBezTo>
                  <a:lnTo>
                    <a:pt x="42772" y="692290"/>
                  </a:lnTo>
                  <a:cubicBezTo>
                    <a:pt x="31428" y="692290"/>
                    <a:pt x="20549" y="687784"/>
                    <a:pt x="12528" y="679763"/>
                  </a:cubicBezTo>
                  <a:cubicBezTo>
                    <a:pt x="4506" y="671741"/>
                    <a:pt x="0" y="660862"/>
                    <a:pt x="0" y="649518"/>
                  </a:cubicBezTo>
                  <a:lnTo>
                    <a:pt x="0" y="42772"/>
                  </a:lnTo>
                  <a:cubicBezTo>
                    <a:pt x="0" y="31428"/>
                    <a:pt x="4506" y="20549"/>
                    <a:pt x="12528" y="12528"/>
                  </a:cubicBezTo>
                  <a:cubicBezTo>
                    <a:pt x="20549" y="4506"/>
                    <a:pt x="31428" y="0"/>
                    <a:pt x="42772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FF13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6351" cy="730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47888" y="6921474"/>
            <a:ext cx="4658636" cy="796382"/>
            <a:chOff x="0" y="0"/>
            <a:chExt cx="1226966" cy="2097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6966" cy="209747"/>
            </a:xfrm>
            <a:custGeom>
              <a:avLst/>
              <a:gdLst/>
              <a:ahLst/>
              <a:cxnLst/>
              <a:rect r="r" b="b" t="t" l="l"/>
              <a:pathLst>
                <a:path h="209747" w="1226966">
                  <a:moveTo>
                    <a:pt x="0" y="0"/>
                  </a:moveTo>
                  <a:lnTo>
                    <a:pt x="1226966" y="0"/>
                  </a:lnTo>
                  <a:lnTo>
                    <a:pt x="1226966" y="209747"/>
                  </a:lnTo>
                  <a:lnTo>
                    <a:pt x="0" y="2097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26966" cy="247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811372" y="3139326"/>
            <a:ext cx="8435137" cy="4008348"/>
            <a:chOff x="0" y="0"/>
            <a:chExt cx="2221600" cy="10556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1600" cy="1055697"/>
            </a:xfrm>
            <a:custGeom>
              <a:avLst/>
              <a:gdLst/>
              <a:ahLst/>
              <a:cxnLst/>
              <a:rect r="r" b="b" t="t" l="l"/>
              <a:pathLst>
                <a:path h="1055697" w="2221600">
                  <a:moveTo>
                    <a:pt x="2221600" y="527848"/>
                  </a:moveTo>
                  <a:lnTo>
                    <a:pt x="1815200" y="0"/>
                  </a:lnTo>
                  <a:lnTo>
                    <a:pt x="1815200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815200" y="852497"/>
                  </a:lnTo>
                  <a:lnTo>
                    <a:pt x="1815200" y="1055697"/>
                  </a:lnTo>
                  <a:lnTo>
                    <a:pt x="2221600" y="527848"/>
                  </a:lnTo>
                  <a:close/>
                </a:path>
              </a:pathLst>
            </a:custGeom>
            <a:solidFill>
              <a:srgbClr val="FF1300"/>
            </a:solidFill>
            <a:ln w="38100" cap="sq">
              <a:solidFill>
                <a:srgbClr val="FF13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65100"/>
              <a:ext cx="2120000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95338" y="3124839"/>
            <a:ext cx="7509790" cy="4008348"/>
            <a:chOff x="0" y="0"/>
            <a:chExt cx="1977887" cy="10556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77887" cy="1055697"/>
            </a:xfrm>
            <a:custGeom>
              <a:avLst/>
              <a:gdLst/>
              <a:ahLst/>
              <a:cxnLst/>
              <a:rect r="r" b="b" t="t" l="l"/>
              <a:pathLst>
                <a:path h="1055697" w="1977887">
                  <a:moveTo>
                    <a:pt x="1977887" y="527848"/>
                  </a:moveTo>
                  <a:lnTo>
                    <a:pt x="1571487" y="0"/>
                  </a:lnTo>
                  <a:lnTo>
                    <a:pt x="1571487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571487" y="852497"/>
                  </a:lnTo>
                  <a:lnTo>
                    <a:pt x="1571487" y="1055697"/>
                  </a:lnTo>
                  <a:lnTo>
                    <a:pt x="1977887" y="527848"/>
                  </a:lnTo>
                  <a:close/>
                </a:path>
              </a:pathLst>
            </a:custGeom>
            <a:solidFill>
              <a:srgbClr val="FF004D"/>
            </a:solidFill>
            <a:ln w="38100" cap="sq">
              <a:solidFill>
                <a:srgbClr val="FF004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65100"/>
              <a:ext cx="1876287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33548" y="3124839"/>
            <a:ext cx="7509790" cy="4008348"/>
            <a:chOff x="0" y="0"/>
            <a:chExt cx="1977887" cy="10556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77887" cy="1055697"/>
            </a:xfrm>
            <a:custGeom>
              <a:avLst/>
              <a:gdLst/>
              <a:ahLst/>
              <a:cxnLst/>
              <a:rect r="r" b="b" t="t" l="l"/>
              <a:pathLst>
                <a:path h="1055697" w="1977887">
                  <a:moveTo>
                    <a:pt x="1977887" y="527848"/>
                  </a:moveTo>
                  <a:lnTo>
                    <a:pt x="1571487" y="0"/>
                  </a:lnTo>
                  <a:lnTo>
                    <a:pt x="1571487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571487" y="852497"/>
                  </a:lnTo>
                  <a:lnTo>
                    <a:pt x="1571487" y="1055697"/>
                  </a:lnTo>
                  <a:lnTo>
                    <a:pt x="1977887" y="527848"/>
                  </a:lnTo>
                  <a:close/>
                </a:path>
              </a:pathLst>
            </a:custGeom>
            <a:solidFill>
              <a:srgbClr val="E80146"/>
            </a:solidFill>
            <a:ln w="38100" cap="sq">
              <a:solidFill>
                <a:srgbClr val="E801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65100"/>
              <a:ext cx="1876287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491345" y="3124839"/>
            <a:ext cx="5495999" cy="4008348"/>
            <a:chOff x="0" y="0"/>
            <a:chExt cx="1447506" cy="10556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7506" cy="1055697"/>
            </a:xfrm>
            <a:custGeom>
              <a:avLst/>
              <a:gdLst/>
              <a:ahLst/>
              <a:cxnLst/>
              <a:rect r="r" b="b" t="t" l="l"/>
              <a:pathLst>
                <a:path h="1055697" w="1447506">
                  <a:moveTo>
                    <a:pt x="1447506" y="527848"/>
                  </a:moveTo>
                  <a:lnTo>
                    <a:pt x="1041106" y="0"/>
                  </a:lnTo>
                  <a:lnTo>
                    <a:pt x="1041106" y="203200"/>
                  </a:lnTo>
                  <a:lnTo>
                    <a:pt x="0" y="203200"/>
                  </a:lnTo>
                  <a:lnTo>
                    <a:pt x="0" y="852497"/>
                  </a:lnTo>
                  <a:lnTo>
                    <a:pt x="1041106" y="852497"/>
                  </a:lnTo>
                  <a:lnTo>
                    <a:pt x="1041106" y="1055697"/>
                  </a:lnTo>
                  <a:lnTo>
                    <a:pt x="1447506" y="527848"/>
                  </a:lnTo>
                  <a:close/>
                </a:path>
              </a:pathLst>
            </a:custGeom>
            <a:solidFill>
              <a:srgbClr val="C7013B"/>
            </a:solidFill>
            <a:ln w="38100" cap="sq">
              <a:solidFill>
                <a:srgbClr val="C7013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65100"/>
              <a:ext cx="1345906" cy="68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73" r="-2829" b="-10909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2214768"/>
            <a:ext cx="14118197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An even bigger and almost empty opportunity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1276350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4D"/>
                </a:solidFill>
                <a:latin typeface="Aileron"/>
                <a:ea typeface="Aileron"/>
                <a:cs typeface="Aileron"/>
                <a:sym typeface="Aileron"/>
              </a:rPr>
              <a:t>Long-term Expansion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78606" y="7939866"/>
            <a:ext cx="173719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 spc="73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$22.7B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63919" y="7120603"/>
            <a:ext cx="5026574" cy="59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0"/>
              </a:lnSpc>
              <a:spcBef>
                <a:spcPct val="0"/>
              </a:spcBef>
            </a:pPr>
            <a:r>
              <a:rPr lang="en-US" b="true" sz="3486" spc="-163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MENOPAUSE MARKET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468706" y="4631953"/>
            <a:ext cx="3224760" cy="108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MENOPAUSE B2B - WORKPLACE PROGRAMME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61587" y="4617466"/>
            <a:ext cx="3696770" cy="108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MENOPAUSE AS DEDICTATED PRODUCT TIER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27407" y="4645207"/>
            <a:ext cx="3581369" cy="73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HRT INTERACTION GUIDANCE LAYER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65970" y="4645207"/>
            <a:ext cx="3581369" cy="73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PERIMENOPAUSE TRACKING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65970" y="3975073"/>
            <a:ext cx="259461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786237" y="3964758"/>
            <a:ext cx="551247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283" indent="-275641" lvl="1">
              <a:lnSpc>
                <a:spcPts val="3574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9802126" y="3975073"/>
            <a:ext cx="259461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3.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193083" y="3989560"/>
            <a:ext cx="551247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283" indent="-275641" lvl="1">
              <a:lnSpc>
                <a:spcPts val="3574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6940850" y="5280857"/>
            <a:ext cx="752617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(Y3)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73549" y="5266370"/>
            <a:ext cx="752617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(Y3)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27407" y="5266370"/>
            <a:ext cx="868988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(M22)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65970" y="5273729"/>
            <a:ext cx="238936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(soft launch M18)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979980" y="8348172"/>
            <a:ext cx="1859714" cy="58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546" spc="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Global menopause market by 2028, 7% CAGR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06395" y="7939866"/>
            <a:ext cx="173719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 spc="73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1M+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113641" y="8348172"/>
            <a:ext cx="1932160" cy="58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546" spc="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Women entering menopause per year in the US alone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315333" y="7939866"/>
            <a:ext cx="173719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 spc="73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~12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315333" y="8348172"/>
            <a:ext cx="1737190" cy="58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546" spc="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App solutions available, mostly symptom trackers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73317" y="8613594"/>
            <a:ext cx="4303694" cy="64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9161" indent="-134581" lvl="1">
              <a:lnSpc>
                <a:spcPts val="1745"/>
              </a:lnSpc>
              <a:buFont typeface="Arial"/>
              <a:buChar char="•"/>
            </a:pPr>
            <a:r>
              <a:rPr lang="en-US" sz="1246" spc="3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Same infrastructure - different life stage</a:t>
            </a:r>
          </a:p>
          <a:p>
            <a:pPr algn="l" marL="269161" indent="-134581" lvl="1">
              <a:lnSpc>
                <a:spcPts val="1745"/>
              </a:lnSpc>
              <a:buFont typeface="Arial"/>
              <a:buChar char="•"/>
            </a:pPr>
            <a:r>
              <a:rPr lang="en-US" sz="1246" spc="3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Higher ARPU than core product </a:t>
            </a:r>
          </a:p>
          <a:p>
            <a:pPr algn="l" marL="269161" indent="-134581" lvl="1">
              <a:lnSpc>
                <a:spcPts val="1745"/>
              </a:lnSpc>
              <a:spcBef>
                <a:spcPct val="0"/>
              </a:spcBef>
              <a:buFont typeface="Arial"/>
              <a:buChar char="•"/>
            </a:pPr>
            <a:r>
              <a:rPr lang="en-US" sz="1246" spc="3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Proven market demand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69146" y="2225773"/>
            <a:ext cx="10898350" cy="7089144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901053" y="8061191"/>
            <a:ext cx="1523347" cy="51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29"/>
              </a:lnSpc>
            </a:pPr>
            <a:r>
              <a:rPr lang="en-US" b="true" sz="2097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USER</a:t>
            </a:r>
          </a:p>
          <a:p>
            <a:pPr algn="r">
              <a:lnSpc>
                <a:spcPts val="1929"/>
              </a:lnSpc>
            </a:pPr>
            <a:r>
              <a:rPr lang="en-US" b="true" sz="2097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GROWTH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40202" y="7454288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18664" y="7454288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40202" y="6005169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18664" y="6005169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40202" y="5273073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18664" y="5273073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40202" y="4522997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18664" y="4522997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40202" y="3795400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18664" y="3795400"/>
            <a:ext cx="32927" cy="17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041707" y="3567652"/>
            <a:ext cx="1636816" cy="4191077"/>
            <a:chOff x="0" y="0"/>
            <a:chExt cx="438916" cy="11238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6" cy="1123847"/>
            </a:xfrm>
            <a:custGeom>
              <a:avLst/>
              <a:gdLst/>
              <a:ahLst/>
              <a:cxnLst/>
              <a:rect r="r" b="b" t="t" l="l"/>
              <a:pathLst>
                <a:path h="1123847" w="438916">
                  <a:moveTo>
                    <a:pt x="0" y="0"/>
                  </a:moveTo>
                  <a:lnTo>
                    <a:pt x="438916" y="0"/>
                  </a:lnTo>
                  <a:lnTo>
                    <a:pt x="438916" y="1123847"/>
                  </a:lnTo>
                  <a:lnTo>
                    <a:pt x="0" y="11238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38916" cy="117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862060" y="5881780"/>
            <a:ext cx="796827" cy="38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5"/>
              </a:lnSpc>
              <a:spcBef>
                <a:spcPct val="0"/>
              </a:spcBef>
            </a:pP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20</a:t>
            </a: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0</a:t>
            </a:r>
          </a:p>
        </p:txBody>
      </p:sp>
      <p:sp>
        <p:nvSpPr>
          <p:cNvPr name="TextBox 18" id="18"/>
          <p:cNvSpPr txBox="true"/>
          <p:nvPr/>
        </p:nvSpPr>
        <p:spPr>
          <a:xfrm rot="-5400000">
            <a:off x="7806049" y="5382202"/>
            <a:ext cx="1812389" cy="35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2"/>
              </a:lnSpc>
              <a:spcBef>
                <a:spcPct val="0"/>
              </a:spcBef>
            </a:pPr>
            <a:r>
              <a:rPr lang="en-US" b="true" sz="2101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€(Thousands)</a:t>
            </a:r>
          </a:p>
        </p:txBody>
      </p:sp>
      <p:grpSp>
        <p:nvGrpSpPr>
          <p:cNvPr name="Group 19" id="19"/>
          <p:cNvGrpSpPr/>
          <p:nvPr/>
        </p:nvGrpSpPr>
        <p:grpSpPr>
          <a:xfrm rot="-5400000">
            <a:off x="8551112" y="6787549"/>
            <a:ext cx="568033" cy="1525816"/>
            <a:chOff x="0" y="0"/>
            <a:chExt cx="152319" cy="4091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319" cy="409151"/>
            </a:xfrm>
            <a:custGeom>
              <a:avLst/>
              <a:gdLst/>
              <a:ahLst/>
              <a:cxnLst/>
              <a:rect r="r" b="b" t="t" l="l"/>
              <a:pathLst>
                <a:path h="409151" w="152319">
                  <a:moveTo>
                    <a:pt x="0" y="0"/>
                  </a:moveTo>
                  <a:lnTo>
                    <a:pt x="152319" y="0"/>
                  </a:lnTo>
                  <a:lnTo>
                    <a:pt x="152319" y="409151"/>
                  </a:lnTo>
                  <a:lnTo>
                    <a:pt x="0" y="4091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52319" cy="456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547223" y="2875878"/>
            <a:ext cx="7101603" cy="312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6"/>
              </a:lnSpc>
            </a:pPr>
            <a:r>
              <a:rPr lang="en-US" b="true" sz="2501" spc="-12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NutriSync Projections  Conservative (quarterly)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098024" y="8013566"/>
            <a:ext cx="784816" cy="301792"/>
            <a:chOff x="0" y="0"/>
            <a:chExt cx="210450" cy="8092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0450" cy="80926"/>
            </a:xfrm>
            <a:custGeom>
              <a:avLst/>
              <a:gdLst/>
              <a:ahLst/>
              <a:cxnLst/>
              <a:rect r="r" b="b" t="t" l="l"/>
              <a:pathLst>
                <a:path h="80926" w="210450">
                  <a:moveTo>
                    <a:pt x="0" y="0"/>
                  </a:moveTo>
                  <a:lnTo>
                    <a:pt x="210450" y="0"/>
                  </a:lnTo>
                  <a:lnTo>
                    <a:pt x="210450" y="80926"/>
                  </a:lnTo>
                  <a:lnTo>
                    <a:pt x="0" y="809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0450" cy="128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734191" y="8091533"/>
            <a:ext cx="514906" cy="35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b="true" sz="2097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&gt;1K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833659" y="6457079"/>
            <a:ext cx="826617" cy="734037"/>
            <a:chOff x="0" y="0"/>
            <a:chExt cx="1102156" cy="97871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302157" y="331065"/>
              <a:ext cx="647651" cy="647651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624A">
                  <a:alpha val="65882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400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412255" y="468063"/>
              <a:ext cx="427455" cy="434071"/>
            </a:xfrm>
            <a:custGeom>
              <a:avLst/>
              <a:gdLst/>
              <a:ahLst/>
              <a:cxnLst/>
              <a:rect r="r" b="b" t="t" l="l"/>
              <a:pathLst>
                <a:path h="434071" w="427455">
                  <a:moveTo>
                    <a:pt x="0" y="0"/>
                  </a:moveTo>
                  <a:lnTo>
                    <a:pt x="427455" y="0"/>
                  </a:lnTo>
                  <a:lnTo>
                    <a:pt x="427455" y="434072"/>
                  </a:lnTo>
                  <a:lnTo>
                    <a:pt x="0" y="434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388" t="-20464" r="-17075" b="-1293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0" y="-28575"/>
              <a:ext cx="1102156" cy="285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34"/>
                </a:lnSpc>
                <a:spcBef>
                  <a:spcPct val="0"/>
                </a:spcBef>
              </a:pPr>
              <a:r>
                <a:rPr lang="en-US" sz="1310" i="true">
                  <a:solidFill>
                    <a:srgbClr val="000000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Breakeven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847498" y="8091533"/>
            <a:ext cx="514906" cy="35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b="true" sz="2097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+5K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218897" y="8091533"/>
            <a:ext cx="681328" cy="35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b="true" sz="2097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+20K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341191" y="8091533"/>
            <a:ext cx="681328" cy="35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b="true" sz="2097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+80K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861685" y="4435996"/>
            <a:ext cx="793687" cy="38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5"/>
              </a:lnSpc>
              <a:spcBef>
                <a:spcPct val="0"/>
              </a:spcBef>
            </a:pP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400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861685" y="6673384"/>
            <a:ext cx="796827" cy="38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5"/>
              </a:lnSpc>
              <a:spcBef>
                <a:spcPct val="0"/>
              </a:spcBef>
            </a:pP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10</a:t>
            </a: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862060" y="5166438"/>
            <a:ext cx="796827" cy="38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5"/>
              </a:lnSpc>
              <a:spcBef>
                <a:spcPct val="0"/>
              </a:spcBef>
            </a:pP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30</a:t>
            </a: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8903" y="3696374"/>
            <a:ext cx="309981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Y3 Annual revenue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52897" y="2753520"/>
            <a:ext cx="5144095" cy="221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3"/>
              </a:lnSpc>
              <a:spcBef>
                <a:spcPct val="0"/>
              </a:spcBef>
            </a:pPr>
            <a:r>
              <a:rPr lang="en-US" sz="6638" spc="-331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€3M</a:t>
            </a:r>
          </a:p>
          <a:p>
            <a:pPr algn="l">
              <a:lnSpc>
                <a:spcPts val="8593"/>
              </a:lnSpc>
              <a:spcBef>
                <a:spcPct val="0"/>
              </a:spcBef>
            </a:pPr>
            <a:r>
              <a:rPr lang="en-US" b="true" sz="6138" spc="-306">
                <a:solidFill>
                  <a:srgbClr val="C8453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0900" y="4112299"/>
            <a:ext cx="4687628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737373"/>
                </a:solidFill>
                <a:latin typeface="Aileron"/>
                <a:ea typeface="Aileron"/>
                <a:cs typeface="Aileron"/>
                <a:sym typeface="Aileron"/>
              </a:rPr>
              <a:t>ARR: €4.89M annualised 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028700" y="5107982"/>
            <a:ext cx="4296519" cy="1832474"/>
            <a:chOff x="0" y="0"/>
            <a:chExt cx="5728692" cy="2443298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0" y="1280126"/>
              <a:ext cx="5728692" cy="61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  <a:spcBef>
                  <a:spcPct val="0"/>
                </a:spcBef>
              </a:pPr>
              <a:r>
                <a:rPr lang="en-US" sz="274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Year 3 paying users 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-123825"/>
              <a:ext cx="4011295" cy="1461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293"/>
                </a:lnSpc>
                <a:spcBef>
                  <a:spcPct val="0"/>
                </a:spcBef>
              </a:pPr>
              <a:r>
                <a:rPr lang="en-US" sz="6638" spc="-331">
                  <a:solidFill>
                    <a:srgbClr val="FF0000"/>
                  </a:solidFill>
                  <a:latin typeface="Aileron"/>
                  <a:ea typeface="Aileron"/>
                  <a:cs typeface="Aileron"/>
                  <a:sym typeface="Aileron"/>
                </a:rPr>
                <a:t>80K+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1831581"/>
              <a:ext cx="4834283" cy="61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  <a:spcBef>
                  <a:spcPct val="0"/>
                </a:spcBef>
              </a:pPr>
              <a:r>
                <a:rPr lang="en-US" sz="2749">
                  <a:solidFill>
                    <a:srgbClr val="737373"/>
                  </a:solidFill>
                  <a:latin typeface="Aileron"/>
                  <a:ea typeface="Aileron"/>
                  <a:cs typeface="Aileron"/>
                  <a:sym typeface="Aileron"/>
                </a:rPr>
                <a:t>Deep tech Y2+ impact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52897" y="7340854"/>
            <a:ext cx="5464275" cy="1345424"/>
            <a:chOff x="0" y="0"/>
            <a:chExt cx="7285700" cy="1793899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0" y="1182182"/>
              <a:ext cx="7285700" cy="61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  <a:spcBef>
                  <a:spcPct val="0"/>
                </a:spcBef>
              </a:pPr>
              <a:r>
                <a:rPr lang="en-US" sz="274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Reach profitability 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-123825"/>
              <a:ext cx="3274729" cy="1461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284"/>
                </a:lnSpc>
                <a:spcBef>
                  <a:spcPct val="0"/>
                </a:spcBef>
              </a:pPr>
              <a:r>
                <a:rPr lang="en-US" sz="6631" spc="-331">
                  <a:solidFill>
                    <a:srgbClr val="FF0000"/>
                  </a:solidFill>
                  <a:latin typeface="Aileron"/>
                  <a:ea typeface="Aileron"/>
                  <a:cs typeface="Aileron"/>
                  <a:sym typeface="Aileron"/>
                </a:rPr>
                <a:t>M19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8884836" y="3681931"/>
            <a:ext cx="793687" cy="38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5"/>
              </a:lnSpc>
              <a:spcBef>
                <a:spcPct val="0"/>
              </a:spcBef>
            </a:pP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50</a:t>
            </a:r>
            <a:r>
              <a:rPr lang="en-US" b="true" sz="2160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52897" y="1293188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Capital Efficient Growth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119376" y="7536946"/>
            <a:ext cx="1478660" cy="35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2"/>
              </a:lnSpc>
            </a:pPr>
            <a:r>
              <a:rPr lang="en-US" b="true" sz="210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QUARTERS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27553" y="1750007"/>
            <a:ext cx="11635663" cy="7494604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649000" y="7917899"/>
            <a:ext cx="1604986" cy="53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32"/>
              </a:lnSpc>
            </a:pPr>
            <a:r>
              <a:rPr lang="en-US" b="true" sz="220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USER</a:t>
            </a:r>
          </a:p>
          <a:p>
            <a:pPr algn="r">
              <a:lnSpc>
                <a:spcPts val="2032"/>
              </a:lnSpc>
            </a:pPr>
            <a:r>
              <a:rPr lang="en-US" b="true" sz="220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GROWTH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59916" y="726299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15788" y="726299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59916" y="573621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15788" y="573621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59916" y="496488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15788" y="4964885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59916" y="417461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15788" y="417461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59916" y="340802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5788" y="3408021"/>
            <a:ext cx="34692" cy="19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"/>
              </a:lnSpc>
              <a:spcBef>
                <a:spcPct val="0"/>
              </a:spcBef>
            </a:pPr>
            <a:r>
              <a:rPr lang="en-US" b="true" sz="111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797192" y="3176572"/>
            <a:ext cx="1724536" cy="4415684"/>
            <a:chOff x="0" y="0"/>
            <a:chExt cx="438916" cy="11238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6" cy="1123847"/>
            </a:xfrm>
            <a:custGeom>
              <a:avLst/>
              <a:gdLst/>
              <a:ahLst/>
              <a:cxnLst/>
              <a:rect r="r" b="b" t="t" l="l"/>
              <a:pathLst>
                <a:path h="1123847" w="438916">
                  <a:moveTo>
                    <a:pt x="0" y="0"/>
                  </a:moveTo>
                  <a:lnTo>
                    <a:pt x="438916" y="0"/>
                  </a:lnTo>
                  <a:lnTo>
                    <a:pt x="438916" y="1123847"/>
                  </a:lnTo>
                  <a:lnTo>
                    <a:pt x="0" y="11238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38916" cy="117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657272" y="6094559"/>
            <a:ext cx="839530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400</a:t>
            </a:r>
          </a:p>
        </p:txBody>
      </p:sp>
      <p:sp>
        <p:nvSpPr>
          <p:cNvPr name="TextBox 18" id="18"/>
          <p:cNvSpPr txBox="true"/>
          <p:nvPr/>
        </p:nvSpPr>
        <p:spPr>
          <a:xfrm rot="-5400000">
            <a:off x="7423853" y="4970052"/>
            <a:ext cx="1909518" cy="37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  <a:spcBef>
                <a:spcPct val="0"/>
              </a:spcBef>
            </a:pPr>
            <a:r>
              <a:rPr lang="en-US" b="true" sz="2214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€(Thousands)</a:t>
            </a:r>
          </a:p>
        </p:txBody>
      </p:sp>
      <p:grpSp>
        <p:nvGrpSpPr>
          <p:cNvPr name="Group 19" id="19"/>
          <p:cNvGrpSpPr/>
          <p:nvPr/>
        </p:nvGrpSpPr>
        <p:grpSpPr>
          <a:xfrm rot="-5400000">
            <a:off x="8333896" y="6569028"/>
            <a:ext cx="598475" cy="1607587"/>
            <a:chOff x="0" y="0"/>
            <a:chExt cx="152319" cy="4091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319" cy="409151"/>
            </a:xfrm>
            <a:custGeom>
              <a:avLst/>
              <a:gdLst/>
              <a:ahLst/>
              <a:cxnLst/>
              <a:rect r="r" b="b" t="t" l="l"/>
              <a:pathLst>
                <a:path h="409151" w="152319">
                  <a:moveTo>
                    <a:pt x="0" y="0"/>
                  </a:moveTo>
                  <a:lnTo>
                    <a:pt x="152319" y="0"/>
                  </a:lnTo>
                  <a:lnTo>
                    <a:pt x="152319" y="409151"/>
                  </a:lnTo>
                  <a:lnTo>
                    <a:pt x="0" y="4091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52319" cy="456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13346779" y="-141538"/>
            <a:ext cx="598475" cy="5052880"/>
            <a:chOff x="0" y="0"/>
            <a:chExt cx="152319" cy="12860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319" cy="1286021"/>
            </a:xfrm>
            <a:custGeom>
              <a:avLst/>
              <a:gdLst/>
              <a:ahLst/>
              <a:cxnLst/>
              <a:rect r="r" b="b" t="t" l="l"/>
              <a:pathLst>
                <a:path h="1286021" w="152319">
                  <a:moveTo>
                    <a:pt x="0" y="0"/>
                  </a:moveTo>
                  <a:lnTo>
                    <a:pt x="152319" y="0"/>
                  </a:lnTo>
                  <a:lnTo>
                    <a:pt x="152319" y="1286021"/>
                  </a:lnTo>
                  <a:lnTo>
                    <a:pt x="0" y="128602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52319" cy="1333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497027" y="2357515"/>
            <a:ext cx="7482189" cy="32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5"/>
              </a:lnSpc>
            </a:pPr>
            <a:r>
              <a:rPr lang="en-US" b="true" sz="2635" spc="-126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NutriSync Projections  - Ambitious (quarterly)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124486" y="7860749"/>
            <a:ext cx="826876" cy="317965"/>
            <a:chOff x="0" y="0"/>
            <a:chExt cx="210450" cy="8092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0450" cy="80926"/>
            </a:xfrm>
            <a:custGeom>
              <a:avLst/>
              <a:gdLst/>
              <a:ahLst/>
              <a:cxnLst/>
              <a:rect r="r" b="b" t="t" l="l"/>
              <a:pathLst>
                <a:path h="80926" w="210450">
                  <a:moveTo>
                    <a:pt x="0" y="0"/>
                  </a:moveTo>
                  <a:lnTo>
                    <a:pt x="210450" y="0"/>
                  </a:lnTo>
                  <a:lnTo>
                    <a:pt x="210450" y="80926"/>
                  </a:lnTo>
                  <a:lnTo>
                    <a:pt x="0" y="809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10450" cy="128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580379" y="7954972"/>
            <a:ext cx="542501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&gt;1K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79023" y="7361138"/>
            <a:ext cx="1557904" cy="37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00"/>
              </a:lnSpc>
            </a:pPr>
            <a:r>
              <a:rPr lang="en-US" b="true" sz="221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QUARTERS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001654" y="6518194"/>
            <a:ext cx="870917" cy="773375"/>
            <a:chOff x="0" y="0"/>
            <a:chExt cx="1161222" cy="1031167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318350" y="348807"/>
              <a:ext cx="682360" cy="682360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624A">
                  <a:alpha val="65882"/>
                </a:srgbClr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399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434348" y="493148"/>
              <a:ext cx="450363" cy="457334"/>
            </a:xfrm>
            <a:custGeom>
              <a:avLst/>
              <a:gdLst/>
              <a:ahLst/>
              <a:cxnLst/>
              <a:rect r="r" b="b" t="t" l="l"/>
              <a:pathLst>
                <a:path h="457334" w="450363">
                  <a:moveTo>
                    <a:pt x="0" y="0"/>
                  </a:moveTo>
                  <a:lnTo>
                    <a:pt x="450363" y="0"/>
                  </a:lnTo>
                  <a:lnTo>
                    <a:pt x="450363" y="457333"/>
                  </a:lnTo>
                  <a:lnTo>
                    <a:pt x="0" y="457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388" t="-20464" r="-17075" b="-1293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-28575"/>
              <a:ext cx="1161222" cy="299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32"/>
                </a:lnSpc>
                <a:spcBef>
                  <a:spcPct val="0"/>
                </a:spcBef>
              </a:pPr>
              <a:r>
                <a:rPr lang="en-US" sz="1380" i="true">
                  <a:solidFill>
                    <a:srgbClr val="000000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Breakeven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719271" y="7954972"/>
            <a:ext cx="717842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+12K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305428" y="7954972"/>
            <a:ext cx="717842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+50K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53749" y="7954972"/>
            <a:ext cx="893259" cy="36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+218K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57272" y="4212627"/>
            <a:ext cx="836222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1000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657272" y="6642148"/>
            <a:ext cx="839530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200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657272" y="5459210"/>
            <a:ext cx="839530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600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657272" y="4784248"/>
            <a:ext cx="839530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800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4706" y="3126024"/>
            <a:ext cx="309981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Y3 Annual revenue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52897" y="2192695"/>
            <a:ext cx="3091619" cy="213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3"/>
              </a:lnSpc>
              <a:spcBef>
                <a:spcPct val="0"/>
              </a:spcBef>
            </a:pPr>
            <a:r>
              <a:rPr lang="en-US" sz="6138" spc="-30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€8.2M</a:t>
            </a:r>
          </a:p>
          <a:p>
            <a:pPr algn="l">
              <a:lnSpc>
                <a:spcPts val="8593"/>
              </a:lnSpc>
              <a:spcBef>
                <a:spcPct val="0"/>
              </a:spcBef>
            </a:pPr>
            <a:r>
              <a:rPr lang="en-US" sz="6138" spc="-306">
                <a:solidFill>
                  <a:srgbClr val="C8453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36703" y="3541949"/>
            <a:ext cx="4687628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737373"/>
                </a:solidFill>
                <a:latin typeface="Aileron"/>
                <a:ea typeface="Aileron"/>
                <a:cs typeface="Aileron"/>
                <a:sym typeface="Aileron"/>
              </a:rPr>
              <a:t>ARR: €13.8M annualised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36703" y="5465733"/>
            <a:ext cx="4296519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Year 3 paying users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6703" y="4478651"/>
            <a:ext cx="3008471" cy="104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3"/>
              </a:lnSpc>
              <a:spcBef>
                <a:spcPct val="0"/>
              </a:spcBef>
            </a:pPr>
            <a:r>
              <a:rPr lang="en-US" sz="6138" spc="-30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218K+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36703" y="5879324"/>
            <a:ext cx="3625713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737373"/>
                </a:solidFill>
                <a:latin typeface="Aileron"/>
                <a:ea typeface="Aileron"/>
                <a:cs typeface="Aileron"/>
                <a:sym typeface="Aileron"/>
              </a:rPr>
              <a:t>Deep tech Y2+ impact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28700" y="7723709"/>
            <a:ext cx="5464275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Reach profitability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8700" y="6737060"/>
            <a:ext cx="2456047" cy="104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4"/>
              </a:lnSpc>
              <a:spcBef>
                <a:spcPct val="0"/>
              </a:spcBef>
            </a:pPr>
            <a:r>
              <a:rPr lang="en-US" sz="6131" spc="-30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M15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657272" y="3632362"/>
            <a:ext cx="836222" cy="3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FF0000"/>
                </a:solidFill>
                <a:latin typeface="Aileron Bold"/>
                <a:ea typeface="Aileron Bold"/>
                <a:cs typeface="Aileron Bold"/>
                <a:sym typeface="Aileron Bold"/>
              </a:rPr>
              <a:t>1200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73" r="-2829" b="-10909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1052897" y="1293188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Capital Efficient Growth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948503" y="3352359"/>
          <a:ext cx="15310462" cy="6010926"/>
        </p:xfrm>
        <a:graphic>
          <a:graphicData uri="http://schemas.openxmlformats.org/presentationml/2006/ole">
            <p:oleObj imgW="18364200" imgH="9067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2474932"/>
            <a:ext cx="16365933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3000" spc="-144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After 3 cycles algorithm must map symptom intensity per phase, identify user’s high sensitivity window, create a personalized symptom plan.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47775"/>
            <a:ext cx="17259300" cy="96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5"/>
              </a:lnSpc>
            </a:pPr>
            <a:r>
              <a:rPr lang="en-US" sz="7770" spc="-372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NutriSync’s Adaptive Cycle Intelligence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2195802"/>
          <a:ext cx="15310462" cy="6010926"/>
        </p:xfrm>
        <a:graphic>
          <a:graphicData uri="http://schemas.openxmlformats.org/presentationml/2006/ole">
            <p:oleObj imgW="18364200" imgH="9067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1265621"/>
            <a:ext cx="15543659" cy="93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2"/>
              </a:lnSpc>
            </a:pPr>
            <a:r>
              <a:rPr lang="en-US" sz="7553" spc="-362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NutriSync’s Adaptive Cycle Intelligence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67317" y="9787167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948503" y="3975848"/>
          <a:ext cx="15310462" cy="6010926"/>
        </p:xfrm>
        <a:graphic>
          <a:graphicData uri="http://schemas.openxmlformats.org/presentationml/2006/ole">
            <p:oleObj imgW="18364200" imgH="9067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975807" y="2587664"/>
            <a:ext cx="10336387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3000" spc="-144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Measures longitudinal improvement vs. personal baseline using volatility and severity reduction across cycles.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47775"/>
            <a:ext cx="16230600" cy="96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15"/>
              </a:lnSpc>
            </a:pPr>
            <a:r>
              <a:rPr lang="en-US" sz="7770" spc="-372">
                <a:solidFill>
                  <a:srgbClr val="FF0000"/>
                </a:solidFill>
                <a:latin typeface="Aileron"/>
                <a:ea typeface="Aileron"/>
                <a:cs typeface="Aileron"/>
                <a:sym typeface="Aileron"/>
              </a:rPr>
              <a:t>NutriSync’s Adaptive Cycle Intelligence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1522" y="1737479"/>
            <a:ext cx="19477627" cy="36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01010"/>
                </a:solidFill>
                <a:latin typeface="Aileron"/>
                <a:ea typeface="Aileron"/>
                <a:cs typeface="Aileron"/>
                <a:sym typeface="Aileron"/>
              </a:rPr>
              <a:t>Turning an Apple Watch into a hormonal health advisor costs €0 in hardware and gives us access to 100M+ existing devices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704897" y="2353682"/>
            <a:ext cx="8396968" cy="5579636"/>
            <a:chOff x="0" y="0"/>
            <a:chExt cx="2211547" cy="14695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1547" cy="1469534"/>
            </a:xfrm>
            <a:custGeom>
              <a:avLst/>
              <a:gdLst/>
              <a:ahLst/>
              <a:cxnLst/>
              <a:rect r="r" b="b" t="t" l="l"/>
              <a:pathLst>
                <a:path h="1469534" w="2211547">
                  <a:moveTo>
                    <a:pt x="2211547" y="734767"/>
                  </a:moveTo>
                  <a:lnTo>
                    <a:pt x="1805147" y="0"/>
                  </a:lnTo>
                  <a:lnTo>
                    <a:pt x="1805147" y="203200"/>
                  </a:lnTo>
                  <a:lnTo>
                    <a:pt x="0" y="203200"/>
                  </a:lnTo>
                  <a:lnTo>
                    <a:pt x="0" y="1266334"/>
                  </a:lnTo>
                  <a:lnTo>
                    <a:pt x="1805147" y="1266334"/>
                  </a:lnTo>
                  <a:lnTo>
                    <a:pt x="1805147" y="1469534"/>
                  </a:lnTo>
                  <a:lnTo>
                    <a:pt x="2211547" y="734767"/>
                  </a:lnTo>
                  <a:close/>
                </a:path>
              </a:pathLst>
            </a:custGeom>
            <a:solidFill>
              <a:srgbClr val="F4EBDE"/>
            </a:solidFill>
            <a:ln w="38100" cap="sq">
              <a:solidFill>
                <a:srgbClr val="3A8A24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65100"/>
              <a:ext cx="2109947" cy="110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42663" y="2353682"/>
            <a:ext cx="7509790" cy="5579636"/>
            <a:chOff x="0" y="0"/>
            <a:chExt cx="1977887" cy="14695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7887" cy="1469534"/>
            </a:xfrm>
            <a:custGeom>
              <a:avLst/>
              <a:gdLst/>
              <a:ahLst/>
              <a:cxnLst/>
              <a:rect r="r" b="b" t="t" l="l"/>
              <a:pathLst>
                <a:path h="1469534" w="1977887">
                  <a:moveTo>
                    <a:pt x="1977887" y="734767"/>
                  </a:moveTo>
                  <a:lnTo>
                    <a:pt x="1571487" y="0"/>
                  </a:lnTo>
                  <a:lnTo>
                    <a:pt x="1571487" y="203200"/>
                  </a:lnTo>
                  <a:lnTo>
                    <a:pt x="0" y="203200"/>
                  </a:lnTo>
                  <a:lnTo>
                    <a:pt x="0" y="1266334"/>
                  </a:lnTo>
                  <a:lnTo>
                    <a:pt x="1571487" y="1266334"/>
                  </a:lnTo>
                  <a:lnTo>
                    <a:pt x="1571487" y="1469534"/>
                  </a:lnTo>
                  <a:lnTo>
                    <a:pt x="1977887" y="734767"/>
                  </a:lnTo>
                  <a:close/>
                </a:path>
              </a:pathLst>
            </a:custGeom>
            <a:solidFill>
              <a:srgbClr val="F4EBDE"/>
            </a:solidFill>
            <a:ln w="38100" cap="sq">
              <a:solidFill>
                <a:srgbClr val="E1956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65100"/>
              <a:ext cx="1876287" cy="110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980873" y="2353682"/>
            <a:ext cx="7509790" cy="5579636"/>
            <a:chOff x="0" y="0"/>
            <a:chExt cx="1977887" cy="14695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7887" cy="1469534"/>
            </a:xfrm>
            <a:custGeom>
              <a:avLst/>
              <a:gdLst/>
              <a:ahLst/>
              <a:cxnLst/>
              <a:rect r="r" b="b" t="t" l="l"/>
              <a:pathLst>
                <a:path h="1469534" w="1977887">
                  <a:moveTo>
                    <a:pt x="1977887" y="734767"/>
                  </a:moveTo>
                  <a:lnTo>
                    <a:pt x="1571487" y="0"/>
                  </a:lnTo>
                  <a:lnTo>
                    <a:pt x="1571487" y="203200"/>
                  </a:lnTo>
                  <a:lnTo>
                    <a:pt x="0" y="203200"/>
                  </a:lnTo>
                  <a:lnTo>
                    <a:pt x="0" y="1266334"/>
                  </a:lnTo>
                  <a:lnTo>
                    <a:pt x="1571487" y="1266334"/>
                  </a:lnTo>
                  <a:lnTo>
                    <a:pt x="1571487" y="1469534"/>
                  </a:lnTo>
                  <a:lnTo>
                    <a:pt x="1977887" y="734767"/>
                  </a:lnTo>
                  <a:close/>
                </a:path>
              </a:pathLst>
            </a:custGeom>
            <a:solidFill>
              <a:srgbClr val="F4EBDF"/>
            </a:solidFill>
            <a:ln w="38100" cap="sq">
              <a:solidFill>
                <a:srgbClr val="C8453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65100"/>
              <a:ext cx="1876287" cy="110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544020" y="2353682"/>
            <a:ext cx="5495999" cy="5579636"/>
            <a:chOff x="0" y="0"/>
            <a:chExt cx="1447506" cy="14695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47506" cy="1469534"/>
            </a:xfrm>
            <a:custGeom>
              <a:avLst/>
              <a:gdLst/>
              <a:ahLst/>
              <a:cxnLst/>
              <a:rect r="r" b="b" t="t" l="l"/>
              <a:pathLst>
                <a:path h="1469534" w="1447506">
                  <a:moveTo>
                    <a:pt x="1447506" y="734767"/>
                  </a:moveTo>
                  <a:lnTo>
                    <a:pt x="1041106" y="0"/>
                  </a:lnTo>
                  <a:lnTo>
                    <a:pt x="1041106" y="203200"/>
                  </a:lnTo>
                  <a:lnTo>
                    <a:pt x="0" y="203200"/>
                  </a:lnTo>
                  <a:lnTo>
                    <a:pt x="0" y="1266334"/>
                  </a:lnTo>
                  <a:lnTo>
                    <a:pt x="1041106" y="1266334"/>
                  </a:lnTo>
                  <a:lnTo>
                    <a:pt x="1041106" y="1469534"/>
                  </a:lnTo>
                  <a:lnTo>
                    <a:pt x="1447506" y="734767"/>
                  </a:lnTo>
                  <a:close/>
                </a:path>
              </a:pathLst>
            </a:custGeom>
            <a:solidFill>
              <a:srgbClr val="F4EBDF"/>
            </a:solidFill>
            <a:ln w="38100" cap="sq">
              <a:solidFill>
                <a:srgbClr val="DDA44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65100"/>
              <a:ext cx="1345906" cy="110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719866"/>
            <a:ext cx="15328267" cy="106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669" spc="-416" b="true">
                <a:solidFill>
                  <a:srgbClr val="EB624A"/>
                </a:solidFill>
                <a:latin typeface="Aileron Bold"/>
                <a:ea typeface="Aileron Bold"/>
                <a:cs typeface="Aileron Bold"/>
                <a:sym typeface="Aileron Bold"/>
              </a:rPr>
              <a:t>Wearables Strategy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01896" y="3806846"/>
            <a:ext cx="3224760" cy="73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spc="4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CGM - DEXCOM / ABBOTT LIBRE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49451" y="3834056"/>
            <a:ext cx="3696770" cy="38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spc="4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OURA RING (M15)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74732" y="3874050"/>
            <a:ext cx="3581369" cy="73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spc="4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GOOGLE FIT + WEAR OS (M4)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3295" y="3874050"/>
            <a:ext cx="3581369" cy="73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3003" spc="4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APPLE WATCH + HEALTHKIT (M4)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3295" y="3203916"/>
            <a:ext cx="259461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4"/>
              </a:lnSpc>
              <a:spcBef>
                <a:spcPct val="0"/>
              </a:spcBef>
            </a:pPr>
            <a:r>
              <a:rPr lang="en-US" sz="255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33562" y="3193601"/>
            <a:ext cx="551247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283" indent="-275641" lvl="1">
              <a:lnSpc>
                <a:spcPts val="3574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749451" y="3203916"/>
            <a:ext cx="259461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  <a:spcBef>
                <a:spcPct val="0"/>
              </a:spcBef>
            </a:pPr>
            <a:r>
              <a:rPr lang="en-US" sz="255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3.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76829" y="3203916"/>
            <a:ext cx="551247" cy="44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283" indent="-275641" lvl="1">
              <a:lnSpc>
                <a:spcPts val="3574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7145751" y="4265475"/>
            <a:ext cx="752617" cy="41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(Y3)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04191" y="4127481"/>
            <a:ext cx="752617" cy="41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(Y3)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13295" y="4799532"/>
            <a:ext cx="3490558" cy="1485070"/>
            <a:chOff x="0" y="0"/>
            <a:chExt cx="4654077" cy="1980093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19050"/>
              <a:ext cx="4223754" cy="10553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3"/>
                </a:lnSpc>
              </a:pPr>
              <a:r>
                <a:rPr lang="en-US" sz="1927" spc="-67" b="true">
                  <a:solidFill>
                    <a:srgbClr val="E65026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Data: Heart rate, HRV, sleep stages, activity, skin temperature, blood oxygen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207746"/>
              <a:ext cx="4654077" cy="772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2"/>
                </a:lnSpc>
              </a:pP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60% of our target demographic (urban women 25-45) owns an Apple watch. </a:t>
              </a:r>
            </a:p>
            <a:p>
              <a:pPr algn="l">
                <a:lnSpc>
                  <a:spcPts val="1562"/>
                </a:lnSpc>
              </a:pP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HealthKit API free, 4-6 weeks dev time. 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099817" y="4799532"/>
            <a:ext cx="3490558" cy="1418395"/>
            <a:chOff x="0" y="0"/>
            <a:chExt cx="4654077" cy="1891193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19050"/>
              <a:ext cx="4223754" cy="7124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3"/>
                </a:lnSpc>
              </a:pPr>
              <a:r>
                <a:rPr lang="en-US" sz="1927" spc="-67" b="true">
                  <a:solidFill>
                    <a:srgbClr val="EA5B4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Data: Heart rate, activity, sleep, stress score 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864846"/>
              <a:ext cx="4654077" cy="1026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2"/>
                </a:lnSpc>
              </a:pP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Essential for Spain and Australia where Android market share is 70% +. Built in parallel with HealthKit, shared codebase, low marginal cost.</a:t>
              </a: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749451" y="4799532"/>
            <a:ext cx="3490558" cy="1866070"/>
            <a:chOff x="0" y="0"/>
            <a:chExt cx="4654077" cy="2488093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19050"/>
              <a:ext cx="4223754" cy="10553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3"/>
                </a:lnSpc>
              </a:pPr>
              <a:r>
                <a:rPr lang="en-US" sz="1927" spc="-67" b="true">
                  <a:solidFill>
                    <a:srgbClr val="EA5B4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Data: Skin temperature trend, HRV, readiness score, sleep stages, resting heart rate 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1207746"/>
              <a:ext cx="4654077" cy="1280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2"/>
                </a:lnSpc>
              </a:pP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Most clinically relevant wearable for NutriSync. Skin temp data makes cycle prediction automatic. Oura has an investment arm and actively partners with health apps.</a:t>
              </a: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404853" y="4799532"/>
            <a:ext cx="3490558" cy="1932745"/>
            <a:chOff x="0" y="0"/>
            <a:chExt cx="4654077" cy="2576993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19050"/>
              <a:ext cx="4223754" cy="13982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3"/>
                </a:lnSpc>
              </a:pPr>
              <a:r>
                <a:rPr lang="en-US" sz="1927" spc="-67" b="true">
                  <a:solidFill>
                    <a:srgbClr val="EA5B4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Data: Blood glucose fluctuates across cycle, causing energy crashes and cravings 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1550646"/>
              <a:ext cx="4654077" cy="1026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2"/>
                </a:lnSpc>
              </a:pP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Glucose + cycle data = the most complete hormonal nutrition picture. Requires medical device partnership agreements. Series A territory.</a:t>
              </a:r>
              <a:r>
                <a:rPr lang="en-US" sz="1446" spc="4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729953" y="8104768"/>
            <a:ext cx="3218027" cy="1451851"/>
            <a:chOff x="0" y="0"/>
            <a:chExt cx="4290703" cy="1935802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4290703" cy="1935802"/>
              <a:chOff x="0" y="0"/>
              <a:chExt cx="1608827" cy="72584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608827" cy="725842"/>
              </a:xfrm>
              <a:custGeom>
                <a:avLst/>
                <a:gdLst/>
                <a:ahLst/>
                <a:cxnLst/>
                <a:rect r="r" b="b" t="t" l="l"/>
                <a:pathLst>
                  <a:path h="725842" w="1608827">
                    <a:moveTo>
                      <a:pt x="85371" y="0"/>
                    </a:moveTo>
                    <a:lnTo>
                      <a:pt x="1523457" y="0"/>
                    </a:lnTo>
                    <a:cubicBezTo>
                      <a:pt x="1570606" y="0"/>
                      <a:pt x="1608827" y="38222"/>
                      <a:pt x="1608827" y="85371"/>
                    </a:cubicBezTo>
                    <a:lnTo>
                      <a:pt x="1608827" y="640471"/>
                    </a:lnTo>
                    <a:cubicBezTo>
                      <a:pt x="1608827" y="663112"/>
                      <a:pt x="1599833" y="684827"/>
                      <a:pt x="1583823" y="700837"/>
                    </a:cubicBezTo>
                    <a:cubicBezTo>
                      <a:pt x="1567813" y="716847"/>
                      <a:pt x="1546098" y="725842"/>
                      <a:pt x="1523457" y="725842"/>
                    </a:cubicBezTo>
                    <a:lnTo>
                      <a:pt x="85371" y="725842"/>
                    </a:lnTo>
                    <a:cubicBezTo>
                      <a:pt x="38222" y="725842"/>
                      <a:pt x="0" y="687620"/>
                      <a:pt x="0" y="640471"/>
                    </a:cubicBezTo>
                    <a:lnTo>
                      <a:pt x="0" y="85371"/>
                    </a:lnTo>
                    <a:cubicBezTo>
                      <a:pt x="0" y="38222"/>
                      <a:pt x="38222" y="0"/>
                      <a:pt x="85371" y="0"/>
                    </a:cubicBezTo>
                    <a:close/>
                  </a:path>
                </a:pathLst>
              </a:custGeom>
              <a:solidFill>
                <a:srgbClr val="F4EBD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608827" cy="7639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1504886" y="129434"/>
              <a:ext cx="1385729" cy="7774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37"/>
                </a:lnSpc>
                <a:spcBef>
                  <a:spcPct val="0"/>
                </a:spcBef>
              </a:pPr>
              <a:r>
                <a:rPr lang="en-US" b="true" sz="3526">
                  <a:solidFill>
                    <a:srgbClr val="EA5B4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50% 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469192" y="906846"/>
              <a:ext cx="3457116" cy="724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9"/>
                </a:lnSpc>
              </a:pPr>
              <a:r>
                <a:rPr lang="en-US" sz="1843" spc="-103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Churn reduction for wearable connected users 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184526" y="8112920"/>
            <a:ext cx="2863747" cy="1435548"/>
            <a:chOff x="0" y="0"/>
            <a:chExt cx="3818329" cy="1914065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3818329" cy="1914065"/>
              <a:chOff x="0" y="0"/>
              <a:chExt cx="1530186" cy="76705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530186" cy="767057"/>
              </a:xfrm>
              <a:custGeom>
                <a:avLst/>
                <a:gdLst/>
                <a:ahLst/>
                <a:cxnLst/>
                <a:rect r="r" b="b" t="t" l="l"/>
                <a:pathLst>
                  <a:path h="767057" w="1530186">
                    <a:moveTo>
                      <a:pt x="89758" y="0"/>
                    </a:moveTo>
                    <a:lnTo>
                      <a:pt x="1440427" y="0"/>
                    </a:lnTo>
                    <a:cubicBezTo>
                      <a:pt x="1464233" y="0"/>
                      <a:pt x="1487063" y="9457"/>
                      <a:pt x="1503896" y="26290"/>
                    </a:cubicBezTo>
                    <a:cubicBezTo>
                      <a:pt x="1520729" y="43123"/>
                      <a:pt x="1530186" y="65953"/>
                      <a:pt x="1530186" y="89758"/>
                    </a:cubicBezTo>
                    <a:lnTo>
                      <a:pt x="1530186" y="677298"/>
                    </a:lnTo>
                    <a:cubicBezTo>
                      <a:pt x="1530186" y="726870"/>
                      <a:pt x="1490000" y="767057"/>
                      <a:pt x="1440427" y="767057"/>
                    </a:cubicBezTo>
                    <a:lnTo>
                      <a:pt x="89758" y="767057"/>
                    </a:lnTo>
                    <a:cubicBezTo>
                      <a:pt x="40186" y="767057"/>
                      <a:pt x="0" y="726870"/>
                      <a:pt x="0" y="677298"/>
                    </a:cubicBezTo>
                    <a:lnTo>
                      <a:pt x="0" y="89758"/>
                    </a:lnTo>
                    <a:cubicBezTo>
                      <a:pt x="0" y="40186"/>
                      <a:pt x="40186" y="0"/>
                      <a:pt x="89758" y="0"/>
                    </a:cubicBezTo>
                    <a:close/>
                  </a:path>
                </a:pathLst>
              </a:custGeom>
              <a:solidFill>
                <a:srgbClr val="F4EBD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1530186" cy="805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975878" y="107288"/>
              <a:ext cx="1596502" cy="74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19"/>
                </a:lnSpc>
                <a:spcBef>
                  <a:spcPct val="0"/>
                </a:spcBef>
              </a:pPr>
              <a:r>
                <a:rPr lang="en-US" b="true" sz="3299">
                  <a:solidFill>
                    <a:srgbClr val="EA5B4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12.4x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417538" y="838959"/>
              <a:ext cx="3076514" cy="686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1"/>
                </a:lnSpc>
              </a:pPr>
              <a:r>
                <a:rPr lang="en-US" sz="1725" spc="-9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LTV:CAC for wearable users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284818" y="8116917"/>
            <a:ext cx="2431684" cy="1427554"/>
            <a:chOff x="0" y="0"/>
            <a:chExt cx="3242245" cy="1903406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3242245" cy="1903406"/>
              <a:chOff x="0" y="0"/>
              <a:chExt cx="1530186" cy="898317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530186" cy="898317"/>
              </a:xfrm>
              <a:custGeom>
                <a:avLst/>
                <a:gdLst/>
                <a:ahLst/>
                <a:cxnLst/>
                <a:rect r="r" b="b" t="t" l="l"/>
                <a:pathLst>
                  <a:path h="898317" w="1530186">
                    <a:moveTo>
                      <a:pt x="89758" y="0"/>
                    </a:moveTo>
                    <a:lnTo>
                      <a:pt x="1440427" y="0"/>
                    </a:lnTo>
                    <a:cubicBezTo>
                      <a:pt x="1464233" y="0"/>
                      <a:pt x="1487063" y="9457"/>
                      <a:pt x="1503896" y="26290"/>
                    </a:cubicBezTo>
                    <a:cubicBezTo>
                      <a:pt x="1520729" y="43123"/>
                      <a:pt x="1530186" y="65953"/>
                      <a:pt x="1530186" y="89758"/>
                    </a:cubicBezTo>
                    <a:lnTo>
                      <a:pt x="1530186" y="808559"/>
                    </a:lnTo>
                    <a:cubicBezTo>
                      <a:pt x="1530186" y="858131"/>
                      <a:pt x="1490000" y="898317"/>
                      <a:pt x="1440427" y="898317"/>
                    </a:cubicBezTo>
                    <a:lnTo>
                      <a:pt x="89758" y="898317"/>
                    </a:lnTo>
                    <a:cubicBezTo>
                      <a:pt x="40186" y="898317"/>
                      <a:pt x="0" y="858131"/>
                      <a:pt x="0" y="808559"/>
                    </a:cubicBezTo>
                    <a:lnTo>
                      <a:pt x="0" y="89758"/>
                    </a:lnTo>
                    <a:cubicBezTo>
                      <a:pt x="0" y="40186"/>
                      <a:pt x="40186" y="0"/>
                      <a:pt x="89758" y="0"/>
                    </a:cubicBezTo>
                    <a:close/>
                  </a:path>
                </a:pathLst>
              </a:custGeom>
              <a:solidFill>
                <a:srgbClr val="F4EBDF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1530186" cy="9364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828644" y="98655"/>
              <a:ext cx="1355632" cy="621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22"/>
                </a:lnSpc>
                <a:spcBef>
                  <a:spcPct val="0"/>
                </a:spcBef>
              </a:pPr>
              <a:r>
                <a:rPr lang="en-US" b="true" sz="2801">
                  <a:solidFill>
                    <a:srgbClr val="EA5B4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€8K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354542" y="729995"/>
              <a:ext cx="2612350" cy="843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99"/>
                </a:lnSpc>
              </a:pPr>
              <a:r>
                <a:rPr lang="en-US" sz="1465" spc="-8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Total HealthKit dev cost payback &lt;2 months from retained users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953047" y="8144806"/>
            <a:ext cx="3605000" cy="1371775"/>
            <a:chOff x="0" y="0"/>
            <a:chExt cx="4806666" cy="1829033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4806666" cy="1829033"/>
              <a:chOff x="0" y="0"/>
              <a:chExt cx="2012053" cy="765627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2012053" cy="765627"/>
              </a:xfrm>
              <a:custGeom>
                <a:avLst/>
                <a:gdLst/>
                <a:ahLst/>
                <a:cxnLst/>
                <a:rect r="r" b="b" t="t" l="l"/>
                <a:pathLst>
                  <a:path h="765627" w="2012053">
                    <a:moveTo>
                      <a:pt x="68262" y="0"/>
                    </a:moveTo>
                    <a:lnTo>
                      <a:pt x="1943791" y="0"/>
                    </a:lnTo>
                    <a:cubicBezTo>
                      <a:pt x="1981491" y="0"/>
                      <a:pt x="2012053" y="30562"/>
                      <a:pt x="2012053" y="68262"/>
                    </a:cubicBezTo>
                    <a:lnTo>
                      <a:pt x="2012053" y="697365"/>
                    </a:lnTo>
                    <a:cubicBezTo>
                      <a:pt x="2012053" y="715469"/>
                      <a:pt x="2004862" y="732832"/>
                      <a:pt x="1992060" y="745633"/>
                    </a:cubicBezTo>
                    <a:cubicBezTo>
                      <a:pt x="1979258" y="758435"/>
                      <a:pt x="1961896" y="765627"/>
                      <a:pt x="1943791" y="765627"/>
                    </a:cubicBezTo>
                    <a:lnTo>
                      <a:pt x="68262" y="765627"/>
                    </a:lnTo>
                    <a:cubicBezTo>
                      <a:pt x="50158" y="765627"/>
                      <a:pt x="32795" y="758435"/>
                      <a:pt x="19994" y="745633"/>
                    </a:cubicBezTo>
                    <a:cubicBezTo>
                      <a:pt x="7192" y="732832"/>
                      <a:pt x="0" y="715469"/>
                      <a:pt x="0" y="697365"/>
                    </a:cubicBezTo>
                    <a:lnTo>
                      <a:pt x="0" y="68262"/>
                    </a:lnTo>
                    <a:cubicBezTo>
                      <a:pt x="0" y="50158"/>
                      <a:pt x="7192" y="32795"/>
                      <a:pt x="19994" y="19994"/>
                    </a:cubicBezTo>
                    <a:cubicBezTo>
                      <a:pt x="32795" y="7192"/>
                      <a:pt x="50158" y="0"/>
                      <a:pt x="68262" y="0"/>
                    </a:cubicBezTo>
                    <a:close/>
                  </a:path>
                </a:pathLst>
              </a:custGeom>
              <a:solidFill>
                <a:srgbClr val="F4EBDF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2012053" cy="803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7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1228474" y="108989"/>
              <a:ext cx="2009741" cy="703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22"/>
                </a:lnSpc>
                <a:spcBef>
                  <a:spcPct val="0"/>
                </a:spcBef>
              </a:pPr>
              <a:r>
                <a:rPr lang="en-US" b="true" sz="3159">
                  <a:solidFill>
                    <a:srgbClr val="EA5B4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FREE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525613" y="812305"/>
              <a:ext cx="3872839" cy="645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6"/>
                </a:lnSpc>
              </a:pPr>
              <a:r>
                <a:rPr lang="en-US" sz="1651" spc="-9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HealthKit, Oura Cloud, Google Fit APIs are all free for developers</a:t>
              </a: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15826515" y="9390978"/>
            <a:ext cx="2120683" cy="499833"/>
          </a:xfrm>
          <a:custGeom>
            <a:avLst/>
            <a:gdLst/>
            <a:ahLst/>
            <a:cxnLst/>
            <a:rect r="r" b="b" t="t" l="l"/>
            <a:pathLst>
              <a:path h="499833" w="2120683">
                <a:moveTo>
                  <a:pt x="0" y="0"/>
                </a:moveTo>
                <a:lnTo>
                  <a:pt x="2120683" y="0"/>
                </a:lnTo>
                <a:lnTo>
                  <a:pt x="2120683" y="499833"/>
                </a:lnTo>
                <a:lnTo>
                  <a:pt x="0" y="49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73" r="-2829" b="-1090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DAHL-PehDWI</dc:identifier>
  <dcterms:modified xsi:type="dcterms:W3CDTF">2011-08-01T06:04:30Z</dcterms:modified>
  <cp:revision>1</cp:revision>
  <dc:title>NutriSync PPT Aug 2026</dc:title>
</cp:coreProperties>
</file>