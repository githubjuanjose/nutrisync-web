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Take the Market
INSERTION: After “Business Model”; before the existing roadmap / growth slide.
PRESENTER NOTES
Answer Tony directly: our practical route is one repeatable direct-to-consumer channel and one repeatable partner channel before scaling. Nutrition and exercise are equal product pillars. The content programme combines dietitians, chefs, qualified trainers, physiotherapists and appropriate maternal-health reviewers. Creators amplify reviewed material; they do not replace expert review.
Channel examples: online search, social networks, founder and expert videos, app-store discovery; gyms and studios; nutrition practices, midwives, obstetricians and endocrinologists within an approved scope; employers and universities; sports events, fashion/activewear retailers, shopping malls and possible wearable co-marketing agreements. Hospital or public primary-care procurement must not be assumed to close at the same speed as a local gym pilot.
Proposed campaign: “Eat, Move, Recover—Your Way”. A chef and trainer demonstrate a meal and movement routine. A short guide is available in the app after voluntary registration. An event or digital introduction leads to a first useful action, opt-in follow-up and an optional subscription. Attribution must avoid double-counting the same person across routes. Health, cycle, pregnancy, meal and wearable information must not become advertising targeting inputs.
B2B contracts, contracted seats, activated users and paying subscriptions are distinct metrics. Every channel needs an accountable owner, acquisition costs including staff/production, and a retention/renewal view.
SOURCES / BASIS
NutriSync_Value_and_Business_Proposal_EN_v1_0.md, sections 7–11; source S01 Proposal 32 v8, S04 Competitor Capability Research, S05 Commercial Partner Radar, S10 Launch Plan. The original Canva presentation “NutriSync PPT Aug 2026”, DAHL-PehDWI, supplied the visual reference; read only.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Reach to Paying Customers
INSERTION: Immediately after “How We Take the Market”. For the shortest pitch, use this as the supporting GTM slide.
PRESENTER NOTES
Source arithmetic: 40 productive professional locations × 30 eligible invitations per active month × 9 average active months = 10,800 invitations. ×40% registration = 4,320. ×60% activation =2,592. ×25% conversion of activated users =648 gross new B2C payers. Locations and rates are illustrative assumptions, not existing signed accounts or observed results. “Eligible” means an appropriate voluntary introduction within the programme scope, not targeting an inferred health condition.
The average active months explicitly allows staggered onboarding across the larger 24-month programme. This is one channel, not the whole business forecast and not a promised share of Spain. Full operating forecasts must include each source, ramp, cohort churn and B2C/B2B overlap.
Proposed scale gate: monthly net revenue €6 ×75% contribution margin /5% monthly churn = €90 simplified lifetime contribution. A €30 fully loaded payer CAC implies 3× on this simple model. This is a management threshold to test, not an industry guarantee. Cohort contribution and payback need observation. Media-only CAC omits creative, agency, staff and channel overhead. In the workbook’s separate paid-media stress test, €5 per registration / (55% activation ×12% conversion) = €75.76 per new payer before overhead; this fails the proposed gate. Do not release the full media budget on those assumptions. See optional backup slide 8.
SOURCES / BASIS
NutriSync_Value_and_Business_Proposal_EN_v1_0.md, sections 10–11; NutriSync_Capital_and_GTM_Planning_EN_v1_0.xlsx, GTM inputs and GTM illustration worksheets. Source values taken from the proposal; no historical forecast has been adopted as audited.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Move Ahead. Capital Changes the Pace.
INSERTION: Replace or follow “Join Our Growth Journey”. Do not leave a conflicting standalone €250K or €350K ask in the circulated version.
PRESENTER NOTES
Three funding levels, one coherent strategy. The €15K and €25K endpoints are a narrow operating bridge, around 90 days of scoped work—not certified runway. The €250K and €350K endpoints represent distinct 12-month launch/validation envelopes. The upper range contains two different 24-month designs: €2M and €5M.
This is not a demand to raise all amounts, nor a cumulative stack. Sunk spending and bridge cash need reconciliation from a common planning start. Any convertible bridge must be reflected in the cap table but not counted twice as fresh proceeds. The earlier verbal “around €30K” was an initial estimate; reconcile its commitments against the scoped bridge before repeating it.
Founder commitment does not imply unlimited personal funding, free labour indefinitely or indefinite runway. Confirm the actual contribution register, ownership of work, IP assignments, weekly delivery capacity and committed cash. Prioritise core operating work and adjust scope if outside investment does not arrive. No unawarded grant, unclosed investment, hoped-for sponsorship or unsigned partner deal is assumed to finance the base spending columns.
The historical source deck contains a €350K visible ask and €250K presenter notes. Its growth projections and the new proposal are not reconciled forecasts. Select the current scenario and remove contradictory legacy language before external circulation.
SOURCES / BASIS
NutriSync_Value_and_Business_Proposal_EN_v1_0.md, sections 3–6, 18–20 and Annex E; NutriSync_Capital_and_GTM_Planning_EN_v1_0.xlsx, Funding; source S11 Tony/founder brief. Funding ranges and self-directed progress originate in the founder instructions.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€2M or €5M Would Accelerate
INSERTION: Immediately after the funding-options slide; replaces a generic use-of-funds graphic for this discussion.
PRESENTER NOTES
All amounts are management planning allocations from the final proposal v1.0, not the earlier chat draft. Underlying €2M / €5M lines (€000): product engineering 420 /900; cloud and AI operations 100 /250; expert food/exercise/recovery content 240 /600; clinical safety/evaluation/pregnancy 180 /500; marketing 450 /1,450; distribution 200 /500; legal/compliance/international readiness 160 /350; corporate operations 100 /200; contingency 150 /250. The displayed groups sum to exactly 2,000 /5,000.
The extra €3M finances more simultaneous product work, more professional production, network-scale commercial execution, deeper evaluation and selected market readiness. It is not merely a larger advertising cheque. No hiring schedule, compensation benchmarking or supplier quotations are implied by this envelope. The original proposal’s rough workforce limits (6–8 versus 12–15 average paid FTEs plus specialist capacity) must be checked against the cash schedule, not treated as commitments.
Cloud-delivered means no owned hardware rollout is planned, not cost-free scaling: inference, storage, media delivery, reliability, security, support and country-specific reviews remain funded. Pregnancy is a distinct reviewed workstream; a pilot must not be described as a live product. International work remains comparative readiness and a small number of approved pilots, not a pledge to launch all candidate countries.
Non-contingency monthly spending averages across 24 months: €77.1K /€197.9K. These are not current burn or guaranteed runway. Fees, payroll burdens, non-recoverable taxes and fundraising costs must fit the all-in plan; net deployable cash needs reconciliation before commitments.
SOURCES / BASIS
NutriSync_Value_and_Business_Proposal_EN_v1_0.md, sections 5–6 and 12–15; NutriSync_Capital_and_GTM_Planning_EN_v1_0.xlsx, Funding and Marketing; source S01 Proposal 32 v8 (product/cloud), S05 Commercial Partner Radar (distribution/governance).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Spain First. International by Evidence.
INSERTION: After “What €2M or €5M Would Accelerate”; or replace the overlapping growth-roadmap page for this funding discussion.
PRESENTER NOTES
The core funding decision and go-to-market plan remain Spain-first. Australia and Singapore are serious markets to explore alongside selected Europe/UK/LATAM possibilities, not automatic launches. The 13–24 month column belongs to a funded acceleration design; it must not be attributed to the 90-day bridge or 12-month validation envelope without another funded plan.
Lucía’s Singapore PR status and digital-sector connections are founder-provided facts. They may help introductions, discovery and assessment of applicable support programmes; they do not imply government endorsement, automatic grants or institutional procurement. Current Enterprise Singapore EDG eligibility includes a business registered and operating in Singapore, at least 30% qualifying ultimate Singapore citizen/PR ownership and financial readiness. The authority’s page notes a forthcoming EDGE transition in 2H2026; eligibility/programme availability must be rechecked before an application. Grants are excluded from the base financial illustration.
Cloud architecture does not remove data-transfer, processor, security, consumer-law, tax, professional-scope, claims and procurement work. A local server alone does not resolve every compliance question. Use provider-policy-aware data flows, privacy controls and a non-wearable route.
Pregnancy requires specialist scope and content, explicit enrolment, safety escalation and separate validation. Do not describe a cycle score as a measurement of hormones, clinical health or fetal health. Distinguish device-derived signals, NutriSync estimates and the woman’s self-reported experience.
Proposed 90-day discovery tasks: small user/channel cohorts, productive partner tracking, cash and claim register; bounded country interviews through available networks. Neither deadlines nor benchmark achievement are guaranteed.
SOURCES / BASIS
NutriSync_Value_and_Business_Proposal_EN_v1_0.md, sections 12–15 and 17–18; source S01 Proposal 32 v8 and S11 founder instructions. Public check, 8 September 2026: Enterprise Singapore, Enterprise Development Grant, https://www.enterprisesg.gov.sg/financial-support/enterprise-development-grant . Detailed public/legal references are in proposal Annex I.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Investor Return Case
INSERTION: After the capital/roadmap discussion and before the closing invitation. Keep the illustrative label and assumptions visible.
PRESENTER NOTES
This slide answers the request to show investor economics without inventing a promise. It is deliberately illustrative, not a proposed entry valuation, target return, probability-weighted expectation or term sheet. No return from an inconsistent historical spreadsheet is adopted as audited.
A €2M investment at a hypothetical €10M post-money valuation gives 20% fully diluted ownership at entry. Subsequent dilution by 25% of that holding reduces it to 15% (20%×75%), not to a negative percentage and not by 25 percentage points. Assume no follow-on cheque by the investor, no dividends and all proceeds after five years. At distributable equity proceeds of €0 /€5M /€20M /€50M, the investor receives €0 /€0.75M /€3M /€7.5M. Multiples are 0 /0.375 /1.5 /3.75; displayed 0.38 is rounded. Annualised values use the exact multiple: multiple^(1/5)-1, giving −100%, −17.8%, 8.4%, 30.3%. At zero, annualisation simply expresses complete loss; the economic point is loss of all capital.
The waterfall here is simplified pro rata ordinary equity. Debt and company-level obligations must already be reflected in the distributable equity input. Actual preferences, caps, participation, option pools, dilution, tax, fees, timing and follow-on investment can materially change proceeds. A company sale value is not automatically distributable equity and revenue is not equity value. Higher funding at a higher post-money valuation changes both ownership and the exit outcome required for a given multiple.
Show the route to potential value—retained customer contribution, recurring contracts, reusable reviewed content and disciplined delivery—rather than assert any buyer, multiple or exit is secured. Do not repeat the unsupported claim that Europe universally allows guaranteed ROI promises while the US does not.
SOURCES / BASIS
NutriSync_Value_and_Business_Proposal_EN_v1_0.md, section 19; NutriSync_Capital_and_GTM_Planning_EN_v1_0.xlsx, Return illustration; calculations reproduced independently. Finance and legal counsel should approve any eventual offer terms. No market valuation multiple is asserted.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Growth Budget Goes
INSERTION: Optional backup after the GTM pages, or keep in the appendix for questions about marketing depth.
PRESENTER NOTES
Marketing is an explicit core investment, not an afterthought. The final proposal has €450K in the €2M case and €1,450K in the €5M case, excluding the separate expert-content and distribution lines. The seven activity figures on this slide reproduce section 9 exactly. ATL, BTL and digital media must connect to an identifiable useful journey; public relations is separated operationally from purchased placements even where combined in this management envelope.
Collaboration roles are distinct. Experts author/review safe content; chefs make preparation practical; trainers/physios design movement options; gyms and communities supply venues and distribution; influencers communicate and activate; wearable firms may supply authorised integrations or independently negotiated commercial access. None is a signed partner by virtue of appearing as a category.
Prospect radar examples are in source S05: Decathlon, Danone, lululemon for appropriate activities; Essity, P&amp;G, Kenvue for carefully governed contextual sponsorship; Oura, Garmin and WHOOP as separately assessed technical/commercial relationships; regulated consumer-health brands subject to claims review; J&amp;J for institutional/innovation dialogue. This insert deliberately avoids borrowed brand logos or implied endorsement.
Do not double-budget expert production and paid amplification. Each contract should state production rights, marketing usage, reviewer sign-off, channel owner and measurement. Paid reach never receives private health signals or recommendation-ranking influence.
SOURCES / BASIS
NutriSync_Value_and_Business_Proposal_EN_v1_0.md, sections 7–9 and Annex C; NutriSync_Capital_and_GTM_Planning_EN_v1_0.xlsx, Marketing; S05 Commercial Partner Radar v1.0. Amounts are planning estimates, not supplier quotes.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Assumptions—not a Forecast
INSERTION: Optional financial/GTM appendix. Use when Tony asks how the top-down spending envelope turns into customers and cash.
PRESENTER NOTES
This is the restrained worked example from the proposal, not the historical deck projection and not a committed forecast. Paid-media budgets of €180K /€650K at €5 per registration give 36,000 /130,000 registrations. At 55% activation × 12% paid conversion, that yields2,376 /8,580 gross new payers. Independently attributed owned/creator/event registrations16,000 /50,000 at60% activation ×18% conversion yield1,728 /5,400. The professional route produces648 /1,944 (40 /120 productive locations ×30 invites×9 months×40%registration×60%activation×25%conversion). Totals:4,752 /15,924 gross B2C additions.
Assume uniform additions across months7–24, zero opening paid subscribers and5% monthly churn. Ending payers=monthly additions ×[1−0.95^18]/0.05, approximately3,183 /10,665. Annual subscriptions, reactivation, conversion delays and country cohorts are excluded. B2B endpoint active contracts10 /30 at200 /250 contracted seats yield2,000 /7,500 seats. Assumed60% activation means1,200 /4,500 active B2B users, not additional payers. Reconcile B2C/B2B person-level overlap.
At €6 monthly B2C revenue excluding consumption taxes and€3.50 per contracted B2B seat, endpoint MRR is approximately€26.1K /€90.2K. Multiply by12 for run rate, not in-period revenue. Sponsorship, events and grants are excluded. These are modelling prices, not approved retail prices.
The paid-media assumptions imply€75.7576 per payer before overhead. At €6×75%/5%=€90 simplified lifetime contribution, the ratio is1.188. That fails the proposed€30 fully loaded payer-CAC gate in the main GTM slide. Spend ceilings are not spend commitments: improve the route, stop it or preserve cash. The example does not show break-even at the larger programme cost; either economics must improve, the steady-state cost base must fall or another financing decision will be required. Further funding is not silently assumed.
SOURCES / BASIS
NutriSync_Value_and_Business_Proposal_EN_v1_0.md, sections 10–11; NutriSync_Capital_and_GTM_Planning_EN_v1_0.xlsx, GTM inputs and GTM illustration. All figures reproduced from the v1.0 planning assumptions and independently checked. No full historical-model audit is claimed.
STATUS
Prepared 8 September 2026. Management proposal, not an approved operating forecast, investment offer or clinical claim. Figures are editable. Source originals remain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UTRISYNC_LIGHT">
    <p:bg>
      <p:bgPr>
        <a:solidFill>
          <a:srgbClr val="F4F4F4"/>
        </a:solidFill>
      </p:bgPr>
    </p:bg>
    <p:spTree>
      <p:nvGrpSpPr>
        <p:cNvPr id="1" name=""/>
        <p:cNvGrpSpPr/>
        <p:nvPr/>
      </p:nvGrpSpPr>
      <p:grpSpPr>
        <a:xfrm>
          <a:off x="0" y="0"/>
          <a:ext cx="0" cy="0"/>
          <a:chOff x="0" y="0"/>
          <a:chExt cx="0" cy="0"/>
        </a:xfrm>
      </p:grpSpPr>
      <p:sp>
        <p:nvSpPr>
          <p:cNvPr id="2" name="Text 0"/>
          <p:cNvSpPr/>
          <p:nvPr/>
        </p:nvSpPr>
        <p:spPr>
          <a:xfrm>
            <a:off x="10177272" y="6473952"/>
            <a:ext cx="1399032" cy="201168"/>
          </a:xfrm>
          <a:prstGeom prst="rect">
            <a:avLst/>
          </a:prstGeom>
          <a:noFill/>
          <a:ln/>
        </p:spPr>
        <p:txBody>
          <a:bodyPr wrap="square" lIns="0" tIns="0" rIns="0" bIns="0" rtlCol="0" anchor="ctr"/>
          <a:lstStyle/>
          <a:p>
            <a:pPr algn="r" indent="0" marL="0">
              <a:buNone/>
            </a:pPr>
            <a:r>
              <a:rPr lang="en-US" sz="1200" spc="160" kern="0" dirty="0">
                <a:solidFill>
                  <a:srgbClr val="282424"/>
                </a:solidFill>
                <a:latin typeface="Roboto Condensed" pitchFamily="34" charset="0"/>
                <a:ea typeface="Roboto Condensed" pitchFamily="34" charset="-122"/>
                <a:cs typeface="Roboto Condensed" pitchFamily="34" charset="-120"/>
              </a:rPr>
              <a:t>NUTRISYNC</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How We Take the Market</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Spain first: practical nutrition, exercise and recovery—through channels we can measure.</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GTM 01  |  Proposed commercial model</a:t>
            </a:r>
            <a:endParaRPr lang="en-US" sz="950" dirty="0"/>
          </a:p>
        </p:txBody>
      </p:sp>
      <p:sp>
        <p:nvSpPr>
          <p:cNvPr id="5" name="Shape 3"/>
          <p:cNvSpPr/>
          <p:nvPr/>
        </p:nvSpPr>
        <p:spPr>
          <a:xfrm>
            <a:off x="685800" y="1728216"/>
            <a:ext cx="10808208" cy="585216"/>
          </a:xfrm>
          <a:prstGeom prst="rect">
            <a:avLst/>
          </a:prstGeom>
          <a:solidFill>
            <a:srgbClr val="F3EBDD"/>
          </a:solidFill>
          <a:ln w="12700">
            <a:solidFill>
              <a:srgbClr val="F3EBDD"/>
            </a:solidFill>
            <a:prstDash val="solid"/>
          </a:ln>
        </p:spPr>
      </p:sp>
      <p:sp>
        <p:nvSpPr>
          <p:cNvPr id="6" name="Text 4"/>
          <p:cNvSpPr/>
          <p:nvPr/>
        </p:nvSpPr>
        <p:spPr>
          <a:xfrm>
            <a:off x="850392" y="1888236"/>
            <a:ext cx="1014984" cy="210312"/>
          </a:xfrm>
          <a:prstGeom prst="rect">
            <a:avLst/>
          </a:prstGeom>
          <a:noFill/>
          <a:ln/>
        </p:spPr>
        <p:txBody>
          <a:bodyPr wrap="square" lIns="0" tIns="0" rIns="0" bIns="0" rtlCol="0" anchor="t">
            <a:spAutoFit/>
          </a:bodyPr>
          <a:lstStyle/>
          <a:p>
            <a:pPr indent="0" marL="0">
              <a:buNone/>
            </a:pPr>
            <a:r>
              <a:rPr lang="en-US" sz="1200" b="1" dirty="0">
                <a:solidFill>
                  <a:srgbClr val="C3452E"/>
                </a:solidFill>
                <a:latin typeface="Roboto Condensed" pitchFamily="34" charset="0"/>
                <a:ea typeface="Roboto Condensed" pitchFamily="34" charset="-122"/>
                <a:cs typeface="Roboto Condensed" pitchFamily="34" charset="-120"/>
              </a:rPr>
              <a:t>THE OFFER</a:t>
            </a:r>
            <a:endParaRPr lang="en-US" sz="1200" dirty="0"/>
          </a:p>
        </p:txBody>
      </p:sp>
      <p:sp>
        <p:nvSpPr>
          <p:cNvPr id="7" name="Text 5"/>
          <p:cNvSpPr/>
          <p:nvPr/>
        </p:nvSpPr>
        <p:spPr>
          <a:xfrm>
            <a:off x="1947672" y="1865376"/>
            <a:ext cx="9326880" cy="31089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Expert photo guides, recipes, workouts and recovery programmes. Wearables are optional.</a:t>
            </a:r>
            <a:endParaRPr lang="en-US" sz="1800" dirty="0"/>
          </a:p>
        </p:txBody>
      </p:sp>
      <p:sp>
        <p:nvSpPr>
          <p:cNvPr id="8" name="Shape 6"/>
          <p:cNvSpPr/>
          <p:nvPr/>
        </p:nvSpPr>
        <p:spPr>
          <a:xfrm>
            <a:off x="685800" y="2587752"/>
            <a:ext cx="3419856" cy="2450592"/>
          </a:xfrm>
          <a:prstGeom prst="rect">
            <a:avLst/>
          </a:prstGeom>
          <a:solidFill>
            <a:srgbClr val="FFFFFF"/>
          </a:solidFill>
          <a:ln w="12700">
            <a:solidFill>
              <a:srgbClr val="FFFFFF"/>
            </a:solidFill>
            <a:prstDash val="solid"/>
          </a:ln>
        </p:spPr>
      </p:sp>
      <p:sp>
        <p:nvSpPr>
          <p:cNvPr id="9" name="Shape 7"/>
          <p:cNvSpPr/>
          <p:nvPr/>
        </p:nvSpPr>
        <p:spPr>
          <a:xfrm>
            <a:off x="685800" y="2587752"/>
            <a:ext cx="3419856" cy="384048"/>
          </a:xfrm>
          <a:prstGeom prst="rect">
            <a:avLst/>
          </a:prstGeom>
          <a:solidFill>
            <a:srgbClr val="ED654F"/>
          </a:solidFill>
          <a:ln w="12700">
            <a:solidFill>
              <a:srgbClr val="ED654F"/>
            </a:solidFill>
            <a:prstDash val="solid"/>
          </a:ln>
        </p:spPr>
      </p:sp>
      <p:sp>
        <p:nvSpPr>
          <p:cNvPr id="10" name="Text 8"/>
          <p:cNvSpPr/>
          <p:nvPr/>
        </p:nvSpPr>
        <p:spPr>
          <a:xfrm>
            <a:off x="832104" y="2679192"/>
            <a:ext cx="3127248" cy="201168"/>
          </a:xfrm>
          <a:prstGeom prst="rect">
            <a:avLst/>
          </a:prstGeom>
          <a:noFill/>
          <a:ln/>
        </p:spPr>
        <p:txBody>
          <a:bodyPr wrap="square" lIns="0" tIns="0" rIns="0" bIns="0" rtlCol="0" anchor="t">
            <a:spAutoFit/>
          </a:bodyPr>
          <a:lstStyle/>
          <a:p>
            <a:pPr indent="0" marL="0">
              <a:buNone/>
            </a:pPr>
            <a:r>
              <a:rPr lang="en-US" sz="1300" b="1" dirty="0">
                <a:solidFill>
                  <a:srgbClr val="FFFFFF"/>
                </a:solidFill>
                <a:latin typeface="Roboto Condensed" pitchFamily="34" charset="0"/>
                <a:ea typeface="Roboto Condensed" pitchFamily="34" charset="-122"/>
                <a:cs typeface="Roboto Condensed" pitchFamily="34" charset="-120"/>
              </a:rPr>
              <a:t>DIRECT TO CONSUMER</a:t>
            </a:r>
            <a:endParaRPr lang="en-US" sz="1300" dirty="0"/>
          </a:p>
        </p:txBody>
      </p:sp>
      <p:sp>
        <p:nvSpPr>
          <p:cNvPr id="11" name="Text 9"/>
          <p:cNvSpPr/>
          <p:nvPr/>
        </p:nvSpPr>
        <p:spPr>
          <a:xfrm>
            <a:off x="850392" y="3182112"/>
            <a:ext cx="3108960" cy="320040"/>
          </a:xfrm>
          <a:prstGeom prst="rect">
            <a:avLst/>
          </a:prstGeom>
          <a:noFill/>
          <a:ln/>
        </p:spPr>
        <p:txBody>
          <a:bodyPr wrap="square" lIns="0" tIns="0" rIns="0" bIns="0" rtlCol="0" anchor="t">
            <a:spAutoFit/>
          </a:bodyPr>
          <a:lstStyle/>
          <a:p>
            <a:pPr indent="0" marL="0">
              <a:buNone/>
            </a:pPr>
            <a:r>
              <a:rPr lang="en-US" sz="2200" b="1" dirty="0">
                <a:solidFill>
                  <a:srgbClr val="272323"/>
                </a:solidFill>
                <a:latin typeface="Roboto Condensed" pitchFamily="34" charset="0"/>
                <a:ea typeface="Roboto Condensed" pitchFamily="34" charset="-122"/>
                <a:cs typeface="Roboto Condensed" pitchFamily="34" charset="-120"/>
              </a:rPr>
              <a:t>Be useful. Be discoverable.</a:t>
            </a:r>
            <a:endParaRPr lang="en-US" sz="2200" dirty="0"/>
          </a:p>
        </p:txBody>
      </p:sp>
      <p:sp>
        <p:nvSpPr>
          <p:cNvPr id="12" name="Text 10"/>
          <p:cNvSpPr/>
          <p:nvPr/>
        </p:nvSpPr>
        <p:spPr>
          <a:xfrm>
            <a:off x="850392" y="3675888"/>
            <a:ext cx="3090672" cy="621792"/>
          </a:xfrm>
          <a:prstGeom prst="rect">
            <a:avLst/>
          </a:prstGeom>
          <a:noFill/>
          <a:ln/>
        </p:spPr>
        <p:txBody>
          <a:bodyPr wrap="square" lIns="0" tIns="0" rIns="0" bIns="0" rtlCol="0" anchor="t">
            <a:spAutoFit/>
          </a:bodyPr>
          <a:lstStyle/>
          <a:p>
            <a:pPr indent="0" marL="0">
              <a:buNone/>
            </a:pPr>
            <a:r>
              <a:rPr lang="en-US" sz="1650" dirty="0">
                <a:solidFill>
                  <a:srgbClr val="272323"/>
                </a:solidFill>
                <a:latin typeface="Roboto Condensed" pitchFamily="34" charset="0"/>
                <a:ea typeface="Roboto Condensed" pitchFamily="34" charset="-122"/>
                <a:cs typeface="Roboto Condensed" pitchFamily="34" charset="-120"/>
              </a:rPr>
              <a:t>Founder and expert content, creators, social networks, search and app stores.</a:t>
            </a:r>
            <a:endParaRPr lang="en-US" sz="1650" dirty="0"/>
          </a:p>
        </p:txBody>
      </p:sp>
      <p:sp>
        <p:nvSpPr>
          <p:cNvPr id="13" name="Text 11"/>
          <p:cNvSpPr/>
          <p:nvPr/>
        </p:nvSpPr>
        <p:spPr>
          <a:xfrm>
            <a:off x="850392" y="4562856"/>
            <a:ext cx="3090672" cy="429768"/>
          </a:xfrm>
          <a:prstGeom prst="rect">
            <a:avLst/>
          </a:prstGeom>
          <a:noFill/>
          <a:ln/>
        </p:spPr>
        <p:txBody>
          <a:bodyPr wrap="square" lIns="0" tIns="0" rIns="0" bIns="0" rtlCol="0" anchor="t">
            <a:spAutoFit/>
          </a:bodyPr>
          <a:lstStyle/>
          <a:p>
            <a:pPr indent="0" marL="0">
              <a:buNone/>
            </a:pPr>
            <a:r>
              <a:rPr lang="en-US" sz="1520" dirty="0">
                <a:solidFill>
                  <a:srgbClr val="272323"/>
                </a:solidFill>
                <a:latin typeface="Roboto Condensed" pitchFamily="34" charset="0"/>
                <a:ea typeface="Roboto Condensed" pitchFamily="34" charset="-122"/>
                <a:cs typeface="Roboto Condensed" pitchFamily="34" charset="-120"/>
              </a:rPr>
              <a:t>Test paid acquisition. Scale what retains paying customers.</a:t>
            </a:r>
            <a:endParaRPr lang="en-US" sz="1520" dirty="0"/>
          </a:p>
        </p:txBody>
      </p:sp>
      <p:sp>
        <p:nvSpPr>
          <p:cNvPr id="14" name="Text 12"/>
          <p:cNvSpPr/>
          <p:nvPr/>
        </p:nvSpPr>
        <p:spPr>
          <a:xfrm>
            <a:off x="722376" y="5212080"/>
            <a:ext cx="3328416" cy="320040"/>
          </a:xfrm>
          <a:prstGeom prst="rect">
            <a:avLst/>
          </a:prstGeom>
          <a:noFill/>
          <a:ln/>
        </p:spPr>
        <p:txBody>
          <a:bodyPr wrap="square" lIns="0" tIns="0" rIns="0" bIns="0" rtlCol="0" anchor="t">
            <a:spAutoFit/>
          </a:bodyPr>
          <a:lstStyle/>
          <a:p>
            <a:pPr indent="0" marL="0">
              <a:buNone/>
            </a:pPr>
            <a:r>
              <a:rPr lang="en-US" sz="1450" b="1" dirty="0">
                <a:solidFill>
                  <a:srgbClr val="C3452E"/>
                </a:solidFill>
                <a:latin typeface="Roboto Condensed" pitchFamily="34" charset="0"/>
                <a:ea typeface="Roboto Condensed" pitchFamily="34" charset="-122"/>
                <a:cs typeface="Roboto Condensed" pitchFamily="34" charset="-120"/>
              </a:rPr>
              <a:t>Measure: payer CAC + retention</a:t>
            </a:r>
            <a:endParaRPr lang="en-US" sz="1450" dirty="0"/>
          </a:p>
        </p:txBody>
      </p:sp>
      <p:sp>
        <p:nvSpPr>
          <p:cNvPr id="15" name="Shape 13"/>
          <p:cNvSpPr/>
          <p:nvPr/>
        </p:nvSpPr>
        <p:spPr>
          <a:xfrm>
            <a:off x="4379976" y="2587752"/>
            <a:ext cx="3419856" cy="2450592"/>
          </a:xfrm>
          <a:prstGeom prst="rect">
            <a:avLst/>
          </a:prstGeom>
          <a:solidFill>
            <a:srgbClr val="FFFFFF"/>
          </a:solidFill>
          <a:ln w="12700">
            <a:solidFill>
              <a:srgbClr val="FFFFFF"/>
            </a:solidFill>
            <a:prstDash val="solid"/>
          </a:ln>
        </p:spPr>
      </p:sp>
      <p:sp>
        <p:nvSpPr>
          <p:cNvPr id="16" name="Shape 14"/>
          <p:cNvSpPr/>
          <p:nvPr/>
        </p:nvSpPr>
        <p:spPr>
          <a:xfrm>
            <a:off x="4379976" y="2587752"/>
            <a:ext cx="3419856" cy="384048"/>
          </a:xfrm>
          <a:prstGeom prst="rect">
            <a:avLst/>
          </a:prstGeom>
          <a:solidFill>
            <a:srgbClr val="ED654F"/>
          </a:solidFill>
          <a:ln w="12700">
            <a:solidFill>
              <a:srgbClr val="ED654F"/>
            </a:solidFill>
            <a:prstDash val="solid"/>
          </a:ln>
        </p:spPr>
      </p:sp>
      <p:sp>
        <p:nvSpPr>
          <p:cNvPr id="17" name="Text 15"/>
          <p:cNvSpPr/>
          <p:nvPr/>
        </p:nvSpPr>
        <p:spPr>
          <a:xfrm>
            <a:off x="4526280" y="2679192"/>
            <a:ext cx="3127248" cy="201168"/>
          </a:xfrm>
          <a:prstGeom prst="rect">
            <a:avLst/>
          </a:prstGeom>
          <a:noFill/>
          <a:ln/>
        </p:spPr>
        <p:txBody>
          <a:bodyPr wrap="square" lIns="0" tIns="0" rIns="0" bIns="0" rtlCol="0" anchor="t">
            <a:spAutoFit/>
          </a:bodyPr>
          <a:lstStyle/>
          <a:p>
            <a:pPr indent="0" marL="0">
              <a:buNone/>
            </a:pPr>
            <a:r>
              <a:rPr lang="en-US" sz="1300" b="1" dirty="0">
                <a:solidFill>
                  <a:srgbClr val="FFFFFF"/>
                </a:solidFill>
                <a:latin typeface="Roboto Condensed" pitchFamily="34" charset="0"/>
                <a:ea typeface="Roboto Condensed" pitchFamily="34" charset="-122"/>
                <a:cs typeface="Roboto Condensed" pitchFamily="34" charset="-120"/>
              </a:rPr>
              <a:t>TRUSTED PROFESSIONALS</a:t>
            </a:r>
            <a:endParaRPr lang="en-US" sz="1300" dirty="0"/>
          </a:p>
        </p:txBody>
      </p:sp>
      <p:sp>
        <p:nvSpPr>
          <p:cNvPr id="18" name="Text 16"/>
          <p:cNvSpPr/>
          <p:nvPr/>
        </p:nvSpPr>
        <p:spPr>
          <a:xfrm>
            <a:off x="4544568" y="3182112"/>
            <a:ext cx="3108960" cy="320040"/>
          </a:xfrm>
          <a:prstGeom prst="rect">
            <a:avLst/>
          </a:prstGeom>
          <a:noFill/>
          <a:ln/>
        </p:spPr>
        <p:txBody>
          <a:bodyPr wrap="square" lIns="0" tIns="0" rIns="0" bIns="0" rtlCol="0" anchor="t">
            <a:spAutoFit/>
          </a:bodyPr>
          <a:lstStyle/>
          <a:p>
            <a:pPr indent="0" marL="0">
              <a:buNone/>
            </a:pPr>
            <a:r>
              <a:rPr lang="en-US" sz="2200" b="1" dirty="0">
                <a:solidFill>
                  <a:srgbClr val="272323"/>
                </a:solidFill>
                <a:latin typeface="Roboto Condensed" pitchFamily="34" charset="0"/>
                <a:ea typeface="Roboto Condensed" pitchFamily="34" charset="-122"/>
                <a:cs typeface="Roboto Condensed" pitchFamily="34" charset="-120"/>
              </a:rPr>
              <a:t>Build productive locations.</a:t>
            </a:r>
            <a:endParaRPr lang="en-US" sz="2200" dirty="0"/>
          </a:p>
        </p:txBody>
      </p:sp>
      <p:sp>
        <p:nvSpPr>
          <p:cNvPr id="19" name="Text 17"/>
          <p:cNvSpPr/>
          <p:nvPr/>
        </p:nvSpPr>
        <p:spPr>
          <a:xfrm>
            <a:off x="4544568" y="3675888"/>
            <a:ext cx="3090672" cy="621792"/>
          </a:xfrm>
          <a:prstGeom prst="rect">
            <a:avLst/>
          </a:prstGeom>
          <a:noFill/>
          <a:ln/>
        </p:spPr>
        <p:txBody>
          <a:bodyPr wrap="square" lIns="0" tIns="0" rIns="0" bIns="0" rtlCol="0" anchor="t">
            <a:spAutoFit/>
          </a:bodyPr>
          <a:lstStyle/>
          <a:p>
            <a:pPr indent="0" marL="0">
              <a:buNone/>
            </a:pPr>
            <a:r>
              <a:rPr lang="en-US" sz="1650" dirty="0">
                <a:solidFill>
                  <a:srgbClr val="272323"/>
                </a:solidFill>
                <a:latin typeface="Roboto Condensed" pitchFamily="34" charset="0"/>
                <a:ea typeface="Roboto Condensed" pitchFamily="34" charset="-122"/>
                <a:cs typeface="Roboto Condensed" pitchFamily="34" charset="-120"/>
              </a:rPr>
              <a:t>Dietitians, trainers, gyms and studios; reviewed clinician-led programmes.</a:t>
            </a:r>
            <a:endParaRPr lang="en-US" sz="1650" dirty="0"/>
          </a:p>
        </p:txBody>
      </p:sp>
      <p:sp>
        <p:nvSpPr>
          <p:cNvPr id="20" name="Text 18"/>
          <p:cNvSpPr/>
          <p:nvPr/>
        </p:nvSpPr>
        <p:spPr>
          <a:xfrm>
            <a:off x="4544568" y="4562856"/>
            <a:ext cx="3090672" cy="429768"/>
          </a:xfrm>
          <a:prstGeom prst="rect">
            <a:avLst/>
          </a:prstGeom>
          <a:noFill/>
          <a:ln/>
        </p:spPr>
        <p:txBody>
          <a:bodyPr wrap="square" lIns="0" tIns="0" rIns="0" bIns="0" rtlCol="0" anchor="t">
            <a:spAutoFit/>
          </a:bodyPr>
          <a:lstStyle/>
          <a:p>
            <a:pPr indent="0" marL="0">
              <a:buNone/>
            </a:pPr>
            <a:r>
              <a:rPr lang="en-US" sz="1520" dirty="0">
                <a:solidFill>
                  <a:srgbClr val="272323"/>
                </a:solidFill>
                <a:latin typeface="Roboto Condensed" pitchFamily="34" charset="0"/>
                <a:ea typeface="Roboto Condensed" pitchFamily="34" charset="-122"/>
                <a:cs typeface="Roboto Condensed" pitchFamily="34" charset="-120"/>
              </a:rPr>
              <a:t>Start locally; develop hospital and primary-care routes next.</a:t>
            </a:r>
            <a:endParaRPr lang="en-US" sz="1520" dirty="0"/>
          </a:p>
        </p:txBody>
      </p:sp>
      <p:sp>
        <p:nvSpPr>
          <p:cNvPr id="21" name="Text 19"/>
          <p:cNvSpPr/>
          <p:nvPr/>
        </p:nvSpPr>
        <p:spPr>
          <a:xfrm>
            <a:off x="4416552" y="5212080"/>
            <a:ext cx="3328416" cy="320040"/>
          </a:xfrm>
          <a:prstGeom prst="rect">
            <a:avLst/>
          </a:prstGeom>
          <a:noFill/>
          <a:ln/>
        </p:spPr>
        <p:txBody>
          <a:bodyPr wrap="square" lIns="0" tIns="0" rIns="0" bIns="0" rtlCol="0" anchor="t">
            <a:spAutoFit/>
          </a:bodyPr>
          <a:lstStyle/>
          <a:p>
            <a:pPr indent="0" marL="0">
              <a:buNone/>
            </a:pPr>
            <a:r>
              <a:rPr lang="en-US" sz="1450" b="1" dirty="0">
                <a:solidFill>
                  <a:srgbClr val="C3452E"/>
                </a:solidFill>
                <a:latin typeface="Roboto Condensed" pitchFamily="34" charset="0"/>
                <a:ea typeface="Roboto Condensed" pitchFamily="34" charset="-122"/>
                <a:cs typeface="Roboto Condensed" pitchFamily="34" charset="-120"/>
              </a:rPr>
              <a:t>Measure: active locations + conversions</a:t>
            </a:r>
            <a:endParaRPr lang="en-US" sz="1450" dirty="0"/>
          </a:p>
        </p:txBody>
      </p:sp>
      <p:sp>
        <p:nvSpPr>
          <p:cNvPr id="22" name="Shape 20"/>
          <p:cNvSpPr/>
          <p:nvPr/>
        </p:nvSpPr>
        <p:spPr>
          <a:xfrm>
            <a:off x="8074152" y="2587752"/>
            <a:ext cx="3419856" cy="2450592"/>
          </a:xfrm>
          <a:prstGeom prst="rect">
            <a:avLst/>
          </a:prstGeom>
          <a:solidFill>
            <a:srgbClr val="FFFFFF"/>
          </a:solidFill>
          <a:ln w="12700">
            <a:solidFill>
              <a:srgbClr val="FFFFFF"/>
            </a:solidFill>
            <a:prstDash val="solid"/>
          </a:ln>
        </p:spPr>
      </p:sp>
      <p:sp>
        <p:nvSpPr>
          <p:cNvPr id="23" name="Shape 21"/>
          <p:cNvSpPr/>
          <p:nvPr/>
        </p:nvSpPr>
        <p:spPr>
          <a:xfrm>
            <a:off x="8074152" y="2587752"/>
            <a:ext cx="3419856" cy="384048"/>
          </a:xfrm>
          <a:prstGeom prst="rect">
            <a:avLst/>
          </a:prstGeom>
          <a:solidFill>
            <a:srgbClr val="ED654F"/>
          </a:solidFill>
          <a:ln w="12700">
            <a:solidFill>
              <a:srgbClr val="ED654F"/>
            </a:solidFill>
            <a:prstDash val="solid"/>
          </a:ln>
        </p:spPr>
      </p:sp>
      <p:sp>
        <p:nvSpPr>
          <p:cNvPr id="24" name="Text 22"/>
          <p:cNvSpPr/>
          <p:nvPr/>
        </p:nvSpPr>
        <p:spPr>
          <a:xfrm>
            <a:off x="8220456" y="2679192"/>
            <a:ext cx="3127248" cy="201168"/>
          </a:xfrm>
          <a:prstGeom prst="rect">
            <a:avLst/>
          </a:prstGeom>
          <a:noFill/>
          <a:ln/>
        </p:spPr>
        <p:txBody>
          <a:bodyPr wrap="square" lIns="0" tIns="0" rIns="0" bIns="0" rtlCol="0" anchor="t">
            <a:spAutoFit/>
          </a:bodyPr>
          <a:lstStyle/>
          <a:p>
            <a:pPr indent="0" marL="0">
              <a:buNone/>
            </a:pPr>
            <a:r>
              <a:rPr lang="en-US" sz="1300" b="1" dirty="0">
                <a:solidFill>
                  <a:srgbClr val="FFFFFF"/>
                </a:solidFill>
                <a:latin typeface="Roboto Condensed" pitchFamily="34" charset="0"/>
                <a:ea typeface="Roboto Condensed" pitchFamily="34" charset="-122"/>
                <a:cs typeface="Roboto Condensed" pitchFamily="34" charset="-120"/>
              </a:rPr>
              <a:t>ORGANISATIONS &amp; BRANDS</a:t>
            </a:r>
            <a:endParaRPr lang="en-US" sz="1300" dirty="0"/>
          </a:p>
        </p:txBody>
      </p:sp>
      <p:sp>
        <p:nvSpPr>
          <p:cNvPr id="25" name="Text 23"/>
          <p:cNvSpPr/>
          <p:nvPr/>
        </p:nvSpPr>
        <p:spPr>
          <a:xfrm>
            <a:off x="8238744" y="3182112"/>
            <a:ext cx="3108960" cy="320040"/>
          </a:xfrm>
          <a:prstGeom prst="rect">
            <a:avLst/>
          </a:prstGeom>
          <a:noFill/>
          <a:ln/>
        </p:spPr>
        <p:txBody>
          <a:bodyPr wrap="square" lIns="0" tIns="0" rIns="0" bIns="0" rtlCol="0" anchor="t">
            <a:spAutoFit/>
          </a:bodyPr>
          <a:lstStyle/>
          <a:p>
            <a:pPr indent="0" marL="0">
              <a:buNone/>
            </a:pPr>
            <a:r>
              <a:rPr lang="en-US" sz="2200" b="1" dirty="0">
                <a:solidFill>
                  <a:srgbClr val="272323"/>
                </a:solidFill>
                <a:latin typeface="Roboto Condensed" pitchFamily="34" charset="0"/>
                <a:ea typeface="Roboto Condensed" pitchFamily="34" charset="-122"/>
                <a:cs typeface="Roboto Condensed" pitchFamily="34" charset="-120"/>
              </a:rPr>
              <a:t>Turn access into use.</a:t>
            </a:r>
            <a:endParaRPr lang="en-US" sz="2200" dirty="0"/>
          </a:p>
        </p:txBody>
      </p:sp>
      <p:sp>
        <p:nvSpPr>
          <p:cNvPr id="26" name="Text 24"/>
          <p:cNvSpPr/>
          <p:nvPr/>
        </p:nvSpPr>
        <p:spPr>
          <a:xfrm>
            <a:off x="8238744" y="3675888"/>
            <a:ext cx="3090672" cy="621792"/>
          </a:xfrm>
          <a:prstGeom prst="rect">
            <a:avLst/>
          </a:prstGeom>
          <a:noFill/>
          <a:ln/>
        </p:spPr>
        <p:txBody>
          <a:bodyPr wrap="square" lIns="0" tIns="0" rIns="0" bIns="0" rtlCol="0" anchor="t">
            <a:spAutoFit/>
          </a:bodyPr>
          <a:lstStyle/>
          <a:p>
            <a:pPr indent="0" marL="0">
              <a:buNone/>
            </a:pPr>
            <a:r>
              <a:rPr lang="en-US" sz="1650" dirty="0">
                <a:solidFill>
                  <a:srgbClr val="272323"/>
                </a:solidFill>
                <a:latin typeface="Roboto Condensed" pitchFamily="34" charset="0"/>
                <a:ea typeface="Roboto Condensed" pitchFamily="34" charset="-122"/>
                <a:cs typeface="Roboto Condensed" pitchFamily="34" charset="-120"/>
              </a:rPr>
              <a:t>Employer and university programmes; sports and fashion retail; events and wearable ecosystems.</a:t>
            </a:r>
            <a:endParaRPr lang="en-US" sz="1650" dirty="0"/>
          </a:p>
        </p:txBody>
      </p:sp>
      <p:sp>
        <p:nvSpPr>
          <p:cNvPr id="27" name="Text 25"/>
          <p:cNvSpPr/>
          <p:nvPr/>
        </p:nvSpPr>
        <p:spPr>
          <a:xfrm>
            <a:off x="8238744" y="4562856"/>
            <a:ext cx="3090672" cy="429768"/>
          </a:xfrm>
          <a:prstGeom prst="rect">
            <a:avLst/>
          </a:prstGeom>
          <a:noFill/>
          <a:ln/>
        </p:spPr>
        <p:txBody>
          <a:bodyPr wrap="square" lIns="0" tIns="0" rIns="0" bIns="0" rtlCol="0" anchor="t">
            <a:spAutoFit/>
          </a:bodyPr>
          <a:lstStyle/>
          <a:p>
            <a:pPr indent="0" marL="0">
              <a:buNone/>
            </a:pPr>
            <a:r>
              <a:rPr lang="en-US" sz="1520" dirty="0">
                <a:solidFill>
                  <a:srgbClr val="272323"/>
                </a:solidFill>
                <a:latin typeface="Roboto Condensed" pitchFamily="34" charset="0"/>
                <a:ea typeface="Roboto Condensed" pitchFamily="34" charset="-122"/>
                <a:cs typeface="Roboto Condensed" pitchFamily="34" charset="-120"/>
              </a:rPr>
              <a:t>Sell access and programmes—not private health data.</a:t>
            </a:r>
            <a:endParaRPr lang="en-US" sz="1520" dirty="0"/>
          </a:p>
        </p:txBody>
      </p:sp>
      <p:sp>
        <p:nvSpPr>
          <p:cNvPr id="28" name="Text 26"/>
          <p:cNvSpPr/>
          <p:nvPr/>
        </p:nvSpPr>
        <p:spPr>
          <a:xfrm>
            <a:off x="8110728" y="5212080"/>
            <a:ext cx="3328416" cy="320040"/>
          </a:xfrm>
          <a:prstGeom prst="rect">
            <a:avLst/>
          </a:prstGeom>
          <a:noFill/>
          <a:ln/>
        </p:spPr>
        <p:txBody>
          <a:bodyPr wrap="square" lIns="0" tIns="0" rIns="0" bIns="0" rtlCol="0" anchor="t">
            <a:spAutoFit/>
          </a:bodyPr>
          <a:lstStyle/>
          <a:p>
            <a:pPr indent="0" marL="0">
              <a:buNone/>
            </a:pPr>
            <a:r>
              <a:rPr lang="en-US" sz="1450" b="1" dirty="0">
                <a:solidFill>
                  <a:srgbClr val="C3452E"/>
                </a:solidFill>
                <a:latin typeface="Roboto Condensed" pitchFamily="34" charset="0"/>
                <a:ea typeface="Roboto Condensed" pitchFamily="34" charset="-122"/>
                <a:cs typeface="Roboto Condensed" pitchFamily="34" charset="-120"/>
              </a:rPr>
              <a:t>Measure: seats used + renewals</a:t>
            </a:r>
            <a:endParaRPr lang="en-US" sz="1450" dirty="0"/>
          </a:p>
        </p:txBody>
      </p:sp>
      <p:sp>
        <p:nvSpPr>
          <p:cNvPr id="29" name="Shape 27"/>
          <p:cNvSpPr/>
          <p:nvPr/>
        </p:nvSpPr>
        <p:spPr>
          <a:xfrm>
            <a:off x="685800" y="5650992"/>
            <a:ext cx="10808208" cy="356616"/>
          </a:xfrm>
          <a:prstGeom prst="rect">
            <a:avLst/>
          </a:prstGeom>
          <a:solidFill>
            <a:srgbClr val="F3EBDD"/>
          </a:solidFill>
          <a:ln w="12700">
            <a:solidFill>
              <a:srgbClr val="F3EBDD"/>
            </a:solidFill>
            <a:prstDash val="solid"/>
          </a:ln>
        </p:spPr>
      </p:sp>
      <p:sp>
        <p:nvSpPr>
          <p:cNvPr id="30" name="Text 28"/>
          <p:cNvSpPr/>
          <p:nvPr/>
        </p:nvSpPr>
        <p:spPr>
          <a:xfrm>
            <a:off x="859536" y="5739689"/>
            <a:ext cx="2496312" cy="192024"/>
          </a:xfrm>
          <a:prstGeom prst="rect">
            <a:avLst/>
          </a:prstGeom>
          <a:noFill/>
          <a:ln/>
        </p:spPr>
        <p:txBody>
          <a:bodyPr wrap="square" lIns="0" tIns="0" rIns="0" bIns="0" rtlCol="0" anchor="t">
            <a:spAutoFit/>
          </a:bodyPr>
          <a:lstStyle/>
          <a:p>
            <a:pPr indent="0" marL="0">
              <a:buNone/>
            </a:pPr>
            <a:r>
              <a:rPr lang="en-US" sz="1220" b="1" dirty="0">
                <a:solidFill>
                  <a:srgbClr val="C3452E"/>
                </a:solidFill>
                <a:latin typeface="Roboto Condensed" pitchFamily="34" charset="0"/>
                <a:ea typeface="Roboto Condensed" pitchFamily="34" charset="-122"/>
                <a:cs typeface="Roboto Condensed" pitchFamily="34" charset="-120"/>
              </a:rPr>
              <a:t>ATL / DIGITAL AWARENESS</a:t>
            </a:r>
            <a:endParaRPr lang="en-US" sz="1220" dirty="0"/>
          </a:p>
        </p:txBody>
      </p:sp>
      <p:sp>
        <p:nvSpPr>
          <p:cNvPr id="31" name="Shape 29"/>
          <p:cNvSpPr/>
          <p:nvPr/>
        </p:nvSpPr>
        <p:spPr>
          <a:xfrm>
            <a:off x="3447288" y="5751576"/>
            <a:ext cx="201168" cy="182880"/>
          </a:xfrm>
          <a:prstGeom prst="chevron">
            <a:avLst/>
          </a:prstGeom>
          <a:solidFill>
            <a:srgbClr val="ED654F"/>
          </a:solidFill>
          <a:ln w="12700">
            <a:solidFill>
              <a:srgbClr val="ED654F"/>
            </a:solidFill>
            <a:prstDash val="solid"/>
          </a:ln>
        </p:spPr>
      </p:sp>
      <p:sp>
        <p:nvSpPr>
          <p:cNvPr id="32" name="Text 30"/>
          <p:cNvSpPr/>
          <p:nvPr/>
        </p:nvSpPr>
        <p:spPr>
          <a:xfrm>
            <a:off x="3803904" y="5739689"/>
            <a:ext cx="2935224" cy="192024"/>
          </a:xfrm>
          <a:prstGeom prst="rect">
            <a:avLst/>
          </a:prstGeom>
          <a:noFill/>
          <a:ln/>
        </p:spPr>
        <p:txBody>
          <a:bodyPr wrap="square" lIns="0" tIns="0" rIns="0" bIns="0" rtlCol="0" anchor="t">
            <a:spAutoFit/>
          </a:bodyPr>
          <a:lstStyle/>
          <a:p>
            <a:pPr indent="0" marL="0">
              <a:buNone/>
            </a:pPr>
            <a:r>
              <a:rPr lang="en-US" sz="1220" b="1" dirty="0">
                <a:solidFill>
                  <a:srgbClr val="C3452E"/>
                </a:solidFill>
                <a:latin typeface="Roboto Condensed" pitchFamily="34" charset="0"/>
                <a:ea typeface="Roboto Condensed" pitchFamily="34" charset="-122"/>
                <a:cs typeface="Roboto Condensed" pitchFamily="34" charset="-120"/>
              </a:rPr>
              <a:t>BTL: EVENTS, ROADSHOWS, MALLS</a:t>
            </a:r>
            <a:endParaRPr lang="en-US" sz="1220" dirty="0"/>
          </a:p>
        </p:txBody>
      </p:sp>
      <p:sp>
        <p:nvSpPr>
          <p:cNvPr id="33" name="Shape 31"/>
          <p:cNvSpPr/>
          <p:nvPr/>
        </p:nvSpPr>
        <p:spPr>
          <a:xfrm>
            <a:off x="6976872" y="5751576"/>
            <a:ext cx="201168" cy="182880"/>
          </a:xfrm>
          <a:prstGeom prst="chevron">
            <a:avLst/>
          </a:prstGeom>
          <a:solidFill>
            <a:srgbClr val="ED654F"/>
          </a:solidFill>
          <a:ln w="12700">
            <a:solidFill>
              <a:srgbClr val="ED654F"/>
            </a:solidFill>
            <a:prstDash val="solid"/>
          </a:ln>
        </p:spPr>
      </p:sp>
      <p:sp>
        <p:nvSpPr>
          <p:cNvPr id="34" name="Text 32"/>
          <p:cNvSpPr/>
          <p:nvPr/>
        </p:nvSpPr>
        <p:spPr>
          <a:xfrm>
            <a:off x="7351776" y="5739689"/>
            <a:ext cx="3858768" cy="192024"/>
          </a:xfrm>
          <a:prstGeom prst="rect">
            <a:avLst/>
          </a:prstGeom>
          <a:noFill/>
          <a:ln/>
        </p:spPr>
        <p:txBody>
          <a:bodyPr wrap="square" lIns="0" tIns="0" rIns="0" bIns="0" rtlCol="0" anchor="t">
            <a:spAutoFit/>
          </a:bodyPr>
          <a:lstStyle/>
          <a:p>
            <a:pPr indent="0" marL="0">
              <a:buNone/>
            </a:pPr>
            <a:r>
              <a:rPr lang="en-US" sz="1220" b="1" dirty="0">
                <a:solidFill>
                  <a:srgbClr val="C3452E"/>
                </a:solidFill>
                <a:latin typeface="Roboto Condensed" pitchFamily="34" charset="0"/>
                <a:ea typeface="Roboto Condensed" pitchFamily="34" charset="-122"/>
                <a:cs typeface="Roboto Condensed" pitchFamily="34" charset="-120"/>
              </a:rPr>
              <a:t>FIRST ACTION → PAYMENT → REPEAT USE</a:t>
            </a:r>
            <a:endParaRPr lang="en-US" sz="1220" dirty="0"/>
          </a:p>
        </p:txBody>
      </p:sp>
      <p:sp>
        <p:nvSpPr>
          <p:cNvPr id="35" name="Text 33"/>
          <p:cNvSpPr/>
          <p:nvPr/>
        </p:nvSpPr>
        <p:spPr>
          <a:xfrm>
            <a:off x="685800" y="6172200"/>
            <a:ext cx="10808208" cy="228600"/>
          </a:xfrm>
          <a:prstGeom prst="rect">
            <a:avLst/>
          </a:prstGeom>
          <a:noFill/>
          <a:ln/>
        </p:spPr>
        <p:txBody>
          <a:bodyPr wrap="square" lIns="0" tIns="0" rIns="0" bIns="0" rtlCol="0" anchor="t">
            <a:spAutoFit/>
          </a:bodyPr>
          <a:lstStyle/>
          <a:p>
            <a:pPr indent="0" marL="0">
              <a:buNone/>
            </a:pPr>
            <a:r>
              <a:rPr lang="en-US" sz="1030" dirty="0">
                <a:solidFill>
                  <a:srgbClr val="65605D"/>
                </a:solidFill>
                <a:latin typeface="Roboto Condensed" pitchFamily="34" charset="0"/>
                <a:ea typeface="Roboto Condensed" pitchFamily="34" charset="-122"/>
                <a:cs typeface="Roboto Condensed" pitchFamily="34" charset="-120"/>
              </a:rPr>
              <a:t>A connected campaign, not three separate funnels. Prospective channels and partners; no agreements implied.</a:t>
            </a:r>
            <a:endParaRPr lang="en-US" sz="10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From Reach to Paying Customers</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A bottom-up professional-channel illustration—not a percentage of a large market.</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GTM 02  |  Worked example; not a forecast</a:t>
            </a:r>
            <a:endParaRPr lang="en-US" sz="950" dirty="0"/>
          </a:p>
        </p:txBody>
      </p:sp>
      <p:sp>
        <p:nvSpPr>
          <p:cNvPr id="5" name="Shape 3"/>
          <p:cNvSpPr/>
          <p:nvPr/>
        </p:nvSpPr>
        <p:spPr>
          <a:xfrm>
            <a:off x="685800" y="1746504"/>
            <a:ext cx="7388352" cy="722376"/>
          </a:xfrm>
          <a:prstGeom prst="rect">
            <a:avLst/>
          </a:prstGeom>
          <a:solidFill>
            <a:srgbClr val="F3EBDD"/>
          </a:solidFill>
          <a:ln w="12700">
            <a:solidFill>
              <a:srgbClr val="F3EBDD"/>
            </a:solidFill>
            <a:prstDash val="solid"/>
          </a:ln>
        </p:spPr>
      </p:sp>
      <p:sp>
        <p:nvSpPr>
          <p:cNvPr id="6" name="Text 4"/>
          <p:cNvSpPr/>
          <p:nvPr/>
        </p:nvSpPr>
        <p:spPr>
          <a:xfrm>
            <a:off x="877824" y="1865376"/>
            <a:ext cx="566928" cy="402336"/>
          </a:xfrm>
          <a:prstGeom prst="rect">
            <a:avLst/>
          </a:prstGeom>
          <a:noFill/>
          <a:ln/>
        </p:spPr>
        <p:txBody>
          <a:bodyPr wrap="square" lIns="0" tIns="0" rIns="0" bIns="0" rtlCol="0" anchor="t">
            <a:spAutoFit/>
          </a:bodyPr>
          <a:lstStyle/>
          <a:p>
            <a:pPr indent="0" marL="0">
              <a:buNone/>
            </a:pPr>
            <a:r>
              <a:rPr lang="en-US" sz="3000" b="1" dirty="0">
                <a:solidFill>
                  <a:srgbClr val="C3452E"/>
                </a:solidFill>
                <a:latin typeface="Roboto Condensed" pitchFamily="34" charset="0"/>
                <a:ea typeface="Roboto Condensed" pitchFamily="34" charset="-122"/>
                <a:cs typeface="Roboto Condensed" pitchFamily="34" charset="-120"/>
              </a:rPr>
              <a:t>40</a:t>
            </a:r>
            <a:endParaRPr lang="en-US" sz="3000" dirty="0"/>
          </a:p>
        </p:txBody>
      </p:sp>
      <p:sp>
        <p:nvSpPr>
          <p:cNvPr id="7" name="Text 5"/>
          <p:cNvSpPr/>
          <p:nvPr/>
        </p:nvSpPr>
        <p:spPr>
          <a:xfrm>
            <a:off x="1517904" y="1956816"/>
            <a:ext cx="1792224" cy="265176"/>
          </a:xfrm>
          <a:prstGeom prst="rect">
            <a:avLst/>
          </a:prstGeom>
          <a:noFill/>
          <a:ln/>
        </p:spPr>
        <p:txBody>
          <a:bodyPr wrap="square" lIns="0" tIns="0" rIns="0" bIns="0" rtlCol="0" anchor="t">
            <a:spAutoFit/>
          </a:bodyPr>
          <a:lstStyle/>
          <a:p>
            <a:pPr indent="0" marL="0">
              <a:buNone/>
            </a:pPr>
            <a:r>
              <a:rPr lang="en-US" sz="1640" dirty="0">
                <a:solidFill>
                  <a:srgbClr val="272323"/>
                </a:solidFill>
                <a:latin typeface="Roboto Condensed" pitchFamily="34" charset="0"/>
                <a:ea typeface="Roboto Condensed" pitchFamily="34" charset="-122"/>
                <a:cs typeface="Roboto Condensed" pitchFamily="34" charset="-120"/>
              </a:rPr>
              <a:t>productive locations</a:t>
            </a:r>
            <a:endParaRPr lang="en-US" sz="1640" dirty="0"/>
          </a:p>
        </p:txBody>
      </p:sp>
      <p:sp>
        <p:nvSpPr>
          <p:cNvPr id="8" name="Text 6"/>
          <p:cNvSpPr/>
          <p:nvPr/>
        </p:nvSpPr>
        <p:spPr>
          <a:xfrm>
            <a:off x="3264408" y="1947672"/>
            <a:ext cx="4590288" cy="274320"/>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 30 invitations / month × 9 active months</a:t>
            </a:r>
            <a:endParaRPr lang="en-US" sz="1800" dirty="0"/>
          </a:p>
        </p:txBody>
      </p:sp>
      <p:sp>
        <p:nvSpPr>
          <p:cNvPr id="9" name="Shape 7"/>
          <p:cNvSpPr/>
          <p:nvPr/>
        </p:nvSpPr>
        <p:spPr>
          <a:xfrm>
            <a:off x="685800" y="2871216"/>
            <a:ext cx="1636776" cy="1792224"/>
          </a:xfrm>
          <a:prstGeom prst="rect">
            <a:avLst/>
          </a:prstGeom>
          <a:solidFill>
            <a:srgbClr val="FFFFFF"/>
          </a:solidFill>
          <a:ln w="12700">
            <a:solidFill>
              <a:srgbClr val="FFFFFF"/>
            </a:solidFill>
            <a:prstDash val="solid"/>
          </a:ln>
        </p:spPr>
      </p:sp>
      <p:sp>
        <p:nvSpPr>
          <p:cNvPr id="10" name="Text 8"/>
          <p:cNvSpPr/>
          <p:nvPr/>
        </p:nvSpPr>
        <p:spPr>
          <a:xfrm>
            <a:off x="777240" y="3182112"/>
            <a:ext cx="1453896" cy="502920"/>
          </a:xfrm>
          <a:prstGeom prst="rect">
            <a:avLst/>
          </a:prstGeom>
          <a:noFill/>
          <a:ln/>
        </p:spPr>
        <p:txBody>
          <a:bodyPr wrap="square" lIns="0" tIns="0" rIns="0" bIns="0" rtlCol="0" anchor="t">
            <a:spAutoFit/>
          </a:bodyPr>
          <a:lstStyle/>
          <a:p>
            <a:pPr algn="ctr" indent="0" marL="0">
              <a:buNone/>
            </a:pPr>
            <a:r>
              <a:rPr lang="en-US" sz="3500" b="1" dirty="0">
                <a:solidFill>
                  <a:srgbClr val="C3452E"/>
                </a:solidFill>
                <a:latin typeface="Roboto Condensed" pitchFamily="34" charset="0"/>
                <a:ea typeface="Roboto Condensed" pitchFamily="34" charset="-122"/>
                <a:cs typeface="Roboto Condensed" pitchFamily="34" charset="-120"/>
              </a:rPr>
              <a:t>10,800</a:t>
            </a:r>
            <a:endParaRPr lang="en-US" sz="3500" dirty="0"/>
          </a:p>
        </p:txBody>
      </p:sp>
      <p:sp>
        <p:nvSpPr>
          <p:cNvPr id="11" name="Text 9"/>
          <p:cNvSpPr/>
          <p:nvPr/>
        </p:nvSpPr>
        <p:spPr>
          <a:xfrm>
            <a:off x="795528" y="3840480"/>
            <a:ext cx="1417320" cy="411480"/>
          </a:xfrm>
          <a:prstGeom prst="rect">
            <a:avLst/>
          </a:prstGeom>
          <a:noFill/>
          <a:ln/>
        </p:spPr>
        <p:txBody>
          <a:bodyPr wrap="square" lIns="0" tIns="0" rIns="0" bIns="0" rtlCol="0" anchor="t">
            <a:spAutoFit/>
          </a:bodyPr>
          <a:lstStyle/>
          <a:p>
            <a:pPr algn="ctr" indent="0" marL="0">
              <a:buNone/>
            </a:pPr>
            <a:r>
              <a:rPr lang="en-US" sz="1600" b="1" dirty="0">
                <a:solidFill>
                  <a:srgbClr val="272323"/>
                </a:solidFill>
                <a:latin typeface="Roboto Condensed" pitchFamily="34" charset="0"/>
                <a:ea typeface="Roboto Condensed" pitchFamily="34" charset="-122"/>
                <a:cs typeface="Roboto Condensed" pitchFamily="34" charset="-120"/>
              </a:rPr>
              <a:t>Eligible invitations</a:t>
            </a:r>
            <a:endParaRPr lang="en-US" sz="1600" dirty="0"/>
          </a:p>
        </p:txBody>
      </p:sp>
      <p:sp>
        <p:nvSpPr>
          <p:cNvPr id="12" name="Text 10"/>
          <p:cNvSpPr/>
          <p:nvPr/>
        </p:nvSpPr>
        <p:spPr>
          <a:xfrm>
            <a:off x="758952" y="4416552"/>
            <a:ext cx="1490472" cy="201168"/>
          </a:xfrm>
          <a:prstGeom prst="rect">
            <a:avLst/>
          </a:prstGeom>
          <a:noFill/>
          <a:ln/>
        </p:spPr>
        <p:txBody>
          <a:bodyPr wrap="square" lIns="0" tIns="0" rIns="0" bIns="0" rtlCol="0" anchor="t">
            <a:spAutoFit/>
          </a:bodyPr>
          <a:lstStyle/>
          <a:p>
            <a:pPr algn="ctr" indent="0" marL="0">
              <a:buNone/>
            </a:pPr>
            <a:r>
              <a:rPr lang="en-US" sz="1160" dirty="0">
                <a:solidFill>
                  <a:srgbClr val="65605D"/>
                </a:solidFill>
                <a:latin typeface="Roboto Condensed" pitchFamily="34" charset="0"/>
                <a:ea typeface="Roboto Condensed" pitchFamily="34" charset="-122"/>
                <a:cs typeface="Roboto Condensed" pitchFamily="34" charset="-120"/>
              </a:rPr>
              <a:t>Not a patient database</a:t>
            </a:r>
            <a:endParaRPr lang="en-US" sz="1160" dirty="0"/>
          </a:p>
        </p:txBody>
      </p:sp>
      <p:sp>
        <p:nvSpPr>
          <p:cNvPr id="13" name="Shape 11"/>
          <p:cNvSpPr/>
          <p:nvPr/>
        </p:nvSpPr>
        <p:spPr>
          <a:xfrm>
            <a:off x="2368296" y="3575304"/>
            <a:ext cx="137160" cy="182880"/>
          </a:xfrm>
          <a:prstGeom prst="chevron">
            <a:avLst/>
          </a:prstGeom>
          <a:solidFill>
            <a:srgbClr val="ED654F"/>
          </a:solidFill>
          <a:ln w="12700">
            <a:solidFill>
              <a:srgbClr val="ED654F"/>
            </a:solidFill>
            <a:prstDash val="solid"/>
          </a:ln>
        </p:spPr>
      </p:sp>
      <p:sp>
        <p:nvSpPr>
          <p:cNvPr id="14" name="Shape 12"/>
          <p:cNvSpPr/>
          <p:nvPr/>
        </p:nvSpPr>
        <p:spPr>
          <a:xfrm>
            <a:off x="2551176" y="2871216"/>
            <a:ext cx="1636776" cy="1792224"/>
          </a:xfrm>
          <a:prstGeom prst="rect">
            <a:avLst/>
          </a:prstGeom>
          <a:solidFill>
            <a:srgbClr val="FFFFFF"/>
          </a:solidFill>
          <a:ln w="12700">
            <a:solidFill>
              <a:srgbClr val="FFFFFF"/>
            </a:solidFill>
            <a:prstDash val="solid"/>
          </a:ln>
        </p:spPr>
      </p:sp>
      <p:sp>
        <p:nvSpPr>
          <p:cNvPr id="15" name="Text 13"/>
          <p:cNvSpPr/>
          <p:nvPr/>
        </p:nvSpPr>
        <p:spPr>
          <a:xfrm>
            <a:off x="2642616" y="3182112"/>
            <a:ext cx="1453896" cy="502920"/>
          </a:xfrm>
          <a:prstGeom prst="rect">
            <a:avLst/>
          </a:prstGeom>
          <a:noFill/>
          <a:ln/>
        </p:spPr>
        <p:txBody>
          <a:bodyPr wrap="square" lIns="0" tIns="0" rIns="0" bIns="0" rtlCol="0" anchor="t">
            <a:spAutoFit/>
          </a:bodyPr>
          <a:lstStyle/>
          <a:p>
            <a:pPr algn="ctr" indent="0" marL="0">
              <a:buNone/>
            </a:pPr>
            <a:r>
              <a:rPr lang="en-US" sz="3500" b="1" dirty="0">
                <a:solidFill>
                  <a:srgbClr val="C3452E"/>
                </a:solidFill>
                <a:latin typeface="Roboto Condensed" pitchFamily="34" charset="0"/>
                <a:ea typeface="Roboto Condensed" pitchFamily="34" charset="-122"/>
                <a:cs typeface="Roboto Condensed" pitchFamily="34" charset="-120"/>
              </a:rPr>
              <a:t>4,320</a:t>
            </a:r>
            <a:endParaRPr lang="en-US" sz="3500" dirty="0"/>
          </a:p>
        </p:txBody>
      </p:sp>
      <p:sp>
        <p:nvSpPr>
          <p:cNvPr id="16" name="Text 14"/>
          <p:cNvSpPr/>
          <p:nvPr/>
        </p:nvSpPr>
        <p:spPr>
          <a:xfrm>
            <a:off x="2660904" y="3840480"/>
            <a:ext cx="1417320" cy="411480"/>
          </a:xfrm>
          <a:prstGeom prst="rect">
            <a:avLst/>
          </a:prstGeom>
          <a:noFill/>
          <a:ln/>
        </p:spPr>
        <p:txBody>
          <a:bodyPr wrap="square" lIns="0" tIns="0" rIns="0" bIns="0" rtlCol="0" anchor="t">
            <a:spAutoFit/>
          </a:bodyPr>
          <a:lstStyle/>
          <a:p>
            <a:pPr algn="ctr" indent="0" marL="0">
              <a:buNone/>
            </a:pPr>
            <a:r>
              <a:rPr lang="en-US" sz="1600" b="1" dirty="0">
                <a:solidFill>
                  <a:srgbClr val="272323"/>
                </a:solidFill>
                <a:latin typeface="Roboto Condensed" pitchFamily="34" charset="0"/>
                <a:ea typeface="Roboto Condensed" pitchFamily="34" charset="-122"/>
                <a:cs typeface="Roboto Condensed" pitchFamily="34" charset="-120"/>
              </a:rPr>
              <a:t>Registered users</a:t>
            </a:r>
            <a:endParaRPr lang="en-US" sz="1600" dirty="0"/>
          </a:p>
        </p:txBody>
      </p:sp>
      <p:sp>
        <p:nvSpPr>
          <p:cNvPr id="17" name="Text 15"/>
          <p:cNvSpPr/>
          <p:nvPr/>
        </p:nvSpPr>
        <p:spPr>
          <a:xfrm>
            <a:off x="2624328" y="4416552"/>
            <a:ext cx="1490472" cy="201168"/>
          </a:xfrm>
          <a:prstGeom prst="rect">
            <a:avLst/>
          </a:prstGeom>
          <a:noFill/>
          <a:ln/>
        </p:spPr>
        <p:txBody>
          <a:bodyPr wrap="square" lIns="0" tIns="0" rIns="0" bIns="0" rtlCol="0" anchor="t">
            <a:spAutoFit/>
          </a:bodyPr>
          <a:lstStyle/>
          <a:p>
            <a:pPr algn="ctr" indent="0" marL="0">
              <a:buNone/>
            </a:pPr>
            <a:r>
              <a:rPr lang="en-US" sz="1160" dirty="0">
                <a:solidFill>
                  <a:srgbClr val="65605D"/>
                </a:solidFill>
                <a:latin typeface="Roboto Condensed" pitchFamily="34" charset="0"/>
                <a:ea typeface="Roboto Condensed" pitchFamily="34" charset="-122"/>
                <a:cs typeface="Roboto Condensed" pitchFamily="34" charset="-120"/>
              </a:rPr>
              <a:t>40% of invitations</a:t>
            </a:r>
            <a:endParaRPr lang="en-US" sz="1160" dirty="0"/>
          </a:p>
        </p:txBody>
      </p:sp>
      <p:sp>
        <p:nvSpPr>
          <p:cNvPr id="18" name="Shape 16"/>
          <p:cNvSpPr/>
          <p:nvPr/>
        </p:nvSpPr>
        <p:spPr>
          <a:xfrm>
            <a:off x="4233672" y="3575304"/>
            <a:ext cx="137160" cy="182880"/>
          </a:xfrm>
          <a:prstGeom prst="chevron">
            <a:avLst/>
          </a:prstGeom>
          <a:solidFill>
            <a:srgbClr val="ED654F"/>
          </a:solidFill>
          <a:ln w="12700">
            <a:solidFill>
              <a:srgbClr val="ED654F"/>
            </a:solidFill>
            <a:prstDash val="solid"/>
          </a:ln>
        </p:spPr>
      </p:sp>
      <p:sp>
        <p:nvSpPr>
          <p:cNvPr id="19" name="Shape 17"/>
          <p:cNvSpPr/>
          <p:nvPr/>
        </p:nvSpPr>
        <p:spPr>
          <a:xfrm>
            <a:off x="4416552" y="2871216"/>
            <a:ext cx="1636776" cy="1792224"/>
          </a:xfrm>
          <a:prstGeom prst="rect">
            <a:avLst/>
          </a:prstGeom>
          <a:solidFill>
            <a:srgbClr val="FFFFFF"/>
          </a:solidFill>
          <a:ln w="12700">
            <a:solidFill>
              <a:srgbClr val="FFFFFF"/>
            </a:solidFill>
            <a:prstDash val="solid"/>
          </a:ln>
        </p:spPr>
      </p:sp>
      <p:sp>
        <p:nvSpPr>
          <p:cNvPr id="20" name="Text 18"/>
          <p:cNvSpPr/>
          <p:nvPr/>
        </p:nvSpPr>
        <p:spPr>
          <a:xfrm>
            <a:off x="4507992" y="3182112"/>
            <a:ext cx="1453896" cy="502920"/>
          </a:xfrm>
          <a:prstGeom prst="rect">
            <a:avLst/>
          </a:prstGeom>
          <a:noFill/>
          <a:ln/>
        </p:spPr>
        <p:txBody>
          <a:bodyPr wrap="square" lIns="0" tIns="0" rIns="0" bIns="0" rtlCol="0" anchor="t">
            <a:spAutoFit/>
          </a:bodyPr>
          <a:lstStyle/>
          <a:p>
            <a:pPr algn="ctr" indent="0" marL="0">
              <a:buNone/>
            </a:pPr>
            <a:r>
              <a:rPr lang="en-US" sz="3500" b="1" dirty="0">
                <a:solidFill>
                  <a:srgbClr val="C3452E"/>
                </a:solidFill>
                <a:latin typeface="Roboto Condensed" pitchFamily="34" charset="0"/>
                <a:ea typeface="Roboto Condensed" pitchFamily="34" charset="-122"/>
                <a:cs typeface="Roboto Condensed" pitchFamily="34" charset="-120"/>
              </a:rPr>
              <a:t>2,592</a:t>
            </a:r>
            <a:endParaRPr lang="en-US" sz="3500" dirty="0"/>
          </a:p>
        </p:txBody>
      </p:sp>
      <p:sp>
        <p:nvSpPr>
          <p:cNvPr id="21" name="Text 19"/>
          <p:cNvSpPr/>
          <p:nvPr/>
        </p:nvSpPr>
        <p:spPr>
          <a:xfrm>
            <a:off x="4526280" y="3840480"/>
            <a:ext cx="1417320" cy="411480"/>
          </a:xfrm>
          <a:prstGeom prst="rect">
            <a:avLst/>
          </a:prstGeom>
          <a:noFill/>
          <a:ln/>
        </p:spPr>
        <p:txBody>
          <a:bodyPr wrap="square" lIns="0" tIns="0" rIns="0" bIns="0" rtlCol="0" anchor="t">
            <a:spAutoFit/>
          </a:bodyPr>
          <a:lstStyle/>
          <a:p>
            <a:pPr algn="ctr" indent="0" marL="0">
              <a:buNone/>
            </a:pPr>
            <a:r>
              <a:rPr lang="en-US" sz="1600" b="1" dirty="0">
                <a:solidFill>
                  <a:srgbClr val="272323"/>
                </a:solidFill>
                <a:latin typeface="Roboto Condensed" pitchFamily="34" charset="0"/>
                <a:ea typeface="Roboto Condensed" pitchFamily="34" charset="-122"/>
                <a:cs typeface="Roboto Condensed" pitchFamily="34" charset="-120"/>
              </a:rPr>
              <a:t>Activated users</a:t>
            </a:r>
            <a:endParaRPr lang="en-US" sz="1600" dirty="0"/>
          </a:p>
        </p:txBody>
      </p:sp>
      <p:sp>
        <p:nvSpPr>
          <p:cNvPr id="22" name="Text 20"/>
          <p:cNvSpPr/>
          <p:nvPr/>
        </p:nvSpPr>
        <p:spPr>
          <a:xfrm>
            <a:off x="4489704" y="4416552"/>
            <a:ext cx="1490472" cy="201168"/>
          </a:xfrm>
          <a:prstGeom prst="rect">
            <a:avLst/>
          </a:prstGeom>
          <a:noFill/>
          <a:ln/>
        </p:spPr>
        <p:txBody>
          <a:bodyPr wrap="square" lIns="0" tIns="0" rIns="0" bIns="0" rtlCol="0" anchor="t">
            <a:spAutoFit/>
          </a:bodyPr>
          <a:lstStyle/>
          <a:p>
            <a:pPr algn="ctr" indent="0" marL="0">
              <a:buNone/>
            </a:pPr>
            <a:r>
              <a:rPr lang="en-US" sz="1160" dirty="0">
                <a:solidFill>
                  <a:srgbClr val="65605D"/>
                </a:solidFill>
                <a:latin typeface="Roboto Condensed" pitchFamily="34" charset="0"/>
                <a:ea typeface="Roboto Condensed" pitchFamily="34" charset="-122"/>
                <a:cs typeface="Roboto Condensed" pitchFamily="34" charset="-120"/>
              </a:rPr>
              <a:t>60% of registrations</a:t>
            </a:r>
            <a:endParaRPr lang="en-US" sz="1160" dirty="0"/>
          </a:p>
        </p:txBody>
      </p:sp>
      <p:sp>
        <p:nvSpPr>
          <p:cNvPr id="23" name="Shape 21"/>
          <p:cNvSpPr/>
          <p:nvPr/>
        </p:nvSpPr>
        <p:spPr>
          <a:xfrm>
            <a:off x="6099048" y="3575304"/>
            <a:ext cx="137160" cy="182880"/>
          </a:xfrm>
          <a:prstGeom prst="chevron">
            <a:avLst/>
          </a:prstGeom>
          <a:solidFill>
            <a:srgbClr val="ED654F"/>
          </a:solidFill>
          <a:ln w="12700">
            <a:solidFill>
              <a:srgbClr val="ED654F"/>
            </a:solidFill>
            <a:prstDash val="solid"/>
          </a:ln>
        </p:spPr>
      </p:sp>
      <p:sp>
        <p:nvSpPr>
          <p:cNvPr id="24" name="Shape 22"/>
          <p:cNvSpPr/>
          <p:nvPr/>
        </p:nvSpPr>
        <p:spPr>
          <a:xfrm>
            <a:off x="6281928" y="2871216"/>
            <a:ext cx="1636776" cy="1792224"/>
          </a:xfrm>
          <a:prstGeom prst="rect">
            <a:avLst/>
          </a:prstGeom>
          <a:solidFill>
            <a:srgbClr val="ED654F"/>
          </a:solidFill>
          <a:ln w="12700">
            <a:solidFill>
              <a:srgbClr val="ED654F"/>
            </a:solidFill>
            <a:prstDash val="solid"/>
          </a:ln>
        </p:spPr>
      </p:sp>
      <p:sp>
        <p:nvSpPr>
          <p:cNvPr id="25" name="Text 23"/>
          <p:cNvSpPr/>
          <p:nvPr/>
        </p:nvSpPr>
        <p:spPr>
          <a:xfrm>
            <a:off x="6373368" y="3182112"/>
            <a:ext cx="1453896" cy="502920"/>
          </a:xfrm>
          <a:prstGeom prst="rect">
            <a:avLst/>
          </a:prstGeom>
          <a:noFill/>
          <a:ln/>
        </p:spPr>
        <p:txBody>
          <a:bodyPr wrap="square" lIns="0" tIns="0" rIns="0" bIns="0" rtlCol="0" anchor="t">
            <a:spAutoFit/>
          </a:bodyPr>
          <a:lstStyle/>
          <a:p>
            <a:pPr algn="ctr" indent="0" marL="0">
              <a:buNone/>
            </a:pPr>
            <a:r>
              <a:rPr lang="en-US" sz="3500" b="1" dirty="0">
                <a:solidFill>
                  <a:srgbClr val="FFFFFF"/>
                </a:solidFill>
                <a:latin typeface="Roboto Condensed" pitchFamily="34" charset="0"/>
                <a:ea typeface="Roboto Condensed" pitchFamily="34" charset="-122"/>
                <a:cs typeface="Roboto Condensed" pitchFamily="34" charset="-120"/>
              </a:rPr>
              <a:t>648</a:t>
            </a:r>
            <a:endParaRPr lang="en-US" sz="3500" dirty="0"/>
          </a:p>
        </p:txBody>
      </p:sp>
      <p:sp>
        <p:nvSpPr>
          <p:cNvPr id="26" name="Text 24"/>
          <p:cNvSpPr/>
          <p:nvPr/>
        </p:nvSpPr>
        <p:spPr>
          <a:xfrm>
            <a:off x="6391656" y="3840480"/>
            <a:ext cx="1417320" cy="411480"/>
          </a:xfrm>
          <a:prstGeom prst="rect">
            <a:avLst/>
          </a:prstGeom>
          <a:noFill/>
          <a:ln/>
        </p:spPr>
        <p:txBody>
          <a:bodyPr wrap="square" lIns="0" tIns="0" rIns="0" bIns="0" rtlCol="0" anchor="t">
            <a:spAutoFit/>
          </a:bodyPr>
          <a:lstStyle/>
          <a:p>
            <a:pPr algn="ctr" indent="0" marL="0">
              <a:buNone/>
            </a:pPr>
            <a:r>
              <a:rPr lang="en-US" sz="1600" b="1" dirty="0">
                <a:solidFill>
                  <a:srgbClr val="FFFFFF"/>
                </a:solidFill>
                <a:latin typeface="Roboto Condensed" pitchFamily="34" charset="0"/>
                <a:ea typeface="Roboto Condensed" pitchFamily="34" charset="-122"/>
                <a:cs typeface="Roboto Condensed" pitchFamily="34" charset="-120"/>
              </a:rPr>
              <a:t>New paid subscriptions</a:t>
            </a:r>
            <a:endParaRPr lang="en-US" sz="1600" dirty="0"/>
          </a:p>
        </p:txBody>
      </p:sp>
      <p:sp>
        <p:nvSpPr>
          <p:cNvPr id="27" name="Text 25"/>
          <p:cNvSpPr/>
          <p:nvPr/>
        </p:nvSpPr>
        <p:spPr>
          <a:xfrm>
            <a:off x="6355080" y="4416552"/>
            <a:ext cx="1490472" cy="201168"/>
          </a:xfrm>
          <a:prstGeom prst="rect">
            <a:avLst/>
          </a:prstGeom>
          <a:noFill/>
          <a:ln/>
        </p:spPr>
        <p:txBody>
          <a:bodyPr wrap="square" lIns="0" tIns="0" rIns="0" bIns="0" rtlCol="0" anchor="t">
            <a:spAutoFit/>
          </a:bodyPr>
          <a:lstStyle/>
          <a:p>
            <a:pPr algn="ctr" indent="0" marL="0">
              <a:buNone/>
            </a:pPr>
            <a:r>
              <a:rPr lang="en-US" sz="1160" dirty="0">
                <a:solidFill>
                  <a:srgbClr val="FFFFFF"/>
                </a:solidFill>
                <a:latin typeface="Roboto Condensed" pitchFamily="34" charset="0"/>
                <a:ea typeface="Roboto Condensed" pitchFamily="34" charset="-122"/>
                <a:cs typeface="Roboto Condensed" pitchFamily="34" charset="-120"/>
              </a:rPr>
              <a:t>25% of activated users</a:t>
            </a:r>
            <a:endParaRPr lang="en-US" sz="1160" dirty="0"/>
          </a:p>
        </p:txBody>
      </p:sp>
      <p:sp>
        <p:nvSpPr>
          <p:cNvPr id="28" name="Text 26"/>
          <p:cNvSpPr/>
          <p:nvPr/>
        </p:nvSpPr>
        <p:spPr>
          <a:xfrm>
            <a:off x="713232" y="4992624"/>
            <a:ext cx="7223760" cy="338328"/>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Build a live pipeline—not just a partner logo list.</a:t>
            </a:r>
            <a:endParaRPr lang="en-US" sz="2100" dirty="0"/>
          </a:p>
        </p:txBody>
      </p:sp>
      <p:sp>
        <p:nvSpPr>
          <p:cNvPr id="29" name="Text 27"/>
          <p:cNvSpPr/>
          <p:nvPr/>
        </p:nvSpPr>
        <p:spPr>
          <a:xfrm>
            <a:off x="713232" y="5468112"/>
            <a:ext cx="7178040" cy="566928"/>
          </a:xfrm>
          <a:prstGeom prst="rect">
            <a:avLst/>
          </a:prstGeom>
          <a:noFill/>
          <a:ln/>
        </p:spPr>
        <p:txBody>
          <a:bodyPr wrap="square" lIns="0" tIns="0" rIns="0" bIns="0" rtlCol="0" anchor="t">
            <a:spAutoFit/>
          </a:bodyPr>
          <a:lstStyle/>
          <a:p>
            <a:pPr indent="0" marL="0">
              <a:buNone/>
            </a:pPr>
            <a:r>
              <a:rPr lang="en-US" sz="1650" dirty="0">
                <a:solidFill>
                  <a:srgbClr val="272323"/>
                </a:solidFill>
                <a:latin typeface="Roboto Condensed" pitchFamily="34" charset="0"/>
                <a:ea typeface="Roboto Condensed" pitchFamily="34" charset="-122"/>
                <a:cs typeface="Roboto Condensed" pitchFamily="34" charset="-120"/>
              </a:rPr>
              <a:t>Candidate → signed → invitations → activation → payment / renewal.</a:t>
            </a:r>
            <a:endParaRPr lang="en-US" sz="1650" dirty="0"/>
          </a:p>
          <a:p>
            <a:pPr indent="0" marL="0">
              <a:buNone/>
            </a:pPr>
            <a:r>
              <a:rPr lang="en-US" sz="1650" dirty="0">
                <a:solidFill>
                  <a:srgbClr val="272323"/>
                </a:solidFill>
                <a:latin typeface="Roboto Condensed" pitchFamily="34" charset="0"/>
                <a:ea typeface="Roboto Condensed" pitchFamily="34" charset="-122"/>
                <a:cs typeface="Roboto Condensed" pitchFamily="34" charset="-120"/>
              </a:rPr>
              <a:t>Track cohort age and churn. Invitations are not customers.</a:t>
            </a:r>
            <a:endParaRPr lang="en-US" sz="1650" dirty="0"/>
          </a:p>
        </p:txBody>
      </p:sp>
      <p:sp>
        <p:nvSpPr>
          <p:cNvPr id="30" name="Shape 28"/>
          <p:cNvSpPr/>
          <p:nvPr/>
        </p:nvSpPr>
        <p:spPr>
          <a:xfrm>
            <a:off x="8321040" y="1746504"/>
            <a:ext cx="3172968" cy="4306824"/>
          </a:xfrm>
          <a:prstGeom prst="rect">
            <a:avLst/>
          </a:prstGeom>
          <a:solidFill>
            <a:srgbClr val="FFFFFF"/>
          </a:solidFill>
          <a:ln w="12700">
            <a:solidFill>
              <a:srgbClr val="FFFFFF"/>
            </a:solidFill>
            <a:prstDash val="solid"/>
          </a:ln>
        </p:spPr>
      </p:sp>
      <p:sp>
        <p:nvSpPr>
          <p:cNvPr id="31" name="Text 29"/>
          <p:cNvSpPr/>
          <p:nvPr/>
        </p:nvSpPr>
        <p:spPr>
          <a:xfrm>
            <a:off x="8513064" y="1993392"/>
            <a:ext cx="2798064" cy="228600"/>
          </a:xfrm>
          <a:prstGeom prst="rect">
            <a:avLst/>
          </a:prstGeom>
          <a:noFill/>
          <a:ln/>
        </p:spPr>
        <p:txBody>
          <a:bodyPr wrap="square" lIns="0" tIns="0" rIns="0" bIns="0" rtlCol="0" anchor="t">
            <a:spAutoFit/>
          </a:bodyPr>
          <a:lstStyle/>
          <a:p>
            <a:pPr indent="0" marL="0">
              <a:buNone/>
            </a:pPr>
            <a:r>
              <a:rPr lang="en-US" sz="1300" b="1" dirty="0">
                <a:solidFill>
                  <a:srgbClr val="C3452E"/>
                </a:solidFill>
                <a:latin typeface="Roboto Condensed" pitchFamily="34" charset="0"/>
                <a:ea typeface="Roboto Condensed" pitchFamily="34" charset="-122"/>
                <a:cs typeface="Roboto Condensed" pitchFamily="34" charset="-120"/>
              </a:rPr>
              <a:t>THE SCALE GATE</a:t>
            </a:r>
            <a:endParaRPr lang="en-US" sz="1300" dirty="0"/>
          </a:p>
        </p:txBody>
      </p:sp>
      <p:sp>
        <p:nvSpPr>
          <p:cNvPr id="32" name="Text 30"/>
          <p:cNvSpPr/>
          <p:nvPr/>
        </p:nvSpPr>
        <p:spPr>
          <a:xfrm>
            <a:off x="8513064" y="2423160"/>
            <a:ext cx="2798064" cy="612648"/>
          </a:xfrm>
          <a:prstGeom prst="rect">
            <a:avLst/>
          </a:prstGeom>
          <a:noFill/>
          <a:ln/>
        </p:spPr>
        <p:txBody>
          <a:bodyPr wrap="square" lIns="0" tIns="0" rIns="0" bIns="0" rtlCol="0" anchor="t">
            <a:spAutoFit/>
          </a:bodyPr>
          <a:lstStyle/>
          <a:p>
            <a:pPr indent="0" marL="0">
              <a:buNone/>
            </a:pPr>
            <a:r>
              <a:rPr lang="en-US" sz="4300" b="1" dirty="0">
                <a:solidFill>
                  <a:srgbClr val="ED654F"/>
                </a:solidFill>
                <a:latin typeface="Roboto Condensed" pitchFamily="34" charset="0"/>
                <a:ea typeface="Roboto Condensed" pitchFamily="34" charset="-122"/>
                <a:cs typeface="Roboto Condensed" pitchFamily="34" charset="-120"/>
              </a:rPr>
              <a:t>≤ €30</a:t>
            </a:r>
            <a:endParaRPr lang="en-US" sz="4300" dirty="0"/>
          </a:p>
        </p:txBody>
      </p:sp>
      <p:sp>
        <p:nvSpPr>
          <p:cNvPr id="33" name="Text 31"/>
          <p:cNvSpPr/>
          <p:nvPr/>
        </p:nvSpPr>
        <p:spPr>
          <a:xfrm>
            <a:off x="8513064" y="3191256"/>
            <a:ext cx="2761488" cy="566928"/>
          </a:xfrm>
          <a:prstGeom prst="rect">
            <a:avLst/>
          </a:prstGeom>
          <a:noFill/>
          <a:ln/>
        </p:spPr>
        <p:txBody>
          <a:bodyPr wrap="square" lIns="0" tIns="0" rIns="0" bIns="0" rtlCol="0" anchor="t">
            <a:spAutoFit/>
          </a:bodyPr>
          <a:lstStyle/>
          <a:p>
            <a:pPr indent="0" marL="0">
              <a:buNone/>
            </a:pPr>
            <a:r>
              <a:rPr lang="en-US" sz="2000" b="1" dirty="0">
                <a:solidFill>
                  <a:srgbClr val="272323"/>
                </a:solidFill>
                <a:latin typeface="Roboto Condensed" pitchFamily="34" charset="0"/>
                <a:ea typeface="Roboto Condensed" pitchFamily="34" charset="-122"/>
                <a:cs typeface="Roboto Condensed" pitchFamily="34" charset="-120"/>
              </a:rPr>
              <a:t>Target fully loaded cost</a:t>
            </a:r>
            <a:endParaRPr lang="en-US" sz="2000" dirty="0"/>
          </a:p>
          <a:p>
            <a:pPr indent="0" marL="0">
              <a:buNone/>
            </a:pPr>
            <a:r>
              <a:rPr lang="en-US" sz="2000" b="1" dirty="0">
                <a:solidFill>
                  <a:srgbClr val="272323"/>
                </a:solidFill>
                <a:latin typeface="Roboto Condensed" pitchFamily="34" charset="0"/>
                <a:ea typeface="Roboto Condensed" pitchFamily="34" charset="-122"/>
                <a:cs typeface="Roboto Condensed" pitchFamily="34" charset="-120"/>
              </a:rPr>
              <a:t>per new paying customer</a:t>
            </a:r>
            <a:endParaRPr lang="en-US" sz="2000" dirty="0"/>
          </a:p>
        </p:txBody>
      </p:sp>
      <p:sp>
        <p:nvSpPr>
          <p:cNvPr id="34" name="Shape 32"/>
          <p:cNvSpPr/>
          <p:nvPr/>
        </p:nvSpPr>
        <p:spPr>
          <a:xfrm>
            <a:off x="8513064" y="3968496"/>
            <a:ext cx="2770632" cy="0"/>
          </a:xfrm>
          <a:prstGeom prst="line">
            <a:avLst/>
          </a:prstGeom>
          <a:noFill/>
          <a:ln w="12700">
            <a:solidFill>
              <a:srgbClr val="D6D1CC"/>
            </a:solidFill>
            <a:prstDash val="solid"/>
            <a:headEnd type="none"/>
            <a:tailEnd type="none"/>
          </a:ln>
        </p:spPr>
      </p:sp>
      <p:sp>
        <p:nvSpPr>
          <p:cNvPr id="35" name="Text 33"/>
          <p:cNvSpPr/>
          <p:nvPr/>
        </p:nvSpPr>
        <p:spPr>
          <a:xfrm>
            <a:off x="8513064" y="4197096"/>
            <a:ext cx="2761488" cy="1033272"/>
          </a:xfrm>
          <a:prstGeom prst="rect">
            <a:avLst/>
          </a:prstGeom>
          <a:noFill/>
          <a:ln/>
        </p:spPr>
        <p:txBody>
          <a:bodyPr wrap="square" lIns="0" tIns="0" rIns="0" bIns="0" rtlCol="0" anchor="t">
            <a:spAutoFit/>
          </a:bodyPr>
          <a:lstStyle/>
          <a:p>
            <a:pPr indent="0" marL="0">
              <a:buNone/>
            </a:pPr>
            <a:r>
              <a:rPr lang="en-US" sz="1730" dirty="0">
                <a:solidFill>
                  <a:srgbClr val="272323"/>
                </a:solidFill>
                <a:latin typeface="Roboto Condensed" pitchFamily="34" charset="0"/>
                <a:ea typeface="Roboto Condensed" pitchFamily="34" charset="-122"/>
                <a:cs typeface="Roboto Condensed" pitchFamily="34" charset="-120"/>
              </a:rPr>
              <a:t>At €6 monthly net revenue,</a:t>
            </a:r>
            <a:endParaRPr lang="en-US" sz="1730" dirty="0"/>
          </a:p>
          <a:p>
            <a:pPr indent="0" marL="0">
              <a:buNone/>
            </a:pPr>
            <a:r>
              <a:rPr lang="en-US" sz="1730" dirty="0">
                <a:solidFill>
                  <a:srgbClr val="272323"/>
                </a:solidFill>
                <a:latin typeface="Roboto Condensed" pitchFamily="34" charset="0"/>
                <a:ea typeface="Roboto Condensed" pitchFamily="34" charset="-122"/>
                <a:cs typeface="Roboto Condensed" pitchFamily="34" charset="-120"/>
              </a:rPr>
              <a:t>75% contribution margin and</a:t>
            </a:r>
            <a:endParaRPr lang="en-US" sz="1730" dirty="0"/>
          </a:p>
          <a:p>
            <a:pPr indent="0" marL="0">
              <a:buNone/>
            </a:pPr>
            <a:r>
              <a:rPr lang="en-US" sz="1730" dirty="0">
                <a:solidFill>
                  <a:srgbClr val="272323"/>
                </a:solidFill>
                <a:latin typeface="Roboto Condensed" pitchFamily="34" charset="0"/>
                <a:ea typeface="Roboto Condensed" pitchFamily="34" charset="-122"/>
                <a:cs typeface="Roboto Condensed" pitchFamily="34" charset="-120"/>
              </a:rPr>
              <a:t>5% monthly churn, simple</a:t>
            </a:r>
            <a:endParaRPr lang="en-US" sz="1730" dirty="0"/>
          </a:p>
          <a:p>
            <a:pPr indent="0" marL="0">
              <a:buNone/>
            </a:pPr>
            <a:r>
              <a:rPr lang="en-US" sz="1730" dirty="0">
                <a:solidFill>
                  <a:srgbClr val="272323"/>
                </a:solidFill>
                <a:latin typeface="Roboto Condensed" pitchFamily="34" charset="0"/>
                <a:ea typeface="Roboto Condensed" pitchFamily="34" charset="-122"/>
                <a:cs typeface="Roboto Condensed" pitchFamily="34" charset="-120"/>
              </a:rPr>
              <a:t>lifetime contribution is €90.</a:t>
            </a:r>
            <a:endParaRPr lang="en-US" sz="1730" dirty="0"/>
          </a:p>
        </p:txBody>
      </p:sp>
      <p:sp>
        <p:nvSpPr>
          <p:cNvPr id="36" name="Text 34"/>
          <p:cNvSpPr/>
          <p:nvPr/>
        </p:nvSpPr>
        <p:spPr>
          <a:xfrm>
            <a:off x="8513064" y="5477256"/>
            <a:ext cx="2734056" cy="411480"/>
          </a:xfrm>
          <a:prstGeom prst="rect">
            <a:avLst/>
          </a:prstGeom>
          <a:noFill/>
          <a:ln/>
        </p:spPr>
        <p:txBody>
          <a:bodyPr wrap="square" lIns="0" tIns="0" rIns="0" bIns="0" rtlCol="0" anchor="t">
            <a:spAutoFit/>
          </a:bodyPr>
          <a:lstStyle/>
          <a:p>
            <a:pPr indent="0" marL="0">
              <a:buNone/>
            </a:pPr>
            <a:r>
              <a:rPr lang="en-US" sz="1420" b="1" dirty="0">
                <a:solidFill>
                  <a:srgbClr val="C3452E"/>
                </a:solidFill>
                <a:latin typeface="Roboto Condensed" pitchFamily="34" charset="0"/>
                <a:ea typeface="Roboto Condensed" pitchFamily="34" charset="-122"/>
                <a:cs typeface="Roboto Condensed" pitchFamily="34" charset="-120"/>
              </a:rPr>
              <a:t>A hypothesis to validate—not an achieved KPI.</a:t>
            </a:r>
            <a:endParaRPr lang="en-US" sz="1420" dirty="0"/>
          </a:p>
        </p:txBody>
      </p:sp>
      <p:sp>
        <p:nvSpPr>
          <p:cNvPr id="37" name="Text 35"/>
          <p:cNvSpPr/>
          <p:nvPr/>
        </p:nvSpPr>
        <p:spPr>
          <a:xfrm>
            <a:off x="685800" y="6172200"/>
            <a:ext cx="10808208" cy="228600"/>
          </a:xfrm>
          <a:prstGeom prst="rect">
            <a:avLst/>
          </a:prstGeom>
          <a:noFill/>
          <a:ln/>
        </p:spPr>
        <p:txBody>
          <a:bodyPr wrap="square" lIns="0" tIns="0" rIns="0" bIns="0" rtlCol="0" anchor="t">
            <a:spAutoFit/>
          </a:bodyPr>
          <a:lstStyle/>
          <a:p>
            <a:pPr indent="0" marL="0">
              <a:buNone/>
            </a:pPr>
            <a:r>
              <a:rPr lang="en-US" sz="1030" dirty="0">
                <a:solidFill>
                  <a:srgbClr val="65605D"/>
                </a:solidFill>
                <a:latin typeface="Roboto Condensed" pitchFamily="34" charset="0"/>
                <a:ea typeface="Roboto Condensed" pitchFamily="34" charset="-122"/>
                <a:cs typeface="Roboto Condensed" pitchFamily="34" charset="-120"/>
              </a:rPr>
              <a:t>648 = gross new subscriptions over the assumed active period, before subsequent churn. Channel illustration excludes paid-media acquisition.</a:t>
            </a:r>
            <a:endParaRPr lang="en-US" sz="10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We Move Ahead. Capital Changes the Pace.</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Our commitment is founder-led. Funding changes scope, speed and the amount we can do in parallel.</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endParaRPr lang="en-US" sz="950" dirty="0"/>
          </a:p>
        </p:txBody>
      </p:sp>
      <p:sp>
        <p:nvSpPr>
          <p:cNvPr id="5" name="Shape 3"/>
          <p:cNvSpPr/>
          <p:nvPr/>
        </p:nvSpPr>
        <p:spPr>
          <a:xfrm>
            <a:off x="685800" y="1810512"/>
            <a:ext cx="3419856" cy="4023360"/>
          </a:xfrm>
          <a:prstGeom prst="rect">
            <a:avLst/>
          </a:prstGeom>
          <a:solidFill>
            <a:srgbClr val="FFFFFF"/>
          </a:solidFill>
          <a:ln w="12700">
            <a:solidFill>
              <a:srgbClr val="FFFFFF"/>
            </a:solidFill>
            <a:prstDash val="solid"/>
          </a:ln>
        </p:spPr>
      </p:sp>
      <p:sp>
        <p:nvSpPr>
          <p:cNvPr id="6" name="Shape 4"/>
          <p:cNvSpPr/>
          <p:nvPr/>
        </p:nvSpPr>
        <p:spPr>
          <a:xfrm>
            <a:off x="685800" y="1810512"/>
            <a:ext cx="3419856" cy="384048"/>
          </a:xfrm>
          <a:prstGeom prst="rect">
            <a:avLst/>
          </a:prstGeom>
          <a:solidFill>
            <a:srgbClr val="ED654F"/>
          </a:solidFill>
          <a:ln w="12700">
            <a:solidFill>
              <a:srgbClr val="ED654F"/>
            </a:solidFill>
            <a:prstDash val="solid"/>
          </a:ln>
        </p:spPr>
      </p:sp>
      <p:sp>
        <p:nvSpPr>
          <p:cNvPr id="7" name="Text 5"/>
          <p:cNvSpPr/>
          <p:nvPr/>
        </p:nvSpPr>
        <p:spPr>
          <a:xfrm>
            <a:off x="841248" y="1906524"/>
            <a:ext cx="3118104" cy="201168"/>
          </a:xfrm>
          <a:prstGeom prst="rect">
            <a:avLst/>
          </a:prstGeom>
          <a:noFill/>
          <a:ln/>
        </p:spPr>
        <p:txBody>
          <a:bodyPr wrap="square" lIns="0" tIns="0" rIns="0" bIns="0" rtlCol="0" anchor="t">
            <a:spAutoFit/>
          </a:bodyPr>
          <a:lstStyle/>
          <a:p>
            <a:pPr indent="0" marL="0">
              <a:buNone/>
            </a:pPr>
            <a:r>
              <a:rPr lang="en-US" sz="1290" b="1" dirty="0">
                <a:solidFill>
                  <a:srgbClr val="FFFFFF"/>
                </a:solidFill>
                <a:latin typeface="Roboto Condensed" pitchFamily="34" charset="0"/>
                <a:ea typeface="Roboto Condensed" pitchFamily="34" charset="-122"/>
                <a:cs typeface="Roboto Condensed" pitchFamily="34" charset="-120"/>
              </a:rPr>
              <a:t>OPERATING BRIDGE</a:t>
            </a:r>
            <a:endParaRPr lang="en-US" sz="1290" dirty="0"/>
          </a:p>
        </p:txBody>
      </p:sp>
      <p:sp>
        <p:nvSpPr>
          <p:cNvPr id="8" name="Text 6"/>
          <p:cNvSpPr/>
          <p:nvPr/>
        </p:nvSpPr>
        <p:spPr>
          <a:xfrm>
            <a:off x="868680" y="2441448"/>
            <a:ext cx="3054096" cy="594360"/>
          </a:xfrm>
          <a:prstGeom prst="rect">
            <a:avLst/>
          </a:prstGeom>
          <a:noFill/>
          <a:ln/>
        </p:spPr>
        <p:txBody>
          <a:bodyPr wrap="square" lIns="0" tIns="0" rIns="0" bIns="0" rtlCol="0" anchor="t">
            <a:spAutoFit/>
          </a:bodyPr>
          <a:lstStyle/>
          <a:p>
            <a:pPr indent="0" marL="0">
              <a:buNone/>
            </a:pPr>
            <a:r>
              <a:rPr lang="en-US" sz="4000" b="1" dirty="0">
                <a:solidFill>
                  <a:srgbClr val="ED654F"/>
                </a:solidFill>
                <a:latin typeface="Roboto Condensed" pitchFamily="34" charset="0"/>
                <a:ea typeface="Roboto Condensed" pitchFamily="34" charset="-122"/>
                <a:cs typeface="Roboto Condensed" pitchFamily="34" charset="-120"/>
              </a:rPr>
              <a:t>€15–25K</a:t>
            </a:r>
            <a:endParaRPr lang="en-US" sz="4000" dirty="0"/>
          </a:p>
        </p:txBody>
      </p:sp>
      <p:sp>
        <p:nvSpPr>
          <p:cNvPr id="9" name="Text 7"/>
          <p:cNvSpPr/>
          <p:nvPr/>
        </p:nvSpPr>
        <p:spPr>
          <a:xfrm>
            <a:off x="868680" y="3136392"/>
            <a:ext cx="3054096" cy="265176"/>
          </a:xfrm>
          <a:prstGeom prst="rect">
            <a:avLst/>
          </a:prstGeom>
          <a:noFill/>
          <a:ln/>
        </p:spPr>
        <p:txBody>
          <a:bodyPr wrap="square" lIns="0" tIns="0" rIns="0" bIns="0" rtlCol="0" anchor="t">
            <a:spAutoFit/>
          </a:bodyPr>
          <a:lstStyle/>
          <a:p>
            <a:pPr indent="0" marL="0">
              <a:buNone/>
            </a:pPr>
            <a:r>
              <a:rPr lang="en-US" sz="1530" dirty="0">
                <a:solidFill>
                  <a:srgbClr val="65605D"/>
                </a:solidFill>
                <a:latin typeface="Roboto Condensed" pitchFamily="34" charset="0"/>
                <a:ea typeface="Roboto Condensed" pitchFamily="34" charset="-122"/>
                <a:cs typeface="Roboto Condensed" pitchFamily="34" charset="-120"/>
              </a:rPr>
              <a:t>~90 days of scoped work</a:t>
            </a:r>
            <a:endParaRPr lang="en-US" sz="1530" dirty="0"/>
          </a:p>
        </p:txBody>
      </p:sp>
      <p:sp>
        <p:nvSpPr>
          <p:cNvPr id="10" name="Shape 8"/>
          <p:cNvSpPr/>
          <p:nvPr/>
        </p:nvSpPr>
        <p:spPr>
          <a:xfrm>
            <a:off x="868680" y="3593592"/>
            <a:ext cx="3054096" cy="0"/>
          </a:xfrm>
          <a:prstGeom prst="line">
            <a:avLst/>
          </a:prstGeom>
          <a:noFill/>
          <a:ln w="12700">
            <a:solidFill>
              <a:srgbClr val="D6D1CC"/>
            </a:solidFill>
            <a:prstDash val="solid"/>
            <a:headEnd type="none"/>
            <a:tailEnd type="none"/>
          </a:ln>
        </p:spPr>
      </p:sp>
      <p:sp>
        <p:nvSpPr>
          <p:cNvPr id="11" name="Text 9"/>
          <p:cNvSpPr/>
          <p:nvPr/>
        </p:nvSpPr>
        <p:spPr>
          <a:xfrm>
            <a:off x="868680" y="3794760"/>
            <a:ext cx="3054096" cy="420624"/>
          </a:xfrm>
          <a:prstGeom prst="rect">
            <a:avLst/>
          </a:prstGeom>
          <a:noFill/>
          <a:ln/>
        </p:spPr>
        <p:txBody>
          <a:bodyPr wrap="square" lIns="0" tIns="0" rIns="0" bIns="0" rtlCol="0" anchor="t">
            <a:spAutoFit/>
          </a:bodyPr>
          <a:lstStyle/>
          <a:p>
            <a:pPr indent="0" marL="0">
              <a:buNone/>
            </a:pPr>
            <a:r>
              <a:rPr lang="en-US" sz="1950" b="1" dirty="0">
                <a:solidFill>
                  <a:srgbClr val="272323"/>
                </a:solidFill>
                <a:latin typeface="Roboto Condensed" pitchFamily="34" charset="0"/>
                <a:ea typeface="Roboto Condensed" pitchFamily="34" charset="-122"/>
                <a:cs typeface="Roboto Condensed" pitchFamily="34" charset="-120"/>
              </a:rPr>
              <a:t>Keep a focused programme moving.</a:t>
            </a:r>
            <a:endParaRPr lang="en-US" sz="1950" dirty="0"/>
          </a:p>
        </p:txBody>
      </p:sp>
      <p:sp>
        <p:nvSpPr>
          <p:cNvPr id="12" name="Text 10"/>
          <p:cNvSpPr/>
          <p:nvPr/>
        </p:nvSpPr>
        <p:spPr>
          <a:xfrm>
            <a:off x="868680" y="4434840"/>
            <a:ext cx="3054096" cy="722376"/>
          </a:xfrm>
          <a:prstGeom prst="rect">
            <a:avLst/>
          </a:prstGeom>
          <a:noFill/>
          <a:ln/>
        </p:spPr>
        <p:txBody>
          <a:bodyPr wrap="square" lIns="0" tIns="0" rIns="0" bIns="0" rtlCol="0" anchor="t">
            <a:spAutoFit/>
          </a:bodyPr>
          <a:lstStyle/>
          <a:p>
            <a:pPr indent="0" marL="0">
              <a:buNone/>
            </a:pPr>
            <a:r>
              <a:rPr lang="en-US" sz="1510" dirty="0">
                <a:solidFill>
                  <a:srgbClr val="272323"/>
                </a:solidFill>
                <a:latin typeface="Roboto Condensed" pitchFamily="34" charset="0"/>
                <a:ea typeface="Roboto Condensed" pitchFamily="34" charset="-122"/>
                <a:cs typeface="Roboto Condensed" pitchFamily="34" charset="-120"/>
              </a:rPr>
              <a:t>Cloud costs and essential product fixes.</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Reviewed food + exercise guides.</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Pilot support and priority legal work.</a:t>
            </a:r>
            <a:endParaRPr lang="en-US" sz="1510" dirty="0"/>
          </a:p>
        </p:txBody>
      </p:sp>
      <p:sp>
        <p:nvSpPr>
          <p:cNvPr id="13" name="Text 11"/>
          <p:cNvSpPr/>
          <p:nvPr/>
        </p:nvSpPr>
        <p:spPr>
          <a:xfrm>
            <a:off x="868680" y="5358384"/>
            <a:ext cx="3054096" cy="438912"/>
          </a:xfrm>
          <a:prstGeom prst="rect">
            <a:avLst/>
          </a:prstGeom>
          <a:noFill/>
          <a:ln/>
        </p:spPr>
        <p:txBody>
          <a:bodyPr wrap="square" lIns="0" tIns="0" rIns="0" bIns="0" rtlCol="0" anchor="t">
            <a:spAutoFit/>
          </a:bodyPr>
          <a:lstStyle/>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Substantial founder execution;</a:t>
            </a:r>
            <a:endParaRPr lang="en-US" sz="1400" dirty="0"/>
          </a:p>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not a fully salaried organisation.</a:t>
            </a:r>
            <a:endParaRPr lang="en-US" sz="1400" dirty="0"/>
          </a:p>
        </p:txBody>
      </p:sp>
      <p:sp>
        <p:nvSpPr>
          <p:cNvPr id="14" name="Shape 12"/>
          <p:cNvSpPr/>
          <p:nvPr/>
        </p:nvSpPr>
        <p:spPr>
          <a:xfrm>
            <a:off x="4379976" y="1810512"/>
            <a:ext cx="3419856" cy="4023360"/>
          </a:xfrm>
          <a:prstGeom prst="rect">
            <a:avLst/>
          </a:prstGeom>
          <a:solidFill>
            <a:srgbClr val="FFFFFF"/>
          </a:solidFill>
          <a:ln w="12700">
            <a:solidFill>
              <a:srgbClr val="FFFFFF"/>
            </a:solidFill>
            <a:prstDash val="solid"/>
          </a:ln>
        </p:spPr>
      </p:sp>
      <p:sp>
        <p:nvSpPr>
          <p:cNvPr id="15" name="Shape 13"/>
          <p:cNvSpPr/>
          <p:nvPr/>
        </p:nvSpPr>
        <p:spPr>
          <a:xfrm>
            <a:off x="4379976" y="1810512"/>
            <a:ext cx="3419856" cy="384048"/>
          </a:xfrm>
          <a:prstGeom prst="rect">
            <a:avLst/>
          </a:prstGeom>
          <a:solidFill>
            <a:srgbClr val="ED654F"/>
          </a:solidFill>
          <a:ln w="12700">
            <a:solidFill>
              <a:srgbClr val="ED654F"/>
            </a:solidFill>
            <a:prstDash val="solid"/>
          </a:ln>
        </p:spPr>
      </p:sp>
      <p:sp>
        <p:nvSpPr>
          <p:cNvPr id="16" name="Text 14"/>
          <p:cNvSpPr/>
          <p:nvPr/>
        </p:nvSpPr>
        <p:spPr>
          <a:xfrm>
            <a:off x="4535424" y="1906524"/>
            <a:ext cx="3118104" cy="201168"/>
          </a:xfrm>
          <a:prstGeom prst="rect">
            <a:avLst/>
          </a:prstGeom>
          <a:noFill/>
          <a:ln/>
        </p:spPr>
        <p:txBody>
          <a:bodyPr wrap="square" lIns="0" tIns="0" rIns="0" bIns="0" rtlCol="0" anchor="t">
            <a:spAutoFit/>
          </a:bodyPr>
          <a:lstStyle/>
          <a:p>
            <a:pPr indent="0" marL="0">
              <a:buNone/>
            </a:pPr>
            <a:r>
              <a:rPr lang="en-US" sz="1290" b="1" dirty="0">
                <a:solidFill>
                  <a:srgbClr val="FFFFFF"/>
                </a:solidFill>
                <a:latin typeface="Roboto Condensed" pitchFamily="34" charset="0"/>
                <a:ea typeface="Roboto Condensed" pitchFamily="34" charset="-122"/>
                <a:cs typeface="Roboto Condensed" pitchFamily="34" charset="-120"/>
              </a:rPr>
              <a:t>LAUNCH &amp; VALIDATION</a:t>
            </a:r>
            <a:endParaRPr lang="en-US" sz="1290" dirty="0"/>
          </a:p>
        </p:txBody>
      </p:sp>
      <p:sp>
        <p:nvSpPr>
          <p:cNvPr id="17" name="Text 15"/>
          <p:cNvSpPr/>
          <p:nvPr/>
        </p:nvSpPr>
        <p:spPr>
          <a:xfrm>
            <a:off x="4562856" y="2441448"/>
            <a:ext cx="3054096" cy="594360"/>
          </a:xfrm>
          <a:prstGeom prst="rect">
            <a:avLst/>
          </a:prstGeom>
          <a:noFill/>
          <a:ln/>
        </p:spPr>
        <p:txBody>
          <a:bodyPr wrap="square" lIns="0" tIns="0" rIns="0" bIns="0" rtlCol="0" anchor="t">
            <a:spAutoFit/>
          </a:bodyPr>
          <a:lstStyle/>
          <a:p>
            <a:pPr indent="0" marL="0">
              <a:buNone/>
            </a:pPr>
            <a:r>
              <a:rPr lang="en-US" sz="4000" b="1" dirty="0">
                <a:solidFill>
                  <a:srgbClr val="ED654F"/>
                </a:solidFill>
                <a:latin typeface="Roboto Condensed" pitchFamily="34" charset="0"/>
                <a:ea typeface="Roboto Condensed" pitchFamily="34" charset="-122"/>
                <a:cs typeface="Roboto Condensed" pitchFamily="34" charset="-120"/>
              </a:rPr>
              <a:t>€250–350K</a:t>
            </a:r>
            <a:endParaRPr lang="en-US" sz="4000" dirty="0"/>
          </a:p>
        </p:txBody>
      </p:sp>
      <p:sp>
        <p:nvSpPr>
          <p:cNvPr id="18" name="Text 16"/>
          <p:cNvSpPr/>
          <p:nvPr/>
        </p:nvSpPr>
        <p:spPr>
          <a:xfrm>
            <a:off x="4562856" y="3136392"/>
            <a:ext cx="3054096" cy="265176"/>
          </a:xfrm>
          <a:prstGeom prst="rect">
            <a:avLst/>
          </a:prstGeom>
          <a:noFill/>
          <a:ln/>
        </p:spPr>
        <p:txBody>
          <a:bodyPr wrap="square" lIns="0" tIns="0" rIns="0" bIns="0" rtlCol="0" anchor="t">
            <a:spAutoFit/>
          </a:bodyPr>
          <a:lstStyle/>
          <a:p>
            <a:pPr indent="0" marL="0">
              <a:buNone/>
            </a:pPr>
            <a:r>
              <a:rPr lang="en-US" sz="1530" dirty="0">
                <a:solidFill>
                  <a:srgbClr val="65605D"/>
                </a:solidFill>
                <a:latin typeface="Roboto Condensed" pitchFamily="34" charset="0"/>
                <a:ea typeface="Roboto Condensed" pitchFamily="34" charset="-122"/>
                <a:cs typeface="Roboto Condensed" pitchFamily="34" charset="-120"/>
              </a:rPr>
              <a:t>Proposed 12-month programme</a:t>
            </a:r>
            <a:endParaRPr lang="en-US" sz="1530" dirty="0"/>
          </a:p>
        </p:txBody>
      </p:sp>
      <p:sp>
        <p:nvSpPr>
          <p:cNvPr id="19" name="Shape 17"/>
          <p:cNvSpPr/>
          <p:nvPr/>
        </p:nvSpPr>
        <p:spPr>
          <a:xfrm>
            <a:off x="4562856" y="3593592"/>
            <a:ext cx="3054096" cy="0"/>
          </a:xfrm>
          <a:prstGeom prst="line">
            <a:avLst/>
          </a:prstGeom>
          <a:noFill/>
          <a:ln w="12700">
            <a:solidFill>
              <a:srgbClr val="D6D1CC"/>
            </a:solidFill>
            <a:prstDash val="solid"/>
            <a:headEnd type="none"/>
            <a:tailEnd type="none"/>
          </a:ln>
        </p:spPr>
      </p:sp>
      <p:sp>
        <p:nvSpPr>
          <p:cNvPr id="20" name="Text 18"/>
          <p:cNvSpPr/>
          <p:nvPr/>
        </p:nvSpPr>
        <p:spPr>
          <a:xfrm>
            <a:off x="4562856" y="3794760"/>
            <a:ext cx="3054096" cy="420624"/>
          </a:xfrm>
          <a:prstGeom prst="rect">
            <a:avLst/>
          </a:prstGeom>
          <a:noFill/>
          <a:ln/>
        </p:spPr>
        <p:txBody>
          <a:bodyPr wrap="square" lIns="0" tIns="0" rIns="0" bIns="0" rtlCol="0" anchor="t">
            <a:spAutoFit/>
          </a:bodyPr>
          <a:lstStyle/>
          <a:p>
            <a:pPr indent="0" marL="0">
              <a:buNone/>
            </a:pPr>
            <a:r>
              <a:rPr lang="en-US" sz="1950" b="1" dirty="0">
                <a:solidFill>
                  <a:srgbClr val="272323"/>
                </a:solidFill>
                <a:latin typeface="Roboto Condensed" pitchFamily="34" charset="0"/>
                <a:ea typeface="Roboto Condensed" pitchFamily="34" charset="-122"/>
                <a:cs typeface="Roboto Condensed" pitchFamily="34" charset="-120"/>
              </a:rPr>
              <a:t>Prove the early commercial route.</a:t>
            </a:r>
            <a:endParaRPr lang="en-US" sz="1950" dirty="0"/>
          </a:p>
        </p:txBody>
      </p:sp>
      <p:sp>
        <p:nvSpPr>
          <p:cNvPr id="21" name="Text 19"/>
          <p:cNvSpPr/>
          <p:nvPr/>
        </p:nvSpPr>
        <p:spPr>
          <a:xfrm>
            <a:off x="4562856" y="4434840"/>
            <a:ext cx="3054096" cy="722376"/>
          </a:xfrm>
          <a:prstGeom prst="rect">
            <a:avLst/>
          </a:prstGeom>
          <a:noFill/>
          <a:ln/>
        </p:spPr>
        <p:txBody>
          <a:bodyPr wrap="square" lIns="0" tIns="0" rIns="0" bIns="0" rtlCol="0" anchor="t">
            <a:spAutoFit/>
          </a:bodyPr>
          <a:lstStyle/>
          <a:p>
            <a:pPr indent="0" marL="0">
              <a:buNone/>
            </a:pPr>
            <a:r>
              <a:rPr lang="en-US" sz="1510" dirty="0">
                <a:solidFill>
                  <a:srgbClr val="272323"/>
                </a:solidFill>
                <a:latin typeface="Roboto Condensed" pitchFamily="34" charset="0"/>
                <a:ea typeface="Roboto Condensed" pitchFamily="34" charset="-122"/>
                <a:cs typeface="Roboto Condensed" pitchFamily="34" charset="-120"/>
              </a:rPr>
              <a:t>Small delivery team and core quality.</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Richer food + exercise content.</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Measured direct and partner pilots.</a:t>
            </a:r>
            <a:endParaRPr lang="en-US" sz="1510" dirty="0"/>
          </a:p>
        </p:txBody>
      </p:sp>
      <p:sp>
        <p:nvSpPr>
          <p:cNvPr id="22" name="Text 20"/>
          <p:cNvSpPr/>
          <p:nvPr/>
        </p:nvSpPr>
        <p:spPr>
          <a:xfrm>
            <a:off x="4562856" y="5358384"/>
            <a:ext cx="3054096" cy="438912"/>
          </a:xfrm>
          <a:prstGeom prst="rect">
            <a:avLst/>
          </a:prstGeom>
          <a:noFill/>
          <a:ln/>
        </p:spPr>
        <p:txBody>
          <a:bodyPr wrap="square" lIns="0" tIns="0" rIns="0" bIns="0" rtlCol="0" anchor="t">
            <a:spAutoFit/>
          </a:bodyPr>
          <a:lstStyle/>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Concentrated Spain execution;</a:t>
            </a:r>
            <a:endParaRPr lang="en-US" sz="1400" dirty="0"/>
          </a:p>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not simultaneous country launches.</a:t>
            </a:r>
            <a:endParaRPr lang="en-US" sz="1400" dirty="0"/>
          </a:p>
        </p:txBody>
      </p:sp>
      <p:sp>
        <p:nvSpPr>
          <p:cNvPr id="23" name="Shape 21"/>
          <p:cNvSpPr/>
          <p:nvPr/>
        </p:nvSpPr>
        <p:spPr>
          <a:xfrm>
            <a:off x="8074152" y="1810512"/>
            <a:ext cx="3419856" cy="4023360"/>
          </a:xfrm>
          <a:prstGeom prst="rect">
            <a:avLst/>
          </a:prstGeom>
          <a:solidFill>
            <a:srgbClr val="FFFFFF"/>
          </a:solidFill>
          <a:ln w="12700">
            <a:solidFill>
              <a:srgbClr val="FFFFFF"/>
            </a:solidFill>
            <a:prstDash val="solid"/>
          </a:ln>
        </p:spPr>
      </p:sp>
      <p:sp>
        <p:nvSpPr>
          <p:cNvPr id="24" name="Shape 22"/>
          <p:cNvSpPr/>
          <p:nvPr/>
        </p:nvSpPr>
        <p:spPr>
          <a:xfrm>
            <a:off x="8074152" y="1810512"/>
            <a:ext cx="3419856" cy="384048"/>
          </a:xfrm>
          <a:prstGeom prst="rect">
            <a:avLst/>
          </a:prstGeom>
          <a:solidFill>
            <a:srgbClr val="ED654F"/>
          </a:solidFill>
          <a:ln w="12700">
            <a:solidFill>
              <a:srgbClr val="ED654F"/>
            </a:solidFill>
            <a:prstDash val="solid"/>
          </a:ln>
        </p:spPr>
      </p:sp>
      <p:sp>
        <p:nvSpPr>
          <p:cNvPr id="25" name="Text 23"/>
          <p:cNvSpPr/>
          <p:nvPr/>
        </p:nvSpPr>
        <p:spPr>
          <a:xfrm>
            <a:off x="8229600" y="1906524"/>
            <a:ext cx="3118104" cy="201168"/>
          </a:xfrm>
          <a:prstGeom prst="rect">
            <a:avLst/>
          </a:prstGeom>
          <a:noFill/>
          <a:ln/>
        </p:spPr>
        <p:txBody>
          <a:bodyPr wrap="square" lIns="0" tIns="0" rIns="0" bIns="0" rtlCol="0" anchor="t">
            <a:spAutoFit/>
          </a:bodyPr>
          <a:lstStyle/>
          <a:p>
            <a:pPr indent="0" marL="0">
              <a:buNone/>
            </a:pPr>
            <a:r>
              <a:rPr lang="en-US" sz="1290" b="1" dirty="0">
                <a:solidFill>
                  <a:srgbClr val="FFFFFF"/>
                </a:solidFill>
                <a:latin typeface="Roboto Condensed" pitchFamily="34" charset="0"/>
                <a:ea typeface="Roboto Condensed" pitchFamily="34" charset="-122"/>
                <a:cs typeface="Roboto Condensed" pitchFamily="34" charset="-120"/>
              </a:rPr>
              <a:t>CONTROLLED ACCELERATION</a:t>
            </a:r>
            <a:endParaRPr lang="en-US" sz="1290" dirty="0"/>
          </a:p>
        </p:txBody>
      </p:sp>
      <p:sp>
        <p:nvSpPr>
          <p:cNvPr id="26" name="Text 24"/>
          <p:cNvSpPr/>
          <p:nvPr/>
        </p:nvSpPr>
        <p:spPr>
          <a:xfrm>
            <a:off x="8257032" y="2441448"/>
            <a:ext cx="3054096" cy="594360"/>
          </a:xfrm>
          <a:prstGeom prst="rect">
            <a:avLst/>
          </a:prstGeom>
          <a:noFill/>
          <a:ln/>
        </p:spPr>
        <p:txBody>
          <a:bodyPr wrap="square" lIns="0" tIns="0" rIns="0" bIns="0" rtlCol="0" anchor="t">
            <a:spAutoFit/>
          </a:bodyPr>
          <a:lstStyle/>
          <a:p>
            <a:pPr indent="0" marL="0">
              <a:buNone/>
            </a:pPr>
            <a:r>
              <a:rPr lang="en-US" sz="4000" b="1" dirty="0">
                <a:solidFill>
                  <a:srgbClr val="ED654F"/>
                </a:solidFill>
                <a:latin typeface="Roboto Condensed" pitchFamily="34" charset="0"/>
                <a:ea typeface="Roboto Condensed" pitchFamily="34" charset="-122"/>
                <a:cs typeface="Roboto Condensed" pitchFamily="34" charset="-120"/>
              </a:rPr>
              <a:t>€2–5M</a:t>
            </a:r>
            <a:endParaRPr lang="en-US" sz="4000" dirty="0"/>
          </a:p>
        </p:txBody>
      </p:sp>
      <p:sp>
        <p:nvSpPr>
          <p:cNvPr id="27" name="Text 25"/>
          <p:cNvSpPr/>
          <p:nvPr/>
        </p:nvSpPr>
        <p:spPr>
          <a:xfrm>
            <a:off x="8257032" y="3136392"/>
            <a:ext cx="3054096" cy="265176"/>
          </a:xfrm>
          <a:prstGeom prst="rect">
            <a:avLst/>
          </a:prstGeom>
          <a:noFill/>
          <a:ln/>
        </p:spPr>
        <p:txBody>
          <a:bodyPr wrap="square" lIns="0" tIns="0" rIns="0" bIns="0" rtlCol="0" anchor="t">
            <a:spAutoFit/>
          </a:bodyPr>
          <a:lstStyle/>
          <a:p>
            <a:pPr indent="0" marL="0">
              <a:buNone/>
            </a:pPr>
            <a:r>
              <a:rPr lang="en-US" sz="1530" dirty="0">
                <a:solidFill>
                  <a:srgbClr val="65605D"/>
                </a:solidFill>
                <a:latin typeface="Roboto Condensed" pitchFamily="34" charset="0"/>
                <a:ea typeface="Roboto Condensed" pitchFamily="34" charset="-122"/>
                <a:cs typeface="Roboto Condensed" pitchFamily="34" charset="-120"/>
              </a:rPr>
              <a:t>Two distinct 24-month designs</a:t>
            </a:r>
            <a:endParaRPr lang="en-US" sz="1530" dirty="0"/>
          </a:p>
        </p:txBody>
      </p:sp>
      <p:sp>
        <p:nvSpPr>
          <p:cNvPr id="28" name="Shape 26"/>
          <p:cNvSpPr/>
          <p:nvPr/>
        </p:nvSpPr>
        <p:spPr>
          <a:xfrm>
            <a:off x="8257032" y="3593592"/>
            <a:ext cx="3054096" cy="0"/>
          </a:xfrm>
          <a:prstGeom prst="line">
            <a:avLst/>
          </a:prstGeom>
          <a:noFill/>
          <a:ln w="12700">
            <a:solidFill>
              <a:srgbClr val="D6D1CC"/>
            </a:solidFill>
            <a:prstDash val="solid"/>
            <a:headEnd type="none"/>
            <a:tailEnd type="none"/>
          </a:ln>
        </p:spPr>
      </p:sp>
      <p:sp>
        <p:nvSpPr>
          <p:cNvPr id="29" name="Text 27"/>
          <p:cNvSpPr/>
          <p:nvPr/>
        </p:nvSpPr>
        <p:spPr>
          <a:xfrm>
            <a:off x="8257032" y="3794760"/>
            <a:ext cx="3054096" cy="420624"/>
          </a:xfrm>
          <a:prstGeom prst="rect">
            <a:avLst/>
          </a:prstGeom>
          <a:noFill/>
          <a:ln/>
        </p:spPr>
        <p:txBody>
          <a:bodyPr wrap="square" lIns="0" tIns="0" rIns="0" bIns="0" rtlCol="0" anchor="t">
            <a:spAutoFit/>
          </a:bodyPr>
          <a:lstStyle/>
          <a:p>
            <a:pPr indent="0" marL="0">
              <a:buNone/>
            </a:pPr>
            <a:r>
              <a:rPr lang="en-US" sz="1950" b="1" dirty="0">
                <a:solidFill>
                  <a:srgbClr val="272323"/>
                </a:solidFill>
                <a:latin typeface="Roboto Condensed" pitchFamily="34" charset="0"/>
                <a:ea typeface="Roboto Condensed" pitchFamily="34" charset="-122"/>
                <a:cs typeface="Roboto Condensed" pitchFamily="34" charset="-120"/>
              </a:rPr>
              <a:t>Build and test in parallel.</a:t>
            </a:r>
            <a:endParaRPr lang="en-US" sz="1950" dirty="0"/>
          </a:p>
        </p:txBody>
      </p:sp>
      <p:sp>
        <p:nvSpPr>
          <p:cNvPr id="30" name="Text 28"/>
          <p:cNvSpPr/>
          <p:nvPr/>
        </p:nvSpPr>
        <p:spPr>
          <a:xfrm>
            <a:off x="8257032" y="4434840"/>
            <a:ext cx="3054096" cy="722376"/>
          </a:xfrm>
          <a:prstGeom prst="rect">
            <a:avLst/>
          </a:prstGeom>
          <a:noFill/>
          <a:ln/>
        </p:spPr>
        <p:txBody>
          <a:bodyPr wrap="square" lIns="0" tIns="0" rIns="0" bIns="0" rtlCol="0" anchor="t">
            <a:spAutoFit/>
          </a:bodyPr>
          <a:lstStyle/>
          <a:p>
            <a:pPr indent="0" marL="0">
              <a:buNone/>
            </a:pPr>
            <a:r>
              <a:rPr lang="en-US" sz="1510" dirty="0">
                <a:solidFill>
                  <a:srgbClr val="272323"/>
                </a:solidFill>
                <a:latin typeface="Roboto Condensed" pitchFamily="34" charset="0"/>
                <a:ea typeface="Roboto Condensed" pitchFamily="34" charset="-122"/>
                <a:cs typeface="Roboto Condensed" pitchFamily="34" charset="-120"/>
              </a:rPr>
              <a:t>Product, content and channel capacity.</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Larger evidence-gated campaigns.</a:t>
            </a:r>
            <a:endParaRPr lang="en-US" sz="1510" dirty="0"/>
          </a:p>
          <a:p>
            <a:pPr indent="0" marL="0">
              <a:buNone/>
            </a:pPr>
            <a:r>
              <a:rPr lang="en-US" sz="1510" dirty="0">
                <a:solidFill>
                  <a:srgbClr val="272323"/>
                </a:solidFill>
                <a:latin typeface="Roboto Condensed" pitchFamily="34" charset="0"/>
                <a:ea typeface="Roboto Condensed" pitchFamily="34" charset="-122"/>
                <a:cs typeface="Roboto Condensed" pitchFamily="34" charset="-120"/>
              </a:rPr>
              <a:t>Safety, pregnancy and market reviews.</a:t>
            </a:r>
            <a:endParaRPr lang="en-US" sz="1510" dirty="0"/>
          </a:p>
        </p:txBody>
      </p:sp>
      <p:sp>
        <p:nvSpPr>
          <p:cNvPr id="31" name="Text 29"/>
          <p:cNvSpPr/>
          <p:nvPr/>
        </p:nvSpPr>
        <p:spPr>
          <a:xfrm>
            <a:off x="8257032" y="5358384"/>
            <a:ext cx="3054096" cy="438912"/>
          </a:xfrm>
          <a:prstGeom prst="rect">
            <a:avLst/>
          </a:prstGeom>
          <a:noFill/>
          <a:ln/>
        </p:spPr>
        <p:txBody>
          <a:bodyPr wrap="square" lIns="0" tIns="0" rIns="0" bIns="0" rtlCol="0" anchor="t">
            <a:spAutoFit/>
          </a:bodyPr>
          <a:lstStyle/>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€2M: establish repeatability.</a:t>
            </a:r>
            <a:endParaRPr lang="en-US" sz="1400" dirty="0"/>
          </a:p>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€5M: extend capacity and selected pilots.</a:t>
            </a:r>
            <a:endParaRPr lang="en-US" sz="1400" dirty="0"/>
          </a:p>
        </p:txBody>
      </p:sp>
      <p:sp>
        <p:nvSpPr>
          <p:cNvPr id="32" name="Text 30"/>
          <p:cNvSpPr/>
          <p:nvPr/>
        </p:nvSpPr>
        <p:spPr>
          <a:xfrm>
            <a:off x="722376" y="5998464"/>
            <a:ext cx="10744200" cy="320040"/>
          </a:xfrm>
          <a:prstGeom prst="rect">
            <a:avLst/>
          </a:prstGeom>
          <a:noFill/>
          <a:ln/>
        </p:spPr>
        <p:txBody>
          <a:bodyPr wrap="square" lIns="0" tIns="0" rIns="0" bIns="0" rtlCol="0" anchor="t">
            <a:spAutoFit/>
          </a:bodyPr>
          <a:lstStyle/>
          <a:p>
            <a:pPr indent="0" marL="0">
              <a:buNone/>
            </a:pPr>
            <a:r>
              <a:rPr lang="en-US" sz="2000" b="1" dirty="0">
                <a:solidFill>
                  <a:srgbClr val="C3452E"/>
                </a:solidFill>
                <a:latin typeface="Roboto Condensed" pitchFamily="34" charset="0"/>
                <a:ea typeface="Roboto Condensed" pitchFamily="34" charset="-122"/>
                <a:cs typeface="Roboto Condensed" pitchFamily="34" charset="-120"/>
              </a:rPr>
              <a:t>We continue within our own committed capacity and cash—even if external funding takes longer.</a:t>
            </a:r>
            <a:endParaRPr lang="en-US" sz="2000" dirty="0"/>
          </a:p>
        </p:txBody>
      </p:sp>
      <p:sp>
        <p:nvSpPr>
          <p:cNvPr id="33" name="Text 31"/>
          <p:cNvSpPr/>
          <p:nvPr/>
        </p:nvSpPr>
        <p:spPr>
          <a:xfrm>
            <a:off x="685800" y="6469380"/>
            <a:ext cx="9153144"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Amounts are not additive. A bridge conversion is not new cash in a later round. Horizons require a dated cash plan.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What €2M or €5M Would Accelerate</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Same proposed 24-month horizon. More capital buys parallel execution—not a shortcut around validation.</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CAPITAL 02  |  24-month planning allocations</a:t>
            </a:r>
            <a:endParaRPr lang="en-US" sz="950" dirty="0"/>
          </a:p>
        </p:txBody>
      </p:sp>
      <p:sp>
        <p:nvSpPr>
          <p:cNvPr id="5" name="Shape 3"/>
          <p:cNvSpPr/>
          <p:nvPr/>
        </p:nvSpPr>
        <p:spPr>
          <a:xfrm>
            <a:off x="685800" y="1783080"/>
            <a:ext cx="10808208" cy="694944"/>
          </a:xfrm>
          <a:prstGeom prst="rect">
            <a:avLst/>
          </a:prstGeom>
          <a:solidFill>
            <a:srgbClr val="ED654F"/>
          </a:solidFill>
          <a:ln w="12700">
            <a:solidFill>
              <a:srgbClr val="ED654F"/>
            </a:solidFill>
            <a:prstDash val="solid"/>
          </a:ln>
        </p:spPr>
      </p:sp>
      <p:sp>
        <p:nvSpPr>
          <p:cNvPr id="6" name="Text 4"/>
          <p:cNvSpPr/>
          <p:nvPr/>
        </p:nvSpPr>
        <p:spPr>
          <a:xfrm>
            <a:off x="877824" y="2011680"/>
            <a:ext cx="2770632" cy="228600"/>
          </a:xfrm>
          <a:prstGeom prst="rect">
            <a:avLst/>
          </a:prstGeom>
          <a:noFill/>
          <a:ln/>
        </p:spPr>
        <p:txBody>
          <a:bodyPr wrap="square" lIns="0" tIns="0" rIns="0" bIns="0" rtlCol="0" anchor="t">
            <a:spAutoFit/>
          </a:bodyPr>
          <a:lstStyle/>
          <a:p>
            <a:pPr indent="0" marL="0">
              <a:buNone/>
            </a:pPr>
            <a:r>
              <a:rPr lang="en-US" sz="1400" b="1" dirty="0">
                <a:solidFill>
                  <a:srgbClr val="FFFFFF"/>
                </a:solidFill>
                <a:latin typeface="Roboto Condensed" pitchFamily="34" charset="0"/>
                <a:ea typeface="Roboto Condensed" pitchFamily="34" charset="-122"/>
                <a:cs typeface="Roboto Condensed" pitchFamily="34" charset="-120"/>
              </a:rPr>
              <a:t>CAPABILITY</a:t>
            </a:r>
            <a:endParaRPr lang="en-US" sz="1400" dirty="0"/>
          </a:p>
        </p:txBody>
      </p:sp>
      <p:sp>
        <p:nvSpPr>
          <p:cNvPr id="7" name="Text 5"/>
          <p:cNvSpPr/>
          <p:nvPr/>
        </p:nvSpPr>
        <p:spPr>
          <a:xfrm>
            <a:off x="4023360" y="1947672"/>
            <a:ext cx="3456432" cy="374904"/>
          </a:xfrm>
          <a:prstGeom prst="rect">
            <a:avLst/>
          </a:prstGeom>
          <a:noFill/>
          <a:ln/>
        </p:spPr>
        <p:txBody>
          <a:bodyPr wrap="square" lIns="0" tIns="0" rIns="0" bIns="0" rtlCol="0" anchor="t">
            <a:spAutoFit/>
          </a:bodyPr>
          <a:lstStyle/>
          <a:p>
            <a:pPr indent="0" marL="0">
              <a:buNone/>
            </a:pPr>
            <a:r>
              <a:rPr lang="en-US" sz="2300" b="1" dirty="0">
                <a:solidFill>
                  <a:srgbClr val="FFFFFF"/>
                </a:solidFill>
                <a:latin typeface="Roboto Condensed" pitchFamily="34" charset="0"/>
                <a:ea typeface="Roboto Condensed" pitchFamily="34" charset="-122"/>
                <a:cs typeface="Roboto Condensed" pitchFamily="34" charset="-120"/>
              </a:rPr>
              <a:t>€2M  |  Spain repeatability</a:t>
            </a:r>
            <a:endParaRPr lang="en-US" sz="2300" dirty="0"/>
          </a:p>
        </p:txBody>
      </p:sp>
      <p:sp>
        <p:nvSpPr>
          <p:cNvPr id="8" name="Text 6"/>
          <p:cNvSpPr/>
          <p:nvPr/>
        </p:nvSpPr>
        <p:spPr>
          <a:xfrm>
            <a:off x="7836408" y="1947672"/>
            <a:ext cx="3474720" cy="374904"/>
          </a:xfrm>
          <a:prstGeom prst="rect">
            <a:avLst/>
          </a:prstGeom>
          <a:noFill/>
          <a:ln/>
        </p:spPr>
        <p:txBody>
          <a:bodyPr wrap="square" lIns="0" tIns="0" rIns="0" bIns="0" rtlCol="0" anchor="t">
            <a:spAutoFit/>
          </a:bodyPr>
          <a:lstStyle/>
          <a:p>
            <a:pPr indent="0" marL="0">
              <a:buNone/>
            </a:pPr>
            <a:r>
              <a:rPr lang="en-US" sz="2300" b="1" dirty="0">
                <a:solidFill>
                  <a:srgbClr val="FFFFFF"/>
                </a:solidFill>
                <a:latin typeface="Roboto Condensed" pitchFamily="34" charset="0"/>
                <a:ea typeface="Roboto Condensed" pitchFamily="34" charset="-122"/>
                <a:cs typeface="Roboto Condensed" pitchFamily="34" charset="-120"/>
              </a:rPr>
              <a:t>€5M  |  Parallel delivery</a:t>
            </a:r>
            <a:endParaRPr lang="en-US" sz="2300" dirty="0"/>
          </a:p>
        </p:txBody>
      </p:sp>
      <p:sp>
        <p:nvSpPr>
          <p:cNvPr id="9" name="Shape 7"/>
          <p:cNvSpPr/>
          <p:nvPr/>
        </p:nvSpPr>
        <p:spPr>
          <a:xfrm>
            <a:off x="685800" y="2478024"/>
            <a:ext cx="10808208" cy="512064"/>
          </a:xfrm>
          <a:prstGeom prst="rect">
            <a:avLst/>
          </a:prstGeom>
          <a:solidFill>
            <a:srgbClr val="FFFFFF"/>
          </a:solidFill>
          <a:ln w="12700">
            <a:solidFill>
              <a:srgbClr val="FFFFFF"/>
            </a:solidFill>
            <a:prstDash val="solid"/>
          </a:ln>
        </p:spPr>
      </p:sp>
      <p:sp>
        <p:nvSpPr>
          <p:cNvPr id="10" name="Text 8"/>
          <p:cNvSpPr/>
          <p:nvPr/>
        </p:nvSpPr>
        <p:spPr>
          <a:xfrm>
            <a:off x="877824" y="2624328"/>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Product + cloud</a:t>
            </a:r>
            <a:endParaRPr lang="en-US" sz="1650" dirty="0"/>
          </a:p>
        </p:txBody>
      </p:sp>
      <p:sp>
        <p:nvSpPr>
          <p:cNvPr id="11" name="Text 9"/>
          <p:cNvSpPr/>
          <p:nvPr/>
        </p:nvSpPr>
        <p:spPr>
          <a:xfrm>
            <a:off x="4014216" y="2564892"/>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€520K</a:t>
            </a:r>
            <a:endParaRPr lang="en-US" sz="1900" dirty="0"/>
          </a:p>
        </p:txBody>
      </p:sp>
      <p:sp>
        <p:nvSpPr>
          <p:cNvPr id="12" name="Text 10"/>
          <p:cNvSpPr/>
          <p:nvPr/>
        </p:nvSpPr>
        <p:spPr>
          <a:xfrm>
            <a:off x="4937760" y="2546604"/>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Reliable app, integrations and operations</a:t>
            </a:r>
            <a:endParaRPr lang="en-US" sz="1400" dirty="0"/>
          </a:p>
        </p:txBody>
      </p:sp>
      <p:sp>
        <p:nvSpPr>
          <p:cNvPr id="13" name="Text 11"/>
          <p:cNvSpPr/>
          <p:nvPr/>
        </p:nvSpPr>
        <p:spPr>
          <a:xfrm>
            <a:off x="7836408" y="2564892"/>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€1,150K</a:t>
            </a:r>
            <a:endParaRPr lang="en-US" sz="1900" dirty="0"/>
          </a:p>
        </p:txBody>
      </p:sp>
      <p:sp>
        <p:nvSpPr>
          <p:cNvPr id="14" name="Text 12"/>
          <p:cNvSpPr/>
          <p:nvPr/>
        </p:nvSpPr>
        <p:spPr>
          <a:xfrm>
            <a:off x="8951976" y="2546604"/>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Parallel delivery and stronger regional readiness</a:t>
            </a:r>
            <a:endParaRPr lang="en-US" sz="1400" dirty="0"/>
          </a:p>
        </p:txBody>
      </p:sp>
      <p:sp>
        <p:nvSpPr>
          <p:cNvPr id="15" name="Shape 13"/>
          <p:cNvSpPr/>
          <p:nvPr/>
        </p:nvSpPr>
        <p:spPr>
          <a:xfrm>
            <a:off x="685800" y="2990088"/>
            <a:ext cx="10808208" cy="512064"/>
          </a:xfrm>
          <a:prstGeom prst="rect">
            <a:avLst/>
          </a:prstGeom>
          <a:solidFill>
            <a:srgbClr val="F3EBDD"/>
          </a:solidFill>
          <a:ln w="12700">
            <a:solidFill>
              <a:srgbClr val="F3EBDD"/>
            </a:solidFill>
            <a:prstDash val="solid"/>
          </a:ln>
        </p:spPr>
      </p:sp>
      <p:sp>
        <p:nvSpPr>
          <p:cNvPr id="16" name="Text 14"/>
          <p:cNvSpPr/>
          <p:nvPr/>
        </p:nvSpPr>
        <p:spPr>
          <a:xfrm>
            <a:off x="877824" y="3136392"/>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Food, exercise + recovery</a:t>
            </a:r>
            <a:endParaRPr lang="en-US" sz="1650" dirty="0"/>
          </a:p>
        </p:txBody>
      </p:sp>
      <p:sp>
        <p:nvSpPr>
          <p:cNvPr id="17" name="Text 15"/>
          <p:cNvSpPr/>
          <p:nvPr/>
        </p:nvSpPr>
        <p:spPr>
          <a:xfrm>
            <a:off x="4014216" y="3076956"/>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€240K</a:t>
            </a:r>
            <a:endParaRPr lang="en-US" sz="1900" dirty="0"/>
          </a:p>
        </p:txBody>
      </p:sp>
      <p:sp>
        <p:nvSpPr>
          <p:cNvPr id="18" name="Text 16"/>
          <p:cNvSpPr/>
          <p:nvPr/>
        </p:nvSpPr>
        <p:spPr>
          <a:xfrm>
            <a:off x="4937760" y="3058668"/>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Recurring expert-led visual production</a:t>
            </a:r>
            <a:endParaRPr lang="en-US" sz="1400" dirty="0"/>
          </a:p>
        </p:txBody>
      </p:sp>
      <p:sp>
        <p:nvSpPr>
          <p:cNvPr id="19" name="Text 17"/>
          <p:cNvSpPr/>
          <p:nvPr/>
        </p:nvSpPr>
        <p:spPr>
          <a:xfrm>
            <a:off x="7836408" y="3076956"/>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€600K</a:t>
            </a:r>
            <a:endParaRPr lang="en-US" sz="1900" dirty="0"/>
          </a:p>
        </p:txBody>
      </p:sp>
      <p:sp>
        <p:nvSpPr>
          <p:cNvPr id="20" name="Text 18"/>
          <p:cNvSpPr/>
          <p:nvPr/>
        </p:nvSpPr>
        <p:spPr>
          <a:xfrm>
            <a:off x="8951976" y="3058668"/>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Deeper programmes and selected localisation</a:t>
            </a:r>
            <a:endParaRPr lang="en-US" sz="1400" dirty="0"/>
          </a:p>
        </p:txBody>
      </p:sp>
      <p:sp>
        <p:nvSpPr>
          <p:cNvPr id="21" name="Shape 19"/>
          <p:cNvSpPr/>
          <p:nvPr/>
        </p:nvSpPr>
        <p:spPr>
          <a:xfrm>
            <a:off x="685800" y="3502152"/>
            <a:ext cx="10808208" cy="512064"/>
          </a:xfrm>
          <a:prstGeom prst="rect">
            <a:avLst/>
          </a:prstGeom>
          <a:solidFill>
            <a:srgbClr val="FFFFFF"/>
          </a:solidFill>
          <a:ln w="12700">
            <a:solidFill>
              <a:srgbClr val="FFFFFF"/>
            </a:solidFill>
            <a:prstDash val="solid"/>
          </a:ln>
        </p:spPr>
      </p:sp>
      <p:sp>
        <p:nvSpPr>
          <p:cNvPr id="22" name="Text 20"/>
          <p:cNvSpPr/>
          <p:nvPr/>
        </p:nvSpPr>
        <p:spPr>
          <a:xfrm>
            <a:off x="877824" y="3648456"/>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Marketing + distribution</a:t>
            </a:r>
            <a:endParaRPr lang="en-US" sz="1650" dirty="0"/>
          </a:p>
        </p:txBody>
      </p:sp>
      <p:sp>
        <p:nvSpPr>
          <p:cNvPr id="23" name="Text 21"/>
          <p:cNvSpPr/>
          <p:nvPr/>
        </p:nvSpPr>
        <p:spPr>
          <a:xfrm>
            <a:off x="4014216" y="3589020"/>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€650K</a:t>
            </a:r>
            <a:endParaRPr lang="en-US" sz="1900" dirty="0"/>
          </a:p>
        </p:txBody>
      </p:sp>
      <p:sp>
        <p:nvSpPr>
          <p:cNvPr id="24" name="Text 22"/>
          <p:cNvSpPr/>
          <p:nvPr/>
        </p:nvSpPr>
        <p:spPr>
          <a:xfrm>
            <a:off x="4937760" y="3570732"/>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Prove campaigns and productive partners</a:t>
            </a:r>
            <a:endParaRPr lang="en-US" sz="1400" dirty="0"/>
          </a:p>
        </p:txBody>
      </p:sp>
      <p:sp>
        <p:nvSpPr>
          <p:cNvPr id="25" name="Text 23"/>
          <p:cNvSpPr/>
          <p:nvPr/>
        </p:nvSpPr>
        <p:spPr>
          <a:xfrm>
            <a:off x="7836408" y="3589020"/>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€1,950K</a:t>
            </a:r>
            <a:endParaRPr lang="en-US" sz="1900" dirty="0"/>
          </a:p>
        </p:txBody>
      </p:sp>
      <p:sp>
        <p:nvSpPr>
          <p:cNvPr id="26" name="Text 24"/>
          <p:cNvSpPr/>
          <p:nvPr/>
        </p:nvSpPr>
        <p:spPr>
          <a:xfrm>
            <a:off x="8951976" y="3570732"/>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Replicate proven channels; build network capacity</a:t>
            </a:r>
            <a:endParaRPr lang="en-US" sz="1400" dirty="0"/>
          </a:p>
        </p:txBody>
      </p:sp>
      <p:sp>
        <p:nvSpPr>
          <p:cNvPr id="27" name="Shape 25"/>
          <p:cNvSpPr/>
          <p:nvPr/>
        </p:nvSpPr>
        <p:spPr>
          <a:xfrm>
            <a:off x="685800" y="4014216"/>
            <a:ext cx="10808208" cy="512064"/>
          </a:xfrm>
          <a:prstGeom prst="rect">
            <a:avLst/>
          </a:prstGeom>
          <a:solidFill>
            <a:srgbClr val="F3EBDD"/>
          </a:solidFill>
          <a:ln w="12700">
            <a:solidFill>
              <a:srgbClr val="F3EBDD"/>
            </a:solidFill>
            <a:prstDash val="solid"/>
          </a:ln>
        </p:spPr>
      </p:sp>
      <p:sp>
        <p:nvSpPr>
          <p:cNvPr id="28" name="Text 26"/>
          <p:cNvSpPr/>
          <p:nvPr/>
        </p:nvSpPr>
        <p:spPr>
          <a:xfrm>
            <a:off x="877824" y="4160520"/>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Safety + pregnancy evaluation</a:t>
            </a:r>
            <a:endParaRPr lang="en-US" sz="1650" dirty="0"/>
          </a:p>
        </p:txBody>
      </p:sp>
      <p:sp>
        <p:nvSpPr>
          <p:cNvPr id="29" name="Text 27"/>
          <p:cNvSpPr/>
          <p:nvPr/>
        </p:nvSpPr>
        <p:spPr>
          <a:xfrm>
            <a:off x="4014216" y="4101084"/>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€180K</a:t>
            </a:r>
            <a:endParaRPr lang="en-US" sz="1900" dirty="0"/>
          </a:p>
        </p:txBody>
      </p:sp>
      <p:sp>
        <p:nvSpPr>
          <p:cNvPr id="30" name="Text 28"/>
          <p:cNvSpPr/>
          <p:nvPr/>
        </p:nvSpPr>
        <p:spPr>
          <a:xfrm>
            <a:off x="4937760" y="4082796"/>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Specialist co-design and a bounded pilot</a:t>
            </a:r>
            <a:endParaRPr lang="en-US" sz="1400" dirty="0"/>
          </a:p>
        </p:txBody>
      </p:sp>
      <p:sp>
        <p:nvSpPr>
          <p:cNvPr id="31" name="Text 29"/>
          <p:cNvSpPr/>
          <p:nvPr/>
        </p:nvSpPr>
        <p:spPr>
          <a:xfrm>
            <a:off x="7836408" y="4101084"/>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€500K</a:t>
            </a:r>
            <a:endParaRPr lang="en-US" sz="1900" dirty="0"/>
          </a:p>
        </p:txBody>
      </p:sp>
      <p:sp>
        <p:nvSpPr>
          <p:cNvPr id="32" name="Text 30"/>
          <p:cNvSpPr/>
          <p:nvPr/>
        </p:nvSpPr>
        <p:spPr>
          <a:xfrm>
            <a:off x="8951976" y="4082796"/>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Dedicated development and broader evaluation</a:t>
            </a:r>
            <a:endParaRPr lang="en-US" sz="1400" dirty="0"/>
          </a:p>
        </p:txBody>
      </p:sp>
      <p:sp>
        <p:nvSpPr>
          <p:cNvPr id="33" name="Shape 31"/>
          <p:cNvSpPr/>
          <p:nvPr/>
        </p:nvSpPr>
        <p:spPr>
          <a:xfrm>
            <a:off x="685800" y="4526280"/>
            <a:ext cx="10808208" cy="512064"/>
          </a:xfrm>
          <a:prstGeom prst="rect">
            <a:avLst/>
          </a:prstGeom>
          <a:solidFill>
            <a:srgbClr val="FFFFFF"/>
          </a:solidFill>
          <a:ln w="12700">
            <a:solidFill>
              <a:srgbClr val="FFFFFF"/>
            </a:solidFill>
            <a:prstDash val="solid"/>
          </a:ln>
        </p:spPr>
      </p:sp>
      <p:sp>
        <p:nvSpPr>
          <p:cNvPr id="34" name="Text 32"/>
          <p:cNvSpPr/>
          <p:nvPr/>
        </p:nvSpPr>
        <p:spPr>
          <a:xfrm>
            <a:off x="877824" y="4672584"/>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Legal + country readiness</a:t>
            </a:r>
            <a:endParaRPr lang="en-US" sz="1650" dirty="0"/>
          </a:p>
        </p:txBody>
      </p:sp>
      <p:sp>
        <p:nvSpPr>
          <p:cNvPr id="35" name="Text 33"/>
          <p:cNvSpPr/>
          <p:nvPr/>
        </p:nvSpPr>
        <p:spPr>
          <a:xfrm>
            <a:off x="4014216" y="4613148"/>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€160K</a:t>
            </a:r>
            <a:endParaRPr lang="en-US" sz="1900" dirty="0"/>
          </a:p>
        </p:txBody>
      </p:sp>
      <p:sp>
        <p:nvSpPr>
          <p:cNvPr id="36" name="Text 34"/>
          <p:cNvSpPr/>
          <p:nvPr/>
        </p:nvSpPr>
        <p:spPr>
          <a:xfrm>
            <a:off x="4937760" y="4594860"/>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Compare markets and complete readiness reviews</a:t>
            </a:r>
            <a:endParaRPr lang="en-US" sz="1400" dirty="0"/>
          </a:p>
        </p:txBody>
      </p:sp>
      <p:sp>
        <p:nvSpPr>
          <p:cNvPr id="37" name="Text 35"/>
          <p:cNvSpPr/>
          <p:nvPr/>
        </p:nvSpPr>
        <p:spPr>
          <a:xfrm>
            <a:off x="7836408" y="4613148"/>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€350K</a:t>
            </a:r>
            <a:endParaRPr lang="en-US" sz="1900" dirty="0"/>
          </a:p>
        </p:txBody>
      </p:sp>
      <p:sp>
        <p:nvSpPr>
          <p:cNvPr id="38" name="Text 36"/>
          <p:cNvSpPr/>
          <p:nvPr/>
        </p:nvSpPr>
        <p:spPr>
          <a:xfrm>
            <a:off x="8951976" y="4594860"/>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Prepare selected countries and approved pilots</a:t>
            </a:r>
            <a:endParaRPr lang="en-US" sz="1400" dirty="0"/>
          </a:p>
        </p:txBody>
      </p:sp>
      <p:sp>
        <p:nvSpPr>
          <p:cNvPr id="39" name="Shape 37"/>
          <p:cNvSpPr/>
          <p:nvPr/>
        </p:nvSpPr>
        <p:spPr>
          <a:xfrm>
            <a:off x="685800" y="5038344"/>
            <a:ext cx="10808208" cy="512064"/>
          </a:xfrm>
          <a:prstGeom prst="rect">
            <a:avLst/>
          </a:prstGeom>
          <a:solidFill>
            <a:srgbClr val="F3EBDD"/>
          </a:solidFill>
          <a:ln w="12700">
            <a:solidFill>
              <a:srgbClr val="F3EBDD"/>
            </a:solidFill>
            <a:prstDash val="solid"/>
          </a:ln>
        </p:spPr>
      </p:sp>
      <p:sp>
        <p:nvSpPr>
          <p:cNvPr id="40" name="Text 38"/>
          <p:cNvSpPr/>
          <p:nvPr/>
        </p:nvSpPr>
        <p:spPr>
          <a:xfrm>
            <a:off x="877824" y="5184648"/>
            <a:ext cx="2779776" cy="283464"/>
          </a:xfrm>
          <a:prstGeom prst="rect">
            <a:avLst/>
          </a:prstGeom>
          <a:noFill/>
          <a:ln/>
        </p:spPr>
        <p:txBody>
          <a:bodyPr wrap="square" lIns="0" tIns="0" rIns="0" bIns="0" rtlCol="0" anchor="t">
            <a:spAutoFit/>
          </a:bodyPr>
          <a:lstStyle/>
          <a:p>
            <a:pPr indent="0" marL="0">
              <a:buNone/>
            </a:pPr>
            <a:r>
              <a:rPr lang="en-US" sz="1650" b="1" dirty="0">
                <a:solidFill>
                  <a:srgbClr val="272323"/>
                </a:solidFill>
                <a:latin typeface="Roboto Condensed" pitchFamily="34" charset="0"/>
                <a:ea typeface="Roboto Condensed" pitchFamily="34" charset="-122"/>
                <a:cs typeface="Roboto Condensed" pitchFamily="34" charset="-120"/>
              </a:rPr>
              <a:t>Operations + contingency</a:t>
            </a:r>
            <a:endParaRPr lang="en-US" sz="1650" dirty="0"/>
          </a:p>
        </p:txBody>
      </p:sp>
      <p:sp>
        <p:nvSpPr>
          <p:cNvPr id="41" name="Text 39"/>
          <p:cNvSpPr/>
          <p:nvPr/>
        </p:nvSpPr>
        <p:spPr>
          <a:xfrm>
            <a:off x="4014216" y="5125212"/>
            <a:ext cx="80467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€250K</a:t>
            </a:r>
            <a:endParaRPr lang="en-US" sz="1900" dirty="0"/>
          </a:p>
        </p:txBody>
      </p:sp>
      <p:sp>
        <p:nvSpPr>
          <p:cNvPr id="42" name="Text 40"/>
          <p:cNvSpPr/>
          <p:nvPr/>
        </p:nvSpPr>
        <p:spPr>
          <a:xfrm>
            <a:off x="4937760" y="5106924"/>
            <a:ext cx="2505456"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Administration and €150K uncommitted reserve</a:t>
            </a:r>
            <a:endParaRPr lang="en-US" sz="1400" dirty="0"/>
          </a:p>
        </p:txBody>
      </p:sp>
      <p:sp>
        <p:nvSpPr>
          <p:cNvPr id="43" name="Text 41"/>
          <p:cNvSpPr/>
          <p:nvPr/>
        </p:nvSpPr>
        <p:spPr>
          <a:xfrm>
            <a:off x="7836408" y="5125212"/>
            <a:ext cx="987552" cy="246888"/>
          </a:xfrm>
          <a:prstGeom prst="rect">
            <a:avLst/>
          </a:prstGeom>
          <a:noFill/>
          <a:ln/>
        </p:spPr>
        <p:txBody>
          <a:bodyPr wrap="square" lIns="0" tIns="0" rIns="0" bIns="0" rtlCol="0" anchor="t">
            <a:spAutoFit/>
          </a:bodyPr>
          <a:lstStyle/>
          <a:p>
            <a:pPr indent="0" marL="0">
              <a:buNone/>
            </a:pPr>
            <a:r>
              <a:rPr lang="en-US" sz="1900" b="1" dirty="0">
                <a:solidFill>
                  <a:srgbClr val="C3452E"/>
                </a:solidFill>
                <a:latin typeface="Roboto Condensed" pitchFamily="34" charset="0"/>
                <a:ea typeface="Roboto Condensed" pitchFamily="34" charset="-122"/>
                <a:cs typeface="Roboto Condensed" pitchFamily="34" charset="-120"/>
              </a:rPr>
              <a:t>€450K</a:t>
            </a:r>
            <a:endParaRPr lang="en-US" sz="1900" dirty="0"/>
          </a:p>
        </p:txBody>
      </p:sp>
      <p:sp>
        <p:nvSpPr>
          <p:cNvPr id="44" name="Text 42"/>
          <p:cNvSpPr/>
          <p:nvPr/>
        </p:nvSpPr>
        <p:spPr>
          <a:xfrm>
            <a:off x="8951976" y="5106924"/>
            <a:ext cx="2350008" cy="411480"/>
          </a:xfrm>
          <a:prstGeom prst="rect">
            <a:avLst/>
          </a:prstGeom>
          <a:noFill/>
          <a:ln/>
        </p:spPr>
        <p:txBody>
          <a:bodyPr wrap="square" lIns="0" tIns="0" rIns="0" bIns="0" rtlCol="0" anchor="t">
            <a:spAutoFit/>
          </a:bodyPr>
          <a:lstStyle/>
          <a:p>
            <a:pPr indent="0" marL="0">
              <a:buNone/>
            </a:pPr>
            <a:r>
              <a:rPr lang="en-US" sz="1400" dirty="0">
                <a:solidFill>
                  <a:srgbClr val="272323"/>
                </a:solidFill>
                <a:latin typeface="Roboto Condensed" pitchFamily="34" charset="0"/>
                <a:ea typeface="Roboto Condensed" pitchFamily="34" charset="-122"/>
                <a:cs typeface="Roboto Condensed" pitchFamily="34" charset="-120"/>
              </a:rPr>
              <a:t>Administration and €250K uncommitted reserve</a:t>
            </a:r>
            <a:endParaRPr lang="en-US" sz="1400" dirty="0"/>
          </a:p>
        </p:txBody>
      </p:sp>
      <p:sp>
        <p:nvSpPr>
          <p:cNvPr id="45" name="Shape 43"/>
          <p:cNvSpPr/>
          <p:nvPr/>
        </p:nvSpPr>
        <p:spPr>
          <a:xfrm>
            <a:off x="685800" y="5623560"/>
            <a:ext cx="10808208" cy="0"/>
          </a:xfrm>
          <a:prstGeom prst="line">
            <a:avLst/>
          </a:prstGeom>
          <a:noFill/>
          <a:ln w="20320">
            <a:solidFill>
              <a:srgbClr val="ED654F"/>
            </a:solidFill>
            <a:prstDash val="solid"/>
            <a:headEnd type="none"/>
            <a:tailEnd type="none"/>
          </a:ln>
        </p:spPr>
      </p:sp>
      <p:sp>
        <p:nvSpPr>
          <p:cNvPr id="46" name="Text 44"/>
          <p:cNvSpPr/>
          <p:nvPr/>
        </p:nvSpPr>
        <p:spPr>
          <a:xfrm>
            <a:off x="877824" y="5769864"/>
            <a:ext cx="1828800" cy="246888"/>
          </a:xfrm>
          <a:prstGeom prst="rect">
            <a:avLst/>
          </a:prstGeom>
          <a:noFill/>
          <a:ln/>
        </p:spPr>
        <p:txBody>
          <a:bodyPr wrap="square" lIns="0" tIns="0" rIns="0" bIns="0" rtlCol="0" anchor="t">
            <a:spAutoFit/>
          </a:bodyPr>
          <a:lstStyle/>
          <a:p>
            <a:pPr indent="0" marL="0">
              <a:buNone/>
            </a:pPr>
            <a:r>
              <a:rPr lang="en-US" sz="1700" b="1" dirty="0">
                <a:solidFill>
                  <a:srgbClr val="272323"/>
                </a:solidFill>
                <a:latin typeface="Roboto Condensed" pitchFamily="34" charset="0"/>
                <a:ea typeface="Roboto Condensed" pitchFamily="34" charset="-122"/>
                <a:cs typeface="Roboto Condensed" pitchFamily="34" charset="-120"/>
              </a:rPr>
              <a:t>TOTAL</a:t>
            </a:r>
            <a:endParaRPr lang="en-US" sz="1700" dirty="0"/>
          </a:p>
        </p:txBody>
      </p:sp>
      <p:sp>
        <p:nvSpPr>
          <p:cNvPr id="47" name="Text 45"/>
          <p:cNvSpPr/>
          <p:nvPr/>
        </p:nvSpPr>
        <p:spPr>
          <a:xfrm>
            <a:off x="4014216" y="5715000"/>
            <a:ext cx="2011680" cy="338328"/>
          </a:xfrm>
          <a:prstGeom prst="rect">
            <a:avLst/>
          </a:prstGeom>
          <a:noFill/>
          <a:ln/>
        </p:spPr>
        <p:txBody>
          <a:bodyPr wrap="square" lIns="0" tIns="0" rIns="0" bIns="0" rtlCol="0" anchor="t">
            <a:spAutoFit/>
          </a:bodyPr>
          <a:lstStyle/>
          <a:p>
            <a:pPr indent="0" marL="0">
              <a:buNone/>
            </a:pPr>
            <a:r>
              <a:rPr lang="en-US" sz="2400" b="1" dirty="0">
                <a:solidFill>
                  <a:srgbClr val="ED654F"/>
                </a:solidFill>
                <a:latin typeface="Roboto Condensed" pitchFamily="34" charset="0"/>
                <a:ea typeface="Roboto Condensed" pitchFamily="34" charset="-122"/>
                <a:cs typeface="Roboto Condensed" pitchFamily="34" charset="-120"/>
              </a:rPr>
              <a:t>€2,000K</a:t>
            </a:r>
            <a:endParaRPr lang="en-US" sz="2400" dirty="0"/>
          </a:p>
        </p:txBody>
      </p:sp>
      <p:sp>
        <p:nvSpPr>
          <p:cNvPr id="48" name="Text 46"/>
          <p:cNvSpPr/>
          <p:nvPr/>
        </p:nvSpPr>
        <p:spPr>
          <a:xfrm>
            <a:off x="7836408" y="5715000"/>
            <a:ext cx="2011680" cy="338328"/>
          </a:xfrm>
          <a:prstGeom prst="rect">
            <a:avLst/>
          </a:prstGeom>
          <a:noFill/>
          <a:ln/>
        </p:spPr>
        <p:txBody>
          <a:bodyPr wrap="square" lIns="0" tIns="0" rIns="0" bIns="0" rtlCol="0" anchor="t">
            <a:spAutoFit/>
          </a:bodyPr>
          <a:lstStyle/>
          <a:p>
            <a:pPr indent="0" marL="0">
              <a:buNone/>
            </a:pPr>
            <a:r>
              <a:rPr lang="en-US" sz="2400" b="1" dirty="0">
                <a:solidFill>
                  <a:srgbClr val="ED654F"/>
                </a:solidFill>
                <a:latin typeface="Roboto Condensed" pitchFamily="34" charset="0"/>
                <a:ea typeface="Roboto Condensed" pitchFamily="34" charset="-122"/>
                <a:cs typeface="Roboto Condensed" pitchFamily="34" charset="-120"/>
              </a:rPr>
              <a:t>€5,000K</a:t>
            </a:r>
            <a:endParaRPr lang="en-US" sz="2400" dirty="0"/>
          </a:p>
        </p:txBody>
      </p:sp>
      <p:sp>
        <p:nvSpPr>
          <p:cNvPr id="49" name="Text 47"/>
          <p:cNvSpPr/>
          <p:nvPr/>
        </p:nvSpPr>
        <p:spPr>
          <a:xfrm>
            <a:off x="685800" y="6172200"/>
            <a:ext cx="10808208" cy="228600"/>
          </a:xfrm>
          <a:prstGeom prst="rect">
            <a:avLst/>
          </a:prstGeom>
          <a:noFill/>
          <a:ln/>
        </p:spPr>
        <p:txBody>
          <a:bodyPr wrap="square" lIns="0" tIns="0" rIns="0" bIns="0" rtlCol="0" anchor="t">
            <a:spAutoFit/>
          </a:bodyPr>
          <a:lstStyle/>
          <a:p>
            <a:pPr indent="0" marL="0">
              <a:buNone/>
            </a:pPr>
            <a:r>
              <a:rPr lang="en-US" sz="1030" dirty="0">
                <a:solidFill>
                  <a:srgbClr val="65605D"/>
                </a:solidFill>
                <a:latin typeface="Roboto Condensed" pitchFamily="34" charset="0"/>
                <a:ea typeface="Roboto Condensed" pitchFamily="34" charset="-122"/>
                <a:cs typeface="Roboto Condensed" pitchFamily="34" charset="-120"/>
              </a:rPr>
              <a:t>All-in spending envelopes before customer receipts. Staff and contractors are included in each function; no double-counted team budget.</a:t>
            </a:r>
            <a:endParaRPr lang="en-US" sz="10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Spain First. International by Evidence.</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The business is cloud-delivered. Product, legal and commercial readiness still determine where we launch.</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EXECUTION 01  |  Conditional milestones</a:t>
            </a:r>
            <a:endParaRPr lang="en-US" sz="950" dirty="0"/>
          </a:p>
        </p:txBody>
      </p:sp>
      <p:sp>
        <p:nvSpPr>
          <p:cNvPr id="5" name="Shape 3"/>
          <p:cNvSpPr/>
          <p:nvPr/>
        </p:nvSpPr>
        <p:spPr>
          <a:xfrm>
            <a:off x="685800" y="1810512"/>
            <a:ext cx="3419856" cy="2459736"/>
          </a:xfrm>
          <a:prstGeom prst="rect">
            <a:avLst/>
          </a:prstGeom>
          <a:solidFill>
            <a:srgbClr val="FFFFFF"/>
          </a:solidFill>
          <a:ln w="12700">
            <a:solidFill>
              <a:srgbClr val="FFFFFF"/>
            </a:solidFill>
            <a:prstDash val="solid"/>
          </a:ln>
        </p:spPr>
      </p:sp>
      <p:sp>
        <p:nvSpPr>
          <p:cNvPr id="6" name="Shape 4"/>
          <p:cNvSpPr/>
          <p:nvPr/>
        </p:nvSpPr>
        <p:spPr>
          <a:xfrm>
            <a:off x="841248" y="1965960"/>
            <a:ext cx="1472184" cy="310896"/>
          </a:xfrm>
          <a:prstGeom prst="rect">
            <a:avLst/>
          </a:prstGeom>
          <a:solidFill>
            <a:srgbClr val="ED654F"/>
          </a:solidFill>
          <a:ln w="12700">
            <a:solidFill>
              <a:srgbClr val="ED654F"/>
            </a:solidFill>
            <a:prstDash val="solid"/>
          </a:ln>
        </p:spPr>
      </p:sp>
      <p:sp>
        <p:nvSpPr>
          <p:cNvPr id="7" name="Text 5"/>
          <p:cNvSpPr/>
          <p:nvPr/>
        </p:nvSpPr>
        <p:spPr>
          <a:xfrm>
            <a:off x="932688" y="2022653"/>
            <a:ext cx="1289304" cy="201168"/>
          </a:xfrm>
          <a:prstGeom prst="rect">
            <a:avLst/>
          </a:prstGeom>
          <a:noFill/>
          <a:ln/>
        </p:spPr>
        <p:txBody>
          <a:bodyPr wrap="square" lIns="0" tIns="0" rIns="0" bIns="0" rtlCol="0" anchor="t">
            <a:spAutoFit/>
          </a:bodyPr>
          <a:lstStyle/>
          <a:p>
            <a:pPr indent="0" marL="0">
              <a:buNone/>
            </a:pPr>
            <a:r>
              <a:rPr lang="en-US" sz="1170" b="1" dirty="0">
                <a:solidFill>
                  <a:srgbClr val="FFFFFF"/>
                </a:solidFill>
                <a:latin typeface="Roboto Condensed" pitchFamily="34" charset="0"/>
                <a:ea typeface="Roboto Condensed" pitchFamily="34" charset="-122"/>
                <a:cs typeface="Roboto Condensed" pitchFamily="34" charset="-120"/>
              </a:rPr>
              <a:t>DAYS 1–90</a:t>
            </a:r>
            <a:endParaRPr lang="en-US" sz="1170" dirty="0"/>
          </a:p>
        </p:txBody>
      </p:sp>
      <p:sp>
        <p:nvSpPr>
          <p:cNvPr id="8" name="Text 6"/>
          <p:cNvSpPr/>
          <p:nvPr/>
        </p:nvSpPr>
        <p:spPr>
          <a:xfrm>
            <a:off x="841248" y="2496312"/>
            <a:ext cx="3099816" cy="539496"/>
          </a:xfrm>
          <a:prstGeom prst="rect">
            <a:avLst/>
          </a:prstGeom>
          <a:noFill/>
          <a:ln/>
        </p:spPr>
        <p:txBody>
          <a:bodyPr wrap="square" lIns="0" tIns="0" rIns="0" bIns="0" rtlCol="0" anchor="t">
            <a:spAutoFit/>
          </a:bodyPr>
          <a:lstStyle/>
          <a:p>
            <a:pPr indent="0" marL="0">
              <a:buNone/>
            </a:pPr>
            <a:r>
              <a:rPr lang="en-US" sz="2300" b="1" dirty="0">
                <a:solidFill>
                  <a:srgbClr val="272323"/>
                </a:solidFill>
                <a:latin typeface="Roboto Condensed" pitchFamily="34" charset="0"/>
                <a:ea typeface="Roboto Condensed" pitchFamily="34" charset="-122"/>
                <a:cs typeface="Roboto Condensed" pitchFamily="34" charset="-120"/>
              </a:rPr>
              <a:t>Prove the first useful journey</a:t>
            </a:r>
            <a:endParaRPr lang="en-US" sz="2300" dirty="0"/>
          </a:p>
        </p:txBody>
      </p:sp>
      <p:sp>
        <p:nvSpPr>
          <p:cNvPr id="9" name="Text 7"/>
          <p:cNvSpPr/>
          <p:nvPr/>
        </p:nvSpPr>
        <p:spPr>
          <a:xfrm>
            <a:off x="841248" y="3209544"/>
            <a:ext cx="3090672" cy="795528"/>
          </a:xfrm>
          <a:prstGeom prst="rect">
            <a:avLst/>
          </a:prstGeom>
          <a:noFill/>
          <a:ln/>
        </p:spPr>
        <p:txBody>
          <a:bodyPr wrap="square" lIns="0" tIns="0" rIns="0" bIns="0" rtlCol="0" anchor="t">
            <a:spAutoFit/>
          </a:bodyPr>
          <a:lstStyle/>
          <a:p>
            <a:pPr indent="0" marL="0">
              <a:buNone/>
            </a:pPr>
            <a:r>
              <a:rPr lang="en-US" sz="1600" dirty="0">
                <a:solidFill>
                  <a:srgbClr val="272323"/>
                </a:solidFill>
                <a:latin typeface="Roboto Condensed" pitchFamily="34" charset="0"/>
                <a:ea typeface="Roboto Condensed" pitchFamily="34" charset="-122"/>
                <a:cs typeface="Roboto Condensed" pitchFamily="34" charset="-120"/>
              </a:rPr>
              <a:t>Release quality and reviewed content.</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Small direct + partner pilots.</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Activation, support and retention data.</a:t>
            </a:r>
            <a:endParaRPr lang="en-US" sz="1600" dirty="0"/>
          </a:p>
        </p:txBody>
      </p:sp>
      <p:sp>
        <p:nvSpPr>
          <p:cNvPr id="10" name="Text 8"/>
          <p:cNvSpPr/>
          <p:nvPr/>
        </p:nvSpPr>
        <p:spPr>
          <a:xfrm>
            <a:off x="694944" y="4462272"/>
            <a:ext cx="3383280" cy="374904"/>
          </a:xfrm>
          <a:prstGeom prst="rect">
            <a:avLst/>
          </a:prstGeom>
          <a:noFill/>
          <a:ln/>
        </p:spPr>
        <p:txBody>
          <a:bodyPr wrap="square" lIns="0" tIns="0" rIns="0" bIns="0" rtlCol="0" anchor="t">
            <a:spAutoFit/>
          </a:bodyPr>
          <a:lstStyle/>
          <a:p>
            <a:pPr indent="0" marL="0">
              <a:buNone/>
            </a:pPr>
            <a:r>
              <a:rPr lang="en-US" sz="1420" b="1" dirty="0">
                <a:solidFill>
                  <a:srgbClr val="C3452E"/>
                </a:solidFill>
                <a:latin typeface="Roboto Condensed" pitchFamily="34" charset="0"/>
                <a:ea typeface="Roboto Condensed" pitchFamily="34" charset="-122"/>
                <a:cs typeface="Roboto Condensed" pitchFamily="34" charset="-120"/>
              </a:rPr>
              <a:t>Gate: usefulness, safety and early retention</a:t>
            </a:r>
            <a:endParaRPr lang="en-US" sz="1420" dirty="0"/>
          </a:p>
        </p:txBody>
      </p:sp>
      <p:sp>
        <p:nvSpPr>
          <p:cNvPr id="11" name="Shape 9"/>
          <p:cNvSpPr/>
          <p:nvPr/>
        </p:nvSpPr>
        <p:spPr>
          <a:xfrm>
            <a:off x="4379976" y="1810512"/>
            <a:ext cx="3419856" cy="2459736"/>
          </a:xfrm>
          <a:prstGeom prst="rect">
            <a:avLst/>
          </a:prstGeom>
          <a:solidFill>
            <a:srgbClr val="FFFFFF"/>
          </a:solidFill>
          <a:ln w="12700">
            <a:solidFill>
              <a:srgbClr val="FFFFFF"/>
            </a:solidFill>
            <a:prstDash val="solid"/>
          </a:ln>
        </p:spPr>
      </p:sp>
      <p:sp>
        <p:nvSpPr>
          <p:cNvPr id="12" name="Shape 10"/>
          <p:cNvSpPr/>
          <p:nvPr/>
        </p:nvSpPr>
        <p:spPr>
          <a:xfrm>
            <a:off x="4535424" y="1965960"/>
            <a:ext cx="1472184" cy="310896"/>
          </a:xfrm>
          <a:prstGeom prst="rect">
            <a:avLst/>
          </a:prstGeom>
          <a:solidFill>
            <a:srgbClr val="ED654F"/>
          </a:solidFill>
          <a:ln w="12700">
            <a:solidFill>
              <a:srgbClr val="ED654F"/>
            </a:solidFill>
            <a:prstDash val="solid"/>
          </a:ln>
        </p:spPr>
      </p:sp>
      <p:sp>
        <p:nvSpPr>
          <p:cNvPr id="13" name="Text 11"/>
          <p:cNvSpPr/>
          <p:nvPr/>
        </p:nvSpPr>
        <p:spPr>
          <a:xfrm>
            <a:off x="4626864" y="2022653"/>
            <a:ext cx="1289304" cy="201168"/>
          </a:xfrm>
          <a:prstGeom prst="rect">
            <a:avLst/>
          </a:prstGeom>
          <a:noFill/>
          <a:ln/>
        </p:spPr>
        <p:txBody>
          <a:bodyPr wrap="square" lIns="0" tIns="0" rIns="0" bIns="0" rtlCol="0" anchor="t">
            <a:spAutoFit/>
          </a:bodyPr>
          <a:lstStyle/>
          <a:p>
            <a:pPr indent="0" marL="0">
              <a:buNone/>
            </a:pPr>
            <a:r>
              <a:rPr lang="en-US" sz="1170" b="1" dirty="0">
                <a:solidFill>
                  <a:srgbClr val="FFFFFF"/>
                </a:solidFill>
                <a:latin typeface="Roboto Condensed" pitchFamily="34" charset="0"/>
                <a:ea typeface="Roboto Condensed" pitchFamily="34" charset="-122"/>
                <a:cs typeface="Roboto Condensed" pitchFamily="34" charset="-120"/>
              </a:rPr>
              <a:t>MONTHS 4–12</a:t>
            </a:r>
            <a:endParaRPr lang="en-US" sz="1170" dirty="0"/>
          </a:p>
        </p:txBody>
      </p:sp>
      <p:sp>
        <p:nvSpPr>
          <p:cNvPr id="14" name="Text 12"/>
          <p:cNvSpPr/>
          <p:nvPr/>
        </p:nvSpPr>
        <p:spPr>
          <a:xfrm>
            <a:off x="4535424" y="2496312"/>
            <a:ext cx="3099816" cy="539496"/>
          </a:xfrm>
          <a:prstGeom prst="rect">
            <a:avLst/>
          </a:prstGeom>
          <a:noFill/>
          <a:ln/>
        </p:spPr>
        <p:txBody>
          <a:bodyPr wrap="square" lIns="0" tIns="0" rIns="0" bIns="0" rtlCol="0" anchor="t">
            <a:spAutoFit/>
          </a:bodyPr>
          <a:lstStyle/>
          <a:p>
            <a:pPr indent="0" marL="0">
              <a:buNone/>
            </a:pPr>
            <a:r>
              <a:rPr lang="en-US" sz="2300" b="1" dirty="0">
                <a:solidFill>
                  <a:srgbClr val="272323"/>
                </a:solidFill>
                <a:latin typeface="Roboto Condensed" pitchFamily="34" charset="0"/>
                <a:ea typeface="Roboto Condensed" pitchFamily="34" charset="-122"/>
                <a:cs typeface="Roboto Condensed" pitchFamily="34" charset="-120"/>
              </a:rPr>
              <a:t>Build a repeatable Spain route</a:t>
            </a:r>
            <a:endParaRPr lang="en-US" sz="2300" dirty="0"/>
          </a:p>
        </p:txBody>
      </p:sp>
      <p:sp>
        <p:nvSpPr>
          <p:cNvPr id="15" name="Text 13"/>
          <p:cNvSpPr/>
          <p:nvPr/>
        </p:nvSpPr>
        <p:spPr>
          <a:xfrm>
            <a:off x="4535424" y="3209544"/>
            <a:ext cx="3090672" cy="795528"/>
          </a:xfrm>
          <a:prstGeom prst="rect">
            <a:avLst/>
          </a:prstGeom>
          <a:noFill/>
          <a:ln/>
        </p:spPr>
        <p:txBody>
          <a:bodyPr wrap="square" lIns="0" tIns="0" rIns="0" bIns="0" rtlCol="0" anchor="t">
            <a:spAutoFit/>
          </a:bodyPr>
          <a:lstStyle/>
          <a:p>
            <a:pPr indent="0" marL="0">
              <a:buNone/>
            </a:pPr>
            <a:r>
              <a:rPr lang="en-US" sz="1600" dirty="0">
                <a:solidFill>
                  <a:srgbClr val="272323"/>
                </a:solidFill>
                <a:latin typeface="Roboto Condensed" pitchFamily="34" charset="0"/>
                <a:ea typeface="Roboto Condensed" pitchFamily="34" charset="-122"/>
                <a:cs typeface="Roboto Condensed" pitchFamily="34" charset="-120"/>
              </a:rPr>
              <a:t>Active locations and renewing accounts.</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Test acquisition against contribution.</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Scale only the routes that work.</a:t>
            </a:r>
            <a:endParaRPr lang="en-US" sz="1600" dirty="0"/>
          </a:p>
        </p:txBody>
      </p:sp>
      <p:sp>
        <p:nvSpPr>
          <p:cNvPr id="16" name="Text 14"/>
          <p:cNvSpPr/>
          <p:nvPr/>
        </p:nvSpPr>
        <p:spPr>
          <a:xfrm>
            <a:off x="4389120" y="4462272"/>
            <a:ext cx="3383280" cy="374904"/>
          </a:xfrm>
          <a:prstGeom prst="rect">
            <a:avLst/>
          </a:prstGeom>
          <a:noFill/>
          <a:ln/>
        </p:spPr>
        <p:txBody>
          <a:bodyPr wrap="square" lIns="0" tIns="0" rIns="0" bIns="0" rtlCol="0" anchor="t">
            <a:spAutoFit/>
          </a:bodyPr>
          <a:lstStyle/>
          <a:p>
            <a:pPr indent="0" marL="0">
              <a:buNone/>
            </a:pPr>
            <a:r>
              <a:rPr lang="en-US" sz="1420" b="1" dirty="0">
                <a:solidFill>
                  <a:srgbClr val="C3452E"/>
                </a:solidFill>
                <a:latin typeface="Roboto Condensed" pitchFamily="34" charset="0"/>
                <a:ea typeface="Roboto Condensed" pitchFamily="34" charset="-122"/>
                <a:cs typeface="Roboto Condensed" pitchFamily="34" charset="-120"/>
              </a:rPr>
              <a:t>Gate: viable economics + delivery capacity</a:t>
            </a:r>
            <a:endParaRPr lang="en-US" sz="1420" dirty="0"/>
          </a:p>
        </p:txBody>
      </p:sp>
      <p:sp>
        <p:nvSpPr>
          <p:cNvPr id="17" name="Shape 15"/>
          <p:cNvSpPr/>
          <p:nvPr/>
        </p:nvSpPr>
        <p:spPr>
          <a:xfrm>
            <a:off x="8074152" y="1810512"/>
            <a:ext cx="3419856" cy="2459736"/>
          </a:xfrm>
          <a:prstGeom prst="rect">
            <a:avLst/>
          </a:prstGeom>
          <a:solidFill>
            <a:srgbClr val="FFFFFF"/>
          </a:solidFill>
          <a:ln w="12700">
            <a:solidFill>
              <a:srgbClr val="FFFFFF"/>
            </a:solidFill>
            <a:prstDash val="solid"/>
          </a:ln>
        </p:spPr>
      </p:sp>
      <p:sp>
        <p:nvSpPr>
          <p:cNvPr id="18" name="Shape 16"/>
          <p:cNvSpPr/>
          <p:nvPr/>
        </p:nvSpPr>
        <p:spPr>
          <a:xfrm>
            <a:off x="8229600" y="1965960"/>
            <a:ext cx="1472184" cy="310896"/>
          </a:xfrm>
          <a:prstGeom prst="rect">
            <a:avLst/>
          </a:prstGeom>
          <a:solidFill>
            <a:srgbClr val="ED654F"/>
          </a:solidFill>
          <a:ln w="12700">
            <a:solidFill>
              <a:srgbClr val="ED654F"/>
            </a:solidFill>
            <a:prstDash val="solid"/>
          </a:ln>
        </p:spPr>
      </p:sp>
      <p:sp>
        <p:nvSpPr>
          <p:cNvPr id="19" name="Text 17"/>
          <p:cNvSpPr/>
          <p:nvPr/>
        </p:nvSpPr>
        <p:spPr>
          <a:xfrm>
            <a:off x="8321040" y="2022653"/>
            <a:ext cx="1289304" cy="201168"/>
          </a:xfrm>
          <a:prstGeom prst="rect">
            <a:avLst/>
          </a:prstGeom>
          <a:noFill/>
          <a:ln/>
        </p:spPr>
        <p:txBody>
          <a:bodyPr wrap="square" lIns="0" tIns="0" rIns="0" bIns="0" rtlCol="0" anchor="t">
            <a:spAutoFit/>
          </a:bodyPr>
          <a:lstStyle/>
          <a:p>
            <a:pPr indent="0" marL="0">
              <a:buNone/>
            </a:pPr>
            <a:r>
              <a:rPr lang="en-US" sz="1170" b="1" dirty="0">
                <a:solidFill>
                  <a:srgbClr val="FFFFFF"/>
                </a:solidFill>
                <a:latin typeface="Roboto Condensed" pitchFamily="34" charset="0"/>
                <a:ea typeface="Roboto Condensed" pitchFamily="34" charset="-122"/>
                <a:cs typeface="Roboto Condensed" pitchFamily="34" charset="-120"/>
              </a:rPr>
              <a:t>MONTHS 13–24</a:t>
            </a:r>
            <a:endParaRPr lang="en-US" sz="1170" dirty="0"/>
          </a:p>
        </p:txBody>
      </p:sp>
      <p:sp>
        <p:nvSpPr>
          <p:cNvPr id="20" name="Text 18"/>
          <p:cNvSpPr/>
          <p:nvPr/>
        </p:nvSpPr>
        <p:spPr>
          <a:xfrm>
            <a:off x="8229600" y="2496312"/>
            <a:ext cx="3099816" cy="539496"/>
          </a:xfrm>
          <a:prstGeom prst="rect">
            <a:avLst/>
          </a:prstGeom>
          <a:noFill/>
          <a:ln/>
        </p:spPr>
        <p:txBody>
          <a:bodyPr wrap="square" lIns="0" tIns="0" rIns="0" bIns="0" rtlCol="0" anchor="t">
            <a:spAutoFit/>
          </a:bodyPr>
          <a:lstStyle/>
          <a:p>
            <a:pPr indent="0" marL="0">
              <a:buNone/>
            </a:pPr>
            <a:r>
              <a:rPr lang="en-US" sz="2300" b="1" dirty="0">
                <a:solidFill>
                  <a:srgbClr val="272323"/>
                </a:solidFill>
                <a:latin typeface="Roboto Condensed" pitchFamily="34" charset="0"/>
                <a:ea typeface="Roboto Condensed" pitchFamily="34" charset="-122"/>
                <a:cs typeface="Roboto Condensed" pitchFamily="34" charset="-120"/>
              </a:rPr>
              <a:t>Replicate selectively</a:t>
            </a:r>
            <a:endParaRPr lang="en-US" sz="2300" dirty="0"/>
          </a:p>
        </p:txBody>
      </p:sp>
      <p:sp>
        <p:nvSpPr>
          <p:cNvPr id="21" name="Text 19"/>
          <p:cNvSpPr/>
          <p:nvPr/>
        </p:nvSpPr>
        <p:spPr>
          <a:xfrm>
            <a:off x="8229600" y="3209544"/>
            <a:ext cx="3090672" cy="795528"/>
          </a:xfrm>
          <a:prstGeom prst="rect">
            <a:avLst/>
          </a:prstGeom>
          <a:noFill/>
          <a:ln/>
        </p:spPr>
        <p:txBody>
          <a:bodyPr wrap="square" lIns="0" tIns="0" rIns="0" bIns="0" rtlCol="0" anchor="t">
            <a:spAutoFit/>
          </a:bodyPr>
          <a:lstStyle/>
          <a:p>
            <a:pPr indent="0" marL="0">
              <a:buNone/>
            </a:pPr>
            <a:r>
              <a:rPr lang="en-US" sz="1600" dirty="0">
                <a:solidFill>
                  <a:srgbClr val="272323"/>
                </a:solidFill>
                <a:latin typeface="Roboto Condensed" pitchFamily="34" charset="0"/>
                <a:ea typeface="Roboto Condensed" pitchFamily="34" charset="-122"/>
                <a:cs typeface="Roboto Condensed" pitchFamily="34" charset="-120"/>
              </a:rPr>
              <a:t>Expand proven Spain channels.</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Develop a reviewed pregnancy mode.</a:t>
            </a:r>
            <a:endParaRPr lang="en-US" sz="1600" dirty="0"/>
          </a:p>
          <a:p>
            <a:pPr indent="0" marL="0">
              <a:buNone/>
            </a:pPr>
            <a:r>
              <a:rPr lang="en-US" sz="1600" dirty="0">
                <a:solidFill>
                  <a:srgbClr val="272323"/>
                </a:solidFill>
                <a:latin typeface="Roboto Condensed" pitchFamily="34" charset="0"/>
                <a:ea typeface="Roboto Condensed" pitchFamily="34" charset="-122"/>
                <a:cs typeface="Roboto Condensed" pitchFamily="34" charset="-120"/>
              </a:rPr>
              <a:t>Prepare selected country pilots.</a:t>
            </a:r>
            <a:endParaRPr lang="en-US" sz="1600" dirty="0"/>
          </a:p>
        </p:txBody>
      </p:sp>
      <p:sp>
        <p:nvSpPr>
          <p:cNvPr id="22" name="Text 20"/>
          <p:cNvSpPr/>
          <p:nvPr/>
        </p:nvSpPr>
        <p:spPr>
          <a:xfrm>
            <a:off x="8083296" y="4462272"/>
            <a:ext cx="3383280" cy="374904"/>
          </a:xfrm>
          <a:prstGeom prst="rect">
            <a:avLst/>
          </a:prstGeom>
          <a:noFill/>
          <a:ln/>
        </p:spPr>
        <p:txBody>
          <a:bodyPr wrap="square" lIns="0" tIns="0" rIns="0" bIns="0" rtlCol="0" anchor="t">
            <a:spAutoFit/>
          </a:bodyPr>
          <a:lstStyle/>
          <a:p>
            <a:pPr indent="0" marL="0">
              <a:buNone/>
            </a:pPr>
            <a:r>
              <a:rPr lang="en-US" sz="1420" b="1" dirty="0">
                <a:solidFill>
                  <a:srgbClr val="C3452E"/>
                </a:solidFill>
                <a:latin typeface="Roboto Condensed" pitchFamily="34" charset="0"/>
                <a:ea typeface="Roboto Condensed" pitchFamily="34" charset="-122"/>
                <a:cs typeface="Roboto Condensed" pitchFamily="34" charset="-120"/>
              </a:rPr>
              <a:t>Gate: clinical + country readiness + cash</a:t>
            </a:r>
            <a:endParaRPr lang="en-US" sz="1420" dirty="0"/>
          </a:p>
        </p:txBody>
      </p:sp>
      <p:sp>
        <p:nvSpPr>
          <p:cNvPr id="23" name="Shape 21"/>
          <p:cNvSpPr/>
          <p:nvPr/>
        </p:nvSpPr>
        <p:spPr>
          <a:xfrm>
            <a:off x="685800" y="4946904"/>
            <a:ext cx="10808208" cy="0"/>
          </a:xfrm>
          <a:prstGeom prst="line">
            <a:avLst/>
          </a:prstGeom>
          <a:noFill/>
          <a:ln w="12700">
            <a:solidFill>
              <a:srgbClr val="D6D1CC"/>
            </a:solidFill>
            <a:prstDash val="solid"/>
            <a:headEnd type="none"/>
            <a:tailEnd type="none"/>
          </a:ln>
        </p:spPr>
      </p:sp>
      <p:sp>
        <p:nvSpPr>
          <p:cNvPr id="24" name="Text 22"/>
          <p:cNvSpPr/>
          <p:nvPr/>
        </p:nvSpPr>
        <p:spPr>
          <a:xfrm>
            <a:off x="704088" y="5148072"/>
            <a:ext cx="3291840" cy="228600"/>
          </a:xfrm>
          <a:prstGeom prst="rect">
            <a:avLst/>
          </a:prstGeom>
          <a:noFill/>
          <a:ln/>
        </p:spPr>
        <p:txBody>
          <a:bodyPr wrap="square" lIns="0" tIns="0" rIns="0" bIns="0" rtlCol="0" anchor="t">
            <a:spAutoFit/>
          </a:bodyPr>
          <a:lstStyle/>
          <a:p>
            <a:pPr indent="0" marL="0">
              <a:buNone/>
            </a:pPr>
            <a:r>
              <a:rPr lang="en-US" sz="1300" b="1" dirty="0">
                <a:solidFill>
                  <a:srgbClr val="C3452E"/>
                </a:solidFill>
                <a:latin typeface="Roboto Condensed" pitchFamily="34" charset="0"/>
                <a:ea typeface="Roboto Condensed" pitchFamily="34" charset="-122"/>
                <a:cs typeface="Roboto Condensed" pitchFamily="34" charset="-120"/>
              </a:rPr>
              <a:t>AUSTRALIA</a:t>
            </a:r>
            <a:endParaRPr lang="en-US" sz="1300" dirty="0"/>
          </a:p>
        </p:txBody>
      </p:sp>
      <p:sp>
        <p:nvSpPr>
          <p:cNvPr id="25" name="Text 23"/>
          <p:cNvSpPr/>
          <p:nvPr/>
        </p:nvSpPr>
        <p:spPr>
          <a:xfrm>
            <a:off x="704088" y="5486400"/>
            <a:ext cx="3291840" cy="576072"/>
          </a:xfrm>
          <a:prstGeom prst="rect">
            <a:avLst/>
          </a:prstGeom>
          <a:noFill/>
          <a:ln/>
        </p:spPr>
        <p:txBody>
          <a:bodyPr wrap="square" lIns="0" tIns="0" rIns="0" bIns="0" rtlCol="0" anchor="t">
            <a:spAutoFit/>
          </a:bodyPr>
          <a:lstStyle/>
          <a:p>
            <a:pPr indent="0" marL="0">
              <a:buNone/>
            </a:pPr>
            <a:r>
              <a:rPr lang="en-US" sz="1560" dirty="0">
                <a:solidFill>
                  <a:srgbClr val="272323"/>
                </a:solidFill>
                <a:latin typeface="Roboto Condensed" pitchFamily="34" charset="0"/>
                <a:ea typeface="Roboto Condensed" pitchFamily="34" charset="-122"/>
                <a:cs typeface="Roboto Condensed" pitchFamily="34" charset="-120"/>
              </a:rPr>
              <a:t>Test partner demand, content fit and local pricing before committing to launch.</a:t>
            </a:r>
            <a:endParaRPr lang="en-US" sz="1560" dirty="0"/>
          </a:p>
        </p:txBody>
      </p:sp>
      <p:sp>
        <p:nvSpPr>
          <p:cNvPr id="26" name="Text 24"/>
          <p:cNvSpPr/>
          <p:nvPr/>
        </p:nvSpPr>
        <p:spPr>
          <a:xfrm>
            <a:off x="4398264" y="5148072"/>
            <a:ext cx="3291840" cy="228600"/>
          </a:xfrm>
          <a:prstGeom prst="rect">
            <a:avLst/>
          </a:prstGeom>
          <a:noFill/>
          <a:ln/>
        </p:spPr>
        <p:txBody>
          <a:bodyPr wrap="square" lIns="0" tIns="0" rIns="0" bIns="0" rtlCol="0" anchor="t">
            <a:spAutoFit/>
          </a:bodyPr>
          <a:lstStyle/>
          <a:p>
            <a:pPr indent="0" marL="0">
              <a:buNone/>
            </a:pPr>
            <a:r>
              <a:rPr lang="en-US" sz="1300" b="1" dirty="0">
                <a:solidFill>
                  <a:srgbClr val="C3452E"/>
                </a:solidFill>
                <a:latin typeface="Roboto Condensed" pitchFamily="34" charset="0"/>
                <a:ea typeface="Roboto Condensed" pitchFamily="34" charset="-122"/>
                <a:cs typeface="Roboto Condensed" pitchFamily="34" charset="-120"/>
              </a:rPr>
              <a:t>SINGAPORE</a:t>
            </a:r>
            <a:endParaRPr lang="en-US" sz="1300" dirty="0"/>
          </a:p>
        </p:txBody>
      </p:sp>
      <p:sp>
        <p:nvSpPr>
          <p:cNvPr id="27" name="Text 25"/>
          <p:cNvSpPr/>
          <p:nvPr/>
        </p:nvSpPr>
        <p:spPr>
          <a:xfrm>
            <a:off x="4398264" y="5486400"/>
            <a:ext cx="3291840" cy="576072"/>
          </a:xfrm>
          <a:prstGeom prst="rect">
            <a:avLst/>
          </a:prstGeom>
          <a:noFill/>
          <a:ln/>
        </p:spPr>
        <p:txBody>
          <a:bodyPr wrap="square" lIns="0" tIns="0" rIns="0" bIns="0" rtlCol="0" anchor="t">
            <a:spAutoFit/>
          </a:bodyPr>
          <a:lstStyle/>
          <a:p>
            <a:pPr indent="0" marL="0">
              <a:buNone/>
            </a:pPr>
            <a:r>
              <a:rPr lang="en-US" sz="1560" dirty="0">
                <a:solidFill>
                  <a:srgbClr val="272323"/>
                </a:solidFill>
                <a:latin typeface="Roboto Condensed" pitchFamily="34" charset="0"/>
                <a:ea typeface="Roboto Condensed" pitchFamily="34" charset="-122"/>
                <a:cs typeface="Roboto Condensed" pitchFamily="34" charset="-120"/>
              </a:rPr>
              <a:t>Lucía’s PR status and digital contacts support introductions and eligibility checks.</a:t>
            </a:r>
            <a:endParaRPr lang="en-US" sz="1560" dirty="0"/>
          </a:p>
        </p:txBody>
      </p:sp>
      <p:sp>
        <p:nvSpPr>
          <p:cNvPr id="28" name="Text 26"/>
          <p:cNvSpPr/>
          <p:nvPr/>
        </p:nvSpPr>
        <p:spPr>
          <a:xfrm>
            <a:off x="8092440" y="5148072"/>
            <a:ext cx="3291840" cy="228600"/>
          </a:xfrm>
          <a:prstGeom prst="rect">
            <a:avLst/>
          </a:prstGeom>
          <a:noFill/>
          <a:ln/>
        </p:spPr>
        <p:txBody>
          <a:bodyPr wrap="square" lIns="0" tIns="0" rIns="0" bIns="0" rtlCol="0" anchor="t">
            <a:spAutoFit/>
          </a:bodyPr>
          <a:lstStyle/>
          <a:p>
            <a:pPr indent="0" marL="0">
              <a:buNone/>
            </a:pPr>
            <a:r>
              <a:rPr lang="en-US" sz="1300" b="1" dirty="0">
                <a:solidFill>
                  <a:srgbClr val="C3452E"/>
                </a:solidFill>
                <a:latin typeface="Roboto Condensed" pitchFamily="34" charset="0"/>
                <a:ea typeface="Roboto Condensed" pitchFamily="34" charset="-122"/>
                <a:cs typeface="Roboto Condensed" pitchFamily="34" charset="-120"/>
              </a:rPr>
              <a:t>EVERY NEW MARKET</a:t>
            </a:r>
            <a:endParaRPr lang="en-US" sz="1300" dirty="0"/>
          </a:p>
        </p:txBody>
      </p:sp>
      <p:sp>
        <p:nvSpPr>
          <p:cNvPr id="29" name="Text 27"/>
          <p:cNvSpPr/>
          <p:nvPr/>
        </p:nvSpPr>
        <p:spPr>
          <a:xfrm>
            <a:off x="8092440" y="5486400"/>
            <a:ext cx="3291840" cy="576072"/>
          </a:xfrm>
          <a:prstGeom prst="rect">
            <a:avLst/>
          </a:prstGeom>
          <a:noFill/>
          <a:ln/>
        </p:spPr>
        <p:txBody>
          <a:bodyPr wrap="square" lIns="0" tIns="0" rIns="0" bIns="0" rtlCol="0" anchor="t">
            <a:spAutoFit/>
          </a:bodyPr>
          <a:lstStyle/>
          <a:p>
            <a:pPr indent="0" marL="0">
              <a:buNone/>
            </a:pPr>
            <a:r>
              <a:rPr lang="en-US" sz="1560" dirty="0">
                <a:solidFill>
                  <a:srgbClr val="272323"/>
                </a:solidFill>
                <a:latin typeface="Roboto Condensed" pitchFamily="34" charset="0"/>
                <a:ea typeface="Roboto Condensed" pitchFamily="34" charset="-122"/>
                <a:cs typeface="Roboto Condensed" pitchFamily="34" charset="-120"/>
              </a:rPr>
              <a:t>Legal, claims and privacy; contracts, tax, localisation and cloud controls.</a:t>
            </a:r>
            <a:endParaRPr lang="en-US" sz="1560" dirty="0"/>
          </a:p>
        </p:txBody>
      </p:sp>
      <p:sp>
        <p:nvSpPr>
          <p:cNvPr id="30" name="Text 28"/>
          <p:cNvSpPr/>
          <p:nvPr/>
        </p:nvSpPr>
        <p:spPr>
          <a:xfrm>
            <a:off x="685800" y="6245352"/>
            <a:ext cx="10808208" cy="182880"/>
          </a:xfrm>
          <a:prstGeom prst="rect">
            <a:avLst/>
          </a:prstGeom>
          <a:noFill/>
          <a:ln/>
        </p:spPr>
        <p:txBody>
          <a:bodyPr wrap="square" lIns="0" tIns="0" rIns="0" bIns="0" rtlCol="0" anchor="t">
            <a:spAutoFit/>
          </a:bodyPr>
          <a:lstStyle/>
          <a:p>
            <a:pPr indent="0" marL="0">
              <a:buNone/>
            </a:pPr>
            <a:r>
              <a:rPr lang="en-US" sz="980" dirty="0">
                <a:solidFill>
                  <a:srgbClr val="65605D"/>
                </a:solidFill>
                <a:latin typeface="Roboto Condensed" pitchFamily="34" charset="0"/>
                <a:ea typeface="Roboto Condensed" pitchFamily="34" charset="-122"/>
                <a:cs typeface="Roboto Condensed" pitchFamily="34" charset="-120"/>
              </a:rPr>
              <a:t>Australia and Singapore join—not replace—European / other options. No grant, partnership or country launch is assumed.</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The Investor Return Case</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Create value through retained revenue, repeatable distribution and disciplined capital use.</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INVESTOR 01  |  Hypothetical scenarios, not an investment offer</a:t>
            </a:r>
            <a:endParaRPr lang="en-US" sz="950" dirty="0"/>
          </a:p>
        </p:txBody>
      </p:sp>
      <p:sp>
        <p:nvSpPr>
          <p:cNvPr id="5" name="Shape 3"/>
          <p:cNvSpPr/>
          <p:nvPr/>
        </p:nvSpPr>
        <p:spPr>
          <a:xfrm>
            <a:off x="685800" y="1746504"/>
            <a:ext cx="10808208" cy="804672"/>
          </a:xfrm>
          <a:prstGeom prst="rect">
            <a:avLst/>
          </a:prstGeom>
          <a:solidFill>
            <a:srgbClr val="F3EBDD"/>
          </a:solidFill>
          <a:ln w="12700">
            <a:solidFill>
              <a:srgbClr val="F3EBDD"/>
            </a:solidFill>
            <a:prstDash val="solid"/>
          </a:ln>
        </p:spPr>
      </p:sp>
      <p:sp>
        <p:nvSpPr>
          <p:cNvPr id="6" name="Text 4"/>
          <p:cNvSpPr/>
          <p:nvPr/>
        </p:nvSpPr>
        <p:spPr>
          <a:xfrm>
            <a:off x="877824" y="1828800"/>
            <a:ext cx="2404872" cy="356616"/>
          </a:xfrm>
          <a:prstGeom prst="rect">
            <a:avLst/>
          </a:prstGeom>
          <a:noFill/>
          <a:ln/>
        </p:spPr>
        <p:txBody>
          <a:bodyPr wrap="square" lIns="0" tIns="0" rIns="0" bIns="0" rtlCol="0" anchor="t">
            <a:spAutoFit/>
          </a:bodyPr>
          <a:lstStyle/>
          <a:p>
            <a:pPr indent="0" marL="0">
              <a:buNone/>
            </a:pPr>
            <a:r>
              <a:rPr lang="en-US" sz="2600" b="1" dirty="0">
                <a:solidFill>
                  <a:srgbClr val="C3452E"/>
                </a:solidFill>
                <a:latin typeface="Roboto Condensed" pitchFamily="34" charset="0"/>
                <a:ea typeface="Roboto Condensed" pitchFamily="34" charset="-122"/>
                <a:cs typeface="Roboto Condensed" pitchFamily="34" charset="-120"/>
              </a:rPr>
              <a:t>€2M</a:t>
            </a:r>
            <a:endParaRPr lang="en-US" sz="2600" dirty="0"/>
          </a:p>
        </p:txBody>
      </p:sp>
      <p:sp>
        <p:nvSpPr>
          <p:cNvPr id="7" name="Text 5"/>
          <p:cNvSpPr/>
          <p:nvPr/>
        </p:nvSpPr>
        <p:spPr>
          <a:xfrm>
            <a:off x="877824" y="2276856"/>
            <a:ext cx="2441448" cy="201168"/>
          </a:xfrm>
          <a:prstGeom prst="rect">
            <a:avLst/>
          </a:prstGeom>
          <a:noFill/>
          <a:ln/>
        </p:spPr>
        <p:txBody>
          <a:bodyPr wrap="square" lIns="0" tIns="0" rIns="0" bIns="0" rtlCol="0" anchor="t">
            <a:spAutoFit/>
          </a:bodyPr>
          <a:lstStyle/>
          <a:p>
            <a:pPr indent="0" marL="0">
              <a:buNone/>
            </a:pPr>
            <a:r>
              <a:rPr lang="en-US" sz="1350" dirty="0">
                <a:solidFill>
                  <a:srgbClr val="272323"/>
                </a:solidFill>
                <a:latin typeface="Roboto Condensed" pitchFamily="34" charset="0"/>
                <a:ea typeface="Roboto Condensed" pitchFamily="34" charset="-122"/>
                <a:cs typeface="Roboto Condensed" pitchFamily="34" charset="-120"/>
              </a:rPr>
              <a:t>Illustrative investment</a:t>
            </a:r>
            <a:endParaRPr lang="en-US" sz="1350" dirty="0"/>
          </a:p>
        </p:txBody>
      </p:sp>
      <p:sp>
        <p:nvSpPr>
          <p:cNvPr id="8" name="Text 6"/>
          <p:cNvSpPr/>
          <p:nvPr/>
        </p:nvSpPr>
        <p:spPr>
          <a:xfrm>
            <a:off x="3547872" y="1828800"/>
            <a:ext cx="2404872" cy="356616"/>
          </a:xfrm>
          <a:prstGeom prst="rect">
            <a:avLst/>
          </a:prstGeom>
          <a:noFill/>
          <a:ln/>
        </p:spPr>
        <p:txBody>
          <a:bodyPr wrap="square" lIns="0" tIns="0" rIns="0" bIns="0" rtlCol="0" anchor="t">
            <a:spAutoFit/>
          </a:bodyPr>
          <a:lstStyle/>
          <a:p>
            <a:pPr indent="0" marL="0">
              <a:buNone/>
            </a:pPr>
            <a:r>
              <a:rPr lang="en-US" sz="2600" b="1" dirty="0">
                <a:solidFill>
                  <a:srgbClr val="C3452E"/>
                </a:solidFill>
                <a:latin typeface="Roboto Condensed" pitchFamily="34" charset="0"/>
                <a:ea typeface="Roboto Condensed" pitchFamily="34" charset="-122"/>
                <a:cs typeface="Roboto Condensed" pitchFamily="34" charset="-120"/>
              </a:rPr>
              <a:t>€10M</a:t>
            </a:r>
            <a:endParaRPr lang="en-US" sz="2600" dirty="0"/>
          </a:p>
        </p:txBody>
      </p:sp>
      <p:sp>
        <p:nvSpPr>
          <p:cNvPr id="9" name="Text 7"/>
          <p:cNvSpPr/>
          <p:nvPr/>
        </p:nvSpPr>
        <p:spPr>
          <a:xfrm>
            <a:off x="3547872" y="2276856"/>
            <a:ext cx="2441448" cy="201168"/>
          </a:xfrm>
          <a:prstGeom prst="rect">
            <a:avLst/>
          </a:prstGeom>
          <a:noFill/>
          <a:ln/>
        </p:spPr>
        <p:txBody>
          <a:bodyPr wrap="square" lIns="0" tIns="0" rIns="0" bIns="0" rtlCol="0" anchor="t">
            <a:spAutoFit/>
          </a:bodyPr>
          <a:lstStyle/>
          <a:p>
            <a:pPr indent="0" marL="0">
              <a:buNone/>
            </a:pPr>
            <a:r>
              <a:rPr lang="en-US" sz="1350" dirty="0">
                <a:solidFill>
                  <a:srgbClr val="272323"/>
                </a:solidFill>
                <a:latin typeface="Roboto Condensed" pitchFamily="34" charset="0"/>
                <a:ea typeface="Roboto Condensed" pitchFamily="34" charset="-122"/>
                <a:cs typeface="Roboto Condensed" pitchFamily="34" charset="-120"/>
              </a:rPr>
              <a:t>Hypothetical post-money</a:t>
            </a:r>
            <a:endParaRPr lang="en-US" sz="1350" dirty="0"/>
          </a:p>
        </p:txBody>
      </p:sp>
      <p:sp>
        <p:nvSpPr>
          <p:cNvPr id="10" name="Text 8"/>
          <p:cNvSpPr/>
          <p:nvPr/>
        </p:nvSpPr>
        <p:spPr>
          <a:xfrm>
            <a:off x="6217920" y="1828800"/>
            <a:ext cx="2404872" cy="356616"/>
          </a:xfrm>
          <a:prstGeom prst="rect">
            <a:avLst/>
          </a:prstGeom>
          <a:noFill/>
          <a:ln/>
        </p:spPr>
        <p:txBody>
          <a:bodyPr wrap="square" lIns="0" tIns="0" rIns="0" bIns="0" rtlCol="0" anchor="t">
            <a:spAutoFit/>
          </a:bodyPr>
          <a:lstStyle/>
          <a:p>
            <a:pPr indent="0" marL="0">
              <a:buNone/>
            </a:pPr>
            <a:r>
              <a:rPr lang="en-US" sz="2600" b="1" dirty="0">
                <a:solidFill>
                  <a:srgbClr val="C3452E"/>
                </a:solidFill>
                <a:latin typeface="Roboto Condensed" pitchFamily="34" charset="0"/>
                <a:ea typeface="Roboto Condensed" pitchFamily="34" charset="-122"/>
                <a:cs typeface="Roboto Condensed" pitchFamily="34" charset="-120"/>
              </a:rPr>
              <a:t>20% → 15%</a:t>
            </a:r>
            <a:endParaRPr lang="en-US" sz="2600" dirty="0"/>
          </a:p>
        </p:txBody>
      </p:sp>
      <p:sp>
        <p:nvSpPr>
          <p:cNvPr id="11" name="Text 9"/>
          <p:cNvSpPr/>
          <p:nvPr/>
        </p:nvSpPr>
        <p:spPr>
          <a:xfrm>
            <a:off x="6217920" y="2276856"/>
            <a:ext cx="2441448" cy="201168"/>
          </a:xfrm>
          <a:prstGeom prst="rect">
            <a:avLst/>
          </a:prstGeom>
          <a:noFill/>
          <a:ln/>
        </p:spPr>
        <p:txBody>
          <a:bodyPr wrap="square" lIns="0" tIns="0" rIns="0" bIns="0" rtlCol="0" anchor="t">
            <a:spAutoFit/>
          </a:bodyPr>
          <a:lstStyle/>
          <a:p>
            <a:pPr indent="0" marL="0">
              <a:buNone/>
            </a:pPr>
            <a:r>
              <a:rPr lang="en-US" sz="1350" dirty="0">
                <a:solidFill>
                  <a:srgbClr val="272323"/>
                </a:solidFill>
                <a:latin typeface="Roboto Condensed" pitchFamily="34" charset="0"/>
                <a:ea typeface="Roboto Condensed" pitchFamily="34" charset="-122"/>
                <a:cs typeface="Roboto Condensed" pitchFamily="34" charset="-120"/>
              </a:rPr>
              <a:t>After 25% ownership dilution</a:t>
            </a:r>
            <a:endParaRPr lang="en-US" sz="1350" dirty="0"/>
          </a:p>
        </p:txBody>
      </p:sp>
      <p:sp>
        <p:nvSpPr>
          <p:cNvPr id="12" name="Text 10"/>
          <p:cNvSpPr/>
          <p:nvPr/>
        </p:nvSpPr>
        <p:spPr>
          <a:xfrm>
            <a:off x="8887968" y="1828800"/>
            <a:ext cx="2404872" cy="356616"/>
          </a:xfrm>
          <a:prstGeom prst="rect">
            <a:avLst/>
          </a:prstGeom>
          <a:noFill/>
          <a:ln/>
        </p:spPr>
        <p:txBody>
          <a:bodyPr wrap="square" lIns="0" tIns="0" rIns="0" bIns="0" rtlCol="0" anchor="t">
            <a:spAutoFit/>
          </a:bodyPr>
          <a:lstStyle/>
          <a:p>
            <a:pPr indent="0" marL="0">
              <a:buNone/>
            </a:pPr>
            <a:r>
              <a:rPr lang="en-US" sz="2600" b="1" dirty="0">
                <a:solidFill>
                  <a:srgbClr val="C3452E"/>
                </a:solidFill>
                <a:latin typeface="Roboto Condensed" pitchFamily="34" charset="0"/>
                <a:ea typeface="Roboto Condensed" pitchFamily="34" charset="-122"/>
                <a:cs typeface="Roboto Condensed" pitchFamily="34" charset="-120"/>
              </a:rPr>
              <a:t>5 years</a:t>
            </a:r>
            <a:endParaRPr lang="en-US" sz="2600" dirty="0"/>
          </a:p>
        </p:txBody>
      </p:sp>
      <p:sp>
        <p:nvSpPr>
          <p:cNvPr id="13" name="Text 11"/>
          <p:cNvSpPr/>
          <p:nvPr/>
        </p:nvSpPr>
        <p:spPr>
          <a:xfrm>
            <a:off x="8887968" y="2276856"/>
            <a:ext cx="2441448" cy="201168"/>
          </a:xfrm>
          <a:prstGeom prst="rect">
            <a:avLst/>
          </a:prstGeom>
          <a:noFill/>
          <a:ln/>
        </p:spPr>
        <p:txBody>
          <a:bodyPr wrap="square" lIns="0" tIns="0" rIns="0" bIns="0" rtlCol="0" anchor="t">
            <a:spAutoFit/>
          </a:bodyPr>
          <a:lstStyle/>
          <a:p>
            <a:pPr indent="0" marL="0">
              <a:buNone/>
            </a:pPr>
            <a:r>
              <a:rPr lang="en-US" sz="1350" dirty="0">
                <a:solidFill>
                  <a:srgbClr val="272323"/>
                </a:solidFill>
                <a:latin typeface="Roboto Condensed" pitchFamily="34" charset="0"/>
                <a:ea typeface="Roboto Condensed" pitchFamily="34" charset="-122"/>
                <a:cs typeface="Roboto Condensed" pitchFamily="34" charset="-120"/>
              </a:rPr>
              <a:t>Illustrative holding period</a:t>
            </a:r>
            <a:endParaRPr lang="en-US" sz="1350" dirty="0"/>
          </a:p>
        </p:txBody>
      </p:sp>
      <p:sp>
        <p:nvSpPr>
          <p:cNvPr id="14" name="Shape 12"/>
          <p:cNvSpPr/>
          <p:nvPr/>
        </p:nvSpPr>
        <p:spPr>
          <a:xfrm>
            <a:off x="685800" y="2880360"/>
            <a:ext cx="10808208" cy="466344"/>
          </a:xfrm>
          <a:prstGeom prst="rect">
            <a:avLst/>
          </a:prstGeom>
          <a:solidFill>
            <a:srgbClr val="ED654F"/>
          </a:solidFill>
          <a:ln w="12700">
            <a:solidFill>
              <a:srgbClr val="ED654F"/>
            </a:solidFill>
            <a:prstDash val="solid"/>
          </a:ln>
        </p:spPr>
      </p:sp>
      <p:sp>
        <p:nvSpPr>
          <p:cNvPr id="15" name="Text 13"/>
          <p:cNvSpPr/>
          <p:nvPr/>
        </p:nvSpPr>
        <p:spPr>
          <a:xfrm>
            <a:off x="859536" y="2999232"/>
            <a:ext cx="2962656" cy="237744"/>
          </a:xfrm>
          <a:prstGeom prst="rect">
            <a:avLst/>
          </a:prstGeom>
          <a:noFill/>
          <a:ln/>
        </p:spPr>
        <p:txBody>
          <a:bodyPr wrap="square" lIns="0" tIns="0" rIns="0" bIns="0" rtlCol="0" anchor="t">
            <a:spAutoFit/>
          </a:bodyPr>
          <a:lstStyle/>
          <a:p>
            <a:pPr indent="0" marL="0">
              <a:buNone/>
            </a:pPr>
            <a:r>
              <a:rPr lang="en-US" sz="1500" b="1" dirty="0">
                <a:solidFill>
                  <a:srgbClr val="FFFFFF"/>
                </a:solidFill>
                <a:latin typeface="Roboto Condensed" pitchFamily="34" charset="0"/>
                <a:ea typeface="Roboto Condensed" pitchFamily="34" charset="-122"/>
                <a:cs typeface="Roboto Condensed" pitchFamily="34" charset="-120"/>
              </a:rPr>
              <a:t>Equity proceeds available*</a:t>
            </a:r>
            <a:endParaRPr lang="en-US" sz="1500" dirty="0"/>
          </a:p>
        </p:txBody>
      </p:sp>
      <p:sp>
        <p:nvSpPr>
          <p:cNvPr id="16" name="Text 14"/>
          <p:cNvSpPr/>
          <p:nvPr/>
        </p:nvSpPr>
        <p:spPr>
          <a:xfrm>
            <a:off x="4087368" y="2999232"/>
            <a:ext cx="2221992" cy="237744"/>
          </a:xfrm>
          <a:prstGeom prst="rect">
            <a:avLst/>
          </a:prstGeom>
          <a:noFill/>
          <a:ln/>
        </p:spPr>
        <p:txBody>
          <a:bodyPr wrap="square" lIns="0" tIns="0" rIns="0" bIns="0" rtlCol="0" anchor="t">
            <a:spAutoFit/>
          </a:bodyPr>
          <a:lstStyle/>
          <a:p>
            <a:pPr indent="0" marL="0">
              <a:buNone/>
            </a:pPr>
            <a:r>
              <a:rPr lang="en-US" sz="1500" b="1" dirty="0">
                <a:solidFill>
                  <a:srgbClr val="FFFFFF"/>
                </a:solidFill>
                <a:latin typeface="Roboto Condensed" pitchFamily="34" charset="0"/>
                <a:ea typeface="Roboto Condensed" pitchFamily="34" charset="-122"/>
                <a:cs typeface="Roboto Condensed" pitchFamily="34" charset="-120"/>
              </a:rPr>
              <a:t>Investor proceeds</a:t>
            </a:r>
            <a:endParaRPr lang="en-US" sz="1500" dirty="0"/>
          </a:p>
        </p:txBody>
      </p:sp>
      <p:sp>
        <p:nvSpPr>
          <p:cNvPr id="17" name="Text 15"/>
          <p:cNvSpPr/>
          <p:nvPr/>
        </p:nvSpPr>
        <p:spPr>
          <a:xfrm>
            <a:off x="6629400" y="2999232"/>
            <a:ext cx="2231136" cy="237744"/>
          </a:xfrm>
          <a:prstGeom prst="rect">
            <a:avLst/>
          </a:prstGeom>
          <a:noFill/>
          <a:ln/>
        </p:spPr>
        <p:txBody>
          <a:bodyPr wrap="square" lIns="0" tIns="0" rIns="0" bIns="0" rtlCol="0" anchor="t">
            <a:spAutoFit/>
          </a:bodyPr>
          <a:lstStyle/>
          <a:p>
            <a:pPr indent="0" marL="0">
              <a:buNone/>
            </a:pPr>
            <a:r>
              <a:rPr lang="en-US" sz="1500" b="1" dirty="0">
                <a:solidFill>
                  <a:srgbClr val="FFFFFF"/>
                </a:solidFill>
                <a:latin typeface="Roboto Condensed" pitchFamily="34" charset="0"/>
                <a:ea typeface="Roboto Condensed" pitchFamily="34" charset="-122"/>
                <a:cs typeface="Roboto Condensed" pitchFamily="34" charset="-120"/>
              </a:rPr>
              <a:t>Gross multiple</a:t>
            </a:r>
            <a:endParaRPr lang="en-US" sz="1500" dirty="0"/>
          </a:p>
        </p:txBody>
      </p:sp>
      <p:sp>
        <p:nvSpPr>
          <p:cNvPr id="18" name="Text 16"/>
          <p:cNvSpPr/>
          <p:nvPr/>
        </p:nvSpPr>
        <p:spPr>
          <a:xfrm>
            <a:off x="9171432" y="2999232"/>
            <a:ext cx="2103120" cy="237744"/>
          </a:xfrm>
          <a:prstGeom prst="rect">
            <a:avLst/>
          </a:prstGeom>
          <a:noFill/>
          <a:ln/>
        </p:spPr>
        <p:txBody>
          <a:bodyPr wrap="square" lIns="0" tIns="0" rIns="0" bIns="0" rtlCol="0" anchor="t">
            <a:spAutoFit/>
          </a:bodyPr>
          <a:lstStyle/>
          <a:p>
            <a:pPr indent="0" marL="0">
              <a:buNone/>
            </a:pPr>
            <a:r>
              <a:rPr lang="en-US" sz="1500" b="1" dirty="0">
                <a:solidFill>
                  <a:srgbClr val="FFFFFF"/>
                </a:solidFill>
                <a:latin typeface="Roboto Condensed" pitchFamily="34" charset="0"/>
                <a:ea typeface="Roboto Condensed" pitchFamily="34" charset="-122"/>
                <a:cs typeface="Roboto Condensed" pitchFamily="34" charset="-120"/>
              </a:rPr>
              <a:t>Annualised return</a:t>
            </a:r>
            <a:endParaRPr lang="en-US" sz="1500" dirty="0"/>
          </a:p>
        </p:txBody>
      </p:sp>
      <p:sp>
        <p:nvSpPr>
          <p:cNvPr id="19" name="Shape 17"/>
          <p:cNvSpPr/>
          <p:nvPr/>
        </p:nvSpPr>
        <p:spPr>
          <a:xfrm>
            <a:off x="685800" y="3346704"/>
            <a:ext cx="10808208" cy="521208"/>
          </a:xfrm>
          <a:prstGeom prst="rect">
            <a:avLst/>
          </a:prstGeom>
          <a:solidFill>
            <a:srgbClr val="FFFFFF"/>
          </a:solidFill>
          <a:ln w="12700">
            <a:solidFill>
              <a:srgbClr val="FFFFFF"/>
            </a:solidFill>
            <a:prstDash val="solid"/>
          </a:ln>
        </p:spPr>
      </p:sp>
      <p:sp>
        <p:nvSpPr>
          <p:cNvPr id="20" name="Text 18"/>
          <p:cNvSpPr/>
          <p:nvPr/>
        </p:nvSpPr>
        <p:spPr>
          <a:xfrm>
            <a:off x="859536" y="3474720"/>
            <a:ext cx="2962656"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€0</a:t>
            </a:r>
            <a:endParaRPr lang="en-US" sz="2100" dirty="0"/>
          </a:p>
        </p:txBody>
      </p:sp>
      <p:sp>
        <p:nvSpPr>
          <p:cNvPr id="21" name="Text 19"/>
          <p:cNvSpPr/>
          <p:nvPr/>
        </p:nvSpPr>
        <p:spPr>
          <a:xfrm>
            <a:off x="4087368" y="3474720"/>
            <a:ext cx="2221992"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€0</a:t>
            </a:r>
            <a:endParaRPr lang="en-US" sz="2100" dirty="0"/>
          </a:p>
        </p:txBody>
      </p:sp>
      <p:sp>
        <p:nvSpPr>
          <p:cNvPr id="22" name="Text 20"/>
          <p:cNvSpPr/>
          <p:nvPr/>
        </p:nvSpPr>
        <p:spPr>
          <a:xfrm>
            <a:off x="6629400" y="3474720"/>
            <a:ext cx="2231136" cy="274320"/>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0.00×</a:t>
            </a:r>
            <a:endParaRPr lang="en-US" sz="2100" dirty="0"/>
          </a:p>
        </p:txBody>
      </p:sp>
      <p:sp>
        <p:nvSpPr>
          <p:cNvPr id="23" name="Text 21"/>
          <p:cNvSpPr/>
          <p:nvPr/>
        </p:nvSpPr>
        <p:spPr>
          <a:xfrm>
            <a:off x="9171432" y="3474720"/>
            <a:ext cx="2103120"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−100.0%</a:t>
            </a:r>
            <a:endParaRPr lang="en-US" sz="2100" dirty="0"/>
          </a:p>
        </p:txBody>
      </p:sp>
      <p:sp>
        <p:nvSpPr>
          <p:cNvPr id="24" name="Shape 22"/>
          <p:cNvSpPr/>
          <p:nvPr/>
        </p:nvSpPr>
        <p:spPr>
          <a:xfrm>
            <a:off x="685800" y="3867912"/>
            <a:ext cx="10808208" cy="521208"/>
          </a:xfrm>
          <a:prstGeom prst="rect">
            <a:avLst/>
          </a:prstGeom>
          <a:solidFill>
            <a:srgbClr val="F3EBDD"/>
          </a:solidFill>
          <a:ln w="12700">
            <a:solidFill>
              <a:srgbClr val="F3EBDD"/>
            </a:solidFill>
            <a:prstDash val="solid"/>
          </a:ln>
        </p:spPr>
      </p:sp>
      <p:sp>
        <p:nvSpPr>
          <p:cNvPr id="25" name="Text 23"/>
          <p:cNvSpPr/>
          <p:nvPr/>
        </p:nvSpPr>
        <p:spPr>
          <a:xfrm>
            <a:off x="859536" y="3995928"/>
            <a:ext cx="2962656"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€5M</a:t>
            </a:r>
            <a:endParaRPr lang="en-US" sz="2100" dirty="0"/>
          </a:p>
        </p:txBody>
      </p:sp>
      <p:sp>
        <p:nvSpPr>
          <p:cNvPr id="26" name="Text 24"/>
          <p:cNvSpPr/>
          <p:nvPr/>
        </p:nvSpPr>
        <p:spPr>
          <a:xfrm>
            <a:off x="4087368" y="3995928"/>
            <a:ext cx="2221992"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€0.75M</a:t>
            </a:r>
            <a:endParaRPr lang="en-US" sz="2100" dirty="0"/>
          </a:p>
        </p:txBody>
      </p:sp>
      <p:sp>
        <p:nvSpPr>
          <p:cNvPr id="27" name="Text 25"/>
          <p:cNvSpPr/>
          <p:nvPr/>
        </p:nvSpPr>
        <p:spPr>
          <a:xfrm>
            <a:off x="6629400" y="3995928"/>
            <a:ext cx="2231136" cy="274320"/>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0.38×</a:t>
            </a:r>
            <a:endParaRPr lang="en-US" sz="2100" dirty="0"/>
          </a:p>
        </p:txBody>
      </p:sp>
      <p:sp>
        <p:nvSpPr>
          <p:cNvPr id="28" name="Text 26"/>
          <p:cNvSpPr/>
          <p:nvPr/>
        </p:nvSpPr>
        <p:spPr>
          <a:xfrm>
            <a:off x="9171432" y="3995928"/>
            <a:ext cx="2103120"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−17.8%</a:t>
            </a:r>
            <a:endParaRPr lang="en-US" sz="2100" dirty="0"/>
          </a:p>
        </p:txBody>
      </p:sp>
      <p:sp>
        <p:nvSpPr>
          <p:cNvPr id="29" name="Shape 27"/>
          <p:cNvSpPr/>
          <p:nvPr/>
        </p:nvSpPr>
        <p:spPr>
          <a:xfrm>
            <a:off x="685800" y="4389120"/>
            <a:ext cx="10808208" cy="521208"/>
          </a:xfrm>
          <a:prstGeom prst="rect">
            <a:avLst/>
          </a:prstGeom>
          <a:solidFill>
            <a:srgbClr val="FFFFFF"/>
          </a:solidFill>
          <a:ln w="12700">
            <a:solidFill>
              <a:srgbClr val="FFFFFF"/>
            </a:solidFill>
            <a:prstDash val="solid"/>
          </a:ln>
        </p:spPr>
      </p:sp>
      <p:sp>
        <p:nvSpPr>
          <p:cNvPr id="30" name="Text 28"/>
          <p:cNvSpPr/>
          <p:nvPr/>
        </p:nvSpPr>
        <p:spPr>
          <a:xfrm>
            <a:off x="859536" y="4517136"/>
            <a:ext cx="2962656"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€20M</a:t>
            </a:r>
            <a:endParaRPr lang="en-US" sz="2100" dirty="0"/>
          </a:p>
        </p:txBody>
      </p:sp>
      <p:sp>
        <p:nvSpPr>
          <p:cNvPr id="31" name="Text 29"/>
          <p:cNvSpPr/>
          <p:nvPr/>
        </p:nvSpPr>
        <p:spPr>
          <a:xfrm>
            <a:off x="4087368" y="4517136"/>
            <a:ext cx="2221992"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€3.00M</a:t>
            </a:r>
            <a:endParaRPr lang="en-US" sz="2100" dirty="0"/>
          </a:p>
        </p:txBody>
      </p:sp>
      <p:sp>
        <p:nvSpPr>
          <p:cNvPr id="32" name="Text 30"/>
          <p:cNvSpPr/>
          <p:nvPr/>
        </p:nvSpPr>
        <p:spPr>
          <a:xfrm>
            <a:off x="6629400" y="4517136"/>
            <a:ext cx="2231136" cy="274320"/>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1.50×</a:t>
            </a:r>
            <a:endParaRPr lang="en-US" sz="2100" dirty="0"/>
          </a:p>
        </p:txBody>
      </p:sp>
      <p:sp>
        <p:nvSpPr>
          <p:cNvPr id="33" name="Text 31"/>
          <p:cNvSpPr/>
          <p:nvPr/>
        </p:nvSpPr>
        <p:spPr>
          <a:xfrm>
            <a:off x="9171432" y="4517136"/>
            <a:ext cx="2103120"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8.4%</a:t>
            </a:r>
            <a:endParaRPr lang="en-US" sz="2100" dirty="0"/>
          </a:p>
        </p:txBody>
      </p:sp>
      <p:sp>
        <p:nvSpPr>
          <p:cNvPr id="34" name="Shape 32"/>
          <p:cNvSpPr/>
          <p:nvPr/>
        </p:nvSpPr>
        <p:spPr>
          <a:xfrm>
            <a:off x="685800" y="4910328"/>
            <a:ext cx="10808208" cy="521208"/>
          </a:xfrm>
          <a:prstGeom prst="rect">
            <a:avLst/>
          </a:prstGeom>
          <a:solidFill>
            <a:srgbClr val="F3EBDD"/>
          </a:solidFill>
          <a:ln w="12700">
            <a:solidFill>
              <a:srgbClr val="F3EBDD"/>
            </a:solidFill>
            <a:prstDash val="solid"/>
          </a:ln>
        </p:spPr>
      </p:sp>
      <p:sp>
        <p:nvSpPr>
          <p:cNvPr id="35" name="Text 33"/>
          <p:cNvSpPr/>
          <p:nvPr/>
        </p:nvSpPr>
        <p:spPr>
          <a:xfrm>
            <a:off x="859536" y="5038344"/>
            <a:ext cx="2962656"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€50M</a:t>
            </a:r>
            <a:endParaRPr lang="en-US" sz="2100" dirty="0"/>
          </a:p>
        </p:txBody>
      </p:sp>
      <p:sp>
        <p:nvSpPr>
          <p:cNvPr id="36" name="Text 34"/>
          <p:cNvSpPr/>
          <p:nvPr/>
        </p:nvSpPr>
        <p:spPr>
          <a:xfrm>
            <a:off x="4087368" y="5038344"/>
            <a:ext cx="2221992"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€7.50M</a:t>
            </a:r>
            <a:endParaRPr lang="en-US" sz="2100" dirty="0"/>
          </a:p>
        </p:txBody>
      </p:sp>
      <p:sp>
        <p:nvSpPr>
          <p:cNvPr id="37" name="Text 35"/>
          <p:cNvSpPr/>
          <p:nvPr/>
        </p:nvSpPr>
        <p:spPr>
          <a:xfrm>
            <a:off x="6629400" y="5038344"/>
            <a:ext cx="2231136" cy="274320"/>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3.75×</a:t>
            </a:r>
            <a:endParaRPr lang="en-US" sz="2100" dirty="0"/>
          </a:p>
        </p:txBody>
      </p:sp>
      <p:sp>
        <p:nvSpPr>
          <p:cNvPr id="38" name="Text 36"/>
          <p:cNvSpPr/>
          <p:nvPr/>
        </p:nvSpPr>
        <p:spPr>
          <a:xfrm>
            <a:off x="9171432" y="5038344"/>
            <a:ext cx="2103120" cy="274320"/>
          </a:xfrm>
          <a:prstGeom prst="rect">
            <a:avLst/>
          </a:prstGeom>
          <a:noFill/>
          <a:ln/>
        </p:spPr>
        <p:txBody>
          <a:bodyPr wrap="square" lIns="0" tIns="0" rIns="0" bIns="0" rtlCol="0" anchor="t">
            <a:spAutoFit/>
          </a:bodyPr>
          <a:lstStyle/>
          <a:p>
            <a:pPr indent="0" marL="0">
              <a:buNone/>
            </a:pPr>
            <a:r>
              <a:rPr lang="en-US" sz="2100" dirty="0">
                <a:solidFill>
                  <a:srgbClr val="272323"/>
                </a:solidFill>
                <a:latin typeface="Roboto Condensed" pitchFamily="34" charset="0"/>
                <a:ea typeface="Roboto Condensed" pitchFamily="34" charset="-122"/>
                <a:cs typeface="Roboto Condensed" pitchFamily="34" charset="-120"/>
              </a:rPr>
              <a:t>30.3%</a:t>
            </a:r>
            <a:endParaRPr lang="en-US" sz="2100" dirty="0"/>
          </a:p>
        </p:txBody>
      </p:sp>
      <p:sp>
        <p:nvSpPr>
          <p:cNvPr id="39" name="Text 37"/>
          <p:cNvSpPr/>
          <p:nvPr/>
        </p:nvSpPr>
        <p:spPr>
          <a:xfrm>
            <a:off x="722376" y="5660136"/>
            <a:ext cx="10634472" cy="338328"/>
          </a:xfrm>
          <a:prstGeom prst="rect">
            <a:avLst/>
          </a:prstGeom>
          <a:noFill/>
          <a:ln/>
        </p:spPr>
        <p:txBody>
          <a:bodyPr wrap="square" lIns="0" tIns="0" rIns="0" bIns="0" rtlCol="0" anchor="t">
            <a:spAutoFit/>
          </a:bodyPr>
          <a:lstStyle/>
          <a:p>
            <a:pPr indent="0" marL="0">
              <a:buNone/>
            </a:pPr>
            <a:r>
              <a:rPr lang="en-US" sz="2300" b="1" dirty="0">
                <a:solidFill>
                  <a:srgbClr val="C3452E"/>
                </a:solidFill>
                <a:latin typeface="Roboto Condensed" pitchFamily="34" charset="0"/>
                <a:ea typeface="Roboto Condensed" pitchFamily="34" charset="-122"/>
                <a:cs typeface="Roboto Condensed" pitchFamily="34" charset="-120"/>
              </a:rPr>
              <a:t>Returns depend on terms and outcomes—not on the size of the cheque alone.</a:t>
            </a:r>
            <a:endParaRPr lang="en-US" sz="2300" dirty="0"/>
          </a:p>
        </p:txBody>
      </p:sp>
      <p:sp>
        <p:nvSpPr>
          <p:cNvPr id="40" name="Text 38"/>
          <p:cNvSpPr/>
          <p:nvPr/>
        </p:nvSpPr>
        <p:spPr>
          <a:xfrm>
            <a:off x="685800" y="6172200"/>
            <a:ext cx="10808208" cy="228600"/>
          </a:xfrm>
          <a:prstGeom prst="rect">
            <a:avLst/>
          </a:prstGeom>
          <a:noFill/>
          <a:ln/>
        </p:spPr>
        <p:txBody>
          <a:bodyPr wrap="square" lIns="0" tIns="0" rIns="0" bIns="0" rtlCol="0" anchor="t">
            <a:spAutoFit/>
          </a:bodyPr>
          <a:lstStyle/>
          <a:p>
            <a:pPr indent="0" marL="0">
              <a:buNone/>
            </a:pPr>
            <a:r>
              <a:rPr lang="en-US" sz="1030" dirty="0">
                <a:solidFill>
                  <a:srgbClr val="65605D"/>
                </a:solidFill>
                <a:latin typeface="Roboto Condensed" pitchFamily="34" charset="0"/>
                <a:ea typeface="Roboto Condensed" pitchFamily="34" charset="-122"/>
                <a:cs typeface="Roboto Condensed" pitchFamily="34" charset="-120"/>
              </a:rPr>
              <a:t>*Pro rata equity distributions after company-level obligations; no preferences or investor taxes/fees modelled. Total loss and illiquidity are possible.</a:t>
            </a:r>
            <a:endParaRPr lang="en-US" sz="10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Where the Growth Budget Goes</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An integrated content-to-customer campaign, with spending released only when the route works.</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BACKUP A  |  Optional marketing detail</a:t>
            </a:r>
            <a:endParaRPr lang="en-US" sz="950" dirty="0"/>
          </a:p>
        </p:txBody>
      </p:sp>
      <p:sp>
        <p:nvSpPr>
          <p:cNvPr id="5" name="Shape 3"/>
          <p:cNvSpPr/>
          <p:nvPr/>
        </p:nvSpPr>
        <p:spPr>
          <a:xfrm>
            <a:off x="685800" y="1810512"/>
            <a:ext cx="6729984" cy="429768"/>
          </a:xfrm>
          <a:prstGeom prst="rect">
            <a:avLst/>
          </a:prstGeom>
          <a:solidFill>
            <a:srgbClr val="ED654F"/>
          </a:solidFill>
          <a:ln w="12700">
            <a:solidFill>
              <a:srgbClr val="ED654F"/>
            </a:solidFill>
            <a:prstDash val="solid"/>
          </a:ln>
        </p:spPr>
      </p:sp>
      <p:sp>
        <p:nvSpPr>
          <p:cNvPr id="6" name="Text 4"/>
          <p:cNvSpPr/>
          <p:nvPr/>
        </p:nvSpPr>
        <p:spPr>
          <a:xfrm>
            <a:off x="850392" y="1920240"/>
            <a:ext cx="4206240" cy="219456"/>
          </a:xfrm>
          <a:prstGeom prst="rect">
            <a:avLst/>
          </a:prstGeom>
          <a:noFill/>
          <a:ln/>
        </p:spPr>
        <p:txBody>
          <a:bodyPr wrap="square" lIns="0" tIns="0" rIns="0" bIns="0" rtlCol="0" anchor="t">
            <a:spAutoFit/>
          </a:bodyPr>
          <a:lstStyle/>
          <a:p>
            <a:pPr indent="0" marL="0">
              <a:buNone/>
            </a:pPr>
            <a:r>
              <a:rPr lang="en-US" sz="1350" b="1" dirty="0">
                <a:solidFill>
                  <a:srgbClr val="FFFFFF"/>
                </a:solidFill>
                <a:latin typeface="Roboto Condensed" pitchFamily="34" charset="0"/>
                <a:ea typeface="Roboto Condensed" pitchFamily="34" charset="-122"/>
                <a:cs typeface="Roboto Condensed" pitchFamily="34" charset="-120"/>
              </a:rPr>
              <a:t>ACTIVITY</a:t>
            </a:r>
            <a:endParaRPr lang="en-US" sz="1350" dirty="0"/>
          </a:p>
        </p:txBody>
      </p:sp>
      <p:sp>
        <p:nvSpPr>
          <p:cNvPr id="7" name="Text 5"/>
          <p:cNvSpPr/>
          <p:nvPr/>
        </p:nvSpPr>
        <p:spPr>
          <a:xfrm>
            <a:off x="5577840" y="1901952"/>
            <a:ext cx="713232" cy="246888"/>
          </a:xfrm>
          <a:prstGeom prst="rect">
            <a:avLst/>
          </a:prstGeom>
          <a:noFill/>
          <a:ln/>
        </p:spPr>
        <p:txBody>
          <a:bodyPr wrap="square" lIns="0" tIns="0" rIns="0" bIns="0" rtlCol="0" anchor="t">
            <a:spAutoFit/>
          </a:bodyPr>
          <a:lstStyle/>
          <a:p>
            <a:pPr indent="0" marL="0">
              <a:buNone/>
            </a:pPr>
            <a:r>
              <a:rPr lang="en-US" sz="1700" b="1" dirty="0">
                <a:solidFill>
                  <a:srgbClr val="FFFFFF"/>
                </a:solidFill>
                <a:latin typeface="Roboto Condensed" pitchFamily="34" charset="0"/>
                <a:ea typeface="Roboto Condensed" pitchFamily="34" charset="-122"/>
                <a:cs typeface="Roboto Condensed" pitchFamily="34" charset="-120"/>
              </a:rPr>
              <a:t>€2M</a:t>
            </a:r>
            <a:endParaRPr lang="en-US" sz="1700" dirty="0"/>
          </a:p>
        </p:txBody>
      </p:sp>
      <p:sp>
        <p:nvSpPr>
          <p:cNvPr id="8" name="Text 6"/>
          <p:cNvSpPr/>
          <p:nvPr/>
        </p:nvSpPr>
        <p:spPr>
          <a:xfrm>
            <a:off x="6510528" y="1901952"/>
            <a:ext cx="713232" cy="246888"/>
          </a:xfrm>
          <a:prstGeom prst="rect">
            <a:avLst/>
          </a:prstGeom>
          <a:noFill/>
          <a:ln/>
        </p:spPr>
        <p:txBody>
          <a:bodyPr wrap="square" lIns="0" tIns="0" rIns="0" bIns="0" rtlCol="0" anchor="t">
            <a:spAutoFit/>
          </a:bodyPr>
          <a:lstStyle/>
          <a:p>
            <a:pPr indent="0" marL="0">
              <a:buNone/>
            </a:pPr>
            <a:r>
              <a:rPr lang="en-US" sz="1700" b="1" dirty="0">
                <a:solidFill>
                  <a:srgbClr val="FFFFFF"/>
                </a:solidFill>
                <a:latin typeface="Roboto Condensed" pitchFamily="34" charset="0"/>
                <a:ea typeface="Roboto Condensed" pitchFamily="34" charset="-122"/>
                <a:cs typeface="Roboto Condensed" pitchFamily="34" charset="-120"/>
              </a:rPr>
              <a:t>€5M</a:t>
            </a:r>
            <a:endParaRPr lang="en-US" sz="1700" dirty="0"/>
          </a:p>
        </p:txBody>
      </p:sp>
      <p:sp>
        <p:nvSpPr>
          <p:cNvPr id="9" name="Shape 7"/>
          <p:cNvSpPr/>
          <p:nvPr/>
        </p:nvSpPr>
        <p:spPr>
          <a:xfrm>
            <a:off x="685800" y="2240280"/>
            <a:ext cx="6729984" cy="393192"/>
          </a:xfrm>
          <a:prstGeom prst="rect">
            <a:avLst/>
          </a:prstGeom>
          <a:solidFill>
            <a:srgbClr val="FFFFFF"/>
          </a:solidFill>
          <a:ln w="12700">
            <a:solidFill>
              <a:srgbClr val="FFFFFF"/>
            </a:solidFill>
            <a:prstDash val="solid"/>
          </a:ln>
        </p:spPr>
      </p:sp>
      <p:sp>
        <p:nvSpPr>
          <p:cNvPr id="10" name="Text 8"/>
          <p:cNvSpPr/>
          <p:nvPr/>
        </p:nvSpPr>
        <p:spPr>
          <a:xfrm>
            <a:off x="850392" y="2340864"/>
            <a:ext cx="4553712" cy="219456"/>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Paid digital, search &amp; app-store tests</a:t>
            </a:r>
            <a:endParaRPr lang="en-US" sz="1550" dirty="0"/>
          </a:p>
        </p:txBody>
      </p:sp>
      <p:sp>
        <p:nvSpPr>
          <p:cNvPr id="11" name="Text 9"/>
          <p:cNvSpPr/>
          <p:nvPr/>
        </p:nvSpPr>
        <p:spPr>
          <a:xfrm>
            <a:off x="5568696" y="2331720"/>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€180K</a:t>
            </a:r>
            <a:endParaRPr lang="en-US" sz="1600" dirty="0"/>
          </a:p>
        </p:txBody>
      </p:sp>
      <p:sp>
        <p:nvSpPr>
          <p:cNvPr id="12" name="Text 10"/>
          <p:cNvSpPr/>
          <p:nvPr/>
        </p:nvSpPr>
        <p:spPr>
          <a:xfrm>
            <a:off x="6492240" y="2331720"/>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€650K</a:t>
            </a:r>
            <a:endParaRPr lang="en-US" sz="1600" dirty="0"/>
          </a:p>
        </p:txBody>
      </p:sp>
      <p:sp>
        <p:nvSpPr>
          <p:cNvPr id="13" name="Shape 11"/>
          <p:cNvSpPr/>
          <p:nvPr/>
        </p:nvSpPr>
        <p:spPr>
          <a:xfrm>
            <a:off x="685800" y="2633472"/>
            <a:ext cx="6729984" cy="393192"/>
          </a:xfrm>
          <a:prstGeom prst="rect">
            <a:avLst/>
          </a:prstGeom>
          <a:solidFill>
            <a:srgbClr val="F3EBDD"/>
          </a:solidFill>
          <a:ln w="12700">
            <a:solidFill>
              <a:srgbClr val="F3EBDD"/>
            </a:solidFill>
            <a:prstDash val="solid"/>
          </a:ln>
        </p:spPr>
      </p:sp>
      <p:sp>
        <p:nvSpPr>
          <p:cNvPr id="14" name="Text 12"/>
          <p:cNvSpPr/>
          <p:nvPr/>
        </p:nvSpPr>
        <p:spPr>
          <a:xfrm>
            <a:off x="850392" y="2734056"/>
            <a:ext cx="4553712" cy="219456"/>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Creators, ambassadors &amp; campaign rights</a:t>
            </a:r>
            <a:endParaRPr lang="en-US" sz="1550" dirty="0"/>
          </a:p>
        </p:txBody>
      </p:sp>
      <p:sp>
        <p:nvSpPr>
          <p:cNvPr id="15" name="Text 13"/>
          <p:cNvSpPr/>
          <p:nvPr/>
        </p:nvSpPr>
        <p:spPr>
          <a:xfrm>
            <a:off x="5568696" y="2724912"/>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€70K</a:t>
            </a:r>
            <a:endParaRPr lang="en-US" sz="1600" dirty="0"/>
          </a:p>
        </p:txBody>
      </p:sp>
      <p:sp>
        <p:nvSpPr>
          <p:cNvPr id="16" name="Text 14"/>
          <p:cNvSpPr/>
          <p:nvPr/>
        </p:nvSpPr>
        <p:spPr>
          <a:xfrm>
            <a:off x="6492240" y="2724912"/>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€220K</a:t>
            </a:r>
            <a:endParaRPr lang="en-US" sz="1600" dirty="0"/>
          </a:p>
        </p:txBody>
      </p:sp>
      <p:sp>
        <p:nvSpPr>
          <p:cNvPr id="17" name="Shape 15"/>
          <p:cNvSpPr/>
          <p:nvPr/>
        </p:nvSpPr>
        <p:spPr>
          <a:xfrm>
            <a:off x="685800" y="3026664"/>
            <a:ext cx="6729984" cy="393192"/>
          </a:xfrm>
          <a:prstGeom prst="rect">
            <a:avLst/>
          </a:prstGeom>
          <a:solidFill>
            <a:srgbClr val="FFFFFF"/>
          </a:solidFill>
          <a:ln w="12700">
            <a:solidFill>
              <a:srgbClr val="FFFFFF"/>
            </a:solidFill>
            <a:prstDash val="solid"/>
          </a:ln>
        </p:spPr>
      </p:sp>
      <p:sp>
        <p:nvSpPr>
          <p:cNvPr id="18" name="Text 16"/>
          <p:cNvSpPr/>
          <p:nvPr/>
        </p:nvSpPr>
        <p:spPr>
          <a:xfrm>
            <a:off x="850392" y="3127248"/>
            <a:ext cx="4553712" cy="219456"/>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BTL: events, roadshows, retail &amp; malls</a:t>
            </a:r>
            <a:endParaRPr lang="en-US" sz="1550" dirty="0"/>
          </a:p>
        </p:txBody>
      </p:sp>
      <p:sp>
        <p:nvSpPr>
          <p:cNvPr id="19" name="Text 17"/>
          <p:cNvSpPr/>
          <p:nvPr/>
        </p:nvSpPr>
        <p:spPr>
          <a:xfrm>
            <a:off x="5568696" y="3118104"/>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€70K</a:t>
            </a:r>
            <a:endParaRPr lang="en-US" sz="1600" dirty="0"/>
          </a:p>
        </p:txBody>
      </p:sp>
      <p:sp>
        <p:nvSpPr>
          <p:cNvPr id="20" name="Text 18"/>
          <p:cNvSpPr/>
          <p:nvPr/>
        </p:nvSpPr>
        <p:spPr>
          <a:xfrm>
            <a:off x="6492240" y="3118104"/>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€200K</a:t>
            </a:r>
            <a:endParaRPr lang="en-US" sz="1600" dirty="0"/>
          </a:p>
        </p:txBody>
      </p:sp>
      <p:sp>
        <p:nvSpPr>
          <p:cNvPr id="21" name="Shape 19"/>
          <p:cNvSpPr/>
          <p:nvPr/>
        </p:nvSpPr>
        <p:spPr>
          <a:xfrm>
            <a:off x="685800" y="3419856"/>
            <a:ext cx="6729984" cy="393192"/>
          </a:xfrm>
          <a:prstGeom prst="rect">
            <a:avLst/>
          </a:prstGeom>
          <a:solidFill>
            <a:srgbClr val="F3EBDD"/>
          </a:solidFill>
          <a:ln w="12700">
            <a:solidFill>
              <a:srgbClr val="F3EBDD"/>
            </a:solidFill>
            <a:prstDash val="solid"/>
          </a:ln>
        </p:spPr>
      </p:sp>
      <p:sp>
        <p:nvSpPr>
          <p:cNvPr id="22" name="Text 20"/>
          <p:cNvSpPr/>
          <p:nvPr/>
        </p:nvSpPr>
        <p:spPr>
          <a:xfrm>
            <a:off x="850392" y="3520440"/>
            <a:ext cx="4553712" cy="219456"/>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ATL: local awareness, media &amp; PR</a:t>
            </a:r>
            <a:endParaRPr lang="en-US" sz="1550" dirty="0"/>
          </a:p>
        </p:txBody>
      </p:sp>
      <p:sp>
        <p:nvSpPr>
          <p:cNvPr id="23" name="Text 21"/>
          <p:cNvSpPr/>
          <p:nvPr/>
        </p:nvSpPr>
        <p:spPr>
          <a:xfrm>
            <a:off x="5568696" y="3511296"/>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€40K</a:t>
            </a:r>
            <a:endParaRPr lang="en-US" sz="1600" dirty="0"/>
          </a:p>
        </p:txBody>
      </p:sp>
      <p:sp>
        <p:nvSpPr>
          <p:cNvPr id="24" name="Text 22"/>
          <p:cNvSpPr/>
          <p:nvPr/>
        </p:nvSpPr>
        <p:spPr>
          <a:xfrm>
            <a:off x="6492240" y="3511296"/>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€180K</a:t>
            </a:r>
            <a:endParaRPr lang="en-US" sz="1600" dirty="0"/>
          </a:p>
        </p:txBody>
      </p:sp>
      <p:sp>
        <p:nvSpPr>
          <p:cNvPr id="25" name="Shape 23"/>
          <p:cNvSpPr/>
          <p:nvPr/>
        </p:nvSpPr>
        <p:spPr>
          <a:xfrm>
            <a:off x="685800" y="3813048"/>
            <a:ext cx="6729984" cy="393192"/>
          </a:xfrm>
          <a:prstGeom prst="rect">
            <a:avLst/>
          </a:prstGeom>
          <a:solidFill>
            <a:srgbClr val="FFFFFF"/>
          </a:solidFill>
          <a:ln w="12700">
            <a:solidFill>
              <a:srgbClr val="FFFFFF"/>
            </a:solidFill>
            <a:prstDash val="solid"/>
          </a:ln>
        </p:spPr>
      </p:sp>
      <p:sp>
        <p:nvSpPr>
          <p:cNvPr id="26" name="Text 24"/>
          <p:cNvSpPr/>
          <p:nvPr/>
        </p:nvSpPr>
        <p:spPr>
          <a:xfrm>
            <a:off x="850392" y="3913632"/>
            <a:ext cx="4553712" cy="219456"/>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Searchable editorial / organic discovery</a:t>
            </a:r>
            <a:endParaRPr lang="en-US" sz="1550" dirty="0"/>
          </a:p>
        </p:txBody>
      </p:sp>
      <p:sp>
        <p:nvSpPr>
          <p:cNvPr id="27" name="Text 25"/>
          <p:cNvSpPr/>
          <p:nvPr/>
        </p:nvSpPr>
        <p:spPr>
          <a:xfrm>
            <a:off x="5568696" y="3904488"/>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€30K</a:t>
            </a:r>
            <a:endParaRPr lang="en-US" sz="1600" dirty="0"/>
          </a:p>
        </p:txBody>
      </p:sp>
      <p:sp>
        <p:nvSpPr>
          <p:cNvPr id="28" name="Text 26"/>
          <p:cNvSpPr/>
          <p:nvPr/>
        </p:nvSpPr>
        <p:spPr>
          <a:xfrm>
            <a:off x="6492240" y="3904488"/>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€80K</a:t>
            </a:r>
            <a:endParaRPr lang="en-US" sz="1600" dirty="0"/>
          </a:p>
        </p:txBody>
      </p:sp>
      <p:sp>
        <p:nvSpPr>
          <p:cNvPr id="29" name="Shape 27"/>
          <p:cNvSpPr/>
          <p:nvPr/>
        </p:nvSpPr>
        <p:spPr>
          <a:xfrm>
            <a:off x="685800" y="4206240"/>
            <a:ext cx="6729984" cy="393192"/>
          </a:xfrm>
          <a:prstGeom prst="rect">
            <a:avLst/>
          </a:prstGeom>
          <a:solidFill>
            <a:srgbClr val="F3EBDD"/>
          </a:solidFill>
          <a:ln w="12700">
            <a:solidFill>
              <a:srgbClr val="F3EBDD"/>
            </a:solidFill>
            <a:prstDash val="solid"/>
          </a:ln>
        </p:spPr>
      </p:sp>
      <p:sp>
        <p:nvSpPr>
          <p:cNvPr id="30" name="Text 28"/>
          <p:cNvSpPr/>
          <p:nvPr/>
        </p:nvSpPr>
        <p:spPr>
          <a:xfrm>
            <a:off x="850392" y="4306824"/>
            <a:ext cx="4553712" cy="219456"/>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Opt-in lifecycle &amp; referrals</a:t>
            </a:r>
            <a:endParaRPr lang="en-US" sz="1550" dirty="0"/>
          </a:p>
        </p:txBody>
      </p:sp>
      <p:sp>
        <p:nvSpPr>
          <p:cNvPr id="31" name="Text 29"/>
          <p:cNvSpPr/>
          <p:nvPr/>
        </p:nvSpPr>
        <p:spPr>
          <a:xfrm>
            <a:off x="5568696" y="4297680"/>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€20K</a:t>
            </a:r>
            <a:endParaRPr lang="en-US" sz="1600" dirty="0"/>
          </a:p>
        </p:txBody>
      </p:sp>
      <p:sp>
        <p:nvSpPr>
          <p:cNvPr id="32" name="Text 30"/>
          <p:cNvSpPr/>
          <p:nvPr/>
        </p:nvSpPr>
        <p:spPr>
          <a:xfrm>
            <a:off x="6492240" y="4297680"/>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€40K</a:t>
            </a:r>
            <a:endParaRPr lang="en-US" sz="1600" dirty="0"/>
          </a:p>
        </p:txBody>
      </p:sp>
      <p:sp>
        <p:nvSpPr>
          <p:cNvPr id="33" name="Shape 31"/>
          <p:cNvSpPr/>
          <p:nvPr/>
        </p:nvSpPr>
        <p:spPr>
          <a:xfrm>
            <a:off x="685800" y="4599432"/>
            <a:ext cx="6729984" cy="393192"/>
          </a:xfrm>
          <a:prstGeom prst="rect">
            <a:avLst/>
          </a:prstGeom>
          <a:solidFill>
            <a:srgbClr val="FFFFFF"/>
          </a:solidFill>
          <a:ln w="12700">
            <a:solidFill>
              <a:srgbClr val="FFFFFF"/>
            </a:solidFill>
            <a:prstDash val="solid"/>
          </a:ln>
        </p:spPr>
      </p:sp>
      <p:sp>
        <p:nvSpPr>
          <p:cNvPr id="34" name="Text 32"/>
          <p:cNvSpPr/>
          <p:nvPr/>
        </p:nvSpPr>
        <p:spPr>
          <a:xfrm>
            <a:off x="850392" y="4700016"/>
            <a:ext cx="4553712" cy="219456"/>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Growth operations &amp; experiments</a:t>
            </a:r>
            <a:endParaRPr lang="en-US" sz="1550" dirty="0"/>
          </a:p>
        </p:txBody>
      </p:sp>
      <p:sp>
        <p:nvSpPr>
          <p:cNvPr id="35" name="Text 33"/>
          <p:cNvSpPr/>
          <p:nvPr/>
        </p:nvSpPr>
        <p:spPr>
          <a:xfrm>
            <a:off x="5568696" y="4690872"/>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€40K</a:t>
            </a:r>
            <a:endParaRPr lang="en-US" sz="1600" dirty="0"/>
          </a:p>
        </p:txBody>
      </p:sp>
      <p:sp>
        <p:nvSpPr>
          <p:cNvPr id="36" name="Text 34"/>
          <p:cNvSpPr/>
          <p:nvPr/>
        </p:nvSpPr>
        <p:spPr>
          <a:xfrm>
            <a:off x="6492240" y="4690872"/>
            <a:ext cx="795528" cy="228600"/>
          </a:xfrm>
          <a:prstGeom prst="rect">
            <a:avLst/>
          </a:prstGeom>
          <a:noFill/>
          <a:ln/>
        </p:spPr>
        <p:txBody>
          <a:bodyPr wrap="square" lIns="0" tIns="0" rIns="0" bIns="0" rtlCol="0" anchor="t">
            <a:spAutoFit/>
          </a:bodyPr>
          <a:lstStyle/>
          <a:p>
            <a:pPr indent="0" marL="0">
              <a:buNone/>
            </a:pPr>
            <a:r>
              <a:rPr lang="en-US" sz="1600" b="1" dirty="0">
                <a:solidFill>
                  <a:srgbClr val="C3452E"/>
                </a:solidFill>
                <a:latin typeface="Roboto Condensed" pitchFamily="34" charset="0"/>
                <a:ea typeface="Roboto Condensed" pitchFamily="34" charset="-122"/>
                <a:cs typeface="Roboto Condensed" pitchFamily="34" charset="-120"/>
              </a:rPr>
              <a:t>€80K</a:t>
            </a:r>
            <a:endParaRPr lang="en-US" sz="1600" dirty="0"/>
          </a:p>
        </p:txBody>
      </p:sp>
      <p:sp>
        <p:nvSpPr>
          <p:cNvPr id="37" name="Shape 35"/>
          <p:cNvSpPr/>
          <p:nvPr/>
        </p:nvSpPr>
        <p:spPr>
          <a:xfrm>
            <a:off x="685800" y="5093208"/>
            <a:ext cx="6729984" cy="0"/>
          </a:xfrm>
          <a:prstGeom prst="line">
            <a:avLst/>
          </a:prstGeom>
          <a:noFill/>
          <a:ln w="19050">
            <a:solidFill>
              <a:srgbClr val="ED654F"/>
            </a:solidFill>
            <a:prstDash val="solid"/>
            <a:headEnd type="none"/>
            <a:tailEnd type="none"/>
          </a:ln>
        </p:spPr>
      </p:sp>
      <p:sp>
        <p:nvSpPr>
          <p:cNvPr id="38" name="Text 36"/>
          <p:cNvSpPr/>
          <p:nvPr/>
        </p:nvSpPr>
        <p:spPr>
          <a:xfrm>
            <a:off x="859536" y="5248656"/>
            <a:ext cx="4297680" cy="256032"/>
          </a:xfrm>
          <a:prstGeom prst="rect">
            <a:avLst/>
          </a:prstGeom>
          <a:noFill/>
          <a:ln/>
        </p:spPr>
        <p:txBody>
          <a:bodyPr wrap="square" lIns="0" tIns="0" rIns="0" bIns="0" rtlCol="0" anchor="t">
            <a:spAutoFit/>
          </a:bodyPr>
          <a:lstStyle/>
          <a:p>
            <a:pPr indent="0" marL="0">
              <a:buNone/>
            </a:pPr>
            <a:r>
              <a:rPr lang="en-US" sz="1700" b="1" dirty="0">
                <a:solidFill>
                  <a:srgbClr val="272323"/>
                </a:solidFill>
                <a:latin typeface="Roboto Condensed" pitchFamily="34" charset="0"/>
                <a:ea typeface="Roboto Condensed" pitchFamily="34" charset="-122"/>
                <a:cs typeface="Roboto Condensed" pitchFamily="34" charset="-120"/>
              </a:rPr>
              <a:t>MARKETING TOTAL</a:t>
            </a:r>
            <a:endParaRPr lang="en-US" sz="1700" dirty="0"/>
          </a:p>
        </p:txBody>
      </p:sp>
      <p:sp>
        <p:nvSpPr>
          <p:cNvPr id="39" name="Text 37"/>
          <p:cNvSpPr/>
          <p:nvPr/>
        </p:nvSpPr>
        <p:spPr>
          <a:xfrm>
            <a:off x="5404104" y="5202936"/>
            <a:ext cx="987552" cy="301752"/>
          </a:xfrm>
          <a:prstGeom prst="rect">
            <a:avLst/>
          </a:prstGeom>
          <a:noFill/>
          <a:ln/>
        </p:spPr>
        <p:txBody>
          <a:bodyPr wrap="square" lIns="0" tIns="0" rIns="0" bIns="0" rtlCol="0" anchor="t">
            <a:spAutoFit/>
          </a:bodyPr>
          <a:lstStyle/>
          <a:p>
            <a:pPr indent="0" marL="0">
              <a:buNone/>
            </a:pPr>
            <a:r>
              <a:rPr lang="en-US" sz="2300" b="1" dirty="0">
                <a:solidFill>
                  <a:srgbClr val="ED654F"/>
                </a:solidFill>
                <a:latin typeface="Roboto Condensed" pitchFamily="34" charset="0"/>
                <a:ea typeface="Roboto Condensed" pitchFamily="34" charset="-122"/>
                <a:cs typeface="Roboto Condensed" pitchFamily="34" charset="-120"/>
              </a:rPr>
              <a:t>€450K</a:t>
            </a:r>
            <a:endParaRPr lang="en-US" sz="2300" dirty="0"/>
          </a:p>
        </p:txBody>
      </p:sp>
      <p:sp>
        <p:nvSpPr>
          <p:cNvPr id="40" name="Text 38"/>
          <p:cNvSpPr/>
          <p:nvPr/>
        </p:nvSpPr>
        <p:spPr>
          <a:xfrm>
            <a:off x="6419088" y="5202936"/>
            <a:ext cx="996696" cy="329184"/>
          </a:xfrm>
          <a:prstGeom prst="rect">
            <a:avLst/>
          </a:prstGeom>
          <a:noFill/>
          <a:ln/>
        </p:spPr>
        <p:txBody>
          <a:bodyPr wrap="square" lIns="0" tIns="0" rIns="0" bIns="0" rtlCol="0" anchor="t">
            <a:spAutoFit/>
          </a:bodyPr>
          <a:lstStyle/>
          <a:p>
            <a:pPr indent="0" marL="0">
              <a:buNone/>
            </a:pPr>
            <a:r>
              <a:rPr lang="en-US" sz="2300" b="1" dirty="0">
                <a:solidFill>
                  <a:srgbClr val="ED654F"/>
                </a:solidFill>
                <a:latin typeface="Roboto Condensed" pitchFamily="34" charset="0"/>
                <a:ea typeface="Roboto Condensed" pitchFamily="34" charset="-122"/>
                <a:cs typeface="Roboto Condensed" pitchFamily="34" charset="-120"/>
              </a:rPr>
              <a:t>€1.45M</a:t>
            </a:r>
            <a:endParaRPr lang="en-US" sz="2300" dirty="0"/>
          </a:p>
        </p:txBody>
      </p:sp>
      <p:sp>
        <p:nvSpPr>
          <p:cNvPr id="41" name="Shape 39"/>
          <p:cNvSpPr/>
          <p:nvPr/>
        </p:nvSpPr>
        <p:spPr>
          <a:xfrm>
            <a:off x="7754112" y="1810512"/>
            <a:ext cx="3739896" cy="4105656"/>
          </a:xfrm>
          <a:prstGeom prst="rect">
            <a:avLst/>
          </a:prstGeom>
          <a:solidFill>
            <a:srgbClr val="F3EBDD"/>
          </a:solidFill>
          <a:ln w="12700">
            <a:solidFill>
              <a:srgbClr val="F3EBDD"/>
            </a:solidFill>
            <a:prstDash val="solid"/>
          </a:ln>
        </p:spPr>
      </p:sp>
      <p:sp>
        <p:nvSpPr>
          <p:cNvPr id="42" name="Text 40"/>
          <p:cNvSpPr/>
          <p:nvPr/>
        </p:nvSpPr>
        <p:spPr>
          <a:xfrm>
            <a:off x="7955280" y="2002536"/>
            <a:ext cx="3328416" cy="557784"/>
          </a:xfrm>
          <a:prstGeom prst="rect">
            <a:avLst/>
          </a:prstGeom>
          <a:noFill/>
          <a:ln/>
        </p:spPr>
        <p:txBody>
          <a:bodyPr wrap="square" lIns="0" tIns="0" rIns="0" bIns="0" rtlCol="0" anchor="t">
            <a:spAutoFit/>
          </a:bodyPr>
          <a:lstStyle/>
          <a:p>
            <a:pPr indent="0" marL="0">
              <a:buNone/>
            </a:pPr>
            <a:r>
              <a:rPr lang="en-US" sz="2000" b="1" dirty="0">
                <a:solidFill>
                  <a:srgbClr val="C3452E"/>
                </a:solidFill>
                <a:latin typeface="Roboto Condensed" pitchFamily="34" charset="0"/>
                <a:ea typeface="Roboto Condensed" pitchFamily="34" charset="-122"/>
                <a:cs typeface="Roboto Condensed" pitchFamily="34" charset="-120"/>
              </a:rPr>
              <a:t>EAT, MOVE, RECOVER</a:t>
            </a:r>
            <a:endParaRPr lang="en-US" sz="2000" dirty="0"/>
          </a:p>
          <a:p>
            <a:pPr indent="0" marL="0">
              <a:buNone/>
            </a:pPr>
            <a:r>
              <a:rPr lang="en-US" sz="2000" b="1" dirty="0">
                <a:solidFill>
                  <a:srgbClr val="C3452E"/>
                </a:solidFill>
                <a:latin typeface="Roboto Condensed" pitchFamily="34" charset="0"/>
                <a:ea typeface="Roboto Condensed" pitchFamily="34" charset="-122"/>
                <a:cs typeface="Roboto Condensed" pitchFamily="34" charset="-120"/>
              </a:rPr>
              <a:t>—YOUR WAY</a:t>
            </a:r>
            <a:endParaRPr lang="en-US" sz="2000" dirty="0"/>
          </a:p>
        </p:txBody>
      </p:sp>
      <p:sp>
        <p:nvSpPr>
          <p:cNvPr id="43" name="Text 41"/>
          <p:cNvSpPr/>
          <p:nvPr/>
        </p:nvSpPr>
        <p:spPr>
          <a:xfrm>
            <a:off x="7955280" y="2779776"/>
            <a:ext cx="987552" cy="219456"/>
          </a:xfrm>
          <a:prstGeom prst="rect">
            <a:avLst/>
          </a:prstGeom>
          <a:noFill/>
          <a:ln/>
        </p:spPr>
        <p:txBody>
          <a:bodyPr wrap="square" lIns="0" tIns="0" rIns="0" bIns="0" rtlCol="0" anchor="t">
            <a:spAutoFit/>
          </a:bodyPr>
          <a:lstStyle/>
          <a:p>
            <a:pPr indent="0" marL="0">
              <a:buNone/>
            </a:pPr>
            <a:r>
              <a:rPr lang="en-US" sz="1270" b="1" dirty="0">
                <a:solidFill>
                  <a:srgbClr val="C3452E"/>
                </a:solidFill>
                <a:latin typeface="Roboto Condensed" pitchFamily="34" charset="0"/>
                <a:ea typeface="Roboto Condensed" pitchFamily="34" charset="-122"/>
                <a:cs typeface="Roboto Condensed" pitchFamily="34" charset="-120"/>
              </a:rPr>
              <a:t>CREATE</a:t>
            </a:r>
            <a:endParaRPr lang="en-US" sz="1270" dirty="0"/>
          </a:p>
        </p:txBody>
      </p:sp>
      <p:sp>
        <p:nvSpPr>
          <p:cNvPr id="44" name="Text 42"/>
          <p:cNvSpPr/>
          <p:nvPr/>
        </p:nvSpPr>
        <p:spPr>
          <a:xfrm>
            <a:off x="8942832" y="2756916"/>
            <a:ext cx="2276856" cy="521208"/>
          </a:xfrm>
          <a:prstGeom prst="rect">
            <a:avLst/>
          </a:prstGeom>
          <a:noFill/>
          <a:ln/>
        </p:spPr>
        <p:txBody>
          <a:bodyPr wrap="square" lIns="0" tIns="0" rIns="0" bIns="0" rtlCol="0" anchor="t">
            <a:spAutoFit/>
          </a:bodyPr>
          <a:lstStyle/>
          <a:p>
            <a:pPr indent="0" marL="0">
              <a:buNone/>
            </a:pPr>
            <a:r>
              <a:rPr lang="en-US" sz="1570" dirty="0">
                <a:solidFill>
                  <a:srgbClr val="272323"/>
                </a:solidFill>
                <a:latin typeface="Roboto Condensed" pitchFamily="34" charset="0"/>
                <a:ea typeface="Roboto Condensed" pitchFamily="34" charset="-122"/>
                <a:cs typeface="Roboto Condensed" pitchFamily="34" charset="-120"/>
              </a:rPr>
              <a:t>Chef + dietitian + trainer: useful visual guides.</a:t>
            </a:r>
            <a:endParaRPr lang="en-US" sz="1570" dirty="0"/>
          </a:p>
        </p:txBody>
      </p:sp>
      <p:sp>
        <p:nvSpPr>
          <p:cNvPr id="45" name="Text 43"/>
          <p:cNvSpPr/>
          <p:nvPr/>
        </p:nvSpPr>
        <p:spPr>
          <a:xfrm>
            <a:off x="7955280" y="3520440"/>
            <a:ext cx="987552" cy="219456"/>
          </a:xfrm>
          <a:prstGeom prst="rect">
            <a:avLst/>
          </a:prstGeom>
          <a:noFill/>
          <a:ln/>
        </p:spPr>
        <p:txBody>
          <a:bodyPr wrap="square" lIns="0" tIns="0" rIns="0" bIns="0" rtlCol="0" anchor="t">
            <a:spAutoFit/>
          </a:bodyPr>
          <a:lstStyle/>
          <a:p>
            <a:pPr indent="0" marL="0">
              <a:buNone/>
            </a:pPr>
            <a:r>
              <a:rPr lang="en-US" sz="1270" b="1" dirty="0">
                <a:solidFill>
                  <a:srgbClr val="C3452E"/>
                </a:solidFill>
                <a:latin typeface="Roboto Condensed" pitchFamily="34" charset="0"/>
                <a:ea typeface="Roboto Condensed" pitchFamily="34" charset="-122"/>
                <a:cs typeface="Roboto Condensed" pitchFamily="34" charset="-120"/>
              </a:rPr>
              <a:t>ACTIVATE</a:t>
            </a:r>
            <a:endParaRPr lang="en-US" sz="1270" dirty="0"/>
          </a:p>
        </p:txBody>
      </p:sp>
      <p:sp>
        <p:nvSpPr>
          <p:cNvPr id="46" name="Text 44"/>
          <p:cNvSpPr/>
          <p:nvPr/>
        </p:nvSpPr>
        <p:spPr>
          <a:xfrm>
            <a:off x="8942832" y="3497580"/>
            <a:ext cx="2276856" cy="521208"/>
          </a:xfrm>
          <a:prstGeom prst="rect">
            <a:avLst/>
          </a:prstGeom>
          <a:noFill/>
          <a:ln/>
        </p:spPr>
        <p:txBody>
          <a:bodyPr wrap="square" lIns="0" tIns="0" rIns="0" bIns="0" rtlCol="0" anchor="t">
            <a:spAutoFit/>
          </a:bodyPr>
          <a:lstStyle/>
          <a:p>
            <a:pPr indent="0" marL="0">
              <a:buNone/>
            </a:pPr>
            <a:r>
              <a:rPr lang="en-US" sz="1570" dirty="0">
                <a:solidFill>
                  <a:srgbClr val="272323"/>
                </a:solidFill>
                <a:latin typeface="Roboto Condensed" pitchFamily="34" charset="0"/>
                <a:ea typeface="Roboto Condensed" pitchFamily="34" charset="-122"/>
                <a:cs typeface="Roboto Condensed" pitchFamily="34" charset="-120"/>
              </a:rPr>
              <a:t>Gym, sports / fashion retailer, event or mall.</a:t>
            </a:r>
            <a:endParaRPr lang="en-US" sz="1570" dirty="0"/>
          </a:p>
        </p:txBody>
      </p:sp>
      <p:sp>
        <p:nvSpPr>
          <p:cNvPr id="47" name="Text 45"/>
          <p:cNvSpPr/>
          <p:nvPr/>
        </p:nvSpPr>
        <p:spPr>
          <a:xfrm>
            <a:off x="7955280" y="4261104"/>
            <a:ext cx="987552" cy="219456"/>
          </a:xfrm>
          <a:prstGeom prst="rect">
            <a:avLst/>
          </a:prstGeom>
          <a:noFill/>
          <a:ln/>
        </p:spPr>
        <p:txBody>
          <a:bodyPr wrap="square" lIns="0" tIns="0" rIns="0" bIns="0" rtlCol="0" anchor="t">
            <a:spAutoFit/>
          </a:bodyPr>
          <a:lstStyle/>
          <a:p>
            <a:pPr indent="0" marL="0">
              <a:buNone/>
            </a:pPr>
            <a:r>
              <a:rPr lang="en-US" sz="1270" b="1" dirty="0">
                <a:solidFill>
                  <a:srgbClr val="C3452E"/>
                </a:solidFill>
                <a:latin typeface="Roboto Condensed" pitchFamily="34" charset="0"/>
                <a:ea typeface="Roboto Condensed" pitchFamily="34" charset="-122"/>
                <a:cs typeface="Roboto Condensed" pitchFamily="34" charset="-120"/>
              </a:rPr>
              <a:t>CONVERT</a:t>
            </a:r>
            <a:endParaRPr lang="en-US" sz="1270" dirty="0"/>
          </a:p>
        </p:txBody>
      </p:sp>
      <p:sp>
        <p:nvSpPr>
          <p:cNvPr id="48" name="Text 46"/>
          <p:cNvSpPr/>
          <p:nvPr/>
        </p:nvSpPr>
        <p:spPr>
          <a:xfrm>
            <a:off x="8942832" y="4238244"/>
            <a:ext cx="2276856" cy="521208"/>
          </a:xfrm>
          <a:prstGeom prst="rect">
            <a:avLst/>
          </a:prstGeom>
          <a:noFill/>
          <a:ln/>
        </p:spPr>
        <p:txBody>
          <a:bodyPr wrap="square" lIns="0" tIns="0" rIns="0" bIns="0" rtlCol="0" anchor="t">
            <a:spAutoFit/>
          </a:bodyPr>
          <a:lstStyle/>
          <a:p>
            <a:pPr indent="0" marL="0">
              <a:buNone/>
            </a:pPr>
            <a:r>
              <a:rPr lang="en-US" sz="1570" dirty="0">
                <a:solidFill>
                  <a:srgbClr val="272323"/>
                </a:solidFill>
                <a:latin typeface="Roboto Condensed" pitchFamily="34" charset="0"/>
                <a:ea typeface="Roboto Condensed" pitchFamily="34" charset="-122"/>
                <a:cs typeface="Roboto Condensed" pitchFamily="34" charset="-120"/>
              </a:rPr>
              <a:t>First app action, opt-in follow-up, optional payment.</a:t>
            </a:r>
            <a:endParaRPr lang="en-US" sz="1570" dirty="0"/>
          </a:p>
        </p:txBody>
      </p:sp>
      <p:sp>
        <p:nvSpPr>
          <p:cNvPr id="49" name="Text 47"/>
          <p:cNvSpPr/>
          <p:nvPr/>
        </p:nvSpPr>
        <p:spPr>
          <a:xfrm>
            <a:off x="7955280" y="5001768"/>
            <a:ext cx="987552" cy="219456"/>
          </a:xfrm>
          <a:prstGeom prst="rect">
            <a:avLst/>
          </a:prstGeom>
          <a:noFill/>
          <a:ln/>
        </p:spPr>
        <p:txBody>
          <a:bodyPr wrap="square" lIns="0" tIns="0" rIns="0" bIns="0" rtlCol="0" anchor="t">
            <a:spAutoFit/>
          </a:bodyPr>
          <a:lstStyle/>
          <a:p>
            <a:pPr indent="0" marL="0">
              <a:buNone/>
            </a:pPr>
            <a:r>
              <a:rPr lang="en-US" sz="1270" b="1" dirty="0">
                <a:solidFill>
                  <a:srgbClr val="C3452E"/>
                </a:solidFill>
                <a:latin typeface="Roboto Condensed" pitchFamily="34" charset="0"/>
                <a:ea typeface="Roboto Condensed" pitchFamily="34" charset="-122"/>
                <a:cs typeface="Roboto Condensed" pitchFamily="34" charset="-120"/>
              </a:rPr>
              <a:t>LEARN</a:t>
            </a:r>
            <a:endParaRPr lang="en-US" sz="1270" dirty="0"/>
          </a:p>
        </p:txBody>
      </p:sp>
      <p:sp>
        <p:nvSpPr>
          <p:cNvPr id="50" name="Text 48"/>
          <p:cNvSpPr/>
          <p:nvPr/>
        </p:nvSpPr>
        <p:spPr>
          <a:xfrm>
            <a:off x="8942832" y="4978908"/>
            <a:ext cx="2276856" cy="521208"/>
          </a:xfrm>
          <a:prstGeom prst="rect">
            <a:avLst/>
          </a:prstGeom>
          <a:noFill/>
          <a:ln/>
        </p:spPr>
        <p:txBody>
          <a:bodyPr wrap="square" lIns="0" tIns="0" rIns="0" bIns="0" rtlCol="0" anchor="t">
            <a:spAutoFit/>
          </a:bodyPr>
          <a:lstStyle/>
          <a:p>
            <a:pPr indent="0" marL="0">
              <a:buNone/>
            </a:pPr>
            <a:r>
              <a:rPr lang="en-US" sz="1570" dirty="0">
                <a:solidFill>
                  <a:srgbClr val="272323"/>
                </a:solidFill>
                <a:latin typeface="Roboto Condensed" pitchFamily="34" charset="0"/>
                <a:ea typeface="Roboto Condensed" pitchFamily="34" charset="-122"/>
                <a:cs typeface="Roboto Condensed" pitchFamily="34" charset="-120"/>
              </a:rPr>
              <a:t>Compare retained users and fully loaded acquisition cost.</a:t>
            </a:r>
            <a:endParaRPr lang="en-US" sz="1570" dirty="0"/>
          </a:p>
        </p:txBody>
      </p:sp>
      <p:sp>
        <p:nvSpPr>
          <p:cNvPr id="51" name="Text 49"/>
          <p:cNvSpPr/>
          <p:nvPr/>
        </p:nvSpPr>
        <p:spPr>
          <a:xfrm>
            <a:off x="685800" y="6172200"/>
            <a:ext cx="10808208" cy="228600"/>
          </a:xfrm>
          <a:prstGeom prst="rect">
            <a:avLst/>
          </a:prstGeom>
          <a:noFill/>
          <a:ln/>
        </p:spPr>
        <p:txBody>
          <a:bodyPr wrap="square" lIns="0" tIns="0" rIns="0" bIns="0" rtlCol="0" anchor="t">
            <a:spAutoFit/>
          </a:bodyPr>
          <a:lstStyle/>
          <a:p>
            <a:pPr indent="0" marL="0">
              <a:buNone/>
            </a:pPr>
            <a:r>
              <a:rPr lang="en-US" sz="1030" dirty="0">
                <a:solidFill>
                  <a:srgbClr val="65605D"/>
                </a:solidFill>
                <a:latin typeface="Roboto Condensed" pitchFamily="34" charset="0"/>
                <a:ea typeface="Roboto Condensed" pitchFamily="34" charset="-122"/>
                <a:cs typeface="Roboto Condensed" pitchFamily="34" charset="-120"/>
              </a:rPr>
              <a:t>Content-library production and partner account teams are separately budgeted. This is a channel menu and spend ceiling—not a plan to activate everything.</a:t>
            </a:r>
            <a:endParaRPr lang="en-US" sz="10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8368" y="393192"/>
            <a:ext cx="10881360" cy="667512"/>
          </a:xfrm>
          <a:prstGeom prst="rect">
            <a:avLst/>
          </a:prstGeom>
          <a:noFill/>
          <a:ln/>
        </p:spPr>
        <p:txBody>
          <a:bodyPr wrap="square" lIns="0" tIns="0" rIns="0" bIns="0" rtlCol="0" anchor="t">
            <a:spAutoFit/>
          </a:bodyPr>
          <a:lstStyle/>
          <a:p>
            <a:pPr indent="0" marL="0">
              <a:buNone/>
            </a:pPr>
            <a:r>
              <a:rPr lang="en-US" sz="3900" b="1" dirty="0">
                <a:solidFill>
                  <a:srgbClr val="ED654F"/>
                </a:solidFill>
                <a:latin typeface="Roboto Condensed" pitchFamily="34" charset="0"/>
                <a:ea typeface="Roboto Condensed" pitchFamily="34" charset="-122"/>
                <a:cs typeface="Roboto Condensed" pitchFamily="34" charset="-120"/>
              </a:rPr>
              <a:t>Growth Assumptions—not a Forecast</a:t>
            </a:r>
            <a:endParaRPr lang="en-US" sz="3900" dirty="0"/>
          </a:p>
        </p:txBody>
      </p:sp>
      <p:sp>
        <p:nvSpPr>
          <p:cNvPr id="3" name="Text 1"/>
          <p:cNvSpPr/>
          <p:nvPr/>
        </p:nvSpPr>
        <p:spPr>
          <a:xfrm>
            <a:off x="685800" y="1115568"/>
            <a:ext cx="10789920" cy="448056"/>
          </a:xfrm>
          <a:prstGeom prst="rect">
            <a:avLst/>
          </a:prstGeom>
          <a:noFill/>
          <a:ln/>
        </p:spPr>
        <p:txBody>
          <a:bodyPr wrap="square" lIns="0" tIns="0" rIns="0" bIns="0" rtlCol="0" anchor="t">
            <a:spAutoFit/>
          </a:bodyPr>
          <a:lstStyle/>
          <a:p>
            <a:pPr indent="0" marL="0">
              <a:buNone/>
            </a:pPr>
            <a:r>
              <a:rPr lang="en-US" sz="1800" dirty="0">
                <a:solidFill>
                  <a:srgbClr val="272323"/>
                </a:solidFill>
                <a:latin typeface="Roboto Condensed" pitchFamily="34" charset="0"/>
                <a:ea typeface="Roboto Condensed" pitchFamily="34" charset="-122"/>
                <a:cs typeface="Roboto Condensed" pitchFamily="34" charset="-120"/>
              </a:rPr>
              <a:t>The model must expose the acquisition gap, not hide it behind a larger funding round.</a:t>
            </a:r>
            <a:endParaRPr lang="en-US" sz="1800" dirty="0"/>
          </a:p>
        </p:txBody>
      </p:sp>
      <p:sp>
        <p:nvSpPr>
          <p:cNvPr id="4" name="Text 2"/>
          <p:cNvSpPr/>
          <p:nvPr/>
        </p:nvSpPr>
        <p:spPr>
          <a:xfrm>
            <a:off x="685800" y="6473952"/>
            <a:ext cx="9052560" cy="192024"/>
          </a:xfrm>
          <a:prstGeom prst="rect">
            <a:avLst/>
          </a:prstGeom>
          <a:noFill/>
          <a:ln/>
        </p:spPr>
        <p:txBody>
          <a:bodyPr wrap="square" lIns="0" tIns="0" rIns="0" bIns="0" rtlCol="0" anchor="t">
            <a:spAutoFit/>
          </a:bodyPr>
          <a:lstStyle/>
          <a:p>
            <a:pPr indent="0" marL="0">
              <a:buNone/>
            </a:pPr>
            <a:r>
              <a:rPr lang="en-US" sz="950" dirty="0">
                <a:solidFill>
                  <a:srgbClr val="65605D"/>
                </a:solidFill>
                <a:latin typeface="Roboto Condensed" pitchFamily="34" charset="0"/>
                <a:ea typeface="Roboto Condensed" pitchFamily="34" charset="-122"/>
                <a:cs typeface="Roboto Condensed" pitchFamily="34" charset="-120"/>
              </a:rPr>
              <a:t>BACKUP B  |  24-month worked model; unvalidated assumptions</a:t>
            </a:r>
            <a:endParaRPr lang="en-US" sz="950" dirty="0"/>
          </a:p>
        </p:txBody>
      </p:sp>
      <p:sp>
        <p:nvSpPr>
          <p:cNvPr id="5" name="Shape 3"/>
          <p:cNvSpPr/>
          <p:nvPr/>
        </p:nvSpPr>
        <p:spPr>
          <a:xfrm>
            <a:off x="685800" y="1810512"/>
            <a:ext cx="6739128" cy="475488"/>
          </a:xfrm>
          <a:prstGeom prst="rect">
            <a:avLst/>
          </a:prstGeom>
          <a:solidFill>
            <a:srgbClr val="ED654F"/>
          </a:solidFill>
          <a:ln w="12700">
            <a:solidFill>
              <a:srgbClr val="ED654F"/>
            </a:solidFill>
            <a:prstDash val="solid"/>
          </a:ln>
        </p:spPr>
      </p:sp>
      <p:sp>
        <p:nvSpPr>
          <p:cNvPr id="6" name="Text 4"/>
          <p:cNvSpPr/>
          <p:nvPr/>
        </p:nvSpPr>
        <p:spPr>
          <a:xfrm>
            <a:off x="859536" y="1929384"/>
            <a:ext cx="4078224" cy="219456"/>
          </a:xfrm>
          <a:prstGeom prst="rect">
            <a:avLst/>
          </a:prstGeom>
          <a:noFill/>
          <a:ln/>
        </p:spPr>
        <p:txBody>
          <a:bodyPr wrap="square" lIns="0" tIns="0" rIns="0" bIns="0" rtlCol="0" anchor="t">
            <a:spAutoFit/>
          </a:bodyPr>
          <a:lstStyle/>
          <a:p>
            <a:pPr indent="0" marL="0">
              <a:buNone/>
            </a:pPr>
            <a:r>
              <a:rPr lang="en-US" sz="1350" b="1" dirty="0">
                <a:solidFill>
                  <a:srgbClr val="FFFFFF"/>
                </a:solidFill>
                <a:latin typeface="Roboto Condensed" pitchFamily="34" charset="0"/>
                <a:ea typeface="Roboto Condensed" pitchFamily="34" charset="-122"/>
                <a:cs typeface="Roboto Condensed" pitchFamily="34" charset="-120"/>
              </a:rPr>
              <a:t>ILLUSTRATIVE OUTPUT</a:t>
            </a:r>
            <a:endParaRPr lang="en-US" sz="1350" dirty="0"/>
          </a:p>
        </p:txBody>
      </p:sp>
      <p:sp>
        <p:nvSpPr>
          <p:cNvPr id="7" name="Text 5"/>
          <p:cNvSpPr/>
          <p:nvPr/>
        </p:nvSpPr>
        <p:spPr>
          <a:xfrm>
            <a:off x="5010912" y="1906524"/>
            <a:ext cx="923544" cy="265176"/>
          </a:xfrm>
          <a:prstGeom prst="rect">
            <a:avLst/>
          </a:prstGeom>
          <a:noFill/>
          <a:ln/>
        </p:spPr>
        <p:txBody>
          <a:bodyPr wrap="square" lIns="0" tIns="0" rIns="0" bIns="0" rtlCol="0" anchor="t">
            <a:spAutoFit/>
          </a:bodyPr>
          <a:lstStyle/>
          <a:p>
            <a:pPr indent="0" marL="0">
              <a:buNone/>
            </a:pPr>
            <a:r>
              <a:rPr lang="en-US" sz="1800" b="1" dirty="0">
                <a:solidFill>
                  <a:srgbClr val="FFFFFF"/>
                </a:solidFill>
                <a:latin typeface="Roboto Condensed" pitchFamily="34" charset="0"/>
                <a:ea typeface="Roboto Condensed" pitchFamily="34" charset="-122"/>
                <a:cs typeface="Roboto Condensed" pitchFamily="34" charset="-120"/>
              </a:rPr>
              <a:t>€2M</a:t>
            </a:r>
            <a:endParaRPr lang="en-US" sz="1800" dirty="0"/>
          </a:p>
        </p:txBody>
      </p:sp>
      <p:sp>
        <p:nvSpPr>
          <p:cNvPr id="8" name="Text 6"/>
          <p:cNvSpPr/>
          <p:nvPr/>
        </p:nvSpPr>
        <p:spPr>
          <a:xfrm>
            <a:off x="6364224" y="1906524"/>
            <a:ext cx="914400" cy="265176"/>
          </a:xfrm>
          <a:prstGeom prst="rect">
            <a:avLst/>
          </a:prstGeom>
          <a:noFill/>
          <a:ln/>
        </p:spPr>
        <p:txBody>
          <a:bodyPr wrap="square" lIns="0" tIns="0" rIns="0" bIns="0" rtlCol="0" anchor="t">
            <a:spAutoFit/>
          </a:bodyPr>
          <a:lstStyle/>
          <a:p>
            <a:pPr indent="0" marL="0">
              <a:buNone/>
            </a:pPr>
            <a:r>
              <a:rPr lang="en-US" sz="1800" b="1" dirty="0">
                <a:solidFill>
                  <a:srgbClr val="FFFFFF"/>
                </a:solidFill>
                <a:latin typeface="Roboto Condensed" pitchFamily="34" charset="0"/>
                <a:ea typeface="Roboto Condensed" pitchFamily="34" charset="-122"/>
                <a:cs typeface="Roboto Condensed" pitchFamily="34" charset="-120"/>
              </a:rPr>
              <a:t>€5M</a:t>
            </a:r>
            <a:endParaRPr lang="en-US" sz="1800" dirty="0"/>
          </a:p>
        </p:txBody>
      </p:sp>
      <p:sp>
        <p:nvSpPr>
          <p:cNvPr id="9" name="Shape 7"/>
          <p:cNvSpPr/>
          <p:nvPr/>
        </p:nvSpPr>
        <p:spPr>
          <a:xfrm>
            <a:off x="685800" y="2286000"/>
            <a:ext cx="6739128" cy="484632"/>
          </a:xfrm>
          <a:prstGeom prst="rect">
            <a:avLst/>
          </a:prstGeom>
          <a:solidFill>
            <a:srgbClr val="FFFFFF"/>
          </a:solidFill>
          <a:ln w="12700">
            <a:solidFill>
              <a:srgbClr val="FFFFFF"/>
            </a:solidFill>
            <a:prstDash val="solid"/>
          </a:ln>
        </p:spPr>
      </p:sp>
      <p:sp>
        <p:nvSpPr>
          <p:cNvPr id="10" name="Text 8"/>
          <p:cNvSpPr/>
          <p:nvPr/>
        </p:nvSpPr>
        <p:spPr>
          <a:xfrm>
            <a:off x="859536" y="2423160"/>
            <a:ext cx="4050792" cy="237744"/>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Gross new B2C payers over 24 months</a:t>
            </a:r>
            <a:endParaRPr lang="en-US" sz="1550" dirty="0"/>
          </a:p>
        </p:txBody>
      </p:sp>
      <p:sp>
        <p:nvSpPr>
          <p:cNvPr id="11" name="Text 9"/>
          <p:cNvSpPr/>
          <p:nvPr/>
        </p:nvSpPr>
        <p:spPr>
          <a:xfrm>
            <a:off x="5010912" y="2400300"/>
            <a:ext cx="1106424"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4,752</a:t>
            </a:r>
            <a:endParaRPr lang="en-US" sz="1800" dirty="0"/>
          </a:p>
        </p:txBody>
      </p:sp>
      <p:sp>
        <p:nvSpPr>
          <p:cNvPr id="12" name="Text 10"/>
          <p:cNvSpPr/>
          <p:nvPr/>
        </p:nvSpPr>
        <p:spPr>
          <a:xfrm>
            <a:off x="6364224" y="2400300"/>
            <a:ext cx="932688"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15,924</a:t>
            </a:r>
            <a:endParaRPr lang="en-US" sz="1800" dirty="0"/>
          </a:p>
        </p:txBody>
      </p:sp>
      <p:sp>
        <p:nvSpPr>
          <p:cNvPr id="13" name="Shape 11"/>
          <p:cNvSpPr/>
          <p:nvPr/>
        </p:nvSpPr>
        <p:spPr>
          <a:xfrm>
            <a:off x="685800" y="2770632"/>
            <a:ext cx="6739128" cy="484632"/>
          </a:xfrm>
          <a:prstGeom prst="rect">
            <a:avLst/>
          </a:prstGeom>
          <a:solidFill>
            <a:srgbClr val="F3EBDD"/>
          </a:solidFill>
          <a:ln w="12700">
            <a:solidFill>
              <a:srgbClr val="F3EBDD"/>
            </a:solidFill>
            <a:prstDash val="solid"/>
          </a:ln>
        </p:spPr>
      </p:sp>
      <p:sp>
        <p:nvSpPr>
          <p:cNvPr id="14" name="Text 12"/>
          <p:cNvSpPr/>
          <p:nvPr/>
        </p:nvSpPr>
        <p:spPr>
          <a:xfrm>
            <a:off x="859536" y="2907792"/>
            <a:ext cx="4050792" cy="237744"/>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B2C subscriptions active at month 24</a:t>
            </a:r>
            <a:endParaRPr lang="en-US" sz="1550" dirty="0"/>
          </a:p>
        </p:txBody>
      </p:sp>
      <p:sp>
        <p:nvSpPr>
          <p:cNvPr id="15" name="Text 13"/>
          <p:cNvSpPr/>
          <p:nvPr/>
        </p:nvSpPr>
        <p:spPr>
          <a:xfrm>
            <a:off x="5010912" y="2884932"/>
            <a:ext cx="1106424"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~3,183</a:t>
            </a:r>
            <a:endParaRPr lang="en-US" sz="1800" dirty="0"/>
          </a:p>
        </p:txBody>
      </p:sp>
      <p:sp>
        <p:nvSpPr>
          <p:cNvPr id="16" name="Text 14"/>
          <p:cNvSpPr/>
          <p:nvPr/>
        </p:nvSpPr>
        <p:spPr>
          <a:xfrm>
            <a:off x="6364224" y="2884932"/>
            <a:ext cx="932688"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~10,665</a:t>
            </a:r>
            <a:endParaRPr lang="en-US" sz="1800" dirty="0"/>
          </a:p>
        </p:txBody>
      </p:sp>
      <p:sp>
        <p:nvSpPr>
          <p:cNvPr id="17" name="Shape 15"/>
          <p:cNvSpPr/>
          <p:nvPr/>
        </p:nvSpPr>
        <p:spPr>
          <a:xfrm>
            <a:off x="685800" y="3255264"/>
            <a:ext cx="6739128" cy="484632"/>
          </a:xfrm>
          <a:prstGeom prst="rect">
            <a:avLst/>
          </a:prstGeom>
          <a:solidFill>
            <a:srgbClr val="FFFFFF"/>
          </a:solidFill>
          <a:ln w="12700">
            <a:solidFill>
              <a:srgbClr val="FFFFFF"/>
            </a:solidFill>
            <a:prstDash val="solid"/>
          </a:ln>
        </p:spPr>
      </p:sp>
      <p:sp>
        <p:nvSpPr>
          <p:cNvPr id="18" name="Text 16"/>
          <p:cNvSpPr/>
          <p:nvPr/>
        </p:nvSpPr>
        <p:spPr>
          <a:xfrm>
            <a:off x="859536" y="3392424"/>
            <a:ext cx="4050792" cy="237744"/>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Active B2B contracts at month 24</a:t>
            </a:r>
            <a:endParaRPr lang="en-US" sz="1550" dirty="0"/>
          </a:p>
        </p:txBody>
      </p:sp>
      <p:sp>
        <p:nvSpPr>
          <p:cNvPr id="19" name="Text 17"/>
          <p:cNvSpPr/>
          <p:nvPr/>
        </p:nvSpPr>
        <p:spPr>
          <a:xfrm>
            <a:off x="5010912" y="3369564"/>
            <a:ext cx="1106424"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10</a:t>
            </a:r>
            <a:endParaRPr lang="en-US" sz="1800" dirty="0"/>
          </a:p>
        </p:txBody>
      </p:sp>
      <p:sp>
        <p:nvSpPr>
          <p:cNvPr id="20" name="Text 18"/>
          <p:cNvSpPr/>
          <p:nvPr/>
        </p:nvSpPr>
        <p:spPr>
          <a:xfrm>
            <a:off x="6364224" y="3369564"/>
            <a:ext cx="932688"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30</a:t>
            </a:r>
            <a:endParaRPr lang="en-US" sz="1800" dirty="0"/>
          </a:p>
        </p:txBody>
      </p:sp>
      <p:sp>
        <p:nvSpPr>
          <p:cNvPr id="21" name="Shape 19"/>
          <p:cNvSpPr/>
          <p:nvPr/>
        </p:nvSpPr>
        <p:spPr>
          <a:xfrm>
            <a:off x="685800" y="3739896"/>
            <a:ext cx="6739128" cy="484632"/>
          </a:xfrm>
          <a:prstGeom prst="rect">
            <a:avLst/>
          </a:prstGeom>
          <a:solidFill>
            <a:srgbClr val="F3EBDD"/>
          </a:solidFill>
          <a:ln w="12700">
            <a:solidFill>
              <a:srgbClr val="F3EBDD"/>
            </a:solidFill>
            <a:prstDash val="solid"/>
          </a:ln>
        </p:spPr>
      </p:sp>
      <p:sp>
        <p:nvSpPr>
          <p:cNvPr id="22" name="Text 20"/>
          <p:cNvSpPr/>
          <p:nvPr/>
        </p:nvSpPr>
        <p:spPr>
          <a:xfrm>
            <a:off x="859536" y="3877056"/>
            <a:ext cx="4050792" cy="237744"/>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Contracted B2B seats at month 24</a:t>
            </a:r>
            <a:endParaRPr lang="en-US" sz="1550" dirty="0"/>
          </a:p>
        </p:txBody>
      </p:sp>
      <p:sp>
        <p:nvSpPr>
          <p:cNvPr id="23" name="Text 21"/>
          <p:cNvSpPr/>
          <p:nvPr/>
        </p:nvSpPr>
        <p:spPr>
          <a:xfrm>
            <a:off x="5010912" y="3854196"/>
            <a:ext cx="1106424"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2,000</a:t>
            </a:r>
            <a:endParaRPr lang="en-US" sz="1800" dirty="0"/>
          </a:p>
        </p:txBody>
      </p:sp>
      <p:sp>
        <p:nvSpPr>
          <p:cNvPr id="24" name="Text 22"/>
          <p:cNvSpPr/>
          <p:nvPr/>
        </p:nvSpPr>
        <p:spPr>
          <a:xfrm>
            <a:off x="6364224" y="3854196"/>
            <a:ext cx="932688"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7,500</a:t>
            </a:r>
            <a:endParaRPr lang="en-US" sz="1800" dirty="0"/>
          </a:p>
        </p:txBody>
      </p:sp>
      <p:sp>
        <p:nvSpPr>
          <p:cNvPr id="25" name="Shape 23"/>
          <p:cNvSpPr/>
          <p:nvPr/>
        </p:nvSpPr>
        <p:spPr>
          <a:xfrm>
            <a:off x="685800" y="4224528"/>
            <a:ext cx="6739128" cy="484632"/>
          </a:xfrm>
          <a:prstGeom prst="rect">
            <a:avLst/>
          </a:prstGeom>
          <a:solidFill>
            <a:srgbClr val="FFFFFF"/>
          </a:solidFill>
          <a:ln w="12700">
            <a:solidFill>
              <a:srgbClr val="FFFFFF"/>
            </a:solidFill>
            <a:prstDash val="solid"/>
          </a:ln>
        </p:spPr>
      </p:sp>
      <p:sp>
        <p:nvSpPr>
          <p:cNvPr id="26" name="Text 24"/>
          <p:cNvSpPr/>
          <p:nvPr/>
        </p:nvSpPr>
        <p:spPr>
          <a:xfrm>
            <a:off x="859536" y="4361688"/>
            <a:ext cx="4050792" cy="237744"/>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Monthly recurring revenue at month 24</a:t>
            </a:r>
            <a:endParaRPr lang="en-US" sz="1550" dirty="0"/>
          </a:p>
        </p:txBody>
      </p:sp>
      <p:sp>
        <p:nvSpPr>
          <p:cNvPr id="27" name="Text 25"/>
          <p:cNvSpPr/>
          <p:nvPr/>
        </p:nvSpPr>
        <p:spPr>
          <a:xfrm>
            <a:off x="5010912" y="4338828"/>
            <a:ext cx="1106424"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~€26.1K</a:t>
            </a:r>
            <a:endParaRPr lang="en-US" sz="1800" dirty="0"/>
          </a:p>
        </p:txBody>
      </p:sp>
      <p:sp>
        <p:nvSpPr>
          <p:cNvPr id="28" name="Text 26"/>
          <p:cNvSpPr/>
          <p:nvPr/>
        </p:nvSpPr>
        <p:spPr>
          <a:xfrm>
            <a:off x="6364224" y="4338828"/>
            <a:ext cx="932688"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~€90.2K</a:t>
            </a:r>
            <a:endParaRPr lang="en-US" sz="1800" dirty="0"/>
          </a:p>
        </p:txBody>
      </p:sp>
      <p:sp>
        <p:nvSpPr>
          <p:cNvPr id="29" name="Shape 27"/>
          <p:cNvSpPr/>
          <p:nvPr/>
        </p:nvSpPr>
        <p:spPr>
          <a:xfrm>
            <a:off x="685800" y="4709160"/>
            <a:ext cx="6739128" cy="484632"/>
          </a:xfrm>
          <a:prstGeom prst="rect">
            <a:avLst/>
          </a:prstGeom>
          <a:solidFill>
            <a:srgbClr val="F3EBDD"/>
          </a:solidFill>
          <a:ln w="12700">
            <a:solidFill>
              <a:srgbClr val="F3EBDD"/>
            </a:solidFill>
            <a:prstDash val="solid"/>
          </a:ln>
        </p:spPr>
      </p:sp>
      <p:sp>
        <p:nvSpPr>
          <p:cNvPr id="30" name="Text 28"/>
          <p:cNvSpPr/>
          <p:nvPr/>
        </p:nvSpPr>
        <p:spPr>
          <a:xfrm>
            <a:off x="859536" y="4846320"/>
            <a:ext cx="4050792" cy="237744"/>
          </a:xfrm>
          <a:prstGeom prst="rect">
            <a:avLst/>
          </a:prstGeom>
          <a:noFill/>
          <a:ln/>
        </p:spPr>
        <p:txBody>
          <a:bodyPr wrap="square" lIns="0" tIns="0" rIns="0" bIns="0" rtlCol="0" anchor="t">
            <a:spAutoFit/>
          </a:bodyPr>
          <a:lstStyle/>
          <a:p>
            <a:pPr indent="0" marL="0">
              <a:buNone/>
            </a:pPr>
            <a:r>
              <a:rPr lang="en-US" sz="1550" dirty="0">
                <a:solidFill>
                  <a:srgbClr val="272323"/>
                </a:solidFill>
                <a:latin typeface="Roboto Condensed" pitchFamily="34" charset="0"/>
                <a:ea typeface="Roboto Condensed" pitchFamily="34" charset="-122"/>
                <a:cs typeface="Roboto Condensed" pitchFamily="34" charset="-120"/>
              </a:rPr>
              <a:t>Annualised endpoint recurring run rate</a:t>
            </a:r>
            <a:endParaRPr lang="en-US" sz="1550" dirty="0"/>
          </a:p>
        </p:txBody>
      </p:sp>
      <p:sp>
        <p:nvSpPr>
          <p:cNvPr id="31" name="Text 29"/>
          <p:cNvSpPr/>
          <p:nvPr/>
        </p:nvSpPr>
        <p:spPr>
          <a:xfrm>
            <a:off x="5010912" y="4823460"/>
            <a:ext cx="1106424"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~€313K</a:t>
            </a:r>
            <a:endParaRPr lang="en-US" sz="1800" dirty="0"/>
          </a:p>
        </p:txBody>
      </p:sp>
      <p:sp>
        <p:nvSpPr>
          <p:cNvPr id="32" name="Text 30"/>
          <p:cNvSpPr/>
          <p:nvPr/>
        </p:nvSpPr>
        <p:spPr>
          <a:xfrm>
            <a:off x="6364224" y="4823460"/>
            <a:ext cx="932688" cy="274320"/>
          </a:xfrm>
          <a:prstGeom prst="rect">
            <a:avLst/>
          </a:prstGeom>
          <a:noFill/>
          <a:ln/>
        </p:spPr>
        <p:txBody>
          <a:bodyPr wrap="square" lIns="0" tIns="0" rIns="0" bIns="0" rtlCol="0" anchor="t">
            <a:spAutoFit/>
          </a:bodyPr>
          <a:lstStyle/>
          <a:p>
            <a:pPr indent="0" marL="0">
              <a:buNone/>
            </a:pPr>
            <a:r>
              <a:rPr lang="en-US" sz="1800" b="1" dirty="0">
                <a:solidFill>
                  <a:srgbClr val="C3452E"/>
                </a:solidFill>
                <a:latin typeface="Roboto Condensed" pitchFamily="34" charset="0"/>
                <a:ea typeface="Roboto Condensed" pitchFamily="34" charset="-122"/>
                <a:cs typeface="Roboto Condensed" pitchFamily="34" charset="-120"/>
              </a:rPr>
              <a:t>~€1.08M</a:t>
            </a:r>
            <a:endParaRPr lang="en-US" sz="1800" dirty="0"/>
          </a:p>
        </p:txBody>
      </p:sp>
      <p:sp>
        <p:nvSpPr>
          <p:cNvPr id="33" name="Text 31"/>
          <p:cNvSpPr/>
          <p:nvPr/>
        </p:nvSpPr>
        <p:spPr>
          <a:xfrm>
            <a:off x="713232" y="5486400"/>
            <a:ext cx="6665976" cy="521208"/>
          </a:xfrm>
          <a:prstGeom prst="rect">
            <a:avLst/>
          </a:prstGeom>
          <a:noFill/>
          <a:ln/>
        </p:spPr>
        <p:txBody>
          <a:bodyPr wrap="square" lIns="0" tIns="0" rIns="0" bIns="0" rtlCol="0" anchor="t">
            <a:spAutoFit/>
          </a:bodyPr>
          <a:lstStyle/>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These outputs do not demonstrate break-even</a:t>
            </a:r>
            <a:endParaRPr lang="en-US" sz="2100" dirty="0"/>
          </a:p>
          <a:p>
            <a:pPr indent="0" marL="0">
              <a:buNone/>
            </a:pPr>
            <a:r>
              <a:rPr lang="en-US" sz="2100" b="1" dirty="0">
                <a:solidFill>
                  <a:srgbClr val="C3452E"/>
                </a:solidFill>
                <a:latin typeface="Roboto Condensed" pitchFamily="34" charset="0"/>
                <a:ea typeface="Roboto Condensed" pitchFamily="34" charset="-122"/>
                <a:cs typeface="Roboto Condensed" pitchFamily="34" charset="-120"/>
              </a:rPr>
              <a:t>at the proposed programme spending levels.</a:t>
            </a:r>
            <a:endParaRPr lang="en-US" sz="2100" dirty="0"/>
          </a:p>
        </p:txBody>
      </p:sp>
      <p:sp>
        <p:nvSpPr>
          <p:cNvPr id="34" name="Shape 32"/>
          <p:cNvSpPr/>
          <p:nvPr/>
        </p:nvSpPr>
        <p:spPr>
          <a:xfrm>
            <a:off x="7744968" y="1810512"/>
            <a:ext cx="3749040" cy="4242816"/>
          </a:xfrm>
          <a:prstGeom prst="rect">
            <a:avLst/>
          </a:prstGeom>
          <a:solidFill>
            <a:srgbClr val="FFFFFF"/>
          </a:solidFill>
          <a:ln w="12700">
            <a:solidFill>
              <a:srgbClr val="FFFFFF"/>
            </a:solidFill>
            <a:prstDash val="solid"/>
          </a:ln>
        </p:spPr>
      </p:sp>
      <p:sp>
        <p:nvSpPr>
          <p:cNvPr id="35" name="Text 33"/>
          <p:cNvSpPr/>
          <p:nvPr/>
        </p:nvSpPr>
        <p:spPr>
          <a:xfrm>
            <a:off x="7964424" y="2029968"/>
            <a:ext cx="3310128" cy="256032"/>
          </a:xfrm>
          <a:prstGeom prst="rect">
            <a:avLst/>
          </a:prstGeom>
          <a:noFill/>
          <a:ln/>
        </p:spPr>
        <p:txBody>
          <a:bodyPr wrap="square" lIns="0" tIns="0" rIns="0" bIns="0" rtlCol="0" anchor="t">
            <a:spAutoFit/>
          </a:bodyPr>
          <a:lstStyle/>
          <a:p>
            <a:pPr indent="0" marL="0">
              <a:buNone/>
            </a:pPr>
            <a:r>
              <a:rPr lang="en-US" sz="1400" b="1" dirty="0">
                <a:solidFill>
                  <a:srgbClr val="C3452E"/>
                </a:solidFill>
                <a:latin typeface="Roboto Condensed" pitchFamily="34" charset="0"/>
                <a:ea typeface="Roboto Condensed" pitchFamily="34" charset="-122"/>
                <a:cs typeface="Roboto Condensed" pitchFamily="34" charset="-120"/>
              </a:rPr>
              <a:t>PAID-MEDIA STRESS TEST</a:t>
            </a:r>
            <a:endParaRPr lang="en-US" sz="1400" dirty="0"/>
          </a:p>
        </p:txBody>
      </p:sp>
      <p:sp>
        <p:nvSpPr>
          <p:cNvPr id="36" name="Text 34"/>
          <p:cNvSpPr/>
          <p:nvPr/>
        </p:nvSpPr>
        <p:spPr>
          <a:xfrm>
            <a:off x="7955280" y="2459736"/>
            <a:ext cx="3319272" cy="576072"/>
          </a:xfrm>
          <a:prstGeom prst="rect">
            <a:avLst/>
          </a:prstGeom>
          <a:noFill/>
          <a:ln/>
        </p:spPr>
        <p:txBody>
          <a:bodyPr wrap="square" lIns="0" tIns="0" rIns="0" bIns="0" rtlCol="0" anchor="t">
            <a:spAutoFit/>
          </a:bodyPr>
          <a:lstStyle/>
          <a:p>
            <a:pPr indent="0" marL="0">
              <a:buNone/>
            </a:pPr>
            <a:r>
              <a:rPr lang="en-US" sz="4300" b="1" dirty="0">
                <a:solidFill>
                  <a:srgbClr val="ED654F"/>
                </a:solidFill>
                <a:latin typeface="Roboto Condensed" pitchFamily="34" charset="0"/>
                <a:ea typeface="Roboto Condensed" pitchFamily="34" charset="-122"/>
                <a:cs typeface="Roboto Condensed" pitchFamily="34" charset="-120"/>
              </a:rPr>
              <a:t>€75.76</a:t>
            </a:r>
            <a:endParaRPr lang="en-US" sz="4300" dirty="0"/>
          </a:p>
        </p:txBody>
      </p:sp>
      <p:sp>
        <p:nvSpPr>
          <p:cNvPr id="37" name="Text 35"/>
          <p:cNvSpPr/>
          <p:nvPr/>
        </p:nvSpPr>
        <p:spPr>
          <a:xfrm>
            <a:off x="7964424" y="3145536"/>
            <a:ext cx="3291840" cy="329184"/>
          </a:xfrm>
          <a:prstGeom prst="rect">
            <a:avLst/>
          </a:prstGeom>
          <a:noFill/>
          <a:ln/>
        </p:spPr>
        <p:txBody>
          <a:bodyPr wrap="square" lIns="0" tIns="0" rIns="0" bIns="0" rtlCol="0" anchor="t">
            <a:spAutoFit/>
          </a:bodyPr>
          <a:lstStyle/>
          <a:p>
            <a:pPr indent="0" marL="0">
              <a:buNone/>
            </a:pPr>
            <a:r>
              <a:rPr lang="en-US" sz="2000" b="1" dirty="0">
                <a:solidFill>
                  <a:srgbClr val="272323"/>
                </a:solidFill>
                <a:latin typeface="Roboto Condensed" pitchFamily="34" charset="0"/>
                <a:ea typeface="Roboto Condensed" pitchFamily="34" charset="-122"/>
                <a:cs typeface="Roboto Condensed" pitchFamily="34" charset="-120"/>
              </a:rPr>
              <a:t>Media-only cost per new payer</a:t>
            </a:r>
            <a:endParaRPr lang="en-US" sz="2000" dirty="0"/>
          </a:p>
        </p:txBody>
      </p:sp>
      <p:sp>
        <p:nvSpPr>
          <p:cNvPr id="38" name="Text 36"/>
          <p:cNvSpPr/>
          <p:nvPr/>
        </p:nvSpPr>
        <p:spPr>
          <a:xfrm>
            <a:off x="7964424" y="3630168"/>
            <a:ext cx="3291840" cy="594360"/>
          </a:xfrm>
          <a:prstGeom prst="rect">
            <a:avLst/>
          </a:prstGeom>
          <a:noFill/>
          <a:ln/>
        </p:spPr>
        <p:txBody>
          <a:bodyPr wrap="square" lIns="0" tIns="0" rIns="0" bIns="0" rtlCol="0" anchor="t">
            <a:spAutoFit/>
          </a:bodyPr>
          <a:lstStyle/>
          <a:p>
            <a:pPr indent="0" marL="0">
              <a:buNone/>
            </a:pPr>
            <a:r>
              <a:rPr lang="en-US" sz="1700" dirty="0">
                <a:solidFill>
                  <a:srgbClr val="272323"/>
                </a:solidFill>
                <a:latin typeface="Roboto Condensed" pitchFamily="34" charset="0"/>
                <a:ea typeface="Roboto Condensed" pitchFamily="34" charset="-122"/>
                <a:cs typeface="Roboto Condensed" pitchFamily="34" charset="-120"/>
              </a:rPr>
              <a:t>€5 per registration ÷</a:t>
            </a:r>
            <a:endParaRPr lang="en-US" sz="1700" dirty="0"/>
          </a:p>
          <a:p>
            <a:pPr indent="0" marL="0">
              <a:buNone/>
            </a:pPr>
            <a:r>
              <a:rPr lang="en-US" sz="1700" dirty="0">
                <a:solidFill>
                  <a:srgbClr val="272323"/>
                </a:solidFill>
                <a:latin typeface="Roboto Condensed" pitchFamily="34" charset="0"/>
                <a:ea typeface="Roboto Condensed" pitchFamily="34" charset="-122"/>
                <a:cs typeface="Roboto Condensed" pitchFamily="34" charset="-120"/>
              </a:rPr>
              <a:t>(55% activation × 12% paid conversion)</a:t>
            </a:r>
            <a:endParaRPr lang="en-US" sz="1700" dirty="0"/>
          </a:p>
        </p:txBody>
      </p:sp>
      <p:sp>
        <p:nvSpPr>
          <p:cNvPr id="39" name="Shape 37"/>
          <p:cNvSpPr/>
          <p:nvPr/>
        </p:nvSpPr>
        <p:spPr>
          <a:xfrm>
            <a:off x="7964424" y="4443984"/>
            <a:ext cx="3310128" cy="0"/>
          </a:xfrm>
          <a:prstGeom prst="line">
            <a:avLst/>
          </a:prstGeom>
          <a:noFill/>
          <a:ln w="12700">
            <a:solidFill>
              <a:srgbClr val="D6D1CC"/>
            </a:solidFill>
            <a:prstDash val="solid"/>
            <a:headEnd type="none"/>
            <a:tailEnd type="none"/>
          </a:ln>
        </p:spPr>
      </p:sp>
      <p:sp>
        <p:nvSpPr>
          <p:cNvPr id="40" name="Text 38"/>
          <p:cNvSpPr/>
          <p:nvPr/>
        </p:nvSpPr>
        <p:spPr>
          <a:xfrm>
            <a:off x="7964424" y="4608576"/>
            <a:ext cx="3291840" cy="576072"/>
          </a:xfrm>
          <a:prstGeom prst="rect">
            <a:avLst/>
          </a:prstGeom>
          <a:noFill/>
          <a:ln/>
        </p:spPr>
        <p:txBody>
          <a:bodyPr wrap="square" lIns="0" tIns="0" rIns="0" bIns="0" rtlCol="0" anchor="t">
            <a:spAutoFit/>
          </a:bodyPr>
          <a:lstStyle/>
          <a:p>
            <a:pPr indent="0" marL="0">
              <a:buNone/>
            </a:pPr>
            <a:r>
              <a:rPr lang="en-US" sz="1700" b="1" dirty="0">
                <a:solidFill>
                  <a:srgbClr val="272323"/>
                </a:solidFill>
                <a:latin typeface="Roboto Condensed" pitchFamily="34" charset="0"/>
                <a:ea typeface="Roboto Condensed" pitchFamily="34" charset="-122"/>
                <a:cs typeface="Roboto Condensed" pitchFamily="34" charset="-120"/>
              </a:rPr>
              <a:t>1.19× lifetime contribution / media CAC.</a:t>
            </a:r>
            <a:endParaRPr lang="en-US" sz="1700" dirty="0"/>
          </a:p>
          <a:p>
            <a:pPr indent="0" marL="0">
              <a:buNone/>
            </a:pPr>
            <a:r>
              <a:rPr lang="en-US" sz="1700" b="1" dirty="0">
                <a:solidFill>
                  <a:srgbClr val="272323"/>
                </a:solidFill>
                <a:latin typeface="Roboto Condensed" pitchFamily="34" charset="0"/>
                <a:ea typeface="Roboto Condensed" pitchFamily="34" charset="-122"/>
                <a:cs typeface="Roboto Condensed" pitchFamily="34" charset="-120"/>
              </a:rPr>
              <a:t>Before acquisition overhead.</a:t>
            </a:r>
            <a:endParaRPr lang="en-US" sz="1700" dirty="0"/>
          </a:p>
        </p:txBody>
      </p:sp>
      <p:sp>
        <p:nvSpPr>
          <p:cNvPr id="41" name="Text 39"/>
          <p:cNvSpPr/>
          <p:nvPr/>
        </p:nvSpPr>
        <p:spPr>
          <a:xfrm>
            <a:off x="7964424" y="5486400"/>
            <a:ext cx="3291840" cy="448056"/>
          </a:xfrm>
          <a:prstGeom prst="rect">
            <a:avLst/>
          </a:prstGeom>
          <a:noFill/>
          <a:ln/>
        </p:spPr>
        <p:txBody>
          <a:bodyPr wrap="square" lIns="0" tIns="0" rIns="0" bIns="0" rtlCol="0" anchor="t">
            <a:spAutoFit/>
          </a:bodyPr>
          <a:lstStyle/>
          <a:p>
            <a:pPr indent="0" marL="0">
              <a:buNone/>
            </a:pPr>
            <a:r>
              <a:rPr lang="en-US" sz="1770" b="1" dirty="0">
                <a:solidFill>
                  <a:srgbClr val="C3452E"/>
                </a:solidFill>
                <a:latin typeface="Roboto Condensed" pitchFamily="34" charset="0"/>
                <a:ea typeface="Roboto Condensed" pitchFamily="34" charset="-122"/>
                <a:cs typeface="Roboto Condensed" pitchFamily="34" charset="-120"/>
              </a:rPr>
              <a:t>Redesign before committing</a:t>
            </a:r>
            <a:endParaRPr lang="en-US" sz="1770" dirty="0"/>
          </a:p>
          <a:p>
            <a:pPr indent="0" marL="0">
              <a:buNone/>
            </a:pPr>
            <a:r>
              <a:rPr lang="en-US" sz="1770" b="1" dirty="0">
                <a:solidFill>
                  <a:srgbClr val="C3452E"/>
                </a:solidFill>
                <a:latin typeface="Roboto Condensed" pitchFamily="34" charset="0"/>
                <a:ea typeface="Roboto Condensed" pitchFamily="34" charset="-122"/>
                <a:cs typeface="Roboto Condensed" pitchFamily="34" charset="-120"/>
              </a:rPr>
              <a:t>the full paid-media budget.</a:t>
            </a:r>
            <a:endParaRPr lang="en-US" sz="1770" dirty="0"/>
          </a:p>
        </p:txBody>
      </p:sp>
      <p:sp>
        <p:nvSpPr>
          <p:cNvPr id="42" name="Text 40"/>
          <p:cNvSpPr/>
          <p:nvPr/>
        </p:nvSpPr>
        <p:spPr>
          <a:xfrm>
            <a:off x="685800" y="6172200"/>
            <a:ext cx="10808208" cy="228600"/>
          </a:xfrm>
          <a:prstGeom prst="rect">
            <a:avLst/>
          </a:prstGeom>
          <a:noFill/>
          <a:ln/>
        </p:spPr>
        <p:txBody>
          <a:bodyPr wrap="square" lIns="0" tIns="0" rIns="0" bIns="0" rtlCol="0" anchor="t">
            <a:spAutoFit/>
          </a:bodyPr>
          <a:lstStyle/>
          <a:p>
            <a:pPr indent="0" marL="0">
              <a:buNone/>
            </a:pPr>
            <a:r>
              <a:rPr lang="en-US" sz="1030" dirty="0">
                <a:solidFill>
                  <a:srgbClr val="65605D"/>
                </a:solidFill>
                <a:latin typeface="Roboto Condensed" pitchFamily="34" charset="0"/>
                <a:ea typeface="Roboto Condensed" pitchFamily="34" charset="-122"/>
                <a:cs typeface="Roboto Condensed" pitchFamily="34" charset="-120"/>
              </a:rPr>
              <a:t>No opening payers; new B2C payers spread over months 7–24; 5% monthly churn. €6 B2C net/month; €3.50 per contracted B2B seat.</a:t>
            </a:r>
            <a:endParaRPr lang="en-US" sz="10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Condense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NutriSync Collective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NutriSync — Growth &amp; Capital | Tony feedback insert</dc:title>
  <dc:subject>Editable insert addressing Tony’s feedback: go-to-market, capital acceleration and illustrative investor return</dc:subject>
  <dc:creator>NutriSync Collective</dc:creator>
  <cp:lastModifiedBy>NutriSync Collective</cp:lastModifiedBy>
  <cp:revision>1</cp:revision>
  <dcterms:created xsi:type="dcterms:W3CDTF">2026-09-08T06:32:52Z</dcterms:created>
  <dcterms:modified xsi:type="dcterms:W3CDTF">2026-09-08T06:32:52Z</dcterms:modified>
</cp:coreProperties>
</file>