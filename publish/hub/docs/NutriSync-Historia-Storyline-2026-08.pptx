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D1A"/>
                </a:solidFill>
              </a:rPr>
              <a:t>NutriSync — de la idea al mercado</a:t>
            </a:r>
            <a:endParaRPr lang="en-US" sz="2500" dirty="0"/>
          </a:p>
          <a:p>
            <a:pPr indent="0" marL="0">
              <a:buNone/>
            </a:pPr>
            <a:r>
              <a:rPr lang="en-US" sz="1200" dirty="0">
                <a:solidFill>
                  <a:srgbClr val="8A7F78"/>
                </a:solidFill>
              </a:rPr>
              <a:t>from idea to market · junio → 8 de octubre de 2026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2761488"/>
            <a:ext cx="7863840" cy="0"/>
          </a:xfrm>
          <a:prstGeom prst="line">
            <a:avLst/>
          </a:prstGeom>
          <a:noFill/>
          <a:ln w="31750">
            <a:solidFill>
              <a:srgbClr val="F3C8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2679192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Shape 3"/>
          <p:cNvSpPr/>
          <p:nvPr/>
        </p:nvSpPr>
        <p:spPr>
          <a:xfrm>
            <a:off x="1216152" y="2395728"/>
            <a:ext cx="0" cy="283464"/>
          </a:xfrm>
          <a:prstGeom prst="line">
            <a:avLst/>
          </a:prstGeom>
          <a:noFill/>
          <a:ln w="19050">
            <a:solidFill>
              <a:srgbClr val="0F6E5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6928" y="1170432"/>
            <a:ext cx="129844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FE3D7"/>
            </a:solidFill>
            <a:prstDash val="solid"/>
          </a:ln>
          <a:effectLst>
            <a:outerShdw sx="100000" sy="100000" kx="0" ky="0" algn="bl" rotWithShape="0" blurRad="76200" dist="25400" dir="5400000">
              <a:srgbClr val="D9C8B4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896112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944" y="1389888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" y="138988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JUN 2026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2648" y="164592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D1A"/>
                </a:solidFill>
              </a:rPr>
              <a:t>La idea y el equipo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A7F78"/>
                </a:solidFill>
              </a:rPr>
              <a:t>Idea &amp; founding team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655D"/>
                </a:solidFill>
              </a:rPr>
              <a:t>4 founders · ciencia del ciclo · stack lean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14600" y="2679192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Shape 9"/>
          <p:cNvSpPr/>
          <p:nvPr/>
        </p:nvSpPr>
        <p:spPr>
          <a:xfrm>
            <a:off x="2596896" y="2843784"/>
            <a:ext cx="0" cy="283464"/>
          </a:xfrm>
          <a:prstGeom prst="line">
            <a:avLst/>
          </a:prstGeom>
          <a:noFill/>
          <a:ln w="19050">
            <a:solidFill>
              <a:srgbClr val="0F6E5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947672" y="3017520"/>
            <a:ext cx="129844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FE3D7"/>
            </a:solidFill>
            <a:prstDash val="solid"/>
          </a:ln>
          <a:effectLst>
            <a:outerShdw sx="100000" sy="100000" kx="0" ky="0" algn="bl" rotWithShape="0" blurRad="76200" dist="25400" dir="5400000">
              <a:srgbClr val="D9C8B4">
                <a:alpha val="3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743200"/>
            <a:ext cx="475488" cy="475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75688" y="3236976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16" name="Text 12"/>
          <p:cNvSpPr/>
          <p:nvPr/>
        </p:nvSpPr>
        <p:spPr>
          <a:xfrm>
            <a:off x="2075688" y="323697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JUL 2026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993392" y="3493008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D1A"/>
                </a:solidFill>
              </a:rPr>
              <a:t>Se construye el producto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A7F78"/>
                </a:solidFill>
              </a:rPr>
              <a:t>Building the product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655D"/>
                </a:solidFill>
              </a:rPr>
              <a:t>App iOS/Android + PWA + web · 14 idiomas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895344" y="2679192"/>
            <a:ext cx="164592" cy="164592"/>
          </a:xfrm>
          <a:prstGeom prst="ellipse">
            <a:avLst/>
          </a:prstGeom>
          <a:solidFill>
            <a:srgbClr val="FF7600"/>
          </a:solidFill>
          <a:ln/>
        </p:spPr>
      </p:sp>
      <p:sp>
        <p:nvSpPr>
          <p:cNvPr id="19" name="Shape 15"/>
          <p:cNvSpPr/>
          <p:nvPr/>
        </p:nvSpPr>
        <p:spPr>
          <a:xfrm>
            <a:off x="3977640" y="2395728"/>
            <a:ext cx="0" cy="283464"/>
          </a:xfrm>
          <a:prstGeom prst="line">
            <a:avLst/>
          </a:prstGeom>
          <a:noFill/>
          <a:ln w="19050">
            <a:solidFill>
              <a:srgbClr val="FF7600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3328416" y="1170432"/>
            <a:ext cx="129844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FE3D7"/>
            </a:solidFill>
            <a:prstDash val="solid"/>
          </a:ln>
          <a:effectLst>
            <a:outerShdw sx="100000" sy="100000" kx="0" ky="0" algn="bl" rotWithShape="0" blurRad="76200" dist="25400" dir="5400000">
              <a:srgbClr val="D9C8B4">
                <a:alpha val="3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896112"/>
            <a:ext cx="475488" cy="47548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456432" y="1389888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FF7600"/>
          </a:solidFill>
          <a:ln/>
        </p:spPr>
      </p:sp>
      <p:sp>
        <p:nvSpPr>
          <p:cNvPr id="23" name="Text 18"/>
          <p:cNvSpPr/>
          <p:nvPr/>
        </p:nvSpPr>
        <p:spPr>
          <a:xfrm>
            <a:off x="3456432" y="138988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AGO 2026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374136" y="164592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D1A"/>
                </a:solidFill>
              </a:rPr>
              <a:t>Piloto real en 2 stores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A7F78"/>
                </a:solidFill>
              </a:rPr>
              <a:t>Live pilot on both stores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655D"/>
                </a:solidFill>
              </a:rPr>
              <a:t>32 testers · consentimiento · v0.20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276088" y="2679192"/>
            <a:ext cx="164592" cy="164592"/>
          </a:xfrm>
          <a:prstGeom prst="ellipse">
            <a:avLst/>
          </a:prstGeom>
          <a:solidFill>
            <a:srgbClr val="FF7600"/>
          </a:solidFill>
          <a:ln/>
        </p:spPr>
      </p:sp>
      <p:sp>
        <p:nvSpPr>
          <p:cNvPr id="26" name="Shape 21"/>
          <p:cNvSpPr/>
          <p:nvPr/>
        </p:nvSpPr>
        <p:spPr>
          <a:xfrm>
            <a:off x="5358384" y="2843784"/>
            <a:ext cx="0" cy="283464"/>
          </a:xfrm>
          <a:prstGeom prst="line">
            <a:avLst/>
          </a:prstGeom>
          <a:noFill/>
          <a:ln w="19050">
            <a:solidFill>
              <a:srgbClr val="FF7600"/>
            </a:solidFill>
            <a:prstDash val="dash"/>
          </a:ln>
        </p:spPr>
      </p:sp>
      <p:sp>
        <p:nvSpPr>
          <p:cNvPr id="27" name="Shape 22"/>
          <p:cNvSpPr/>
          <p:nvPr/>
        </p:nvSpPr>
        <p:spPr>
          <a:xfrm>
            <a:off x="4709160" y="3017520"/>
            <a:ext cx="129844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FE3D7"/>
            </a:solidFill>
            <a:prstDash val="solid"/>
          </a:ln>
          <a:effectLst>
            <a:outerShdw sx="100000" sy="100000" kx="0" ky="0" algn="bl" rotWithShape="0" blurRad="76200" dist="25400" dir="5400000">
              <a:srgbClr val="D9C8B4">
                <a:alpha val="3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0"/>
            <a:ext cx="475488" cy="47548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37176" y="3236976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FF7600"/>
          </a:solidFill>
          <a:ln/>
        </p:spPr>
      </p:sp>
      <p:sp>
        <p:nvSpPr>
          <p:cNvPr id="30" name="Text 24"/>
          <p:cNvSpPr/>
          <p:nvPr/>
        </p:nvSpPr>
        <p:spPr>
          <a:xfrm>
            <a:off x="4837176" y="323697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SEP 2026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754880" y="3493008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D1A"/>
                </a:solidFill>
              </a:rPr>
              <a:t>Piloto ampliado + pagos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A7F78"/>
                </a:solidFill>
              </a:rPr>
              <a:t>Expanded pilot + payments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655D"/>
                </a:solidFill>
              </a:rPr>
              <a:t>Fase 1 y 2 · legal · fichas stores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656832" y="2679192"/>
            <a:ext cx="164592" cy="164592"/>
          </a:xfrm>
          <a:prstGeom prst="ellipse">
            <a:avLst/>
          </a:prstGeom>
          <a:solidFill>
            <a:srgbClr val="FD400C"/>
          </a:solidFill>
          <a:ln/>
        </p:spPr>
      </p:sp>
      <p:sp>
        <p:nvSpPr>
          <p:cNvPr id="33" name="Shape 27"/>
          <p:cNvSpPr/>
          <p:nvPr/>
        </p:nvSpPr>
        <p:spPr>
          <a:xfrm>
            <a:off x="6739128" y="2395728"/>
            <a:ext cx="0" cy="283464"/>
          </a:xfrm>
          <a:prstGeom prst="line">
            <a:avLst/>
          </a:prstGeom>
          <a:noFill/>
          <a:ln w="19050">
            <a:solidFill>
              <a:srgbClr val="FD400C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6089904" y="1170432"/>
            <a:ext cx="129844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FE3D7"/>
            </a:solidFill>
            <a:prstDash val="solid"/>
          </a:ln>
          <a:effectLst>
            <a:outerShdw sx="100000" sy="100000" kx="0" ky="0" algn="bl" rotWithShape="0" blurRad="76200" dist="25400" dir="5400000">
              <a:srgbClr val="D9C8B4">
                <a:alpha val="35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896112"/>
            <a:ext cx="475488" cy="47548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217920" y="1389888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FD400C"/>
          </a:solidFill>
          <a:ln/>
        </p:spPr>
      </p:sp>
      <p:sp>
        <p:nvSpPr>
          <p:cNvPr id="37" name="Text 30"/>
          <p:cNvSpPr/>
          <p:nvPr/>
        </p:nvSpPr>
        <p:spPr>
          <a:xfrm>
            <a:off x="6217920" y="138988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 OCT 2026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6135624" y="164592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D1A"/>
                </a:solidFill>
              </a:rPr>
              <a:t>Lanzamiento comercial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A7F78"/>
                </a:solidFill>
              </a:rPr>
              <a:t>Commercial launch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655D"/>
                </a:solidFill>
              </a:rPr>
              <a:t>Producción en App Store y Google Play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037576" y="2679192"/>
            <a:ext cx="164592" cy="164592"/>
          </a:xfrm>
          <a:prstGeom prst="ellipse">
            <a:avLst/>
          </a:prstGeom>
          <a:solidFill>
            <a:srgbClr val="C73A20"/>
          </a:solidFill>
          <a:ln/>
        </p:spPr>
      </p:sp>
      <p:sp>
        <p:nvSpPr>
          <p:cNvPr id="40" name="Shape 33"/>
          <p:cNvSpPr/>
          <p:nvPr/>
        </p:nvSpPr>
        <p:spPr>
          <a:xfrm>
            <a:off x="8119872" y="2843784"/>
            <a:ext cx="0" cy="283464"/>
          </a:xfrm>
          <a:prstGeom prst="line">
            <a:avLst/>
          </a:prstGeom>
          <a:noFill/>
          <a:ln w="19050">
            <a:solidFill>
              <a:srgbClr val="C73A20"/>
            </a:solidFill>
            <a:prstDash val="dash"/>
          </a:ln>
        </p:spPr>
      </p:sp>
      <p:sp>
        <p:nvSpPr>
          <p:cNvPr id="41" name="Shape 34"/>
          <p:cNvSpPr/>
          <p:nvPr/>
        </p:nvSpPr>
        <p:spPr>
          <a:xfrm>
            <a:off x="7470648" y="3017520"/>
            <a:ext cx="129844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FE3D7"/>
            </a:solidFill>
            <a:prstDash val="solid"/>
          </a:ln>
          <a:effectLst>
            <a:outerShdw sx="100000" sy="100000" kx="0" ky="0" algn="bl" rotWithShape="0" blurRad="76200" dist="25400" dir="5400000">
              <a:srgbClr val="D9C8B4">
                <a:alpha val="35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2743200"/>
            <a:ext cx="475488" cy="475488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598664" y="3236976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C73A20"/>
          </a:solidFill>
          <a:ln/>
        </p:spPr>
      </p:sp>
      <p:sp>
        <p:nvSpPr>
          <p:cNvPr id="44" name="Text 36"/>
          <p:cNvSpPr/>
          <p:nvPr/>
        </p:nvSpPr>
        <p:spPr>
          <a:xfrm>
            <a:off x="7598664" y="323697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AÑO 1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7516368" y="3493008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1D1A"/>
                </a:solidFill>
              </a:rPr>
              <a:t>A dónde vamos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A7F78"/>
                </a:solidFill>
              </a:rPr>
              <a:t>Where we are going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655D"/>
                </a:solidFill>
              </a:rPr>
              <a:t>2.634 suscripciones · €74.772 · escalar EU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F78"/>
                </a:solidFill>
              </a:rPr>
              <a:t>Piloto interno en curso — la app no está en producción · Internal pilot under way — not in production yet          nutrisynccollective.com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2026-08-06T07:26:46Z</dcterms:created>
  <dcterms:modified xsi:type="dcterms:W3CDTF">2026-08-06T07:26:46Z</dcterms:modified>
</cp:coreProperties>
</file>