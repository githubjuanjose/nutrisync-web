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754880" cy="4754880"/>
          </a:xfrm>
          <a:prstGeom prst="ellipse">
            <a:avLst/>
          </a:prstGeom>
          <a:solidFill>
            <a:srgbClr val="FF7600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4206240"/>
            <a:ext cx="4389120" cy="4389120"/>
          </a:xfrm>
          <a:prstGeom prst="ellipse">
            <a:avLst/>
          </a:prstGeom>
          <a:solidFill>
            <a:srgbClr val="FD400C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120640" y="-2194560"/>
            <a:ext cx="3291840" cy="3291840"/>
          </a:xfrm>
          <a:prstGeom prst="ellipse">
            <a:avLst/>
          </a:prstGeom>
          <a:solidFill>
            <a:srgbClr val="0F6E56">
              <a:alpha val="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743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D4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NutriSync</a:t>
            </a:r>
            <a:pPr indent="0" marL="0">
              <a:buNone/>
            </a:pPr>
            <a:r>
              <a:rPr lang="en-US" sz="40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de la idea al mercado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93268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idea to market  ·  junio 2026 → 8 de octubre de 2026  ·  ciencia del ciclo, hecha producto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570732"/>
            <a:ext cx="3449117" cy="82296"/>
          </a:xfrm>
          <a:prstGeom prst="roundRect">
            <a:avLst>
              <a:gd name="adj" fmla="val 50000"/>
            </a:avLst>
          </a:prstGeom>
          <a:solidFill>
            <a:srgbClr val="0F6E56"/>
          </a:solidFill>
          <a:ln/>
        </p:spPr>
      </p:sp>
      <p:sp>
        <p:nvSpPr>
          <p:cNvPr id="8" name="Shape 6"/>
          <p:cNvSpPr/>
          <p:nvPr/>
        </p:nvSpPr>
        <p:spPr>
          <a:xfrm>
            <a:off x="4217213" y="3570732"/>
            <a:ext cx="1964131" cy="82296"/>
          </a:xfrm>
          <a:prstGeom prst="roundRect">
            <a:avLst>
              <a:gd name="adj" fmla="val 50000"/>
            </a:avLst>
          </a:prstGeom>
          <a:solidFill>
            <a:srgbClr val="1F8A5E"/>
          </a:solidFill>
          <a:ln/>
        </p:spPr>
      </p:sp>
      <p:sp>
        <p:nvSpPr>
          <p:cNvPr id="9" name="Shape 7"/>
          <p:cNvSpPr/>
          <p:nvPr/>
        </p:nvSpPr>
        <p:spPr>
          <a:xfrm>
            <a:off x="6126480" y="3570732"/>
            <a:ext cx="2176272" cy="82296"/>
          </a:xfrm>
          <a:prstGeom prst="roundRect">
            <a:avLst>
              <a:gd name="adj" fmla="val 50000"/>
            </a:avLst>
          </a:prstGeom>
          <a:solidFill>
            <a:srgbClr val="FF7600"/>
          </a:solidFill>
          <a:ln/>
        </p:spPr>
      </p:sp>
      <p:sp>
        <p:nvSpPr>
          <p:cNvPr id="10" name="Shape 8"/>
          <p:cNvSpPr/>
          <p:nvPr/>
        </p:nvSpPr>
        <p:spPr>
          <a:xfrm>
            <a:off x="8247888" y="3570732"/>
            <a:ext cx="1964131" cy="82296"/>
          </a:xfrm>
          <a:prstGeom prst="roundRect">
            <a:avLst>
              <a:gd name="adj" fmla="val 50000"/>
            </a:avLst>
          </a:prstGeom>
          <a:solidFill>
            <a:srgbClr val="FD400C"/>
          </a:solidFill>
          <a:ln/>
        </p:spPr>
      </p:sp>
      <p:sp>
        <p:nvSpPr>
          <p:cNvPr id="11" name="Shape 9"/>
          <p:cNvSpPr/>
          <p:nvPr/>
        </p:nvSpPr>
        <p:spPr>
          <a:xfrm>
            <a:off x="10157155" y="3570732"/>
            <a:ext cx="1327709" cy="82296"/>
          </a:xfrm>
          <a:prstGeom prst="roundRect">
            <a:avLst>
              <a:gd name="adj" fmla="val 50000"/>
            </a:avLst>
          </a:prstGeom>
          <a:solidFill>
            <a:srgbClr val="C73A20"/>
          </a:solidFill>
          <a:ln/>
        </p:spPr>
      </p:sp>
      <p:sp>
        <p:nvSpPr>
          <p:cNvPr id="12" name="Shape 10"/>
          <p:cNvSpPr/>
          <p:nvPr/>
        </p:nvSpPr>
        <p:spPr>
          <a:xfrm rot="5400000">
            <a:off x="11411712" y="3456432"/>
            <a:ext cx="310896" cy="310896"/>
          </a:xfrm>
          <a:prstGeom prst="triangle">
            <a:avLst/>
          </a:prstGeom>
          <a:solidFill>
            <a:srgbClr val="C73A20"/>
          </a:solidFill>
          <a:ln/>
        </p:spPr>
      </p:sp>
      <p:sp>
        <p:nvSpPr>
          <p:cNvPr id="13" name="Shape 11"/>
          <p:cNvSpPr/>
          <p:nvPr/>
        </p:nvSpPr>
        <p:spPr>
          <a:xfrm>
            <a:off x="1380744" y="3063240"/>
            <a:ext cx="1097280" cy="1097280"/>
          </a:xfrm>
          <a:prstGeom prst="ellipse">
            <a:avLst/>
          </a:prstGeom>
          <a:solidFill>
            <a:srgbClr val="0F6E56">
              <a:alpha val="16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4475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F6E56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282696"/>
            <a:ext cx="658368" cy="65836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2148840" y="3090672"/>
            <a:ext cx="310896" cy="310896"/>
          </a:xfrm>
          <a:prstGeom prst="ellipse">
            <a:avLst/>
          </a:prstGeom>
          <a:solidFill>
            <a:srgbClr val="0F6E5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488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929384" y="2670048"/>
            <a:ext cx="0" cy="457200"/>
          </a:xfrm>
          <a:prstGeom prst="line">
            <a:avLst/>
          </a:prstGeom>
          <a:noFill/>
          <a:ln w="25400">
            <a:solidFill>
              <a:srgbClr val="0F6E56"/>
            </a:solidFill>
            <a:prstDash val="dash"/>
          </a:ln>
        </p:spPr>
      </p:sp>
      <p:sp>
        <p:nvSpPr>
          <p:cNvPr id="19" name="Shape 16"/>
          <p:cNvSpPr/>
          <p:nvPr/>
        </p:nvSpPr>
        <p:spPr>
          <a:xfrm>
            <a:off x="1271016" y="2340864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0F6E56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271016" y="2340864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2026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96696" y="137160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idea y el equipo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&amp; founding team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founders · ciencia del ciclo · stack lean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163824" y="3063240"/>
            <a:ext cx="1097280" cy="1097280"/>
          </a:xfrm>
          <a:prstGeom prst="ellipse">
            <a:avLst/>
          </a:prstGeom>
          <a:solidFill>
            <a:srgbClr val="1F8A5E">
              <a:alpha val="16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322783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1F8A5E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282696"/>
            <a:ext cx="658368" cy="65836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31920" y="3090672"/>
            <a:ext cx="310896" cy="310896"/>
          </a:xfrm>
          <a:prstGeom prst="ellipse">
            <a:avLst/>
          </a:prstGeom>
          <a:solidFill>
            <a:srgbClr val="1F8A5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3192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712464" y="4114800"/>
            <a:ext cx="0" cy="457200"/>
          </a:xfrm>
          <a:prstGeom prst="line">
            <a:avLst/>
          </a:prstGeom>
          <a:noFill/>
          <a:ln w="25400">
            <a:solidFill>
              <a:srgbClr val="1F8A5E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3054096" y="4315968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1F8A5E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3054096" y="431596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2779776" y="4681728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construye el producto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product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iOS/Android + PWA + web · 14 idiomas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946904" y="3063240"/>
            <a:ext cx="1097280" cy="1097280"/>
          </a:xfrm>
          <a:prstGeom prst="ellipse">
            <a:avLst/>
          </a:prstGeom>
          <a:solidFill>
            <a:srgbClr val="FF7600">
              <a:alpha val="16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501091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F7600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3282696"/>
            <a:ext cx="658368" cy="658368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5715000" y="3090672"/>
            <a:ext cx="310896" cy="310896"/>
          </a:xfrm>
          <a:prstGeom prst="ellipse">
            <a:avLst/>
          </a:prstGeom>
          <a:solidFill>
            <a:srgbClr val="FF76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571500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5495544" y="2670048"/>
            <a:ext cx="0" cy="457200"/>
          </a:xfrm>
          <a:prstGeom prst="line">
            <a:avLst/>
          </a:prstGeom>
          <a:noFill/>
          <a:ln w="25400">
            <a:solidFill>
              <a:srgbClr val="FF7600"/>
            </a:solidFill>
            <a:prstDash val="dash"/>
          </a:ln>
        </p:spPr>
      </p:sp>
      <p:sp>
        <p:nvSpPr>
          <p:cNvPr id="37" name="Shape 32"/>
          <p:cNvSpPr/>
          <p:nvPr/>
        </p:nvSpPr>
        <p:spPr>
          <a:xfrm>
            <a:off x="4837176" y="2340864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FF7600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38" name="Text 33"/>
          <p:cNvSpPr/>
          <p:nvPr/>
        </p:nvSpPr>
        <p:spPr>
          <a:xfrm>
            <a:off x="4837176" y="2340864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 2026</a:t>
            </a:r>
            <a:endParaRPr lang="en-US" sz="1150" dirty="0"/>
          </a:p>
        </p:txBody>
      </p:sp>
      <p:sp>
        <p:nvSpPr>
          <p:cNvPr id="39" name="Text 34"/>
          <p:cNvSpPr/>
          <p:nvPr/>
        </p:nvSpPr>
        <p:spPr>
          <a:xfrm>
            <a:off x="4562856" y="137160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real en 2 stores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pilot on both stores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testers · consentimiento auditable · v0.20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6729984" y="3063240"/>
            <a:ext cx="1097280" cy="1097280"/>
          </a:xfrm>
          <a:prstGeom prst="ellipse">
            <a:avLst/>
          </a:prstGeom>
          <a:solidFill>
            <a:srgbClr val="F59E0B">
              <a:alpha val="16000"/>
            </a:srgbClr>
          </a:solidFill>
          <a:ln/>
        </p:spPr>
      </p:sp>
      <p:sp>
        <p:nvSpPr>
          <p:cNvPr id="41" name="Shape 36"/>
          <p:cNvSpPr/>
          <p:nvPr/>
        </p:nvSpPr>
        <p:spPr>
          <a:xfrm>
            <a:off x="679399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59E0B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282696"/>
            <a:ext cx="658368" cy="658368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7498080" y="3090672"/>
            <a:ext cx="310896" cy="31089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49808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7278624" y="4114800"/>
            <a:ext cx="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</a:ln>
        </p:spPr>
      </p:sp>
      <p:sp>
        <p:nvSpPr>
          <p:cNvPr id="46" name="Shape 40"/>
          <p:cNvSpPr/>
          <p:nvPr/>
        </p:nvSpPr>
        <p:spPr>
          <a:xfrm>
            <a:off x="6620256" y="4315968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F59E0B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47" name="Text 41"/>
          <p:cNvSpPr/>
          <p:nvPr/>
        </p:nvSpPr>
        <p:spPr>
          <a:xfrm>
            <a:off x="6620256" y="431596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1150" dirty="0"/>
          </a:p>
        </p:txBody>
      </p:sp>
      <p:sp>
        <p:nvSpPr>
          <p:cNvPr id="48" name="Text 42"/>
          <p:cNvSpPr/>
          <p:nvPr/>
        </p:nvSpPr>
        <p:spPr>
          <a:xfrm>
            <a:off x="6345936" y="4681728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ampliado + pagos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pilot + payments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1-2 · legal publicado · fichas stores</a:t>
            </a:r>
            <a:endParaRPr lang="en-US" sz="1300" dirty="0"/>
          </a:p>
        </p:txBody>
      </p:sp>
      <p:sp>
        <p:nvSpPr>
          <p:cNvPr id="49" name="Shape 43"/>
          <p:cNvSpPr/>
          <p:nvPr/>
        </p:nvSpPr>
        <p:spPr>
          <a:xfrm>
            <a:off x="8513064" y="3063240"/>
            <a:ext cx="1097280" cy="1097280"/>
          </a:xfrm>
          <a:prstGeom prst="ellipse">
            <a:avLst/>
          </a:prstGeom>
          <a:solidFill>
            <a:srgbClr val="FD400C">
              <a:alpha val="16000"/>
            </a:srgbClr>
          </a:solidFill>
          <a:ln/>
        </p:spPr>
      </p:sp>
      <p:sp>
        <p:nvSpPr>
          <p:cNvPr id="50" name="Shape 44"/>
          <p:cNvSpPr/>
          <p:nvPr/>
        </p:nvSpPr>
        <p:spPr>
          <a:xfrm>
            <a:off x="857707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FD400C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3282696"/>
            <a:ext cx="658368" cy="658368"/>
          </a:xfrm>
          <a:prstGeom prst="rect">
            <a:avLst/>
          </a:prstGeom>
        </p:spPr>
      </p:pic>
      <p:sp>
        <p:nvSpPr>
          <p:cNvPr id="52" name="Shape 45"/>
          <p:cNvSpPr/>
          <p:nvPr/>
        </p:nvSpPr>
        <p:spPr>
          <a:xfrm>
            <a:off x="9281160" y="3090672"/>
            <a:ext cx="310896" cy="310896"/>
          </a:xfrm>
          <a:prstGeom prst="ellipse">
            <a:avLst/>
          </a:prstGeom>
          <a:solidFill>
            <a:srgbClr val="FD40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928116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4" name="Shape 47"/>
          <p:cNvSpPr/>
          <p:nvPr/>
        </p:nvSpPr>
        <p:spPr>
          <a:xfrm>
            <a:off x="9061704" y="2670048"/>
            <a:ext cx="0" cy="457200"/>
          </a:xfrm>
          <a:prstGeom prst="line">
            <a:avLst/>
          </a:prstGeom>
          <a:noFill/>
          <a:ln w="25400">
            <a:solidFill>
              <a:srgbClr val="FD400C"/>
            </a:solidFill>
            <a:prstDash val="dash"/>
          </a:ln>
        </p:spPr>
      </p:sp>
      <p:sp>
        <p:nvSpPr>
          <p:cNvPr id="55" name="Shape 48"/>
          <p:cNvSpPr/>
          <p:nvPr/>
        </p:nvSpPr>
        <p:spPr>
          <a:xfrm>
            <a:off x="8403336" y="2340864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FD400C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56" name="Text 49"/>
          <p:cNvSpPr/>
          <p:nvPr/>
        </p:nvSpPr>
        <p:spPr>
          <a:xfrm>
            <a:off x="8403336" y="2340864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OCT 2026</a:t>
            </a:r>
            <a:endParaRPr lang="en-US" sz="1150" dirty="0"/>
          </a:p>
        </p:txBody>
      </p:sp>
      <p:sp>
        <p:nvSpPr>
          <p:cNvPr id="57" name="Text 50"/>
          <p:cNvSpPr/>
          <p:nvPr/>
        </p:nvSpPr>
        <p:spPr>
          <a:xfrm>
            <a:off x="8129016" y="1371600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Lanzamiento comercial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launch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+ Google Play · con pagos</a:t>
            </a:r>
            <a:endParaRPr lang="en-US" sz="1300" dirty="0"/>
          </a:p>
        </p:txBody>
      </p:sp>
      <p:sp>
        <p:nvSpPr>
          <p:cNvPr id="58" name="Shape 51"/>
          <p:cNvSpPr/>
          <p:nvPr/>
        </p:nvSpPr>
        <p:spPr>
          <a:xfrm>
            <a:off x="10296144" y="3063240"/>
            <a:ext cx="1097280" cy="1097280"/>
          </a:xfrm>
          <a:prstGeom prst="ellipse">
            <a:avLst/>
          </a:prstGeom>
          <a:solidFill>
            <a:srgbClr val="C73A20">
              <a:alpha val="16000"/>
            </a:srgbClr>
          </a:solidFill>
          <a:ln/>
        </p:spPr>
      </p:sp>
      <p:sp>
        <p:nvSpPr>
          <p:cNvPr id="59" name="Shape 52"/>
          <p:cNvSpPr/>
          <p:nvPr/>
        </p:nvSpPr>
        <p:spPr>
          <a:xfrm>
            <a:off x="10360152" y="3127248"/>
            <a:ext cx="969264" cy="969264"/>
          </a:xfrm>
          <a:prstGeom prst="ellipse">
            <a:avLst/>
          </a:prstGeom>
          <a:solidFill>
            <a:srgbClr val="FFFFFF"/>
          </a:solidFill>
          <a:ln w="50800">
            <a:solidFill>
              <a:srgbClr val="C73A20"/>
            </a:solidFill>
            <a:prstDash val="solid"/>
          </a:ln>
          <a:effectLst>
            <a:outerShdw sx="100000" sy="100000" kx="0" ky="0" algn="bl" rotWithShape="0" blurRad="114300" dist="38100" dir="5400000">
              <a:srgbClr val="241D1A">
                <a:alpha val="30000"/>
              </a:srgbClr>
            </a:outerShdw>
          </a:effectLst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0" y="3282696"/>
            <a:ext cx="658368" cy="658368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>
            <a:off x="11064240" y="3090672"/>
            <a:ext cx="310896" cy="310896"/>
          </a:xfrm>
          <a:prstGeom prst="ellipse">
            <a:avLst/>
          </a:prstGeom>
          <a:solidFill>
            <a:srgbClr val="C73A2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11064240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3" name="Shape 55"/>
          <p:cNvSpPr/>
          <p:nvPr/>
        </p:nvSpPr>
        <p:spPr>
          <a:xfrm>
            <a:off x="10844784" y="4114800"/>
            <a:ext cx="0" cy="457200"/>
          </a:xfrm>
          <a:prstGeom prst="line">
            <a:avLst/>
          </a:prstGeom>
          <a:noFill/>
          <a:ln w="25400">
            <a:solidFill>
              <a:srgbClr val="C73A20"/>
            </a:solidFill>
            <a:prstDash val="dash"/>
          </a:ln>
        </p:spPr>
      </p:sp>
      <p:sp>
        <p:nvSpPr>
          <p:cNvPr id="64" name="Shape 56"/>
          <p:cNvSpPr/>
          <p:nvPr/>
        </p:nvSpPr>
        <p:spPr>
          <a:xfrm>
            <a:off x="10186416" y="4315968"/>
            <a:ext cx="1316736" cy="292608"/>
          </a:xfrm>
          <a:prstGeom prst="roundRect">
            <a:avLst>
              <a:gd name="adj" fmla="val 15625"/>
            </a:avLst>
          </a:prstGeom>
          <a:solidFill>
            <a:srgbClr val="C73A20"/>
          </a:solidFill>
          <a:ln/>
          <a:effectLst>
            <a:outerShdw sx="100000" sy="100000" kx="0" ky="0" algn="bl" rotWithShape="0" blurRad="50800" dist="25400" dir="5400000">
              <a:srgbClr val="241D1A">
                <a:alpha val="25000"/>
              </a:srgbClr>
            </a:outerShdw>
          </a:effectLst>
        </p:spPr>
      </p:sp>
      <p:sp>
        <p:nvSpPr>
          <p:cNvPr id="65" name="Text 57"/>
          <p:cNvSpPr/>
          <p:nvPr/>
        </p:nvSpPr>
        <p:spPr>
          <a:xfrm>
            <a:off x="10186416" y="4315968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 1</a:t>
            </a:r>
            <a:endParaRPr lang="en-US" sz="1150" dirty="0"/>
          </a:p>
        </p:txBody>
      </p:sp>
      <p:sp>
        <p:nvSpPr>
          <p:cNvPr id="66" name="Text 58"/>
          <p:cNvSpPr/>
          <p:nvPr/>
        </p:nvSpPr>
        <p:spPr>
          <a:xfrm>
            <a:off x="9912096" y="4681728"/>
            <a:ext cx="18653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41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dónde vamos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8A7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going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2.634 suscripciones · €74.772 · escalar EU</a:t>
            </a:r>
            <a:endParaRPr lang="en-US" sz="1300" dirty="0"/>
          </a:p>
        </p:txBody>
      </p:sp>
      <p:sp>
        <p:nvSpPr>
          <p:cNvPr id="67" name="Shape 59"/>
          <p:cNvSpPr/>
          <p:nvPr/>
        </p:nvSpPr>
        <p:spPr>
          <a:xfrm>
            <a:off x="5504688" y="3739896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241D1A"/>
          </a:solidFill>
          <a:ln/>
          <a:effectLst>
            <a:outerShdw sx="100000" sy="100000" kx="0" ky="0" algn="bl" rotWithShape="0" blurRad="63500" dist="25400" dir="5400000">
              <a:srgbClr val="241D1A">
                <a:alpha val="35000"/>
              </a:srgbClr>
            </a:outerShdw>
          </a:effectLst>
        </p:spPr>
      </p:sp>
      <p:sp>
        <p:nvSpPr>
          <p:cNvPr id="68" name="Shape 60"/>
          <p:cNvSpPr/>
          <p:nvPr/>
        </p:nvSpPr>
        <p:spPr>
          <a:xfrm>
            <a:off x="6153912" y="3593592"/>
            <a:ext cx="164592" cy="128016"/>
          </a:xfrm>
          <a:prstGeom prst="triangle">
            <a:avLst/>
          </a:prstGeom>
          <a:solidFill>
            <a:srgbClr val="241D1A"/>
          </a:solidFill>
          <a:ln/>
        </p:spPr>
      </p:sp>
      <p:sp>
        <p:nvSpPr>
          <p:cNvPr id="69" name="Text 61"/>
          <p:cNvSpPr/>
          <p:nvPr/>
        </p:nvSpPr>
        <p:spPr>
          <a:xfrm>
            <a:off x="5504688" y="37398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ESTAMOS AQUÍ · WE ARE HERE</a:t>
            </a:r>
            <a:endParaRPr lang="en-US" sz="720" dirty="0"/>
          </a:p>
        </p:txBody>
      </p:sp>
      <p:sp>
        <p:nvSpPr>
          <p:cNvPr id="70" name="Shape 62"/>
          <p:cNvSpPr/>
          <p:nvPr/>
        </p:nvSpPr>
        <p:spPr>
          <a:xfrm>
            <a:off x="928116" y="6053328"/>
            <a:ext cx="2377440" cy="566928"/>
          </a:xfrm>
          <a:prstGeom prst="roundRect">
            <a:avLst>
              <a:gd name="adj" fmla="val 16129"/>
            </a:avLst>
          </a:prstGeom>
          <a:solidFill>
            <a:srgbClr val="FFF6F2"/>
          </a:solidFill>
          <a:ln w="12700">
            <a:solidFill>
              <a:srgbClr val="F3C8B8"/>
            </a:solidFill>
            <a:prstDash val="solid"/>
          </a:ln>
        </p:spPr>
      </p:sp>
      <p:sp>
        <p:nvSpPr>
          <p:cNvPr id="71" name="Text 63"/>
          <p:cNvSpPr/>
          <p:nvPr/>
        </p:nvSpPr>
        <p:spPr>
          <a:xfrm>
            <a:off x="1037844" y="6053328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4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 </a:t>
            </a:r>
            <a:pPr indent="0" marL="0">
              <a:buNone/>
            </a:pPr>
            <a:r>
              <a:rPr lang="en-US" sz="9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testers en piloto · pilot testers</a:t>
            </a:r>
            <a:endParaRPr lang="en-US" sz="1700" dirty="0"/>
          </a:p>
        </p:txBody>
      </p:sp>
      <p:sp>
        <p:nvSpPr>
          <p:cNvPr id="72" name="Shape 64"/>
          <p:cNvSpPr/>
          <p:nvPr/>
        </p:nvSpPr>
        <p:spPr>
          <a:xfrm>
            <a:off x="3579876" y="6053328"/>
            <a:ext cx="2377440" cy="566928"/>
          </a:xfrm>
          <a:prstGeom prst="roundRect">
            <a:avLst>
              <a:gd name="adj" fmla="val 16129"/>
            </a:avLst>
          </a:prstGeom>
          <a:solidFill>
            <a:srgbClr val="FFF6F2"/>
          </a:solidFill>
          <a:ln w="12700">
            <a:solidFill>
              <a:srgbClr val="F3C8B8"/>
            </a:solidFill>
            <a:prstDash val="solid"/>
          </a:ln>
        </p:spPr>
      </p:sp>
      <p:sp>
        <p:nvSpPr>
          <p:cNvPr id="73" name="Text 65"/>
          <p:cNvSpPr/>
          <p:nvPr/>
        </p:nvSpPr>
        <p:spPr>
          <a:xfrm>
            <a:off x="3689604" y="6053328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4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9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· iOS + Android</a:t>
            </a:r>
            <a:endParaRPr lang="en-US" sz="1700" dirty="0"/>
          </a:p>
        </p:txBody>
      </p:sp>
      <p:sp>
        <p:nvSpPr>
          <p:cNvPr id="74" name="Shape 66"/>
          <p:cNvSpPr/>
          <p:nvPr/>
        </p:nvSpPr>
        <p:spPr>
          <a:xfrm>
            <a:off x="6231636" y="6053328"/>
            <a:ext cx="2377440" cy="566928"/>
          </a:xfrm>
          <a:prstGeom prst="roundRect">
            <a:avLst>
              <a:gd name="adj" fmla="val 16129"/>
            </a:avLst>
          </a:prstGeom>
          <a:solidFill>
            <a:srgbClr val="FFF6F2"/>
          </a:solidFill>
          <a:ln w="12700">
            <a:solidFill>
              <a:srgbClr val="F3C8B8"/>
            </a:solidFill>
            <a:prstDash val="solid"/>
          </a:ln>
        </p:spPr>
      </p:sp>
      <p:sp>
        <p:nvSpPr>
          <p:cNvPr id="75" name="Text 67"/>
          <p:cNvSpPr/>
          <p:nvPr/>
        </p:nvSpPr>
        <p:spPr>
          <a:xfrm>
            <a:off x="6341364" y="6053328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4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</a:t>
            </a:r>
            <a:pPr indent="0" marL="0">
              <a:buNone/>
            </a:pPr>
            <a:r>
              <a:rPr lang="en-US" sz="9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idiomas · languages</a:t>
            </a:r>
            <a:endParaRPr lang="en-US" sz="1700" dirty="0"/>
          </a:p>
        </p:txBody>
      </p:sp>
      <p:sp>
        <p:nvSpPr>
          <p:cNvPr id="76" name="Shape 68"/>
          <p:cNvSpPr/>
          <p:nvPr/>
        </p:nvSpPr>
        <p:spPr>
          <a:xfrm>
            <a:off x="8883396" y="6053328"/>
            <a:ext cx="2377440" cy="566928"/>
          </a:xfrm>
          <a:prstGeom prst="roundRect">
            <a:avLst>
              <a:gd name="adj" fmla="val 16129"/>
            </a:avLst>
          </a:prstGeom>
          <a:solidFill>
            <a:srgbClr val="FFF6F2"/>
          </a:solidFill>
          <a:ln w="12700">
            <a:solidFill>
              <a:srgbClr val="F3C8B8"/>
            </a:solidFill>
            <a:prstDash val="solid"/>
          </a:ln>
        </p:spPr>
      </p:sp>
      <p:sp>
        <p:nvSpPr>
          <p:cNvPr id="77" name="Text 69"/>
          <p:cNvSpPr/>
          <p:nvPr/>
        </p:nvSpPr>
        <p:spPr>
          <a:xfrm>
            <a:off x="8993124" y="6053328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D40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€74.772  </a:t>
            </a:r>
            <a:pPr indent="0" marL="0">
              <a:buNone/>
            </a:pPr>
            <a:r>
              <a:rPr lang="en-US" sz="950" dirty="0">
                <a:solidFill>
                  <a:srgbClr val="6E6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ingresos año 1 · year-1 revenue</a:t>
            </a:r>
            <a:endParaRPr lang="en-US" sz="1700" dirty="0"/>
          </a:p>
        </p:txBody>
      </p:sp>
      <p:sp>
        <p:nvSpPr>
          <p:cNvPr id="78" name="Text 70"/>
          <p:cNvSpPr/>
          <p:nvPr/>
        </p:nvSpPr>
        <p:spPr>
          <a:xfrm>
            <a:off x="685800" y="6638544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8A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interno en curso — no en producción · internal pilot, not in production yet          nutrisynccollective.com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2026-08-06T09:53:05Z</dcterms:created>
  <dcterms:modified xsi:type="dcterms:W3CDTF">2026-08-06T09:53:05Z</dcterms:modified>
</cp:coreProperties>
</file>