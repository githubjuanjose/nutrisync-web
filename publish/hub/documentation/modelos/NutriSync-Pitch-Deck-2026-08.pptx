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Poppins Italics" charset="1" panose="00000500000000000000"/>
      <p:regular r:id="rId30"/>
    </p:embeddedFont>
    <p:embeddedFont>
      <p:font typeface="Aileron Italics" charset="1" panose="00000500000000000000"/>
      <p:regular r:id="rId31"/>
    </p:embeddedFont>
    <p:embeddedFont>
      <p:font typeface="Aileron" charset="1" panose="00000500000000000000"/>
      <p:regular r:id="rId35"/>
    </p:embeddedFont>
    <p:embeddedFont>
      <p:font typeface="Poppins Bold" charset="1" panose="00000800000000000000"/>
      <p:regular r:id="rId36"/>
    </p:embeddedFont>
    <p:embeddedFont>
      <p:font typeface="Aileron Bold" charset="1" panose="00000800000000000000"/>
      <p:regular r:id="rId38"/>
    </p:embeddedFont>
    <p:embeddedFont>
      <p:font typeface="Poppins" charset="1" panose="00000500000000000000"/>
      <p:regular r:id="rId39"/>
    </p:embeddedFont>
    <p:embeddedFont>
      <p:font typeface="Canva Sans" charset="1" panose="020B0503030501040103"/>
      <p:regular r:id="rId40"/>
    </p:embeddedFont>
    <p:embeddedFont>
      <p:font typeface="Glacial Indifference" charset="1" panose="00000000000000000000"/>
      <p:regular r:id="rId42"/>
    </p:embeddedFont>
    <p:embeddedFont>
      <p:font typeface="Aileron Bold Italics" charset="1" panose="00000800000000000000"/>
      <p:regular r:id="rId43"/>
    </p:embeddedFont>
    <p:embeddedFont>
      <p:font typeface="Canva Sans Bold" charset="1" panose="020B0803030501040103"/>
      <p:regular r:id="rId45"/>
    </p:embeddedFont>
    <p:embeddedFont>
      <p:font typeface="Glacial Indifference Bold" charset="1" panose="000008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2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3.xml" Type="http://schemas.openxmlformats.org/officeDocument/2006/relationships/notes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notesSlides/notesSlide4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5.xml" Type="http://schemas.openxmlformats.org/officeDocument/2006/relationships/notesSlide"/><Relationship Id="rId47" Target="notesSlides/notesSlide6.xml" Type="http://schemas.openxmlformats.org/officeDocument/2006/relationships/notesSlide"/><Relationship Id="rId48" Target="fonts/font48.fntdata" Type="http://schemas.openxmlformats.org/officeDocument/2006/relationships/font"/><Relationship Id="rId49" Target="notesSlides/notesSlide7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8.xml" Type="http://schemas.openxmlformats.org/officeDocument/2006/relationships/notesSlide"/><Relationship Id="rId51" Target="notesSlides/notesSlide9.xml" Type="http://schemas.openxmlformats.org/officeDocument/2006/relationships/notesSlide"/><Relationship Id="rId52" Target="notesSlides/notesSlide10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 nutrition and fitness guidance is built on male-normed data; large-scale research on how nutrition/movement affects individual women across their cycle barely exists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Competitors personalize content around a cycle. NutriSync is designed to learn which actions</a:t>
            </a:r>
          </a:p>
          <a:p>
            <a:r>
              <a:rPr lang="en-US"/>
              <a:t>produce better outcomes for each individual across cycles.</a:t>
            </a:r>
          </a:p>
          <a:p>
            <a:r>
              <a:rPr lang="en-US"/>
              <a:t/>
            </a:r>
          </a:p>
          <a:p>
            <a:r>
              <a:rPr lang="en-US"/>
              <a:t>NutriSync combines cycle context with the user’s symptoms, behaviours and biometric patterns. Recommendations adapt as the system learns the individual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compete in a narrower adaptive-personalization slice of this, not the whole category.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replace with icons so less words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make visuals better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make it go higher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make it go higher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“We are raising €250K pre-seed to validate our engine, clinical backbone, and early user behaviour. This sets us up for a strong Seed round once traction is proven.”</a:t>
            </a:r>
          </a:p>
          <a:p>
            <a:r>
              <a:rPr lang="en-US"/>
              <a:t/>
            </a:r>
          </a:p>
          <a:p>
            <a:r>
              <a:rPr lang="en-US"/>
              <a:t>ASK KANIKA FOR PRE-SEED</a:t>
            </a:r>
          </a:p>
          <a:p>
            <a:r>
              <a:rPr lang="en-US"/>
              <a:t/>
            </a:r>
          </a:p>
          <a:p>
            <a:r>
              <a:rPr lang="en-US"/>
              <a:t>GROWTH AND FUNDRISING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Recommendation → action/adherence → symptoms &amp; biomarkers → outcome change → model recalibration → better recommendation.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png" Type="http://schemas.openxmlformats.org/officeDocument/2006/relationships/image"/><Relationship Id="rId12" Target="../media/image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https://www.linkedin.com/in/pilar-gonzalez-522564240/" TargetMode="External" Type="http://schemas.openxmlformats.org/officeDocument/2006/relationships/hyperlink"/><Relationship Id="rId8" Target="https://www.linkedin.com/in/lucia-cebrian-7333b829a/" TargetMode="External" Type="http://schemas.openxmlformats.org/officeDocument/2006/relationships/hyperlink"/><Relationship Id="rId9" Target="https://www.linkedin.com/in/maria-paula-garz%C3%B3n-9410242b0/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12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9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12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12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jpeg" Type="http://schemas.openxmlformats.org/officeDocument/2006/relationships/image"/><Relationship Id="rId3" Target="https://www.linkedin.com/in/pilar-gonzalez-522564240/" TargetMode="External" Type="http://schemas.openxmlformats.org/officeDocument/2006/relationships/hyperlink"/><Relationship Id="rId4" Target="../media/image55.jpeg" Type="http://schemas.openxmlformats.org/officeDocument/2006/relationships/image"/><Relationship Id="rId5" Target="../media/image56.jpeg" Type="http://schemas.openxmlformats.org/officeDocument/2006/relationships/image"/><Relationship Id="rId6" Target="https://www.linkedin.com/in/lucia-cebrian-7333b829a/" TargetMode="External" Type="http://schemas.openxmlformats.org/officeDocument/2006/relationships/hyperlink"/><Relationship Id="rId7" Target="../media/image57.jpeg" Type="http://schemas.openxmlformats.org/officeDocument/2006/relationships/image"/><Relationship Id="rId8" Target="https://www.linkedin.com/in/maria-paula-garz%C3%B3n-9410242b0/" TargetMode="External" Type="http://schemas.openxmlformats.org/officeDocument/2006/relationships/hyperlink"/><Relationship Id="rId9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linkedin.com/in/beatriz-serrano-sordo/?locale=en" TargetMode="External" Type="http://schemas.openxmlformats.org/officeDocument/2006/relationships/hyperlink"/><Relationship Id="rId11" Target="../media/image61.jpeg" Type="http://schemas.openxmlformats.org/officeDocument/2006/relationships/image"/><Relationship Id="rId12" Target="https://www.linkedin.com/in/constanzaramirezmilli/" TargetMode="External" Type="http://schemas.openxmlformats.org/officeDocument/2006/relationships/hyperlink"/><Relationship Id="rId13" Target="../media/image62.png" Type="http://schemas.openxmlformats.org/officeDocument/2006/relationships/image"/><Relationship Id="rId14" Target="https://www.linkedin.com/in/claramirandae/" TargetMode="External" Type="http://schemas.openxmlformats.org/officeDocument/2006/relationships/hyperlink"/><Relationship Id="rId15" Target="../media/image12.png" Type="http://schemas.openxmlformats.org/officeDocument/2006/relationships/image"/><Relationship Id="rId2" Target="../media/image55.jpeg" Type="http://schemas.openxmlformats.org/officeDocument/2006/relationships/image"/><Relationship Id="rId3" Target="../media/image58.png" Type="http://schemas.openxmlformats.org/officeDocument/2006/relationships/image"/><Relationship Id="rId4" Target="https://www.linkedin.com/in/kanika-pandey-959aa3a/" TargetMode="External" Type="http://schemas.openxmlformats.org/officeDocument/2006/relationships/hyperlink"/><Relationship Id="rId5" Target="https://www.linkedin.com/in/kanika-pandey-959aa3a/" TargetMode="External" Type="http://schemas.openxmlformats.org/officeDocument/2006/relationships/hyperlink"/><Relationship Id="rId6" Target="../media/image59.png" Type="http://schemas.openxmlformats.org/officeDocument/2006/relationships/image"/><Relationship Id="rId7" Target="https://www.linkedin.com/in/juanjosecebrian/" TargetMode="External" Type="http://schemas.openxmlformats.org/officeDocument/2006/relationships/hyperlink"/><Relationship Id="rId8" Target="https://www.linkedin.com/in/juanjosecebrian/" TargetMode="External" Type="http://schemas.openxmlformats.org/officeDocument/2006/relationships/hyperlink"/><Relationship Id="rId9" Target="../media/image6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https://www.linkedin.com/in/pilar-gonzalez-522564240/" TargetMode="External" Type="http://schemas.openxmlformats.org/officeDocument/2006/relationships/hyperlink"/><Relationship Id="rId6" Target="https://www.linkedin.com/in/lucia-cebrian-7333b829a/" TargetMode="External" Type="http://schemas.openxmlformats.org/officeDocument/2006/relationships/hyperlink"/><Relationship Id="rId7" Target="https://www.linkedin.com/in/maria-paula-garz%C3%B3n-9410242b0/" TargetMode="External" Type="http://schemas.openxmlformats.org/officeDocument/2006/relationships/hyperlink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svg" Type="http://schemas.openxmlformats.org/officeDocument/2006/relationships/image"/><Relationship Id="rId11" Target="../media/image68.png" Type="http://schemas.openxmlformats.org/officeDocument/2006/relationships/image"/><Relationship Id="rId12" Target="../media/image69.svg" Type="http://schemas.openxmlformats.org/officeDocument/2006/relationships/image"/><Relationship Id="rId13" Target="../media/image70.png" Type="http://schemas.openxmlformats.org/officeDocument/2006/relationships/image"/><Relationship Id="rId14" Target="../media/image71.svg" Type="http://schemas.openxmlformats.org/officeDocument/2006/relationships/image"/><Relationship Id="rId15" Target="../media/image72.png" Type="http://schemas.openxmlformats.org/officeDocument/2006/relationships/image"/><Relationship Id="rId16" Target="../media/image73.svg" Type="http://schemas.openxmlformats.org/officeDocument/2006/relationships/image"/><Relationship Id="rId17" Target="../media/image74.png" Type="http://schemas.openxmlformats.org/officeDocument/2006/relationships/image"/><Relationship Id="rId18" Target="../media/image75.svg" Type="http://schemas.openxmlformats.org/officeDocument/2006/relationships/image"/><Relationship Id="rId19" Target="../media/image76.png" Type="http://schemas.openxmlformats.org/officeDocument/2006/relationships/image"/><Relationship Id="rId2" Target="../notesSlides/notesSlide10.xml" Type="http://schemas.openxmlformats.org/officeDocument/2006/relationships/notesSlide"/><Relationship Id="rId20" Target="../media/image12.png" Type="http://schemas.openxmlformats.org/officeDocument/2006/relationships/image"/><Relationship Id="rId3" Target="../media/image28.png" Type="http://schemas.openxmlformats.org/officeDocument/2006/relationships/image"/><Relationship Id="rId4" Target="../media/image4.pn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65.png" Type="http://schemas.openxmlformats.org/officeDocument/2006/relationships/image"/><Relationship Id="rId8" Target="../media/image7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48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48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1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0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1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embeddings/oleObject3.bin" Type="http://schemas.openxmlformats.org/officeDocument/2006/relationships/oleObject"/><Relationship Id="rId4" Target="../media/image1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9094" y="3929558"/>
            <a:ext cx="9218552" cy="2172760"/>
          </a:xfrm>
          <a:custGeom>
            <a:avLst/>
            <a:gdLst/>
            <a:ahLst/>
            <a:cxnLst/>
            <a:rect r="r" b="b" t="t" l="l"/>
            <a:pathLst>
              <a:path h="2172760" w="9218552">
                <a:moveTo>
                  <a:pt x="0" y="0"/>
                </a:moveTo>
                <a:lnTo>
                  <a:pt x="9218552" y="0"/>
                </a:lnTo>
                <a:lnTo>
                  <a:pt x="9218552" y="2172759"/>
                </a:lnTo>
                <a:lnTo>
                  <a:pt x="0" y="2172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0127" y="6214110"/>
            <a:ext cx="102870" cy="100965"/>
            <a:chOff x="0" y="0"/>
            <a:chExt cx="137160" cy="1346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9252" y="49583"/>
              <a:ext cx="35838" cy="30765"/>
            </a:xfrm>
            <a:custGeom>
              <a:avLst/>
              <a:gdLst/>
              <a:ahLst/>
              <a:cxnLst/>
              <a:rect r="r" b="b" t="t" l="l"/>
              <a:pathLst>
                <a:path h="30765" w="35838">
                  <a:moveTo>
                    <a:pt x="35838" y="11377"/>
                  </a:moveTo>
                  <a:cubicBezTo>
                    <a:pt x="19328" y="36777"/>
                    <a:pt x="5358" y="31697"/>
                    <a:pt x="1548" y="26617"/>
                  </a:cubicBezTo>
                  <a:cubicBezTo>
                    <a:pt x="-2262" y="21537"/>
                    <a:pt x="1548" y="5027"/>
                    <a:pt x="6628" y="1217"/>
                  </a:cubicBezTo>
                  <a:cubicBezTo>
                    <a:pt x="11708" y="-2593"/>
                    <a:pt x="30758" y="3757"/>
                    <a:pt x="30758" y="3757"/>
                  </a:cubicBezTo>
                </a:path>
              </a:pathLst>
            </a:custGeom>
            <a:solidFill>
              <a:srgbClr val="2D2E3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899910" y="4193661"/>
            <a:ext cx="2374781" cy="5000030"/>
            <a:chOff x="0" y="0"/>
            <a:chExt cx="3166374" cy="66667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65602" y="6484106"/>
              <a:ext cx="2300773" cy="182601"/>
            </a:xfrm>
            <a:custGeom>
              <a:avLst/>
              <a:gdLst/>
              <a:ahLst/>
              <a:cxnLst/>
              <a:rect r="r" b="b" t="t" l="l"/>
              <a:pathLst>
                <a:path h="182601" w="2300773">
                  <a:moveTo>
                    <a:pt x="0" y="0"/>
                  </a:moveTo>
                  <a:lnTo>
                    <a:pt x="2300772" y="0"/>
                  </a:lnTo>
                  <a:lnTo>
                    <a:pt x="2300772" y="182601"/>
                  </a:lnTo>
                  <a:lnTo>
                    <a:pt x="0" y="182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3669922"/>
              <a:ext cx="1959614" cy="1959614"/>
            </a:xfrm>
            <a:custGeom>
              <a:avLst/>
              <a:gdLst/>
              <a:ahLst/>
              <a:cxnLst/>
              <a:rect r="r" b="b" t="t" l="l"/>
              <a:pathLst>
                <a:path h="1959614" w="1959614">
                  <a:moveTo>
                    <a:pt x="0" y="0"/>
                  </a:moveTo>
                  <a:lnTo>
                    <a:pt x="1959614" y="0"/>
                  </a:lnTo>
                  <a:lnTo>
                    <a:pt x="1959614" y="1959615"/>
                  </a:lnTo>
                  <a:lnTo>
                    <a:pt x="0" y="1959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1434394">
              <a:off x="251149" y="3959402"/>
              <a:ext cx="1361402" cy="1279390"/>
            </a:xfrm>
            <a:custGeom>
              <a:avLst/>
              <a:gdLst/>
              <a:ahLst/>
              <a:cxnLst/>
              <a:rect r="r" b="b" t="t" l="l"/>
              <a:pathLst>
                <a:path h="1279390" w="1361402">
                  <a:moveTo>
                    <a:pt x="0" y="0"/>
                  </a:moveTo>
                  <a:lnTo>
                    <a:pt x="1361403" y="0"/>
                  </a:lnTo>
                  <a:lnTo>
                    <a:pt x="1361403" y="1279390"/>
                  </a:lnTo>
                  <a:lnTo>
                    <a:pt x="0" y="1279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51468" y="5005"/>
              <a:ext cx="2914906" cy="6661702"/>
            </a:xfrm>
            <a:custGeom>
              <a:avLst/>
              <a:gdLst/>
              <a:ahLst/>
              <a:cxnLst/>
              <a:rect r="r" b="b" t="t" l="l"/>
              <a:pathLst>
                <a:path h="6661702" w="2914906">
                  <a:moveTo>
                    <a:pt x="0" y="0"/>
                  </a:moveTo>
                  <a:lnTo>
                    <a:pt x="2914906" y="0"/>
                  </a:lnTo>
                  <a:lnTo>
                    <a:pt x="2914906" y="6661702"/>
                  </a:lnTo>
                  <a:lnTo>
                    <a:pt x="0" y="6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474" t="-7825" r="-17883" b="-5589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1468" y="5005"/>
              <a:ext cx="2914906" cy="6661702"/>
            </a:xfrm>
            <a:custGeom>
              <a:avLst/>
              <a:gdLst/>
              <a:ahLst/>
              <a:cxnLst/>
              <a:rect r="r" b="b" t="t" l="l"/>
              <a:pathLst>
                <a:path h="6661702" w="2914906">
                  <a:moveTo>
                    <a:pt x="0" y="0"/>
                  </a:moveTo>
                  <a:lnTo>
                    <a:pt x="2914906" y="0"/>
                  </a:lnTo>
                  <a:lnTo>
                    <a:pt x="2914906" y="6661702"/>
                  </a:lnTo>
                  <a:lnTo>
                    <a:pt x="0" y="6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474" t="-7825" r="-17883" b="-5589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1468" y="5005"/>
              <a:ext cx="2914906" cy="6661702"/>
            </a:xfrm>
            <a:custGeom>
              <a:avLst/>
              <a:gdLst/>
              <a:ahLst/>
              <a:cxnLst/>
              <a:rect r="r" b="b" t="t" l="l"/>
              <a:pathLst>
                <a:path h="6661702" w="2914906">
                  <a:moveTo>
                    <a:pt x="0" y="0"/>
                  </a:moveTo>
                  <a:lnTo>
                    <a:pt x="2914906" y="0"/>
                  </a:lnTo>
                  <a:lnTo>
                    <a:pt x="2914906" y="6661702"/>
                  </a:lnTo>
                  <a:lnTo>
                    <a:pt x="0" y="6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474" t="-7825" r="-17883" b="-558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1468" y="0"/>
              <a:ext cx="2914906" cy="6661702"/>
            </a:xfrm>
            <a:custGeom>
              <a:avLst/>
              <a:gdLst/>
              <a:ahLst/>
              <a:cxnLst/>
              <a:rect r="r" b="b" t="t" l="l"/>
              <a:pathLst>
                <a:path h="6661702" w="2914906">
                  <a:moveTo>
                    <a:pt x="0" y="0"/>
                  </a:moveTo>
                  <a:lnTo>
                    <a:pt x="2914906" y="0"/>
                  </a:lnTo>
                  <a:lnTo>
                    <a:pt x="2914906" y="6661702"/>
                  </a:lnTo>
                  <a:lnTo>
                    <a:pt x="0" y="6661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474" t="-7825" r="-17883" b="-5589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520763" y="6215165"/>
            <a:ext cx="689627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i="true">
                <a:solidFill>
                  <a:srgbClr val="FF004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Adaptive nutrition, movement and recovery guidance that learns across cycles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90600"/>
            <a:ext cx="3228156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nutrisynccollective.com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20763" y="8885557"/>
            <a:ext cx="1906993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7" tooltip="https://www.linkedin.com/in/pilar-gonzalez-522564240/"/>
              </a:rPr>
              <a:t>Pilar Gonzalez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93316" y="8885557"/>
            <a:ext cx="1801300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8" tooltip="https://www.linkedin.com/in/lucia-cebrian-7333b829a/"/>
              </a:rPr>
              <a:t>Lucia Cebrian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60176" y="8885557"/>
            <a:ext cx="2481242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9" tooltip="https://www.linkedin.com/in/maria-paula-garz%C3%B3n-9410242b0/"/>
              </a:rPr>
              <a:t>Maria Paula Garzon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29026" y="990600"/>
            <a:ext cx="4230274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contact@</a:t>
            </a: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nutrisynccollective.com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379660" y="4429454"/>
            <a:ext cx="2339434" cy="4764237"/>
            <a:chOff x="0" y="0"/>
            <a:chExt cx="3119246" cy="63523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6163324"/>
              <a:ext cx="2381308" cy="188993"/>
            </a:xfrm>
            <a:custGeom>
              <a:avLst/>
              <a:gdLst/>
              <a:ahLst/>
              <a:cxnLst/>
              <a:rect r="r" b="b" t="t" l="l"/>
              <a:pathLst>
                <a:path h="188993" w="2381308">
                  <a:moveTo>
                    <a:pt x="0" y="0"/>
                  </a:moveTo>
                  <a:lnTo>
                    <a:pt x="2381308" y="0"/>
                  </a:lnTo>
                  <a:lnTo>
                    <a:pt x="2381308" y="188992"/>
                  </a:lnTo>
                  <a:lnTo>
                    <a:pt x="0" y="188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84424" y="1579555"/>
              <a:ext cx="2050984" cy="2050984"/>
            </a:xfrm>
            <a:custGeom>
              <a:avLst/>
              <a:gdLst/>
              <a:ahLst/>
              <a:cxnLst/>
              <a:rect r="r" b="b" t="t" l="l"/>
              <a:pathLst>
                <a:path h="2050984" w="2050984">
                  <a:moveTo>
                    <a:pt x="0" y="0"/>
                  </a:moveTo>
                  <a:lnTo>
                    <a:pt x="2050984" y="0"/>
                  </a:lnTo>
                  <a:lnTo>
                    <a:pt x="2050984" y="2050983"/>
                  </a:lnTo>
                  <a:lnTo>
                    <a:pt x="0" y="2050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true" flipV="false" rot="1193615">
              <a:off x="1048482" y="1921764"/>
              <a:ext cx="1322869" cy="1210835"/>
            </a:xfrm>
            <a:custGeom>
              <a:avLst/>
              <a:gdLst/>
              <a:ahLst/>
              <a:cxnLst/>
              <a:rect r="r" b="b" t="t" l="l"/>
              <a:pathLst>
                <a:path h="1210835" w="1322869">
                  <a:moveTo>
                    <a:pt x="1322869" y="0"/>
                  </a:moveTo>
                  <a:lnTo>
                    <a:pt x="0" y="0"/>
                  </a:lnTo>
                  <a:lnTo>
                    <a:pt x="0" y="1210835"/>
                  </a:lnTo>
                  <a:lnTo>
                    <a:pt x="1322869" y="1210835"/>
                  </a:lnTo>
                  <a:lnTo>
                    <a:pt x="1322869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19246" cy="6352316"/>
            </a:xfrm>
            <a:custGeom>
              <a:avLst/>
              <a:gdLst/>
              <a:ahLst/>
              <a:cxnLst/>
              <a:rect r="r" b="b" t="t" l="l"/>
              <a:pathLst>
                <a:path h="6352316" w="3119246">
                  <a:moveTo>
                    <a:pt x="0" y="0"/>
                  </a:moveTo>
                  <a:lnTo>
                    <a:pt x="3119246" y="0"/>
                  </a:lnTo>
                  <a:lnTo>
                    <a:pt x="3119246" y="6352316"/>
                  </a:lnTo>
                  <a:lnTo>
                    <a:pt x="0" y="6352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55943" t="-15314" r="-22599" b="-1046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47775"/>
            <a:ext cx="13899929" cy="175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7460" spc="-358">
                <a:solidFill>
                  <a:srgbClr val="EA5B45"/>
                </a:solidFill>
                <a:latin typeface="Aileron"/>
                <a:ea typeface="Aileron"/>
                <a:cs typeface="Aileron"/>
                <a:sym typeface="Aileron"/>
              </a:rPr>
              <a:t>Most Nutrition and Fitness Guidance Built on </a:t>
            </a:r>
            <a:r>
              <a:rPr lang="en-US" sz="7460" spc="-358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Male Normed Data 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0435304" y="4197087"/>
            <a:ext cx="10109473" cy="2190939"/>
            <a:chOff x="0" y="0"/>
            <a:chExt cx="375043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7626"/>
              <a:ext cx="3745045" cy="797548"/>
            </a:xfrm>
            <a:custGeom>
              <a:avLst/>
              <a:gdLst/>
              <a:ahLst/>
              <a:cxnLst/>
              <a:rect r="r" b="b" t="t" l="l"/>
              <a:pathLst>
                <a:path h="797548" w="3745045">
                  <a:moveTo>
                    <a:pt x="3741232" y="389568"/>
                  </a:moveTo>
                  <a:lnTo>
                    <a:pt x="3353243" y="1580"/>
                  </a:lnTo>
                  <a:cubicBezTo>
                    <a:pt x="3351701" y="37"/>
                    <a:pt x="3349381" y="-424"/>
                    <a:pt x="3347366" y="411"/>
                  </a:cubicBezTo>
                  <a:cubicBezTo>
                    <a:pt x="3345351" y="1245"/>
                    <a:pt x="3344037" y="3212"/>
                    <a:pt x="3344037" y="5393"/>
                  </a:cubicBezTo>
                  <a:lnTo>
                    <a:pt x="3344037" y="182555"/>
                  </a:lnTo>
                  <a:cubicBezTo>
                    <a:pt x="3344037" y="189745"/>
                    <a:pt x="3338209" y="195574"/>
                    <a:pt x="3331019" y="195574"/>
                  </a:cubicBezTo>
                  <a:lnTo>
                    <a:pt x="13019" y="195574"/>
                  </a:lnTo>
                  <a:cubicBezTo>
                    <a:pt x="5829" y="195574"/>
                    <a:pt x="0" y="201403"/>
                    <a:pt x="0" y="208593"/>
                  </a:cubicBezTo>
                  <a:lnTo>
                    <a:pt x="0" y="588955"/>
                  </a:lnTo>
                  <a:cubicBezTo>
                    <a:pt x="0" y="596145"/>
                    <a:pt x="5829" y="601974"/>
                    <a:pt x="13019" y="601974"/>
                  </a:cubicBezTo>
                  <a:lnTo>
                    <a:pt x="3331019" y="601974"/>
                  </a:lnTo>
                  <a:cubicBezTo>
                    <a:pt x="3334471" y="601974"/>
                    <a:pt x="3337783" y="603346"/>
                    <a:pt x="3340224" y="605787"/>
                  </a:cubicBezTo>
                  <a:cubicBezTo>
                    <a:pt x="3342666" y="608229"/>
                    <a:pt x="3344037" y="611540"/>
                    <a:pt x="3344037" y="614993"/>
                  </a:cubicBezTo>
                  <a:lnTo>
                    <a:pt x="3344037" y="792155"/>
                  </a:lnTo>
                  <a:cubicBezTo>
                    <a:pt x="3344037" y="794336"/>
                    <a:pt x="3345351" y="796303"/>
                    <a:pt x="3347366" y="797137"/>
                  </a:cubicBezTo>
                  <a:cubicBezTo>
                    <a:pt x="3349381" y="797972"/>
                    <a:pt x="3351701" y="797511"/>
                    <a:pt x="3353243" y="795968"/>
                  </a:cubicBezTo>
                  <a:lnTo>
                    <a:pt x="3741232" y="407980"/>
                  </a:lnTo>
                  <a:cubicBezTo>
                    <a:pt x="3743673" y="405538"/>
                    <a:pt x="3745045" y="402227"/>
                    <a:pt x="3745045" y="398774"/>
                  </a:cubicBezTo>
                  <a:cubicBezTo>
                    <a:pt x="3745045" y="395321"/>
                    <a:pt x="3743673" y="392010"/>
                    <a:pt x="3741232" y="389568"/>
                  </a:cubicBezTo>
                  <a:close/>
                </a:path>
              </a:pathLst>
            </a:custGeom>
            <a:solidFill>
              <a:srgbClr val="E65026"/>
            </a:solidFill>
            <a:ln w="257175" cap="sq">
              <a:solidFill>
                <a:srgbClr val="E65026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55575"/>
              <a:ext cx="364883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12105" y="6378937"/>
            <a:ext cx="2598770" cy="2598770"/>
            <a:chOff x="0" y="0"/>
            <a:chExt cx="3465027" cy="346502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465027" cy="346502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402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28612" y="927218"/>
              <a:ext cx="2807804" cy="1553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47"/>
                </a:lnSpc>
                <a:spcBef>
                  <a:spcPct val="0"/>
                </a:spcBef>
              </a:pPr>
              <a:r>
                <a:rPr lang="en-US" b="true" sz="167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Closi</a:t>
              </a:r>
              <a:r>
                <a:rPr lang="en-US" b="true" sz="167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ng the women’s health data gap through real world data 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10875" y="3818345"/>
            <a:ext cx="2948425" cy="2948425"/>
            <a:chOff x="0" y="0"/>
            <a:chExt cx="3931233" cy="393123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3931233" cy="3931233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402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589616" y="602139"/>
              <a:ext cx="2752000" cy="2726954"/>
            </a:xfrm>
            <a:custGeom>
              <a:avLst/>
              <a:gdLst/>
              <a:ahLst/>
              <a:cxnLst/>
              <a:rect r="r" b="b" t="t" l="l"/>
              <a:pathLst>
                <a:path h="2726954" w="2752000">
                  <a:moveTo>
                    <a:pt x="0" y="0"/>
                  </a:moveTo>
                  <a:lnTo>
                    <a:pt x="2752000" y="0"/>
                  </a:lnTo>
                  <a:lnTo>
                    <a:pt x="2752000" y="2726954"/>
                  </a:lnTo>
                  <a:lnTo>
                    <a:pt x="0" y="2726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548" b="-9545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>
            <a:off x="6761832" y="6766769"/>
            <a:ext cx="1690324" cy="838599"/>
          </a:xfrm>
          <a:custGeom>
            <a:avLst/>
            <a:gdLst/>
            <a:ahLst/>
            <a:cxnLst/>
            <a:rect r="r" b="b" t="t" l="l"/>
            <a:pathLst>
              <a:path h="838599" w="1690324">
                <a:moveTo>
                  <a:pt x="0" y="838599"/>
                </a:moveTo>
                <a:quadBezTo>
                  <a:pt x="1133986" y="636762"/>
                  <a:pt x="1690324" y="0"/>
                </a:quadBezTo>
              </a:path>
            </a:pathLst>
          </a:custGeom>
          <a:ln cap="rnd" w="85725">
            <a:solidFill>
              <a:srgbClr val="E65026">
                <a:alpha val="49804"/>
              </a:srgbClr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-2256777" y="4197087"/>
            <a:ext cx="10112462" cy="2190939"/>
            <a:chOff x="0" y="0"/>
            <a:chExt cx="3751546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7624"/>
              <a:ext cx="3746155" cy="797552"/>
            </a:xfrm>
            <a:custGeom>
              <a:avLst/>
              <a:gdLst/>
              <a:ahLst/>
              <a:cxnLst/>
              <a:rect r="r" b="b" t="t" l="l"/>
              <a:pathLst>
                <a:path h="797552" w="3746155">
                  <a:moveTo>
                    <a:pt x="3742343" y="389573"/>
                  </a:moveTo>
                  <a:lnTo>
                    <a:pt x="3354349" y="1579"/>
                  </a:lnTo>
                  <a:cubicBezTo>
                    <a:pt x="3352807" y="37"/>
                    <a:pt x="3350489" y="-424"/>
                    <a:pt x="3348474" y="410"/>
                  </a:cubicBezTo>
                  <a:cubicBezTo>
                    <a:pt x="3346460" y="1245"/>
                    <a:pt x="3345146" y="3210"/>
                    <a:pt x="3345146" y="5391"/>
                  </a:cubicBezTo>
                  <a:lnTo>
                    <a:pt x="3345146" y="182561"/>
                  </a:lnTo>
                  <a:cubicBezTo>
                    <a:pt x="3345146" y="189749"/>
                    <a:pt x="3339319" y="195576"/>
                    <a:pt x="3332131" y="195576"/>
                  </a:cubicBezTo>
                  <a:lnTo>
                    <a:pt x="13015" y="195576"/>
                  </a:lnTo>
                  <a:cubicBezTo>
                    <a:pt x="5827" y="195576"/>
                    <a:pt x="0" y="201403"/>
                    <a:pt x="0" y="208591"/>
                  </a:cubicBezTo>
                  <a:lnTo>
                    <a:pt x="0" y="588961"/>
                  </a:lnTo>
                  <a:cubicBezTo>
                    <a:pt x="0" y="596149"/>
                    <a:pt x="5827" y="601976"/>
                    <a:pt x="13015" y="601976"/>
                  </a:cubicBezTo>
                  <a:lnTo>
                    <a:pt x="3332131" y="601976"/>
                  </a:lnTo>
                  <a:cubicBezTo>
                    <a:pt x="3339319" y="601976"/>
                    <a:pt x="3345146" y="607803"/>
                    <a:pt x="3345146" y="614991"/>
                  </a:cubicBezTo>
                  <a:lnTo>
                    <a:pt x="3345146" y="792161"/>
                  </a:lnTo>
                  <a:cubicBezTo>
                    <a:pt x="3345146" y="794342"/>
                    <a:pt x="3346460" y="796307"/>
                    <a:pt x="3348474" y="797142"/>
                  </a:cubicBezTo>
                  <a:cubicBezTo>
                    <a:pt x="3350489" y="797976"/>
                    <a:pt x="3352807" y="797515"/>
                    <a:pt x="3354349" y="795973"/>
                  </a:cubicBezTo>
                  <a:lnTo>
                    <a:pt x="3742343" y="407979"/>
                  </a:lnTo>
                  <a:cubicBezTo>
                    <a:pt x="3747426" y="402896"/>
                    <a:pt x="3747426" y="394656"/>
                    <a:pt x="3742343" y="389573"/>
                  </a:cubicBezTo>
                  <a:close/>
                </a:path>
              </a:pathLst>
            </a:custGeom>
            <a:solidFill>
              <a:srgbClr val="E65026"/>
            </a:solidFill>
            <a:ln w="257175" cap="sq">
              <a:solidFill>
                <a:srgbClr val="E6502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55575"/>
              <a:ext cx="364994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944206" y="6342578"/>
            <a:ext cx="2635129" cy="2635129"/>
            <a:chOff x="0" y="0"/>
            <a:chExt cx="3513506" cy="351350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513506" cy="3513506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89B48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86613" y="940990"/>
              <a:ext cx="3140280" cy="1574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Preventative &amp; personalized nutrition aligned </a:t>
              </a:r>
            </a:p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with hormones 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3818345"/>
            <a:ext cx="2948425" cy="2948425"/>
            <a:chOff x="0" y="0"/>
            <a:chExt cx="3931233" cy="393123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3931233" cy="3931233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89B48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507396" y="520667"/>
              <a:ext cx="2916442" cy="2889899"/>
            </a:xfrm>
            <a:custGeom>
              <a:avLst/>
              <a:gdLst/>
              <a:ahLst/>
              <a:cxnLst/>
              <a:rect r="r" b="b" t="t" l="l"/>
              <a:pathLst>
                <a:path h="2889899" w="2916442">
                  <a:moveTo>
                    <a:pt x="0" y="0"/>
                  </a:moveTo>
                  <a:lnTo>
                    <a:pt x="2916441" y="0"/>
                  </a:lnTo>
                  <a:lnTo>
                    <a:pt x="2916441" y="2889899"/>
                  </a:lnTo>
                  <a:lnTo>
                    <a:pt x="0" y="2889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423" b="-10428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8074760" y="4206177"/>
            <a:ext cx="2138479" cy="2172760"/>
          </a:xfrm>
          <a:custGeom>
            <a:avLst/>
            <a:gdLst/>
            <a:ahLst/>
            <a:cxnLst/>
            <a:rect r="r" b="b" t="t" l="l"/>
            <a:pathLst>
              <a:path h="2172760" w="2138479">
                <a:moveTo>
                  <a:pt x="0" y="0"/>
                </a:moveTo>
                <a:lnTo>
                  <a:pt x="2138480" y="0"/>
                </a:lnTo>
                <a:lnTo>
                  <a:pt x="2138480" y="2172760"/>
                </a:lnTo>
                <a:lnTo>
                  <a:pt x="0" y="2172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1079" t="-7273" r="-12197" b="-10909"/>
            </a:stretch>
          </a:blipFill>
        </p:spPr>
      </p:sp>
      <p:sp>
        <p:nvSpPr>
          <p:cNvPr name="Freeform 31" id="31"/>
          <p:cNvSpPr/>
          <p:nvPr/>
        </p:nvSpPr>
        <p:spPr>
          <a:xfrm>
            <a:off x="2502912" y="7006641"/>
            <a:ext cx="1332841" cy="469141"/>
          </a:xfrm>
          <a:custGeom>
            <a:avLst/>
            <a:gdLst/>
            <a:ahLst/>
            <a:cxnLst/>
            <a:rect r="r" b="b" t="t" l="l"/>
            <a:pathLst>
              <a:path h="469141" w="1332841">
                <a:moveTo>
                  <a:pt x="0" y="0"/>
                </a:moveTo>
                <a:quadBezTo>
                  <a:pt x="677954" y="568796"/>
                  <a:pt x="1332841" y="447973"/>
                </a:quadBezTo>
              </a:path>
            </a:pathLst>
          </a:custGeom>
          <a:ln cap="flat" w="85725">
            <a:solidFill>
              <a:srgbClr val="E65026">
                <a:alpha val="49804"/>
              </a:srgbClr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>
            <a:off x="9982625" y="6766769"/>
            <a:ext cx="1729480" cy="861769"/>
          </a:xfrm>
          <a:custGeom>
            <a:avLst/>
            <a:gdLst/>
            <a:ahLst/>
            <a:cxnLst/>
            <a:rect r="r" b="b" t="t" l="l"/>
            <a:pathLst>
              <a:path h="861769" w="1729480">
                <a:moveTo>
                  <a:pt x="1729480" y="861769"/>
                </a:moveTo>
                <a:quadBezTo>
                  <a:pt x="666438" y="828856"/>
                  <a:pt x="0" y="0"/>
                </a:quadBezTo>
              </a:path>
            </a:pathLst>
          </a:custGeom>
          <a:ln cap="rnd" w="85725">
            <a:solidFill>
              <a:srgbClr val="E65026">
                <a:alpha val="49804"/>
              </a:srgbClr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>
            <a:off x="14399573" y="6717661"/>
            <a:ext cx="1352111" cy="857358"/>
          </a:xfrm>
          <a:custGeom>
            <a:avLst/>
            <a:gdLst/>
            <a:ahLst/>
            <a:cxnLst/>
            <a:rect r="r" b="b" t="t" l="l"/>
            <a:pathLst>
              <a:path h="857358" w="1352111">
                <a:moveTo>
                  <a:pt x="1352111" y="0"/>
                </a:moveTo>
                <a:quadBezTo>
                  <a:pt x="914164" y="804192"/>
                  <a:pt x="0" y="857359"/>
                </a:quadBezTo>
              </a:path>
            </a:pathLst>
          </a:custGeom>
          <a:ln cap="rnd" w="85725">
            <a:solidFill>
              <a:srgbClr val="E65026">
                <a:alpha val="49804"/>
              </a:srgbClr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76350"/>
            <a:ext cx="16474591" cy="106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70" spc="-416">
                <a:solidFill>
                  <a:srgbClr val="EB624A"/>
                </a:solidFill>
                <a:latin typeface="Aileron"/>
                <a:ea typeface="Aileron"/>
                <a:cs typeface="Aileron"/>
                <a:sym typeface="Aileron"/>
              </a:rPr>
              <a:t>Different </a:t>
            </a:r>
            <a:r>
              <a:rPr lang="en-US" sz="8670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Biology</a:t>
            </a:r>
            <a:r>
              <a:rPr lang="en-US" sz="8670" spc="-416">
                <a:solidFill>
                  <a:srgbClr val="EB624A"/>
                </a:solidFill>
                <a:latin typeface="Aileron"/>
                <a:ea typeface="Aileron"/>
                <a:cs typeface="Aileron"/>
                <a:sym typeface="Aileron"/>
              </a:rPr>
              <a:t> Same </a:t>
            </a:r>
            <a:r>
              <a:rPr lang="en-US" sz="8670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Nutrition.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97085"/>
            <a:ext cx="15588990" cy="97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Nutrition guidance is built on population averages that miss individual cycle variability, cycle length, symptoms, and hormonal response differ significantly from person to person.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63907" y="3803430"/>
            <a:ext cx="3179726" cy="2533022"/>
            <a:chOff x="0" y="0"/>
            <a:chExt cx="930158" cy="7409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0158" cy="740979"/>
            </a:xfrm>
            <a:custGeom>
              <a:avLst/>
              <a:gdLst/>
              <a:ahLst/>
              <a:cxnLst/>
              <a:rect r="r" b="b" t="t" l="l"/>
              <a:pathLst>
                <a:path h="740979" w="930158">
                  <a:moveTo>
                    <a:pt x="465079" y="0"/>
                  </a:moveTo>
                  <a:cubicBezTo>
                    <a:pt x="208223" y="0"/>
                    <a:pt x="0" y="165874"/>
                    <a:pt x="0" y="370489"/>
                  </a:cubicBezTo>
                  <a:cubicBezTo>
                    <a:pt x="0" y="575105"/>
                    <a:pt x="208223" y="740979"/>
                    <a:pt x="465079" y="740979"/>
                  </a:cubicBezTo>
                  <a:cubicBezTo>
                    <a:pt x="721935" y="740979"/>
                    <a:pt x="930158" y="575105"/>
                    <a:pt x="930158" y="370489"/>
                  </a:cubicBezTo>
                  <a:cubicBezTo>
                    <a:pt x="930158" y="165874"/>
                    <a:pt x="721935" y="0"/>
                    <a:pt x="465079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7202" y="31367"/>
              <a:ext cx="755753" cy="640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153555" y="3803430"/>
            <a:ext cx="5079660" cy="4419058"/>
            <a:chOff x="0" y="0"/>
            <a:chExt cx="1233433" cy="10730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3432" cy="1073026"/>
            </a:xfrm>
            <a:custGeom>
              <a:avLst/>
              <a:gdLst/>
              <a:ahLst/>
              <a:cxnLst/>
              <a:rect r="r" b="b" t="t" l="l"/>
              <a:pathLst>
                <a:path h="1073026" w="1233432">
                  <a:moveTo>
                    <a:pt x="616716" y="0"/>
                  </a:moveTo>
                  <a:cubicBezTo>
                    <a:pt x="276113" y="0"/>
                    <a:pt x="0" y="240205"/>
                    <a:pt x="0" y="536513"/>
                  </a:cubicBezTo>
                  <a:cubicBezTo>
                    <a:pt x="0" y="832821"/>
                    <a:pt x="276113" y="1073026"/>
                    <a:pt x="616716" y="1073026"/>
                  </a:cubicBezTo>
                  <a:cubicBezTo>
                    <a:pt x="957319" y="1073026"/>
                    <a:pt x="1233432" y="832821"/>
                    <a:pt x="1233432" y="536513"/>
                  </a:cubicBezTo>
                  <a:cubicBezTo>
                    <a:pt x="1233432" y="240205"/>
                    <a:pt x="957319" y="0"/>
                    <a:pt x="616716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15634" y="33921"/>
              <a:ext cx="1002164" cy="938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235735">
            <a:off x="10924021" y="6078846"/>
            <a:ext cx="459068" cy="1921685"/>
          </a:xfrm>
          <a:custGeom>
            <a:avLst/>
            <a:gdLst/>
            <a:ahLst/>
            <a:cxnLst/>
            <a:rect r="r" b="b" t="t" l="l"/>
            <a:pathLst>
              <a:path h="1921685" w="459068">
                <a:moveTo>
                  <a:pt x="0" y="0"/>
                </a:moveTo>
                <a:lnTo>
                  <a:pt x="459068" y="0"/>
                </a:lnTo>
                <a:lnTo>
                  <a:pt x="459068" y="1921685"/>
                </a:lnTo>
                <a:lnTo>
                  <a:pt x="0" y="19216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0510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364982">
            <a:off x="15982179" y="6147719"/>
            <a:ext cx="380828" cy="1936574"/>
          </a:xfrm>
          <a:custGeom>
            <a:avLst/>
            <a:gdLst/>
            <a:ahLst/>
            <a:cxnLst/>
            <a:rect r="r" b="b" t="t" l="l"/>
            <a:pathLst>
              <a:path h="1936574" w="380828">
                <a:moveTo>
                  <a:pt x="0" y="0"/>
                </a:moveTo>
                <a:lnTo>
                  <a:pt x="380828" y="0"/>
                </a:lnTo>
                <a:lnTo>
                  <a:pt x="380828" y="1936573"/>
                </a:lnTo>
                <a:lnTo>
                  <a:pt x="0" y="1936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39853" t="-4279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62405" y="4493776"/>
            <a:ext cx="4461960" cy="2545912"/>
          </a:xfrm>
          <a:custGeom>
            <a:avLst/>
            <a:gdLst/>
            <a:ahLst/>
            <a:cxnLst/>
            <a:rect r="r" b="b" t="t" l="l"/>
            <a:pathLst>
              <a:path h="2545912" w="4461960">
                <a:moveTo>
                  <a:pt x="0" y="0"/>
                </a:moveTo>
                <a:lnTo>
                  <a:pt x="4461960" y="0"/>
                </a:lnTo>
                <a:lnTo>
                  <a:pt x="4461960" y="2545912"/>
                </a:lnTo>
                <a:lnTo>
                  <a:pt x="0" y="2545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83" t="-52277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34643" y="3803430"/>
            <a:ext cx="3179726" cy="2533022"/>
            <a:chOff x="0" y="0"/>
            <a:chExt cx="930158" cy="7409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0158" cy="740979"/>
            </a:xfrm>
            <a:custGeom>
              <a:avLst/>
              <a:gdLst/>
              <a:ahLst/>
              <a:cxnLst/>
              <a:rect r="r" b="b" t="t" l="l"/>
              <a:pathLst>
                <a:path h="740979" w="930158">
                  <a:moveTo>
                    <a:pt x="465079" y="0"/>
                  </a:moveTo>
                  <a:cubicBezTo>
                    <a:pt x="208223" y="0"/>
                    <a:pt x="0" y="165874"/>
                    <a:pt x="0" y="370489"/>
                  </a:cubicBezTo>
                  <a:cubicBezTo>
                    <a:pt x="0" y="575105"/>
                    <a:pt x="208223" y="740979"/>
                    <a:pt x="465079" y="740979"/>
                  </a:cubicBezTo>
                  <a:cubicBezTo>
                    <a:pt x="721935" y="740979"/>
                    <a:pt x="930158" y="575105"/>
                    <a:pt x="930158" y="370489"/>
                  </a:cubicBezTo>
                  <a:cubicBezTo>
                    <a:pt x="930158" y="165874"/>
                    <a:pt x="721935" y="0"/>
                    <a:pt x="465079" y="0"/>
                  </a:cubicBezTo>
                  <a:close/>
                </a:path>
              </a:pathLst>
            </a:custGeom>
            <a:solidFill>
              <a:srgbClr val="289B4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87202" y="31367"/>
              <a:ext cx="755753" cy="640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490868" y="3803430"/>
            <a:ext cx="5079660" cy="4419058"/>
            <a:chOff x="0" y="0"/>
            <a:chExt cx="1233433" cy="10730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3432" cy="1073026"/>
            </a:xfrm>
            <a:custGeom>
              <a:avLst/>
              <a:gdLst/>
              <a:ahLst/>
              <a:cxnLst/>
              <a:rect r="r" b="b" t="t" l="l"/>
              <a:pathLst>
                <a:path h="1073026" w="1233432">
                  <a:moveTo>
                    <a:pt x="616716" y="0"/>
                  </a:moveTo>
                  <a:cubicBezTo>
                    <a:pt x="276113" y="0"/>
                    <a:pt x="0" y="240205"/>
                    <a:pt x="0" y="536513"/>
                  </a:cubicBezTo>
                  <a:cubicBezTo>
                    <a:pt x="0" y="832821"/>
                    <a:pt x="276113" y="1073026"/>
                    <a:pt x="616716" y="1073026"/>
                  </a:cubicBezTo>
                  <a:cubicBezTo>
                    <a:pt x="957319" y="1073026"/>
                    <a:pt x="1233432" y="832821"/>
                    <a:pt x="1233432" y="536513"/>
                  </a:cubicBezTo>
                  <a:cubicBezTo>
                    <a:pt x="1233432" y="240205"/>
                    <a:pt x="957319" y="0"/>
                    <a:pt x="616716" y="0"/>
                  </a:cubicBezTo>
                  <a:close/>
                </a:path>
              </a:pathLst>
            </a:custGeom>
            <a:solidFill>
              <a:srgbClr val="F5F5F5"/>
            </a:solidFill>
            <a:ln w="1143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5634" y="33921"/>
              <a:ext cx="1002164" cy="938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824763" y="5689465"/>
            <a:ext cx="4411869" cy="646986"/>
          </a:xfrm>
          <a:custGeom>
            <a:avLst/>
            <a:gdLst/>
            <a:ahLst/>
            <a:cxnLst/>
            <a:rect r="r" b="b" t="t" l="l"/>
            <a:pathLst>
              <a:path h="646986" w="4411869">
                <a:moveTo>
                  <a:pt x="0" y="0"/>
                </a:moveTo>
                <a:lnTo>
                  <a:pt x="4411869" y="0"/>
                </a:lnTo>
                <a:lnTo>
                  <a:pt x="4411869" y="646987"/>
                </a:lnTo>
                <a:lnTo>
                  <a:pt x="0" y="646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074" t="-181090" r="-40974" b="-57306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235735">
            <a:off x="3282848" y="6155163"/>
            <a:ext cx="459068" cy="1921685"/>
          </a:xfrm>
          <a:custGeom>
            <a:avLst/>
            <a:gdLst/>
            <a:ahLst/>
            <a:cxnLst/>
            <a:rect r="r" b="b" t="t" l="l"/>
            <a:pathLst>
              <a:path h="1921685" w="459068">
                <a:moveTo>
                  <a:pt x="0" y="0"/>
                </a:moveTo>
                <a:lnTo>
                  <a:pt x="459068" y="0"/>
                </a:lnTo>
                <a:lnTo>
                  <a:pt x="459068" y="1921685"/>
                </a:lnTo>
                <a:lnTo>
                  <a:pt x="0" y="19216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405104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1364982">
            <a:off x="8223450" y="6239893"/>
            <a:ext cx="380828" cy="1936574"/>
          </a:xfrm>
          <a:custGeom>
            <a:avLst/>
            <a:gdLst/>
            <a:ahLst/>
            <a:cxnLst/>
            <a:rect r="r" b="b" t="t" l="l"/>
            <a:pathLst>
              <a:path h="1936574" w="380828">
                <a:moveTo>
                  <a:pt x="0" y="0"/>
                </a:moveTo>
                <a:lnTo>
                  <a:pt x="380828" y="0"/>
                </a:lnTo>
                <a:lnTo>
                  <a:pt x="380828" y="1936574"/>
                </a:lnTo>
                <a:lnTo>
                  <a:pt x="0" y="1936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39853" t="-4279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190171" y="8475127"/>
            <a:ext cx="5681054" cy="39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30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Male Hormonal pattern </a:t>
            </a:r>
            <a:r>
              <a:rPr lang="en-US" b="true" sz="3070">
                <a:solidFill>
                  <a:srgbClr val="3A8A24"/>
                </a:solidFill>
                <a:latin typeface="Aileron Bold"/>
                <a:ea typeface="Aileron Bold"/>
                <a:cs typeface="Aileron Bold"/>
                <a:sym typeface="Aileron Bold"/>
              </a:rPr>
              <a:t>28 days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33413" y="8475127"/>
            <a:ext cx="6228457" cy="392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306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Female Hormonal pattern </a:t>
            </a:r>
            <a:r>
              <a:rPr lang="en-US" sz="3069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~</a:t>
            </a:r>
            <a:r>
              <a:rPr lang="en-US" b="true" sz="306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28 days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30573" y="4568778"/>
            <a:ext cx="1917284" cy="104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1"/>
              </a:lnSpc>
            </a:pPr>
            <a:r>
              <a:rPr lang="en-US" sz="271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The </a:t>
            </a:r>
            <a:r>
              <a:rPr lang="en-US" sz="2711" i="true">
                <a:solidFill>
                  <a:srgbClr val="FFFFFF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‘one size fits all diet’...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35742" y="4595345"/>
            <a:ext cx="2226663" cy="97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4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Does not take this into account.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5414" y="9489199"/>
            <a:ext cx="2705621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101010"/>
                </a:solidFill>
                <a:latin typeface="Canva Sans"/>
                <a:ea typeface="Canva Sans"/>
                <a:cs typeface="Canva Sans"/>
                <a:sym typeface="Canva Sans"/>
              </a:rPr>
              <a:t>(Source: FemTech Analytics, 2023)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47309" y="9090475"/>
            <a:ext cx="371960" cy="406160"/>
          </a:xfrm>
          <a:custGeom>
            <a:avLst/>
            <a:gdLst/>
            <a:ahLst/>
            <a:cxnLst/>
            <a:rect r="r" b="b" t="t" l="l"/>
            <a:pathLst>
              <a:path h="406160" w="371960">
                <a:moveTo>
                  <a:pt x="0" y="0"/>
                </a:moveTo>
                <a:lnTo>
                  <a:pt x="371960" y="0"/>
                </a:lnTo>
                <a:lnTo>
                  <a:pt x="371960" y="406160"/>
                </a:lnTo>
                <a:lnTo>
                  <a:pt x="0" y="406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88" t="-12028" r="-17075" b="-120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54070"/>
            <a:ext cx="15794350" cy="207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8799" spc="-422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NutriSync</a:t>
            </a:r>
            <a:r>
              <a:rPr lang="en-US" sz="8799" spc="-422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The Adaptive Cycle Intelligence</a:t>
            </a:r>
            <a:r>
              <a:rPr lang="en-US" sz="8799" spc="-42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87968" y="9492870"/>
            <a:ext cx="1671332" cy="23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7"/>
              </a:lnSpc>
            </a:pPr>
            <a:r>
              <a:rPr lang="en-US" sz="2135" spc="27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NUTRISYNC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79635" y="3359053"/>
            <a:ext cx="2768422" cy="1697459"/>
            <a:chOff x="0" y="0"/>
            <a:chExt cx="3691229" cy="226327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691229" cy="2263279"/>
              <a:chOff x="0" y="0"/>
              <a:chExt cx="812800" cy="49836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498369"/>
              </a:xfrm>
              <a:custGeom>
                <a:avLst/>
                <a:gdLst/>
                <a:ahLst/>
                <a:cxnLst/>
                <a:rect r="r" b="b" t="t" l="l"/>
                <a:pathLst>
                  <a:path h="498369" w="812800">
                    <a:moveTo>
                      <a:pt x="86692" y="0"/>
                    </a:moveTo>
                    <a:lnTo>
                      <a:pt x="726108" y="0"/>
                    </a:lnTo>
                    <a:cubicBezTo>
                      <a:pt x="749100" y="0"/>
                      <a:pt x="771151" y="9134"/>
                      <a:pt x="787409" y="25391"/>
                    </a:cubicBezTo>
                    <a:cubicBezTo>
                      <a:pt x="803666" y="41649"/>
                      <a:pt x="812800" y="63700"/>
                      <a:pt x="812800" y="86692"/>
                    </a:cubicBezTo>
                    <a:lnTo>
                      <a:pt x="812800" y="411677"/>
                    </a:lnTo>
                    <a:cubicBezTo>
                      <a:pt x="812800" y="434669"/>
                      <a:pt x="803666" y="456720"/>
                      <a:pt x="787409" y="472977"/>
                    </a:cubicBezTo>
                    <a:cubicBezTo>
                      <a:pt x="771151" y="489235"/>
                      <a:pt x="749100" y="498369"/>
                      <a:pt x="726108" y="498369"/>
                    </a:cubicBezTo>
                    <a:lnTo>
                      <a:pt x="86692" y="498369"/>
                    </a:lnTo>
                    <a:cubicBezTo>
                      <a:pt x="63700" y="498369"/>
                      <a:pt x="41649" y="489235"/>
                      <a:pt x="25391" y="472977"/>
                    </a:cubicBezTo>
                    <a:cubicBezTo>
                      <a:pt x="9134" y="456720"/>
                      <a:pt x="0" y="434669"/>
                      <a:pt x="0" y="411677"/>
                    </a:cubicBezTo>
                    <a:lnTo>
                      <a:pt x="0" y="86692"/>
                    </a:lnTo>
                    <a:cubicBezTo>
                      <a:pt x="0" y="63700"/>
                      <a:pt x="9134" y="41649"/>
                      <a:pt x="25391" y="25391"/>
                    </a:cubicBezTo>
                    <a:cubicBezTo>
                      <a:pt x="41649" y="9134"/>
                      <a:pt x="63700" y="0"/>
                      <a:pt x="86692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95250"/>
                <a:ext cx="812800" cy="403119"/>
              </a:xfrm>
              <a:prstGeom prst="rect">
                <a:avLst/>
              </a:prstGeom>
            </p:spPr>
            <p:txBody>
              <a:bodyPr anchor="ctr" rtlCol="false" tIns="45571" lIns="45571" bIns="45571" rIns="45571"/>
              <a:lstStyle/>
              <a:p>
                <a:pPr algn="ctr">
                  <a:lnSpc>
                    <a:spcPts val="1537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23432" y="229649"/>
              <a:ext cx="3644365" cy="1822183"/>
            </a:xfrm>
            <a:custGeom>
              <a:avLst/>
              <a:gdLst/>
              <a:ahLst/>
              <a:cxnLst/>
              <a:rect r="r" b="b" t="t" l="l"/>
              <a:pathLst>
                <a:path h="1822183" w="3644365">
                  <a:moveTo>
                    <a:pt x="0" y="0"/>
                  </a:moveTo>
                  <a:lnTo>
                    <a:pt x="3644365" y="0"/>
                  </a:lnTo>
                  <a:lnTo>
                    <a:pt x="3644365" y="1822183"/>
                  </a:lnTo>
                  <a:lnTo>
                    <a:pt x="0" y="1822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361019" y="948835"/>
              <a:ext cx="2969190" cy="896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66"/>
                </a:lnSpc>
              </a:pPr>
              <a:r>
                <a:rPr lang="en-US" sz="1509" spc="-3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Cycle context, symtpoms, </a:t>
              </a:r>
            </a:p>
            <a:p>
              <a:pPr algn="l">
                <a:lnSpc>
                  <a:spcPts val="1766"/>
                </a:lnSpc>
              </a:pPr>
              <a:r>
                <a:rPr lang="en-US" sz="1509" spc="-3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nutrition/movement logs, </a:t>
              </a:r>
            </a:p>
            <a:p>
              <a:pPr algn="l">
                <a:lnSpc>
                  <a:spcPts val="1766"/>
                </a:lnSpc>
              </a:pPr>
              <a:r>
                <a:rPr lang="en-US" sz="1509" spc="-3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biometrics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133011" y="299505"/>
              <a:ext cx="1425206" cy="635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8"/>
                </a:lnSpc>
                <a:spcBef>
                  <a:spcPct val="0"/>
                </a:spcBef>
              </a:pPr>
              <a:r>
                <a:rPr lang="en-US" b="true" sz="292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Sense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198381" y="3359053"/>
            <a:ext cx="2768422" cy="1697459"/>
            <a:chOff x="0" y="0"/>
            <a:chExt cx="3691229" cy="226327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691229" cy="2263279"/>
              <a:chOff x="0" y="0"/>
              <a:chExt cx="812800" cy="49836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498369"/>
              </a:xfrm>
              <a:custGeom>
                <a:avLst/>
                <a:gdLst/>
                <a:ahLst/>
                <a:cxnLst/>
                <a:rect r="r" b="b" t="t" l="l"/>
                <a:pathLst>
                  <a:path h="498369" w="812800">
                    <a:moveTo>
                      <a:pt x="86692" y="0"/>
                    </a:moveTo>
                    <a:lnTo>
                      <a:pt x="726108" y="0"/>
                    </a:lnTo>
                    <a:cubicBezTo>
                      <a:pt x="749100" y="0"/>
                      <a:pt x="771151" y="9134"/>
                      <a:pt x="787409" y="25391"/>
                    </a:cubicBezTo>
                    <a:cubicBezTo>
                      <a:pt x="803666" y="41649"/>
                      <a:pt x="812800" y="63700"/>
                      <a:pt x="812800" y="86692"/>
                    </a:cubicBezTo>
                    <a:lnTo>
                      <a:pt x="812800" y="411677"/>
                    </a:lnTo>
                    <a:cubicBezTo>
                      <a:pt x="812800" y="434669"/>
                      <a:pt x="803666" y="456720"/>
                      <a:pt x="787409" y="472977"/>
                    </a:cubicBezTo>
                    <a:cubicBezTo>
                      <a:pt x="771151" y="489235"/>
                      <a:pt x="749100" y="498369"/>
                      <a:pt x="726108" y="498369"/>
                    </a:cubicBezTo>
                    <a:lnTo>
                      <a:pt x="86692" y="498369"/>
                    </a:lnTo>
                    <a:cubicBezTo>
                      <a:pt x="63700" y="498369"/>
                      <a:pt x="41649" y="489235"/>
                      <a:pt x="25391" y="472977"/>
                    </a:cubicBezTo>
                    <a:cubicBezTo>
                      <a:pt x="9134" y="456720"/>
                      <a:pt x="0" y="434669"/>
                      <a:pt x="0" y="411677"/>
                    </a:cubicBezTo>
                    <a:lnTo>
                      <a:pt x="0" y="86692"/>
                    </a:lnTo>
                    <a:cubicBezTo>
                      <a:pt x="0" y="63700"/>
                      <a:pt x="9134" y="41649"/>
                      <a:pt x="25391" y="25391"/>
                    </a:cubicBezTo>
                    <a:cubicBezTo>
                      <a:pt x="41649" y="9134"/>
                      <a:pt x="63700" y="0"/>
                      <a:pt x="86692" y="0"/>
                    </a:cubicBezTo>
                    <a:close/>
                  </a:path>
                </a:pathLst>
              </a:custGeom>
              <a:solidFill>
                <a:srgbClr val="FF004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95250"/>
                <a:ext cx="812800" cy="403119"/>
              </a:xfrm>
              <a:prstGeom prst="rect">
                <a:avLst/>
              </a:prstGeom>
            </p:spPr>
            <p:txBody>
              <a:bodyPr anchor="ctr" rtlCol="false" tIns="45571" lIns="45571" bIns="45571" rIns="45571"/>
              <a:lstStyle/>
              <a:p>
                <a:pPr algn="ctr">
                  <a:lnSpc>
                    <a:spcPts val="1537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029101" y="324227"/>
              <a:ext cx="1633027" cy="1633027"/>
            </a:xfrm>
            <a:custGeom>
              <a:avLst/>
              <a:gdLst/>
              <a:ahLst/>
              <a:cxnLst/>
              <a:rect r="r" b="b" t="t" l="l"/>
              <a:pathLst>
                <a:path h="1633027" w="1633027">
                  <a:moveTo>
                    <a:pt x="0" y="0"/>
                  </a:moveTo>
                  <a:lnTo>
                    <a:pt x="1633027" y="0"/>
                  </a:lnTo>
                  <a:lnTo>
                    <a:pt x="1633027" y="1633027"/>
                  </a:lnTo>
                  <a:lnTo>
                    <a:pt x="0" y="163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812086" y="337163"/>
              <a:ext cx="2067057" cy="635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8"/>
                </a:lnSpc>
                <a:spcBef>
                  <a:spcPct val="0"/>
                </a:spcBef>
              </a:pPr>
              <a:r>
                <a:rPr lang="en-US" b="true" sz="292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Interpret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757443" y="948835"/>
              <a:ext cx="2542788" cy="896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66"/>
                </a:lnSpc>
              </a:pPr>
              <a:r>
                <a:rPr lang="en-US" sz="1509" spc="-3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Builds this person’s own baseline - not a population average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21197" y="3359053"/>
            <a:ext cx="2768422" cy="1697459"/>
            <a:chOff x="0" y="0"/>
            <a:chExt cx="3691229" cy="226327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691229" cy="2263279"/>
              <a:chOff x="0" y="0"/>
              <a:chExt cx="812800" cy="49836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498369"/>
              </a:xfrm>
              <a:custGeom>
                <a:avLst/>
                <a:gdLst/>
                <a:ahLst/>
                <a:cxnLst/>
                <a:rect r="r" b="b" t="t" l="l"/>
                <a:pathLst>
                  <a:path h="498369" w="812800">
                    <a:moveTo>
                      <a:pt x="86692" y="0"/>
                    </a:moveTo>
                    <a:lnTo>
                      <a:pt x="726108" y="0"/>
                    </a:lnTo>
                    <a:cubicBezTo>
                      <a:pt x="749100" y="0"/>
                      <a:pt x="771151" y="9134"/>
                      <a:pt x="787409" y="25391"/>
                    </a:cubicBezTo>
                    <a:cubicBezTo>
                      <a:pt x="803666" y="41649"/>
                      <a:pt x="812800" y="63700"/>
                      <a:pt x="812800" y="86692"/>
                    </a:cubicBezTo>
                    <a:lnTo>
                      <a:pt x="812800" y="411677"/>
                    </a:lnTo>
                    <a:cubicBezTo>
                      <a:pt x="812800" y="434669"/>
                      <a:pt x="803666" y="456720"/>
                      <a:pt x="787409" y="472977"/>
                    </a:cubicBezTo>
                    <a:cubicBezTo>
                      <a:pt x="771151" y="489235"/>
                      <a:pt x="749100" y="498369"/>
                      <a:pt x="726108" y="498369"/>
                    </a:cubicBezTo>
                    <a:lnTo>
                      <a:pt x="86692" y="498369"/>
                    </a:lnTo>
                    <a:cubicBezTo>
                      <a:pt x="63700" y="498369"/>
                      <a:pt x="41649" y="489235"/>
                      <a:pt x="25391" y="472977"/>
                    </a:cubicBezTo>
                    <a:cubicBezTo>
                      <a:pt x="9134" y="456720"/>
                      <a:pt x="0" y="434669"/>
                      <a:pt x="0" y="411677"/>
                    </a:cubicBezTo>
                    <a:lnTo>
                      <a:pt x="0" y="86692"/>
                    </a:lnTo>
                    <a:cubicBezTo>
                      <a:pt x="0" y="63700"/>
                      <a:pt x="9134" y="41649"/>
                      <a:pt x="25391" y="25391"/>
                    </a:cubicBezTo>
                    <a:cubicBezTo>
                      <a:pt x="41649" y="9134"/>
                      <a:pt x="63700" y="0"/>
                      <a:pt x="86692" y="0"/>
                    </a:cubicBezTo>
                    <a:close/>
                  </a:path>
                </a:pathLst>
              </a:custGeom>
              <a:solidFill>
                <a:srgbClr val="FF8E05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95250"/>
                <a:ext cx="812800" cy="403119"/>
              </a:xfrm>
              <a:prstGeom prst="rect">
                <a:avLst/>
              </a:prstGeom>
            </p:spPr>
            <p:txBody>
              <a:bodyPr anchor="ctr" rtlCol="false" tIns="45571" lIns="45571" bIns="45571" rIns="45571"/>
              <a:lstStyle/>
              <a:p>
                <a:pPr algn="ctr">
                  <a:lnSpc>
                    <a:spcPts val="1537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922887" y="367361"/>
              <a:ext cx="1615053" cy="1477773"/>
            </a:xfrm>
            <a:custGeom>
              <a:avLst/>
              <a:gdLst/>
              <a:ahLst/>
              <a:cxnLst/>
              <a:rect r="r" b="b" t="t" l="l"/>
              <a:pathLst>
                <a:path h="1477773" w="1615053">
                  <a:moveTo>
                    <a:pt x="0" y="0"/>
                  </a:moveTo>
                  <a:lnTo>
                    <a:pt x="1615053" y="0"/>
                  </a:lnTo>
                  <a:lnTo>
                    <a:pt x="1615053" y="1477773"/>
                  </a:lnTo>
                  <a:lnTo>
                    <a:pt x="0" y="1477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361019" y="337163"/>
              <a:ext cx="3004125" cy="635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8"/>
                </a:lnSpc>
                <a:spcBef>
                  <a:spcPct val="0"/>
                </a:spcBef>
              </a:pPr>
              <a:r>
                <a:rPr lang="en-US" b="true" sz="292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Recommend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61019" y="948835"/>
              <a:ext cx="2969190" cy="896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66"/>
                </a:lnSpc>
              </a:pPr>
              <a:r>
                <a:rPr lang="en-US" sz="1509" spc="-3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Daily Nutrition and Movement guidance for this specific person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39944" y="3359053"/>
            <a:ext cx="2768422" cy="1697459"/>
            <a:chOff x="0" y="0"/>
            <a:chExt cx="3691229" cy="2263279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691229" cy="2263279"/>
              <a:chOff x="0" y="0"/>
              <a:chExt cx="812800" cy="49836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498369"/>
              </a:xfrm>
              <a:custGeom>
                <a:avLst/>
                <a:gdLst/>
                <a:ahLst/>
                <a:cxnLst/>
                <a:rect r="r" b="b" t="t" l="l"/>
                <a:pathLst>
                  <a:path h="498369" w="812800">
                    <a:moveTo>
                      <a:pt x="86692" y="0"/>
                    </a:moveTo>
                    <a:lnTo>
                      <a:pt x="726108" y="0"/>
                    </a:lnTo>
                    <a:cubicBezTo>
                      <a:pt x="749100" y="0"/>
                      <a:pt x="771151" y="9134"/>
                      <a:pt x="787409" y="25391"/>
                    </a:cubicBezTo>
                    <a:cubicBezTo>
                      <a:pt x="803666" y="41649"/>
                      <a:pt x="812800" y="63700"/>
                      <a:pt x="812800" y="86692"/>
                    </a:cubicBezTo>
                    <a:lnTo>
                      <a:pt x="812800" y="411677"/>
                    </a:lnTo>
                    <a:cubicBezTo>
                      <a:pt x="812800" y="434669"/>
                      <a:pt x="803666" y="456720"/>
                      <a:pt x="787409" y="472977"/>
                    </a:cubicBezTo>
                    <a:cubicBezTo>
                      <a:pt x="771151" y="489235"/>
                      <a:pt x="749100" y="498369"/>
                      <a:pt x="726108" y="498369"/>
                    </a:cubicBezTo>
                    <a:lnTo>
                      <a:pt x="86692" y="498369"/>
                    </a:lnTo>
                    <a:cubicBezTo>
                      <a:pt x="63700" y="498369"/>
                      <a:pt x="41649" y="489235"/>
                      <a:pt x="25391" y="472977"/>
                    </a:cubicBezTo>
                    <a:cubicBezTo>
                      <a:pt x="9134" y="456720"/>
                      <a:pt x="0" y="434669"/>
                      <a:pt x="0" y="411677"/>
                    </a:cubicBezTo>
                    <a:lnTo>
                      <a:pt x="0" y="86692"/>
                    </a:lnTo>
                    <a:cubicBezTo>
                      <a:pt x="0" y="63700"/>
                      <a:pt x="9134" y="41649"/>
                      <a:pt x="25391" y="25391"/>
                    </a:cubicBezTo>
                    <a:cubicBezTo>
                      <a:pt x="41649" y="9134"/>
                      <a:pt x="63700" y="0"/>
                      <a:pt x="86692" y="0"/>
                    </a:cubicBezTo>
                    <a:close/>
                  </a:path>
                </a:pathLst>
              </a:custGeom>
              <a:solidFill>
                <a:srgbClr val="398B24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95250"/>
                <a:ext cx="812800" cy="403119"/>
              </a:xfrm>
              <a:prstGeom prst="rect">
                <a:avLst/>
              </a:prstGeom>
            </p:spPr>
            <p:txBody>
              <a:bodyPr anchor="ctr" rtlCol="false" tIns="45571" lIns="45571" bIns="45571" rIns="45571"/>
              <a:lstStyle/>
              <a:p>
                <a:pPr algn="ctr">
                  <a:lnSpc>
                    <a:spcPts val="1537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5757583">
              <a:off x="1000299" y="396855"/>
              <a:ext cx="1475813" cy="1475813"/>
            </a:xfrm>
            <a:custGeom>
              <a:avLst/>
              <a:gdLst/>
              <a:ahLst/>
              <a:cxnLst/>
              <a:rect r="r" b="b" t="t" l="l"/>
              <a:pathLst>
                <a:path h="1475813" w="1475813">
                  <a:moveTo>
                    <a:pt x="0" y="0"/>
                  </a:moveTo>
                  <a:lnTo>
                    <a:pt x="1475812" y="0"/>
                  </a:lnTo>
                  <a:lnTo>
                    <a:pt x="1475812" y="1475813"/>
                  </a:lnTo>
                  <a:lnTo>
                    <a:pt x="0" y="14758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1105090" y="337163"/>
              <a:ext cx="1357371" cy="635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8"/>
                </a:lnSpc>
                <a:spcBef>
                  <a:spcPct val="0"/>
                </a:spcBef>
              </a:pPr>
              <a:r>
                <a:rPr lang="en-US" b="true" sz="292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Learn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48263" y="948835"/>
              <a:ext cx="2594703" cy="896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66"/>
                </a:lnSpc>
              </a:pPr>
              <a:r>
                <a:rPr lang="en-US" sz="1509" spc="-3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Measures whether it worked, recalibrates for the next cycle</a:t>
              </a:r>
            </a:p>
          </p:txBody>
        </p:sp>
      </p:grpSp>
      <p:sp>
        <p:nvSpPr>
          <p:cNvPr name="Freeform 33" id="33"/>
          <p:cNvSpPr/>
          <p:nvPr/>
        </p:nvSpPr>
        <p:spPr>
          <a:xfrm>
            <a:off x="4463846" y="5056512"/>
            <a:ext cx="9338262" cy="499571"/>
          </a:xfrm>
          <a:custGeom>
            <a:avLst/>
            <a:gdLst/>
            <a:ahLst/>
            <a:cxnLst/>
            <a:rect r="r" b="b" t="t" l="l"/>
            <a:pathLst>
              <a:path h="499571" w="9338262">
                <a:moveTo>
                  <a:pt x="0" y="0"/>
                </a:moveTo>
                <a:lnTo>
                  <a:pt x="0" y="290021"/>
                </a:lnTo>
                <a:cubicBezTo>
                  <a:pt x="0" y="345597"/>
                  <a:pt x="22077" y="398897"/>
                  <a:pt x="61375" y="438196"/>
                </a:cubicBezTo>
                <a:cubicBezTo>
                  <a:pt x="100674" y="477494"/>
                  <a:pt x="153974" y="499571"/>
                  <a:pt x="209550" y="499571"/>
                </a:cubicBezTo>
                <a:lnTo>
                  <a:pt x="9133665" y="499571"/>
                </a:lnTo>
                <a:cubicBezTo>
                  <a:pt x="9187927" y="499571"/>
                  <a:pt x="9239967" y="478016"/>
                  <a:pt x="9278337" y="439646"/>
                </a:cubicBezTo>
                <a:cubicBezTo>
                  <a:pt x="9316707" y="401277"/>
                  <a:pt x="9338262" y="349237"/>
                  <a:pt x="9338262" y="294975"/>
                </a:cubicBezTo>
                <a:lnTo>
                  <a:pt x="9338262" y="90378"/>
                </a:lnTo>
              </a:path>
            </a:pathLst>
          </a:custGeom>
          <a:ln cap="flat" w="47625">
            <a:solidFill>
              <a:srgbClr val="000000"/>
            </a:solidFill>
            <a:prstDash val="sysDash"/>
            <a:headEnd type="triangle" len="med" w="lg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5848056" y="4207783"/>
            <a:ext cx="3503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>
            <a:off x="8966803" y="4207783"/>
            <a:ext cx="35439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 flipV="true">
            <a:off x="12089619" y="4207783"/>
            <a:ext cx="3503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7" id="37"/>
          <p:cNvSpPr txBox="true"/>
          <p:nvPr/>
        </p:nvSpPr>
        <p:spPr>
          <a:xfrm rot="0">
            <a:off x="7243644" y="5912431"/>
            <a:ext cx="3981008" cy="32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  <a:spcBef>
                <a:spcPct val="0"/>
              </a:spcBef>
            </a:pPr>
            <a:r>
              <a:rPr lang="en-US" sz="1915" i="true">
                <a:solidFill>
                  <a:srgbClr val="FFFFFF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recalibrates every cycle, not just once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8840913" y="5751852"/>
            <a:ext cx="3487777" cy="3487777"/>
          </a:xfrm>
          <a:custGeom>
            <a:avLst/>
            <a:gdLst/>
            <a:ahLst/>
            <a:cxnLst/>
            <a:rect r="r" b="b" t="t" l="l"/>
            <a:pathLst>
              <a:path h="3487777" w="3487777">
                <a:moveTo>
                  <a:pt x="0" y="0"/>
                </a:moveTo>
                <a:lnTo>
                  <a:pt x="3487777" y="0"/>
                </a:lnTo>
                <a:lnTo>
                  <a:pt x="3487777" y="3487777"/>
                </a:lnTo>
                <a:lnTo>
                  <a:pt x="0" y="348777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165696" y="5751852"/>
            <a:ext cx="3397396" cy="3397396"/>
          </a:xfrm>
          <a:custGeom>
            <a:avLst/>
            <a:gdLst/>
            <a:ahLst/>
            <a:cxnLst/>
            <a:rect r="r" b="b" t="t" l="l"/>
            <a:pathLst>
              <a:path h="3397396" w="3397396">
                <a:moveTo>
                  <a:pt x="0" y="0"/>
                </a:moveTo>
                <a:lnTo>
                  <a:pt x="3397396" y="0"/>
                </a:lnTo>
                <a:lnTo>
                  <a:pt x="3397396" y="3397396"/>
                </a:lnTo>
                <a:lnTo>
                  <a:pt x="0" y="33973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6884075" y="6560948"/>
            <a:ext cx="1848262" cy="1848262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1300">
                    <a:alpha val="100000"/>
                  </a:srgbClr>
                </a:gs>
                <a:gs pos="100000">
                  <a:srgbClr val="FF00A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80975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42612" lIns="42612" bIns="42612" rIns="42612"/>
            <a:lstStyle/>
            <a:p>
              <a:pPr algn="ctr">
                <a:lnSpc>
                  <a:spcPts val="1537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261152" y="7002333"/>
            <a:ext cx="1032048" cy="92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b="true" sz="179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Cycle </a:t>
            </a:r>
          </a:p>
          <a:p>
            <a:pPr algn="ctr">
              <a:lnSpc>
                <a:spcPts val="2508"/>
              </a:lnSpc>
            </a:pPr>
            <a:r>
              <a:rPr lang="en-US" b="true" sz="179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Aligment </a:t>
            </a:r>
          </a:p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b="true" sz="179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Score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660670" y="6558514"/>
            <a:ext cx="1848262" cy="1848262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1300">
                    <a:alpha val="100000"/>
                  </a:srgbClr>
                </a:gs>
                <a:gs pos="100000">
                  <a:srgbClr val="FF00A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80975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42612" lIns="42612" bIns="42612" rIns="42612"/>
            <a:lstStyle/>
            <a:p>
              <a:pPr algn="ctr">
                <a:lnSpc>
                  <a:spcPts val="1537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117808" y="6999899"/>
            <a:ext cx="933986" cy="92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b="true" sz="179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Cycle </a:t>
            </a:r>
          </a:p>
          <a:p>
            <a:pPr algn="ctr">
              <a:lnSpc>
                <a:spcPts val="2508"/>
              </a:lnSpc>
            </a:pPr>
            <a:r>
              <a:rPr lang="en-US" b="true" sz="179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Stability </a:t>
            </a:r>
          </a:p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b="true" sz="179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Score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009604" y="6062592"/>
            <a:ext cx="4482376" cy="30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b="true" sz="1791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1791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WO OUTPUTS, UPDATED EVERY CYCLE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595201" y="8652818"/>
            <a:ext cx="2436082" cy="43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715" i="true">
                <a:solidFill>
                  <a:srgbClr val="FF0000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Do today’s actions fit</a:t>
            </a:r>
          </a:p>
          <a:p>
            <a:pPr algn="ctr">
              <a:lnSpc>
                <a:spcPts val="1681"/>
              </a:lnSpc>
            </a:pPr>
            <a:r>
              <a:rPr lang="en-US" sz="1715" i="true">
                <a:solidFill>
                  <a:srgbClr val="FF0000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this person’s context?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144000" y="8652818"/>
            <a:ext cx="2769017" cy="43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715" i="true">
                <a:solidFill>
                  <a:srgbClr val="FF0000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Are outcomes getting more predictable over cycles?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670723" y="9388589"/>
            <a:ext cx="6946554" cy="22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b="true" sz="1715" i="true">
                <a:solidFill>
                  <a:srgbClr val="FF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Phase is context. Individual Response is the intelligence.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30897" y="7780147"/>
            <a:ext cx="4837221" cy="147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199" b="true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Personalized </a:t>
            </a:r>
            <a:r>
              <a:rPr lang="en-US" sz="2199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Adaption</a:t>
            </a:r>
          </a:p>
          <a:p>
            <a:pPr algn="l">
              <a:lnSpc>
                <a:spcPts val="2925"/>
              </a:lnSpc>
            </a:pPr>
            <a:r>
              <a:rPr lang="en-US" sz="2199" b="true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Grounded</a:t>
            </a:r>
            <a:r>
              <a:rPr lang="en-US" sz="2199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 in physiological research on hormone linked variation</a:t>
            </a:r>
          </a:p>
          <a:p>
            <a:pPr algn="l">
              <a:lnSpc>
                <a:spcPts val="2925"/>
              </a:lnSpc>
            </a:pPr>
            <a:r>
              <a:rPr lang="en-US" sz="2199" b="true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Privacy by Design</a:t>
            </a:r>
          </a:p>
        </p:txBody>
      </p:sp>
      <p:sp>
        <p:nvSpPr>
          <p:cNvPr name="AutoShape 53" id="53"/>
          <p:cNvSpPr/>
          <p:nvPr/>
        </p:nvSpPr>
        <p:spPr>
          <a:xfrm flipV="true">
            <a:off x="1062037" y="7790051"/>
            <a:ext cx="0" cy="1449578"/>
          </a:xfrm>
          <a:prstGeom prst="line">
            <a:avLst/>
          </a:prstGeom>
          <a:ln cap="flat" w="66675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1152" y="3734449"/>
            <a:ext cx="16137972" cy="5528786"/>
            <a:chOff x="0" y="0"/>
            <a:chExt cx="21517296" cy="737171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0">
              <a:off x="-2151730" y="-2151730"/>
              <a:ext cx="25820755" cy="11675174"/>
            </a:xfrm>
            <a:prstGeom prst="rect">
              <a:avLst/>
            </a:prstGeom>
          </p:spPr>
        </p:pic>
        <p:sp>
          <p:nvSpPr>
            <p:cNvPr name="TextBox 4" id="4"/>
            <p:cNvSpPr txBox="true"/>
            <p:nvPr/>
          </p:nvSpPr>
          <p:spPr>
            <a:xfrm rot="0">
              <a:off x="2148782" y="3187695"/>
              <a:ext cx="807225" cy="374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52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962865" y="3010558"/>
              <a:ext cx="807225" cy="374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52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776948" y="2833420"/>
              <a:ext cx="807225" cy="374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52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-5400000">
              <a:off x="-1965331" y="3497546"/>
              <a:ext cx="5175414" cy="299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0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57389" y="3211913"/>
            <a:ext cx="2875397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CAGR:</a:t>
            </a:r>
            <a:r>
              <a:rPr lang="en-US" b="true" sz="2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20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7389" y="3546557"/>
            <a:ext cx="2156668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2033:</a:t>
            </a:r>
            <a:r>
              <a:rPr lang="en-US" b="true" sz="2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20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$7.7Bn</a:t>
            </a:r>
            <a:r>
              <a:rPr lang="en-US" b="true" sz="2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3357" y="9490495"/>
            <a:ext cx="10225949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Sources: (Grand View Reaserch, June 2026)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276350"/>
            <a:ext cx="15617679" cy="106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70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Menstrual Health Apps Market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452408"/>
            <a:ext cx="10807183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Menstrual health apps market ≠ NutriSync's addressable market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4478693" y="5376584"/>
            <a:ext cx="753296" cy="481723"/>
            <a:chOff x="0" y="0"/>
            <a:chExt cx="694408" cy="444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0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4478693" y="5927092"/>
            <a:ext cx="753296" cy="481723"/>
            <a:chOff x="0" y="0"/>
            <a:chExt cx="694408" cy="4440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0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1482370" y="5377213"/>
            <a:ext cx="753296" cy="481723"/>
            <a:chOff x="0" y="0"/>
            <a:chExt cx="694408" cy="4440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05"/>
            </a:solidFill>
            <a:ln w="76200" cap="sq">
              <a:solidFill>
                <a:srgbClr val="FF8E0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1482370" y="5927092"/>
            <a:ext cx="753296" cy="481723"/>
            <a:chOff x="0" y="0"/>
            <a:chExt cx="694408" cy="4440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ln w="76200" cap="sq">
              <a:solidFill>
                <a:srgbClr val="FF8E0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8488109" y="4284447"/>
            <a:ext cx="753296" cy="481723"/>
            <a:chOff x="0" y="0"/>
            <a:chExt cx="694408" cy="4440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4D"/>
            </a:solidFill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8475367" y="5939736"/>
            <a:ext cx="753296" cy="481723"/>
            <a:chOff x="0" y="0"/>
            <a:chExt cx="694408" cy="4440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ln w="76200" cap="sq">
              <a:solidFill>
                <a:srgbClr val="FF8E0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8488109" y="3724147"/>
            <a:ext cx="753296" cy="481723"/>
            <a:chOff x="0" y="0"/>
            <a:chExt cx="694408" cy="4440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4D"/>
            </a:solidFill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5949" y="5226096"/>
            <a:ext cx="6461628" cy="1331150"/>
            <a:chOff x="0" y="0"/>
            <a:chExt cx="1701828" cy="3505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1828" cy="350591"/>
            </a:xfrm>
            <a:custGeom>
              <a:avLst/>
              <a:gdLst/>
              <a:ahLst/>
              <a:cxnLst/>
              <a:rect r="r" b="b" t="t" l="l"/>
              <a:pathLst>
                <a:path h="350591" w="1701828">
                  <a:moveTo>
                    <a:pt x="0" y="0"/>
                  </a:moveTo>
                  <a:lnTo>
                    <a:pt x="1701828" y="0"/>
                  </a:lnTo>
                  <a:lnTo>
                    <a:pt x="1701828" y="350591"/>
                  </a:lnTo>
                  <a:lnTo>
                    <a:pt x="0" y="350591"/>
                  </a:lnTo>
                  <a:close/>
                </a:path>
              </a:pathLst>
            </a:custGeom>
            <a:solidFill>
              <a:srgbClr val="FF8E0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701828" cy="398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46842" y="2954864"/>
            <a:ext cx="1945031" cy="499421"/>
            <a:chOff x="0" y="0"/>
            <a:chExt cx="2593374" cy="6658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47931"/>
              <a:ext cx="911741" cy="370032"/>
            </a:xfrm>
            <a:custGeom>
              <a:avLst/>
              <a:gdLst/>
              <a:ahLst/>
              <a:cxnLst/>
              <a:rect r="r" b="b" t="t" l="l"/>
              <a:pathLst>
                <a:path h="370032" w="911741">
                  <a:moveTo>
                    <a:pt x="0" y="0"/>
                  </a:moveTo>
                  <a:lnTo>
                    <a:pt x="911741" y="0"/>
                  </a:lnTo>
                  <a:lnTo>
                    <a:pt x="911741" y="370033"/>
                  </a:lnTo>
                  <a:lnTo>
                    <a:pt x="0" y="370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58" r="0" b="-2358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32359" y="80744"/>
              <a:ext cx="504407" cy="504407"/>
            </a:xfrm>
            <a:custGeom>
              <a:avLst/>
              <a:gdLst/>
              <a:ahLst/>
              <a:cxnLst/>
              <a:rect r="r" b="b" t="t" l="l"/>
              <a:pathLst>
                <a:path h="504407" w="504407">
                  <a:moveTo>
                    <a:pt x="0" y="0"/>
                  </a:moveTo>
                  <a:lnTo>
                    <a:pt x="504408" y="0"/>
                  </a:lnTo>
                  <a:lnTo>
                    <a:pt x="504408" y="504407"/>
                  </a:lnTo>
                  <a:lnTo>
                    <a:pt x="0" y="504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7385" y="0"/>
              <a:ext cx="735989" cy="665895"/>
            </a:xfrm>
            <a:custGeom>
              <a:avLst/>
              <a:gdLst/>
              <a:ahLst/>
              <a:cxnLst/>
              <a:rect r="r" b="b" t="t" l="l"/>
              <a:pathLst>
                <a:path h="665895" w="735989">
                  <a:moveTo>
                    <a:pt x="0" y="0"/>
                  </a:moveTo>
                  <a:lnTo>
                    <a:pt x="735989" y="0"/>
                  </a:lnTo>
                  <a:lnTo>
                    <a:pt x="735989" y="665895"/>
                  </a:lnTo>
                  <a:lnTo>
                    <a:pt x="0" y="665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177081" y="3041303"/>
            <a:ext cx="3363876" cy="364443"/>
            <a:chOff x="0" y="0"/>
            <a:chExt cx="4485168" cy="4859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5924" cy="485924"/>
            </a:xfrm>
            <a:custGeom>
              <a:avLst/>
              <a:gdLst/>
              <a:ahLst/>
              <a:cxnLst/>
              <a:rect r="r" b="b" t="t" l="l"/>
              <a:pathLst>
                <a:path h="485924" w="485924">
                  <a:moveTo>
                    <a:pt x="0" y="0"/>
                  </a:moveTo>
                  <a:lnTo>
                    <a:pt x="485924" y="0"/>
                  </a:lnTo>
                  <a:lnTo>
                    <a:pt x="485924" y="485924"/>
                  </a:lnTo>
                  <a:lnTo>
                    <a:pt x="0" y="485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4030970" y="6335"/>
              <a:ext cx="454198" cy="473255"/>
            </a:xfrm>
            <a:custGeom>
              <a:avLst/>
              <a:gdLst/>
              <a:ahLst/>
              <a:cxnLst/>
              <a:rect r="r" b="b" t="t" l="l"/>
              <a:pathLst>
                <a:path h="473255" w="454198">
                  <a:moveTo>
                    <a:pt x="0" y="0"/>
                  </a:moveTo>
                  <a:lnTo>
                    <a:pt x="454198" y="0"/>
                  </a:lnTo>
                  <a:lnTo>
                    <a:pt x="454198" y="473255"/>
                  </a:lnTo>
                  <a:lnTo>
                    <a:pt x="0" y="473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707520" y="53945"/>
              <a:ext cx="1047196" cy="378034"/>
            </a:xfrm>
            <a:custGeom>
              <a:avLst/>
              <a:gdLst/>
              <a:ahLst/>
              <a:cxnLst/>
              <a:rect r="r" b="b" t="t" l="l"/>
              <a:pathLst>
                <a:path h="378034" w="1047196">
                  <a:moveTo>
                    <a:pt x="0" y="0"/>
                  </a:moveTo>
                  <a:lnTo>
                    <a:pt x="1047196" y="0"/>
                  </a:lnTo>
                  <a:lnTo>
                    <a:pt x="1047196" y="378034"/>
                  </a:lnTo>
                  <a:lnTo>
                    <a:pt x="0" y="37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327899" y="15863"/>
              <a:ext cx="481475" cy="454198"/>
            </a:xfrm>
            <a:custGeom>
              <a:avLst/>
              <a:gdLst/>
              <a:ahLst/>
              <a:cxnLst/>
              <a:rect r="r" b="b" t="t" l="l"/>
              <a:pathLst>
                <a:path h="454198" w="481475">
                  <a:moveTo>
                    <a:pt x="0" y="0"/>
                  </a:moveTo>
                  <a:lnTo>
                    <a:pt x="481475" y="0"/>
                  </a:lnTo>
                  <a:lnTo>
                    <a:pt x="481475" y="454198"/>
                  </a:lnTo>
                  <a:lnTo>
                    <a:pt x="0" y="454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822" t="-11483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652105" y="15863"/>
              <a:ext cx="454198" cy="454198"/>
            </a:xfrm>
            <a:custGeom>
              <a:avLst/>
              <a:gdLst/>
              <a:ahLst/>
              <a:cxnLst/>
              <a:rect r="r" b="b" t="t" l="l"/>
              <a:pathLst>
                <a:path h="454198" w="454198">
                  <a:moveTo>
                    <a:pt x="0" y="0"/>
                  </a:moveTo>
                  <a:lnTo>
                    <a:pt x="454199" y="0"/>
                  </a:lnTo>
                  <a:lnTo>
                    <a:pt x="454199" y="454198"/>
                  </a:lnTo>
                  <a:lnTo>
                    <a:pt x="0" y="454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976312" y="15863"/>
              <a:ext cx="454198" cy="454198"/>
            </a:xfrm>
            <a:custGeom>
              <a:avLst/>
              <a:gdLst/>
              <a:ahLst/>
              <a:cxnLst/>
              <a:rect r="r" b="b" t="t" l="l"/>
              <a:pathLst>
                <a:path h="454198" w="454198">
                  <a:moveTo>
                    <a:pt x="0" y="0"/>
                  </a:moveTo>
                  <a:lnTo>
                    <a:pt x="454198" y="0"/>
                  </a:lnTo>
                  <a:lnTo>
                    <a:pt x="454198" y="454198"/>
                  </a:lnTo>
                  <a:lnTo>
                    <a:pt x="0" y="454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8755721" y="7691939"/>
            <a:ext cx="1636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3A8A2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485949" y="7003568"/>
            <a:ext cx="6460893" cy="1268761"/>
            <a:chOff x="0" y="0"/>
            <a:chExt cx="1701634" cy="3341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1635" cy="334159"/>
            </a:xfrm>
            <a:custGeom>
              <a:avLst/>
              <a:gdLst/>
              <a:ahLst/>
              <a:cxnLst/>
              <a:rect r="r" b="b" t="t" l="l"/>
              <a:pathLst>
                <a:path h="334159" w="1701635">
                  <a:moveTo>
                    <a:pt x="0" y="0"/>
                  </a:moveTo>
                  <a:lnTo>
                    <a:pt x="1701635" y="0"/>
                  </a:lnTo>
                  <a:lnTo>
                    <a:pt x="1701635" y="334159"/>
                  </a:lnTo>
                  <a:lnTo>
                    <a:pt x="0" y="334159"/>
                  </a:ln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701634" cy="381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41" id="41"/>
          <p:cNvSpPr/>
          <p:nvPr/>
        </p:nvSpPr>
        <p:spPr>
          <a:xfrm flipH="true">
            <a:off x="1509761" y="7003568"/>
            <a:ext cx="0" cy="2017332"/>
          </a:xfrm>
          <a:prstGeom prst="line">
            <a:avLst/>
          </a:prstGeom>
          <a:ln cap="flat" w="47625">
            <a:solidFill>
              <a:srgbClr val="3A8A2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16065846" y="6970214"/>
            <a:ext cx="1193454" cy="2288086"/>
            <a:chOff x="0" y="0"/>
            <a:chExt cx="529688" cy="101558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9688" cy="1015582"/>
            </a:xfrm>
            <a:custGeom>
              <a:avLst/>
              <a:gdLst/>
              <a:ahLst/>
              <a:cxnLst/>
              <a:rect r="r" b="b" t="t" l="l"/>
              <a:pathLst>
                <a:path h="1015582" w="529688">
                  <a:moveTo>
                    <a:pt x="529688" y="246506"/>
                  </a:moveTo>
                  <a:lnTo>
                    <a:pt x="529688" y="769077"/>
                  </a:lnTo>
                  <a:cubicBezTo>
                    <a:pt x="529688" y="834454"/>
                    <a:pt x="503717" y="897154"/>
                    <a:pt x="457488" y="943382"/>
                  </a:cubicBezTo>
                  <a:cubicBezTo>
                    <a:pt x="411260" y="989611"/>
                    <a:pt x="348560" y="1015582"/>
                    <a:pt x="283183" y="1015582"/>
                  </a:cubicBezTo>
                  <a:lnTo>
                    <a:pt x="246506" y="1015582"/>
                  </a:lnTo>
                  <a:cubicBezTo>
                    <a:pt x="181128" y="1015582"/>
                    <a:pt x="118429" y="989611"/>
                    <a:pt x="72200" y="943382"/>
                  </a:cubicBezTo>
                  <a:cubicBezTo>
                    <a:pt x="25971" y="897154"/>
                    <a:pt x="0" y="834454"/>
                    <a:pt x="0" y="769077"/>
                  </a:cubicBezTo>
                  <a:lnTo>
                    <a:pt x="0" y="246506"/>
                  </a:lnTo>
                  <a:cubicBezTo>
                    <a:pt x="0" y="181128"/>
                    <a:pt x="25971" y="118429"/>
                    <a:pt x="72200" y="72200"/>
                  </a:cubicBezTo>
                  <a:cubicBezTo>
                    <a:pt x="118429" y="25971"/>
                    <a:pt x="181128" y="0"/>
                    <a:pt x="246506" y="0"/>
                  </a:cubicBezTo>
                  <a:lnTo>
                    <a:pt x="283183" y="0"/>
                  </a:lnTo>
                  <a:cubicBezTo>
                    <a:pt x="348560" y="0"/>
                    <a:pt x="411260" y="25971"/>
                    <a:pt x="457488" y="72200"/>
                  </a:cubicBezTo>
                  <a:cubicBezTo>
                    <a:pt x="503717" y="118429"/>
                    <a:pt x="529688" y="181128"/>
                    <a:pt x="529688" y="246506"/>
                  </a:cubicBezTo>
                  <a:close/>
                </a:path>
              </a:pathLst>
            </a:custGeom>
            <a:ln w="19050" cap="rnd">
              <a:solidFill>
                <a:srgbClr val="FF0000">
                  <a:alpha val="80784"/>
                </a:srgbClr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529688" cy="1063207"/>
            </a:xfrm>
            <a:prstGeom prst="rect">
              <a:avLst/>
            </a:prstGeom>
          </p:spPr>
          <p:txBody>
            <a:bodyPr anchor="ctr" rtlCol="false" tIns="43521" lIns="43521" bIns="43521" rIns="43521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5400000">
            <a:off x="16186082" y="8713217"/>
            <a:ext cx="375341" cy="240025"/>
            <a:chOff x="0" y="0"/>
            <a:chExt cx="694408" cy="4440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43521" lIns="43521" bIns="43521" rIns="43521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-5400000">
            <a:off x="16194236" y="8080190"/>
            <a:ext cx="359031" cy="229596"/>
            <a:chOff x="0" y="0"/>
            <a:chExt cx="694408" cy="44406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ln w="762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43521" lIns="43521" bIns="43521" rIns="43521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-5400000">
            <a:off x="8475367" y="7174635"/>
            <a:ext cx="753296" cy="481723"/>
            <a:chOff x="0" y="0"/>
            <a:chExt cx="694408" cy="44406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B24"/>
            </a:solidFill>
            <a:ln w="38100" cap="sq">
              <a:solidFill>
                <a:srgbClr val="3A8A24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-5400000">
            <a:off x="11477030" y="7174635"/>
            <a:ext cx="753296" cy="481723"/>
            <a:chOff x="0" y="0"/>
            <a:chExt cx="694408" cy="44406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B24"/>
            </a:solidFill>
            <a:ln w="76200" cap="sq">
              <a:solidFill>
                <a:srgbClr val="3A8A24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4380114" y="2463057"/>
            <a:ext cx="950455" cy="942689"/>
          </a:xfrm>
          <a:custGeom>
            <a:avLst/>
            <a:gdLst/>
            <a:ahLst/>
            <a:cxnLst/>
            <a:rect r="r" b="b" t="t" l="l"/>
            <a:pathLst>
              <a:path h="942689" w="950455">
                <a:moveTo>
                  <a:pt x="0" y="0"/>
                </a:moveTo>
                <a:lnTo>
                  <a:pt x="950455" y="0"/>
                </a:lnTo>
                <a:lnTo>
                  <a:pt x="950455" y="942690"/>
                </a:lnTo>
                <a:lnTo>
                  <a:pt x="0" y="94269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20811" t="-7273" r="-11907" b="-10909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-5400000">
            <a:off x="11482370" y="4284447"/>
            <a:ext cx="753296" cy="481723"/>
            <a:chOff x="0" y="0"/>
            <a:chExt cx="694408" cy="44406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4D"/>
            </a:solidFill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-5400000">
            <a:off x="11482370" y="3730170"/>
            <a:ext cx="753296" cy="481723"/>
            <a:chOff x="0" y="0"/>
            <a:chExt cx="694408" cy="44406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4D"/>
            </a:solidFill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-5400000">
            <a:off x="14478693" y="4284447"/>
            <a:ext cx="753296" cy="481723"/>
            <a:chOff x="0" y="0"/>
            <a:chExt cx="694408" cy="44406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4D"/>
            </a:solidFill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-5400000">
            <a:off x="14478693" y="3730170"/>
            <a:ext cx="753296" cy="481723"/>
            <a:chOff x="0" y="0"/>
            <a:chExt cx="694408" cy="44406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4D"/>
            </a:solidFill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-5400000">
            <a:off x="14478693" y="7099492"/>
            <a:ext cx="753296" cy="481723"/>
            <a:chOff x="0" y="0"/>
            <a:chExt cx="694408" cy="44406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-5400000">
            <a:off x="14478693" y="7646775"/>
            <a:ext cx="753296" cy="481723"/>
            <a:chOff x="0" y="0"/>
            <a:chExt cx="694408" cy="44406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85949" y="3594383"/>
            <a:ext cx="6461628" cy="1307574"/>
            <a:chOff x="0" y="0"/>
            <a:chExt cx="1701828" cy="34438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701828" cy="344382"/>
            </a:xfrm>
            <a:custGeom>
              <a:avLst/>
              <a:gdLst/>
              <a:ahLst/>
              <a:cxnLst/>
              <a:rect r="r" b="b" t="t" l="l"/>
              <a:pathLst>
                <a:path h="344382" w="1701828">
                  <a:moveTo>
                    <a:pt x="0" y="0"/>
                  </a:moveTo>
                  <a:lnTo>
                    <a:pt x="1701828" y="0"/>
                  </a:lnTo>
                  <a:lnTo>
                    <a:pt x="1701828" y="344382"/>
                  </a:lnTo>
                  <a:lnTo>
                    <a:pt x="0" y="344382"/>
                  </a:lnTo>
                  <a:close/>
                </a:path>
              </a:pathLst>
            </a:custGeom>
            <a:solidFill>
              <a:srgbClr val="FF004D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701828" cy="392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7947576" y="2542995"/>
            <a:ext cx="180887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GENERIC APPS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463208" y="2542995"/>
            <a:ext cx="294457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ADDITIONAL CONTENT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1771860" y="7725470"/>
            <a:ext cx="1636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3A8A2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680034" y="5435650"/>
            <a:ext cx="626680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INTEGRATED CYCLE, NUTRITION &amp; FITNESS PLANS</a:t>
            </a:r>
          </a:p>
        </p:txBody>
      </p:sp>
      <p:sp>
        <p:nvSpPr>
          <p:cNvPr name="TextBox 83" id="83"/>
          <p:cNvSpPr txBox="true"/>
          <p:nvPr/>
        </p:nvSpPr>
        <p:spPr>
          <a:xfrm rot="-5400000">
            <a:off x="88392" y="3494457"/>
            <a:ext cx="2175353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9"/>
              </a:lnSpc>
            </a:pPr>
            <a:r>
              <a:rPr lang="en-US" b="true" sz="1899">
                <a:solidFill>
                  <a:srgbClr val="FF004D"/>
                </a:solidFill>
                <a:latin typeface="Aileron Bold"/>
                <a:ea typeface="Aileron Bold"/>
                <a:cs typeface="Aileron Bold"/>
                <a:sym typeface="Aileron Bold"/>
              </a:rPr>
              <a:t>SCIENTIFIC &amp;</a:t>
            </a:r>
          </a:p>
          <a:p>
            <a:pPr algn="just">
              <a:lnSpc>
                <a:spcPts val="1899"/>
              </a:lnSpc>
            </a:pPr>
            <a:r>
              <a:rPr lang="en-US" b="true" sz="1899">
                <a:solidFill>
                  <a:srgbClr val="FF004D"/>
                </a:solidFill>
                <a:latin typeface="Aileron Bold"/>
                <a:ea typeface="Aileron Bold"/>
                <a:cs typeface="Aileron Bold"/>
                <a:sym typeface="Aileron Bold"/>
              </a:rPr>
              <a:t>CLINICAL BASE</a:t>
            </a:r>
          </a:p>
        </p:txBody>
      </p:sp>
      <p:sp>
        <p:nvSpPr>
          <p:cNvPr name="TextBox 84" id="84"/>
          <p:cNvSpPr txBox="true"/>
          <p:nvPr/>
        </p:nvSpPr>
        <p:spPr>
          <a:xfrm rot="-5400000">
            <a:off x="320910" y="5568420"/>
            <a:ext cx="1531882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>
                <a:solidFill>
                  <a:srgbClr val="FF8C00"/>
                </a:solidFill>
                <a:latin typeface="Aileron Bold"/>
                <a:ea typeface="Aileron Bold"/>
                <a:cs typeface="Aileron Bold"/>
                <a:sym typeface="Aileron Bold"/>
              </a:rPr>
              <a:t>PRODUCT &amp;</a:t>
            </a:r>
          </a:p>
          <a:p>
            <a:pPr algn="l">
              <a:lnSpc>
                <a:spcPts val="1799"/>
              </a:lnSpc>
            </a:pPr>
            <a:r>
              <a:rPr lang="en-US" b="true" sz="1799">
                <a:solidFill>
                  <a:srgbClr val="FF8C00"/>
                </a:solidFill>
                <a:latin typeface="Aileron Bold"/>
                <a:ea typeface="Aileron Bold"/>
                <a:cs typeface="Aileron Bold"/>
                <a:sym typeface="Aileron Bold"/>
              </a:rPr>
              <a:t>AI LAYER</a:t>
            </a:r>
          </a:p>
        </p:txBody>
      </p:sp>
      <p:sp>
        <p:nvSpPr>
          <p:cNvPr name="TextBox 85" id="85"/>
          <p:cNvSpPr txBox="true"/>
          <p:nvPr/>
        </p:nvSpPr>
        <p:spPr>
          <a:xfrm rot="-5400000">
            <a:off x="130573" y="7789350"/>
            <a:ext cx="2017332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b="true" sz="1799">
                <a:solidFill>
                  <a:srgbClr val="3A8A24"/>
                </a:solidFill>
                <a:latin typeface="Aileron Bold"/>
                <a:ea typeface="Aileron Bold"/>
                <a:cs typeface="Aileron Bold"/>
                <a:sym typeface="Aileron Bold"/>
              </a:rPr>
              <a:t>DISTRIBUTION &amp;</a:t>
            </a:r>
          </a:p>
          <a:p>
            <a:pPr algn="r">
              <a:lnSpc>
                <a:spcPts val="1799"/>
              </a:lnSpc>
            </a:pPr>
            <a:r>
              <a:rPr lang="en-US" b="true" sz="1799">
                <a:solidFill>
                  <a:srgbClr val="3A8A24"/>
                </a:solidFill>
                <a:latin typeface="Aileron Bold"/>
                <a:ea typeface="Aileron Bold"/>
                <a:cs typeface="Aileron Bold"/>
                <a:sym typeface="Aileron Bold"/>
              </a:rPr>
              <a:t>DATA   FLYWHEEL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658445" y="4267090"/>
            <a:ext cx="507488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ETHICAL DATA &amp; PRIVACY DESIGN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658445" y="5932827"/>
            <a:ext cx="4186876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&amp; COMMUNITY FEATURES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657399" y="7198009"/>
            <a:ext cx="389334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INSTITUTIONAL ATL OUTREACH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58445" y="7691642"/>
            <a:ext cx="320709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ADAPTIVE SYSTEM LOOP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58445" y="3757046"/>
            <a:ext cx="599351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</a:t>
            </a:r>
            <a:r>
              <a:rPr lang="en-US" b="true" sz="1999" spc="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IENCE-BACKED CYCLE-SYNC FRAMEWORK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6596090" y="8688328"/>
            <a:ext cx="586142" cy="27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"/>
              </a:lnSpc>
              <a:spcBef>
                <a:spcPct val="0"/>
              </a:spcBef>
            </a:pPr>
            <a:r>
              <a:rPr lang="en-US" sz="77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CORE CAPABILITY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6596090" y="8117910"/>
            <a:ext cx="475407" cy="13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"/>
              </a:lnSpc>
              <a:spcBef>
                <a:spcPct val="0"/>
              </a:spcBef>
            </a:pPr>
            <a:r>
              <a:rPr lang="en-US" sz="77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PARTIAL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6248524" y="7439686"/>
            <a:ext cx="97100" cy="35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4"/>
              </a:lnSpc>
            </a:pPr>
            <a:r>
              <a:rPr lang="en-US" sz="2017">
                <a:solidFill>
                  <a:srgbClr val="FF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6544003" y="7491939"/>
            <a:ext cx="546241" cy="49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1"/>
              </a:lnSpc>
              <a:spcBef>
                <a:spcPct val="0"/>
              </a:spcBef>
            </a:pPr>
            <a:r>
              <a:rPr lang="en-US" sz="7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BRANDS NEED TO SOLVE SEPERATELY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6514263" y="7117094"/>
            <a:ext cx="319530" cy="19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1"/>
              </a:lnSpc>
              <a:spcBef>
                <a:spcPct val="0"/>
              </a:spcBef>
            </a:pPr>
            <a:r>
              <a:rPr lang="en-US" b="true" sz="112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KEY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028700" y="838200"/>
            <a:ext cx="15617679" cy="106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70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The NutriSync Difference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770197" y="5223559"/>
            <a:ext cx="1636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8C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</a:p>
        </p:txBody>
      </p:sp>
      <p:sp>
        <p:nvSpPr>
          <p:cNvPr name="AutoShape 98" id="98"/>
          <p:cNvSpPr/>
          <p:nvPr/>
        </p:nvSpPr>
        <p:spPr>
          <a:xfrm>
            <a:off x="1509761" y="3234695"/>
            <a:ext cx="0" cy="1590644"/>
          </a:xfrm>
          <a:prstGeom prst="line">
            <a:avLst/>
          </a:prstGeom>
          <a:ln cap="flat" w="47625">
            <a:solidFill>
              <a:srgbClr val="FF00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9" id="99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0029" y="3415057"/>
            <a:ext cx="4712709" cy="2850718"/>
            <a:chOff x="0" y="0"/>
            <a:chExt cx="1241207" cy="7508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1207" cy="750806"/>
            </a:xfrm>
            <a:custGeom>
              <a:avLst/>
              <a:gdLst/>
              <a:ahLst/>
              <a:cxnLst/>
              <a:rect r="r" b="b" t="t" l="l"/>
              <a:pathLst>
                <a:path h="750806" w="1241207">
                  <a:moveTo>
                    <a:pt x="60783" y="0"/>
                  </a:moveTo>
                  <a:lnTo>
                    <a:pt x="1180425" y="0"/>
                  </a:lnTo>
                  <a:cubicBezTo>
                    <a:pt x="1196545" y="0"/>
                    <a:pt x="1212005" y="6404"/>
                    <a:pt x="1223404" y="17803"/>
                  </a:cubicBezTo>
                  <a:cubicBezTo>
                    <a:pt x="1234803" y="29202"/>
                    <a:pt x="1241207" y="44662"/>
                    <a:pt x="1241207" y="60783"/>
                  </a:cubicBezTo>
                  <a:lnTo>
                    <a:pt x="1241207" y="690024"/>
                  </a:lnTo>
                  <a:cubicBezTo>
                    <a:pt x="1241207" y="706144"/>
                    <a:pt x="1234803" y="721604"/>
                    <a:pt x="1223404" y="733003"/>
                  </a:cubicBezTo>
                  <a:cubicBezTo>
                    <a:pt x="1212005" y="744402"/>
                    <a:pt x="1196545" y="750806"/>
                    <a:pt x="1180425" y="750806"/>
                  </a:cubicBezTo>
                  <a:lnTo>
                    <a:pt x="60783" y="750806"/>
                  </a:lnTo>
                  <a:cubicBezTo>
                    <a:pt x="44662" y="750806"/>
                    <a:pt x="29202" y="744402"/>
                    <a:pt x="17803" y="733003"/>
                  </a:cubicBezTo>
                  <a:cubicBezTo>
                    <a:pt x="6404" y="721604"/>
                    <a:pt x="0" y="706144"/>
                    <a:pt x="0" y="690024"/>
                  </a:cubicBezTo>
                  <a:lnTo>
                    <a:pt x="0" y="60783"/>
                  </a:lnTo>
                  <a:cubicBezTo>
                    <a:pt x="0" y="44662"/>
                    <a:pt x="6404" y="29202"/>
                    <a:pt x="17803" y="17803"/>
                  </a:cubicBezTo>
                  <a:cubicBezTo>
                    <a:pt x="29202" y="6404"/>
                    <a:pt x="44662" y="0"/>
                    <a:pt x="60783" y="0"/>
                  </a:cubicBezTo>
                  <a:close/>
                </a:path>
              </a:pathLst>
            </a:custGeom>
            <a:solidFill>
              <a:srgbClr val="FF1300"/>
            </a:solidFill>
            <a:ln w="19050" cap="rnd">
              <a:solidFill>
                <a:srgbClr val="F4ECE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41207" cy="798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48848" y="3717929"/>
            <a:ext cx="431110" cy="416560"/>
          </a:xfrm>
          <a:custGeom>
            <a:avLst/>
            <a:gdLst/>
            <a:ahLst/>
            <a:cxnLst/>
            <a:rect r="r" b="b" t="t" l="l"/>
            <a:pathLst>
              <a:path h="416560" w="431110">
                <a:moveTo>
                  <a:pt x="0" y="0"/>
                </a:moveTo>
                <a:lnTo>
                  <a:pt x="431110" y="0"/>
                </a:lnTo>
                <a:lnTo>
                  <a:pt x="431110" y="416560"/>
                </a:lnTo>
                <a:lnTo>
                  <a:pt x="0" y="416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1422" y="4399576"/>
            <a:ext cx="2162377" cy="4441340"/>
            <a:chOff x="0" y="0"/>
            <a:chExt cx="2883170" cy="592178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971077" y="1248186"/>
              <a:ext cx="589280" cy="808990"/>
              <a:chOff x="0" y="0"/>
              <a:chExt cx="589280" cy="8089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50800" y="42863"/>
                <a:ext cx="487918" cy="714730"/>
              </a:xfrm>
              <a:custGeom>
                <a:avLst/>
                <a:gdLst/>
                <a:ahLst/>
                <a:cxnLst/>
                <a:rect r="r" b="b" t="t" l="l"/>
                <a:pathLst>
                  <a:path h="714730" w="487918">
                    <a:moveTo>
                      <a:pt x="22860" y="470217"/>
                    </a:moveTo>
                    <a:cubicBezTo>
                      <a:pt x="64770" y="441007"/>
                      <a:pt x="87630" y="395287"/>
                      <a:pt x="107950" y="348297"/>
                    </a:cubicBezTo>
                    <a:cubicBezTo>
                      <a:pt x="139700" y="273367"/>
                      <a:pt x="171450" y="99377"/>
                      <a:pt x="203200" y="48577"/>
                    </a:cubicBezTo>
                    <a:cubicBezTo>
                      <a:pt x="215900" y="26987"/>
                      <a:pt x="223520" y="16827"/>
                      <a:pt x="242570" y="9207"/>
                    </a:cubicBezTo>
                    <a:cubicBezTo>
                      <a:pt x="273050" y="-3493"/>
                      <a:pt x="341630" y="-2223"/>
                      <a:pt x="378460" y="7937"/>
                    </a:cubicBezTo>
                    <a:cubicBezTo>
                      <a:pt x="406400" y="15557"/>
                      <a:pt x="434340" y="32067"/>
                      <a:pt x="445770" y="51117"/>
                    </a:cubicBezTo>
                    <a:cubicBezTo>
                      <a:pt x="454660" y="65087"/>
                      <a:pt x="455930" y="84137"/>
                      <a:pt x="452120" y="101917"/>
                    </a:cubicBezTo>
                    <a:cubicBezTo>
                      <a:pt x="448310" y="124777"/>
                      <a:pt x="414020" y="151447"/>
                      <a:pt x="411480" y="176847"/>
                    </a:cubicBezTo>
                    <a:cubicBezTo>
                      <a:pt x="408940" y="203517"/>
                      <a:pt x="419100" y="246697"/>
                      <a:pt x="434340" y="258127"/>
                    </a:cubicBezTo>
                    <a:cubicBezTo>
                      <a:pt x="444500" y="265747"/>
                      <a:pt x="467360" y="251777"/>
                      <a:pt x="476250" y="258127"/>
                    </a:cubicBezTo>
                    <a:cubicBezTo>
                      <a:pt x="485140" y="265747"/>
                      <a:pt x="488950" y="283527"/>
                      <a:pt x="487680" y="300037"/>
                    </a:cubicBezTo>
                    <a:cubicBezTo>
                      <a:pt x="483870" y="327977"/>
                      <a:pt x="439420" y="409257"/>
                      <a:pt x="421640" y="410527"/>
                    </a:cubicBezTo>
                    <a:cubicBezTo>
                      <a:pt x="410210" y="411797"/>
                      <a:pt x="389890" y="381317"/>
                      <a:pt x="392430" y="376237"/>
                    </a:cubicBezTo>
                    <a:cubicBezTo>
                      <a:pt x="394970" y="371157"/>
                      <a:pt x="425450" y="373697"/>
                      <a:pt x="438150" y="382587"/>
                    </a:cubicBezTo>
                    <a:cubicBezTo>
                      <a:pt x="452120" y="391477"/>
                      <a:pt x="466090" y="411797"/>
                      <a:pt x="468630" y="432117"/>
                    </a:cubicBezTo>
                    <a:cubicBezTo>
                      <a:pt x="473710" y="453707"/>
                      <a:pt x="467360" y="489267"/>
                      <a:pt x="452120" y="510857"/>
                    </a:cubicBezTo>
                    <a:cubicBezTo>
                      <a:pt x="436880" y="532447"/>
                      <a:pt x="406400" y="545147"/>
                      <a:pt x="372110" y="559117"/>
                    </a:cubicBezTo>
                    <a:cubicBezTo>
                      <a:pt x="320040" y="579437"/>
                      <a:pt x="207010" y="569277"/>
                      <a:pt x="161290" y="601027"/>
                    </a:cubicBezTo>
                    <a:cubicBezTo>
                      <a:pt x="128270" y="623887"/>
                      <a:pt x="123190" y="679767"/>
                      <a:pt x="102870" y="697547"/>
                    </a:cubicBezTo>
                    <a:cubicBezTo>
                      <a:pt x="90170" y="708977"/>
                      <a:pt x="76200" y="715327"/>
                      <a:pt x="63500" y="714057"/>
                    </a:cubicBezTo>
                    <a:cubicBezTo>
                      <a:pt x="50800" y="714057"/>
                      <a:pt x="33020" y="702627"/>
                      <a:pt x="27940" y="691197"/>
                    </a:cubicBezTo>
                    <a:cubicBezTo>
                      <a:pt x="21590" y="679767"/>
                      <a:pt x="33020" y="640397"/>
                      <a:pt x="31750" y="640397"/>
                    </a:cubicBezTo>
                    <a:cubicBezTo>
                      <a:pt x="31750" y="640397"/>
                      <a:pt x="26670" y="679767"/>
                      <a:pt x="22860" y="679767"/>
                    </a:cubicBezTo>
                    <a:cubicBezTo>
                      <a:pt x="20320" y="679767"/>
                      <a:pt x="16510" y="654367"/>
                      <a:pt x="13970" y="636587"/>
                    </a:cubicBezTo>
                    <a:cubicBezTo>
                      <a:pt x="8890" y="606107"/>
                      <a:pt x="0" y="541337"/>
                      <a:pt x="5080" y="513397"/>
                    </a:cubicBezTo>
                    <a:cubicBezTo>
                      <a:pt x="7620" y="496887"/>
                      <a:pt x="11430" y="484187"/>
                      <a:pt x="21590" y="476567"/>
                    </a:cubicBezTo>
                    <a:cubicBezTo>
                      <a:pt x="30480" y="470217"/>
                      <a:pt x="48260" y="466407"/>
                      <a:pt x="60960" y="468947"/>
                    </a:cubicBezTo>
                    <a:cubicBezTo>
                      <a:pt x="73660" y="471487"/>
                      <a:pt x="90170" y="482917"/>
                      <a:pt x="99060" y="496887"/>
                    </a:cubicBezTo>
                    <a:cubicBezTo>
                      <a:pt x="107950" y="512127"/>
                      <a:pt x="110490" y="540067"/>
                      <a:pt x="106680" y="557847"/>
                    </a:cubicBezTo>
                    <a:cubicBezTo>
                      <a:pt x="104140" y="573087"/>
                      <a:pt x="97790" y="589597"/>
                      <a:pt x="86360" y="595947"/>
                    </a:cubicBezTo>
                    <a:cubicBezTo>
                      <a:pt x="73660" y="603567"/>
                      <a:pt x="43180" y="602297"/>
                      <a:pt x="31750" y="593407"/>
                    </a:cubicBezTo>
                    <a:cubicBezTo>
                      <a:pt x="20320" y="585787"/>
                      <a:pt x="13970" y="566737"/>
                      <a:pt x="15240" y="554037"/>
                    </a:cubicBezTo>
                    <a:cubicBezTo>
                      <a:pt x="16510" y="541337"/>
                      <a:pt x="27940" y="523557"/>
                      <a:pt x="39370" y="518477"/>
                    </a:cubicBezTo>
                    <a:cubicBezTo>
                      <a:pt x="50800" y="512127"/>
                      <a:pt x="71120" y="512127"/>
                      <a:pt x="82550" y="518477"/>
                    </a:cubicBezTo>
                    <a:cubicBezTo>
                      <a:pt x="93980" y="523557"/>
                      <a:pt x="105410" y="541337"/>
                      <a:pt x="106680" y="554037"/>
                    </a:cubicBezTo>
                    <a:cubicBezTo>
                      <a:pt x="107950" y="565467"/>
                      <a:pt x="100330" y="585787"/>
                      <a:pt x="90170" y="593407"/>
                    </a:cubicBezTo>
                    <a:cubicBezTo>
                      <a:pt x="81280" y="601027"/>
                      <a:pt x="60960" y="607377"/>
                      <a:pt x="48260" y="602297"/>
                    </a:cubicBezTo>
                    <a:cubicBezTo>
                      <a:pt x="35560" y="597217"/>
                      <a:pt x="11430" y="570547"/>
                      <a:pt x="15240" y="559117"/>
                    </a:cubicBezTo>
                    <a:cubicBezTo>
                      <a:pt x="19050" y="543877"/>
                      <a:pt x="80010" y="521017"/>
                      <a:pt x="96520" y="531177"/>
                    </a:cubicBezTo>
                    <a:cubicBezTo>
                      <a:pt x="115570" y="543877"/>
                      <a:pt x="110490" y="622617"/>
                      <a:pt x="110490" y="653097"/>
                    </a:cubicBezTo>
                    <a:cubicBezTo>
                      <a:pt x="109220" y="672147"/>
                      <a:pt x="109220" y="688657"/>
                      <a:pt x="102870" y="697547"/>
                    </a:cubicBezTo>
                    <a:cubicBezTo>
                      <a:pt x="99060" y="705167"/>
                      <a:pt x="92710" y="708977"/>
                      <a:pt x="85090" y="711517"/>
                    </a:cubicBezTo>
                    <a:cubicBezTo>
                      <a:pt x="76200" y="714057"/>
                      <a:pt x="62230" y="716597"/>
                      <a:pt x="53340" y="712787"/>
                    </a:cubicBezTo>
                    <a:cubicBezTo>
                      <a:pt x="41910" y="707707"/>
                      <a:pt x="27940" y="692467"/>
                      <a:pt x="24130" y="682307"/>
                    </a:cubicBezTo>
                    <a:cubicBezTo>
                      <a:pt x="20320" y="672147"/>
                      <a:pt x="21590" y="663257"/>
                      <a:pt x="26670" y="649287"/>
                    </a:cubicBezTo>
                    <a:cubicBezTo>
                      <a:pt x="35560" y="621347"/>
                      <a:pt x="73660" y="556577"/>
                      <a:pt x="102870" y="531177"/>
                    </a:cubicBezTo>
                    <a:cubicBezTo>
                      <a:pt x="124460" y="513397"/>
                      <a:pt x="143510" y="509587"/>
                      <a:pt x="175260" y="499427"/>
                    </a:cubicBezTo>
                    <a:cubicBezTo>
                      <a:pt x="226060" y="484187"/>
                      <a:pt x="386080" y="477837"/>
                      <a:pt x="386080" y="466407"/>
                    </a:cubicBezTo>
                    <a:cubicBezTo>
                      <a:pt x="387350" y="461327"/>
                      <a:pt x="355600" y="460057"/>
                      <a:pt x="346710" y="449897"/>
                    </a:cubicBezTo>
                    <a:cubicBezTo>
                      <a:pt x="337820" y="441007"/>
                      <a:pt x="331470" y="425767"/>
                      <a:pt x="330200" y="410527"/>
                    </a:cubicBezTo>
                    <a:cubicBezTo>
                      <a:pt x="330200" y="388937"/>
                      <a:pt x="339090" y="348297"/>
                      <a:pt x="353060" y="335597"/>
                    </a:cubicBezTo>
                    <a:cubicBezTo>
                      <a:pt x="363220" y="325437"/>
                      <a:pt x="393700" y="330517"/>
                      <a:pt x="393700" y="325437"/>
                    </a:cubicBezTo>
                    <a:cubicBezTo>
                      <a:pt x="394970" y="319087"/>
                      <a:pt x="367030" y="314007"/>
                      <a:pt x="355600" y="301307"/>
                    </a:cubicBezTo>
                    <a:cubicBezTo>
                      <a:pt x="341630" y="282257"/>
                      <a:pt x="330200" y="236537"/>
                      <a:pt x="325120" y="212407"/>
                    </a:cubicBezTo>
                    <a:cubicBezTo>
                      <a:pt x="322580" y="195897"/>
                      <a:pt x="320040" y="183197"/>
                      <a:pt x="321310" y="169227"/>
                    </a:cubicBezTo>
                    <a:cubicBezTo>
                      <a:pt x="323850" y="155257"/>
                      <a:pt x="328930" y="140017"/>
                      <a:pt x="336550" y="128587"/>
                    </a:cubicBezTo>
                    <a:cubicBezTo>
                      <a:pt x="344170" y="117157"/>
                      <a:pt x="370840" y="106997"/>
                      <a:pt x="369570" y="98107"/>
                    </a:cubicBezTo>
                    <a:cubicBezTo>
                      <a:pt x="365760" y="87947"/>
                      <a:pt x="309880" y="65087"/>
                      <a:pt x="287020" y="77787"/>
                    </a:cubicBezTo>
                    <a:cubicBezTo>
                      <a:pt x="248920" y="98107"/>
                      <a:pt x="242570" y="241617"/>
                      <a:pt x="214630" y="311467"/>
                    </a:cubicBezTo>
                    <a:cubicBezTo>
                      <a:pt x="191770" y="371157"/>
                      <a:pt x="158750" y="437197"/>
                      <a:pt x="138430" y="471487"/>
                    </a:cubicBezTo>
                    <a:cubicBezTo>
                      <a:pt x="128270" y="487997"/>
                      <a:pt x="125730" y="495617"/>
                      <a:pt x="113030" y="507047"/>
                    </a:cubicBezTo>
                    <a:cubicBezTo>
                      <a:pt x="95250" y="521017"/>
                      <a:pt x="55880" y="543877"/>
                      <a:pt x="36830" y="543877"/>
                    </a:cubicBezTo>
                    <a:cubicBezTo>
                      <a:pt x="26670" y="545147"/>
                      <a:pt x="17780" y="538797"/>
                      <a:pt x="11430" y="533717"/>
                    </a:cubicBezTo>
                    <a:cubicBezTo>
                      <a:pt x="6350" y="527367"/>
                      <a:pt x="0" y="517207"/>
                      <a:pt x="0" y="508317"/>
                    </a:cubicBezTo>
                    <a:cubicBezTo>
                      <a:pt x="1270" y="496887"/>
                      <a:pt x="22860" y="470217"/>
                      <a:pt x="22860" y="470217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039657" y="1304066"/>
              <a:ext cx="452120" cy="596900"/>
              <a:chOff x="0" y="0"/>
              <a:chExt cx="452120" cy="5969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50800" y="50607"/>
                <a:ext cx="350520" cy="494223"/>
              </a:xfrm>
              <a:custGeom>
                <a:avLst/>
                <a:gdLst/>
                <a:ahLst/>
                <a:cxnLst/>
                <a:rect r="r" b="b" t="t" l="l"/>
                <a:pathLst>
                  <a:path h="494223" w="350520">
                    <a:moveTo>
                      <a:pt x="0" y="457393"/>
                    </a:moveTo>
                    <a:cubicBezTo>
                      <a:pt x="1270" y="445963"/>
                      <a:pt x="2540" y="442153"/>
                      <a:pt x="3810" y="439613"/>
                    </a:cubicBezTo>
                    <a:cubicBezTo>
                      <a:pt x="5080" y="437073"/>
                      <a:pt x="6350" y="433263"/>
                      <a:pt x="7620" y="430723"/>
                    </a:cubicBezTo>
                    <a:cubicBezTo>
                      <a:pt x="10160" y="429453"/>
                      <a:pt x="11430" y="426913"/>
                      <a:pt x="15240" y="424373"/>
                    </a:cubicBezTo>
                    <a:cubicBezTo>
                      <a:pt x="21590" y="418023"/>
                      <a:pt x="36830" y="406593"/>
                      <a:pt x="46990" y="398973"/>
                    </a:cubicBezTo>
                    <a:cubicBezTo>
                      <a:pt x="57150" y="391353"/>
                      <a:pt x="76200" y="385003"/>
                      <a:pt x="76200" y="376113"/>
                    </a:cubicBezTo>
                    <a:cubicBezTo>
                      <a:pt x="77470" y="365953"/>
                      <a:pt x="45720" y="351983"/>
                      <a:pt x="43180" y="338013"/>
                    </a:cubicBezTo>
                    <a:cubicBezTo>
                      <a:pt x="39370" y="324043"/>
                      <a:pt x="48260" y="306263"/>
                      <a:pt x="55880" y="291023"/>
                    </a:cubicBezTo>
                    <a:cubicBezTo>
                      <a:pt x="63500" y="274513"/>
                      <a:pt x="77470" y="256733"/>
                      <a:pt x="88900" y="241493"/>
                    </a:cubicBezTo>
                    <a:cubicBezTo>
                      <a:pt x="99060" y="226253"/>
                      <a:pt x="110490" y="212283"/>
                      <a:pt x="120650" y="198313"/>
                    </a:cubicBezTo>
                    <a:cubicBezTo>
                      <a:pt x="128270" y="185613"/>
                      <a:pt x="135890" y="171643"/>
                      <a:pt x="142240" y="158943"/>
                    </a:cubicBezTo>
                    <a:cubicBezTo>
                      <a:pt x="148590" y="147513"/>
                      <a:pt x="153670" y="136083"/>
                      <a:pt x="157480" y="123383"/>
                    </a:cubicBezTo>
                    <a:cubicBezTo>
                      <a:pt x="160020" y="110683"/>
                      <a:pt x="157480" y="94173"/>
                      <a:pt x="161290" y="80203"/>
                    </a:cubicBezTo>
                    <a:cubicBezTo>
                      <a:pt x="165100" y="66233"/>
                      <a:pt x="171450" y="53533"/>
                      <a:pt x="179070" y="42103"/>
                    </a:cubicBezTo>
                    <a:cubicBezTo>
                      <a:pt x="186690" y="31943"/>
                      <a:pt x="195580" y="21783"/>
                      <a:pt x="205740" y="15433"/>
                    </a:cubicBezTo>
                    <a:cubicBezTo>
                      <a:pt x="217170" y="7813"/>
                      <a:pt x="233680" y="193"/>
                      <a:pt x="247650" y="193"/>
                    </a:cubicBezTo>
                    <a:cubicBezTo>
                      <a:pt x="261620" y="-1077"/>
                      <a:pt x="281940" y="4003"/>
                      <a:pt x="292100" y="12893"/>
                    </a:cubicBezTo>
                    <a:cubicBezTo>
                      <a:pt x="303530" y="23053"/>
                      <a:pt x="311150" y="40833"/>
                      <a:pt x="313690" y="54803"/>
                    </a:cubicBezTo>
                    <a:cubicBezTo>
                      <a:pt x="314960" y="70043"/>
                      <a:pt x="306070" y="87823"/>
                      <a:pt x="302260" y="103063"/>
                    </a:cubicBezTo>
                    <a:cubicBezTo>
                      <a:pt x="299720" y="117033"/>
                      <a:pt x="293370" y="128463"/>
                      <a:pt x="294640" y="141163"/>
                    </a:cubicBezTo>
                    <a:cubicBezTo>
                      <a:pt x="297180" y="155133"/>
                      <a:pt x="309880" y="167833"/>
                      <a:pt x="316230" y="180533"/>
                    </a:cubicBezTo>
                    <a:cubicBezTo>
                      <a:pt x="323850" y="193233"/>
                      <a:pt x="331470" y="204663"/>
                      <a:pt x="336550" y="218633"/>
                    </a:cubicBezTo>
                    <a:cubicBezTo>
                      <a:pt x="342900" y="231333"/>
                      <a:pt x="349250" y="246573"/>
                      <a:pt x="350520" y="261813"/>
                    </a:cubicBezTo>
                    <a:cubicBezTo>
                      <a:pt x="350520" y="277053"/>
                      <a:pt x="337820" y="292293"/>
                      <a:pt x="337820" y="307533"/>
                    </a:cubicBezTo>
                    <a:cubicBezTo>
                      <a:pt x="337820" y="321503"/>
                      <a:pt x="350520" y="334203"/>
                      <a:pt x="350520" y="348173"/>
                    </a:cubicBezTo>
                    <a:cubicBezTo>
                      <a:pt x="350520" y="362143"/>
                      <a:pt x="346710" y="382463"/>
                      <a:pt x="337820" y="393893"/>
                    </a:cubicBezTo>
                    <a:cubicBezTo>
                      <a:pt x="327660" y="405323"/>
                      <a:pt x="300990" y="412943"/>
                      <a:pt x="293370" y="414213"/>
                    </a:cubicBezTo>
                    <a:cubicBezTo>
                      <a:pt x="290830" y="415483"/>
                      <a:pt x="290830" y="414213"/>
                      <a:pt x="287020" y="414213"/>
                    </a:cubicBezTo>
                    <a:cubicBezTo>
                      <a:pt x="280670" y="414213"/>
                      <a:pt x="264160" y="419293"/>
                      <a:pt x="251460" y="421833"/>
                    </a:cubicBezTo>
                    <a:cubicBezTo>
                      <a:pt x="237490" y="423103"/>
                      <a:pt x="222250" y="424373"/>
                      <a:pt x="207010" y="425643"/>
                    </a:cubicBezTo>
                    <a:cubicBezTo>
                      <a:pt x="193040" y="425643"/>
                      <a:pt x="179070" y="423103"/>
                      <a:pt x="166370" y="424373"/>
                    </a:cubicBezTo>
                    <a:cubicBezTo>
                      <a:pt x="153670" y="426913"/>
                      <a:pt x="140970" y="429453"/>
                      <a:pt x="128270" y="434533"/>
                    </a:cubicBezTo>
                    <a:cubicBezTo>
                      <a:pt x="116840" y="440883"/>
                      <a:pt x="106680" y="451043"/>
                      <a:pt x="95250" y="459933"/>
                    </a:cubicBezTo>
                    <a:cubicBezTo>
                      <a:pt x="85090" y="467553"/>
                      <a:pt x="71120" y="480253"/>
                      <a:pt x="63500" y="485333"/>
                    </a:cubicBezTo>
                    <a:cubicBezTo>
                      <a:pt x="59690" y="487873"/>
                      <a:pt x="58420" y="489143"/>
                      <a:pt x="55880" y="490413"/>
                    </a:cubicBezTo>
                    <a:cubicBezTo>
                      <a:pt x="53340" y="491683"/>
                      <a:pt x="49530" y="492953"/>
                      <a:pt x="46990" y="492953"/>
                    </a:cubicBezTo>
                    <a:cubicBezTo>
                      <a:pt x="43180" y="494223"/>
                      <a:pt x="40640" y="494223"/>
                      <a:pt x="36830" y="494223"/>
                    </a:cubicBezTo>
                    <a:cubicBezTo>
                      <a:pt x="34290" y="494223"/>
                      <a:pt x="30480" y="492953"/>
                      <a:pt x="27940" y="492953"/>
                    </a:cubicBezTo>
                    <a:cubicBezTo>
                      <a:pt x="25400" y="491683"/>
                      <a:pt x="21590" y="490413"/>
                      <a:pt x="19050" y="489143"/>
                    </a:cubicBezTo>
                    <a:cubicBezTo>
                      <a:pt x="16510" y="486603"/>
                      <a:pt x="13970" y="485333"/>
                      <a:pt x="11430" y="482793"/>
                    </a:cubicBezTo>
                    <a:cubicBezTo>
                      <a:pt x="10160" y="480253"/>
                      <a:pt x="7620" y="477713"/>
                      <a:pt x="6350" y="475173"/>
                    </a:cubicBezTo>
                    <a:cubicBezTo>
                      <a:pt x="3810" y="472633"/>
                      <a:pt x="2540" y="470093"/>
                      <a:pt x="2540" y="467553"/>
                    </a:cubicBezTo>
                    <a:cubicBezTo>
                      <a:pt x="1270" y="463743"/>
                      <a:pt x="0" y="457393"/>
                      <a:pt x="0" y="457393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1189643">
              <a:off x="1860587" y="1804446"/>
              <a:ext cx="294640" cy="466090"/>
              <a:chOff x="0" y="0"/>
              <a:chExt cx="294640" cy="4660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50763" y="50800"/>
                <a:ext cx="195229" cy="364611"/>
              </a:xfrm>
              <a:custGeom>
                <a:avLst/>
                <a:gdLst/>
                <a:ahLst/>
                <a:cxnLst/>
                <a:rect r="r" b="b" t="t" l="l"/>
                <a:pathLst>
                  <a:path h="364611" w="195229">
                    <a:moveTo>
                      <a:pt x="127037" y="156210"/>
                    </a:moveTo>
                    <a:cubicBezTo>
                      <a:pt x="114337" y="270510"/>
                      <a:pt x="96557" y="323850"/>
                      <a:pt x="77507" y="344170"/>
                    </a:cubicBezTo>
                    <a:cubicBezTo>
                      <a:pt x="64807" y="356870"/>
                      <a:pt x="48297" y="365760"/>
                      <a:pt x="35597" y="364490"/>
                    </a:cubicBezTo>
                    <a:cubicBezTo>
                      <a:pt x="22897" y="361950"/>
                      <a:pt x="5117" y="347980"/>
                      <a:pt x="1307" y="331470"/>
                    </a:cubicBezTo>
                    <a:cubicBezTo>
                      <a:pt x="-5043" y="297180"/>
                      <a:pt x="63537" y="212090"/>
                      <a:pt x="83857" y="154940"/>
                    </a:cubicBezTo>
                    <a:cubicBezTo>
                      <a:pt x="100367" y="106680"/>
                      <a:pt x="97827" y="36830"/>
                      <a:pt x="116877" y="15240"/>
                    </a:cubicBezTo>
                    <a:cubicBezTo>
                      <a:pt x="127037" y="2540"/>
                      <a:pt x="143547" y="0"/>
                      <a:pt x="154977" y="0"/>
                    </a:cubicBezTo>
                    <a:cubicBezTo>
                      <a:pt x="165137" y="1270"/>
                      <a:pt x="175297" y="5080"/>
                      <a:pt x="180377" y="12700"/>
                    </a:cubicBezTo>
                    <a:cubicBezTo>
                      <a:pt x="189267" y="22860"/>
                      <a:pt x="193077" y="52070"/>
                      <a:pt x="189267" y="64770"/>
                    </a:cubicBezTo>
                    <a:cubicBezTo>
                      <a:pt x="185457" y="73660"/>
                      <a:pt x="176567" y="81280"/>
                      <a:pt x="167677" y="83820"/>
                    </a:cubicBezTo>
                    <a:cubicBezTo>
                      <a:pt x="157517" y="87630"/>
                      <a:pt x="137197" y="87630"/>
                      <a:pt x="127037" y="81280"/>
                    </a:cubicBezTo>
                    <a:cubicBezTo>
                      <a:pt x="116877" y="74930"/>
                      <a:pt x="107987" y="57150"/>
                      <a:pt x="106717" y="45720"/>
                    </a:cubicBezTo>
                    <a:cubicBezTo>
                      <a:pt x="105447" y="36830"/>
                      <a:pt x="107987" y="25400"/>
                      <a:pt x="114337" y="19050"/>
                    </a:cubicBezTo>
                    <a:cubicBezTo>
                      <a:pt x="123227" y="8890"/>
                      <a:pt x="151167" y="-1270"/>
                      <a:pt x="165137" y="2540"/>
                    </a:cubicBezTo>
                    <a:cubicBezTo>
                      <a:pt x="176567" y="5080"/>
                      <a:pt x="187997" y="16510"/>
                      <a:pt x="193077" y="33020"/>
                    </a:cubicBezTo>
                    <a:cubicBezTo>
                      <a:pt x="201967" y="63500"/>
                      <a:pt x="181647" y="140970"/>
                      <a:pt x="162597" y="193040"/>
                    </a:cubicBezTo>
                    <a:cubicBezTo>
                      <a:pt x="141007" y="248920"/>
                      <a:pt x="94017" y="339090"/>
                      <a:pt x="63537" y="358140"/>
                    </a:cubicBezTo>
                    <a:cubicBezTo>
                      <a:pt x="50837" y="365760"/>
                      <a:pt x="35597" y="365760"/>
                      <a:pt x="25437" y="360680"/>
                    </a:cubicBezTo>
                    <a:cubicBezTo>
                      <a:pt x="14007" y="355600"/>
                      <a:pt x="1307" y="337820"/>
                      <a:pt x="37" y="321310"/>
                    </a:cubicBezTo>
                    <a:cubicBezTo>
                      <a:pt x="-1233" y="298450"/>
                      <a:pt x="30517" y="264160"/>
                      <a:pt x="40677" y="232410"/>
                    </a:cubicBezTo>
                    <a:cubicBezTo>
                      <a:pt x="50837" y="200660"/>
                      <a:pt x="43217" y="146050"/>
                      <a:pt x="59727" y="129540"/>
                    </a:cubicBezTo>
                    <a:cubicBezTo>
                      <a:pt x="69887" y="118110"/>
                      <a:pt x="91477" y="115570"/>
                      <a:pt x="102907" y="119380"/>
                    </a:cubicBezTo>
                    <a:cubicBezTo>
                      <a:pt x="114337" y="124460"/>
                      <a:pt x="127037" y="156210"/>
                      <a:pt x="127037" y="1562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83170" cy="5921786"/>
            </a:xfrm>
            <a:custGeom>
              <a:avLst/>
              <a:gdLst/>
              <a:ahLst/>
              <a:cxnLst/>
              <a:rect r="r" b="b" t="t" l="l"/>
              <a:pathLst>
                <a:path h="5921786" w="2883170">
                  <a:moveTo>
                    <a:pt x="0" y="0"/>
                  </a:moveTo>
                  <a:lnTo>
                    <a:pt x="2883170" y="0"/>
                  </a:lnTo>
                  <a:lnTo>
                    <a:pt x="2883170" y="5921786"/>
                  </a:lnTo>
                  <a:lnTo>
                    <a:pt x="0" y="5921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47088" y="3415057"/>
            <a:ext cx="4712709" cy="2850718"/>
            <a:chOff x="0" y="0"/>
            <a:chExt cx="6283612" cy="380095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283612" cy="3800957"/>
              <a:chOff x="0" y="0"/>
              <a:chExt cx="1241207" cy="75080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41207" cy="750806"/>
              </a:xfrm>
              <a:custGeom>
                <a:avLst/>
                <a:gdLst/>
                <a:ahLst/>
                <a:cxnLst/>
                <a:rect r="r" b="b" t="t" l="l"/>
                <a:pathLst>
                  <a:path h="750806" w="1241207">
                    <a:moveTo>
                      <a:pt x="60783" y="0"/>
                    </a:moveTo>
                    <a:lnTo>
                      <a:pt x="1180425" y="0"/>
                    </a:lnTo>
                    <a:cubicBezTo>
                      <a:pt x="1196545" y="0"/>
                      <a:pt x="1212005" y="6404"/>
                      <a:pt x="1223404" y="17803"/>
                    </a:cubicBezTo>
                    <a:cubicBezTo>
                      <a:pt x="1234803" y="29202"/>
                      <a:pt x="1241207" y="44662"/>
                      <a:pt x="1241207" y="60783"/>
                    </a:cubicBezTo>
                    <a:lnTo>
                      <a:pt x="1241207" y="690024"/>
                    </a:lnTo>
                    <a:cubicBezTo>
                      <a:pt x="1241207" y="706144"/>
                      <a:pt x="1234803" y="721604"/>
                      <a:pt x="1223404" y="733003"/>
                    </a:cubicBezTo>
                    <a:cubicBezTo>
                      <a:pt x="1212005" y="744402"/>
                      <a:pt x="1196545" y="750806"/>
                      <a:pt x="1180425" y="750806"/>
                    </a:cubicBezTo>
                    <a:lnTo>
                      <a:pt x="60783" y="750806"/>
                    </a:lnTo>
                    <a:cubicBezTo>
                      <a:pt x="44662" y="750806"/>
                      <a:pt x="29202" y="744402"/>
                      <a:pt x="17803" y="733003"/>
                    </a:cubicBezTo>
                    <a:cubicBezTo>
                      <a:pt x="6404" y="721604"/>
                      <a:pt x="0" y="706144"/>
                      <a:pt x="0" y="690024"/>
                    </a:cubicBezTo>
                    <a:lnTo>
                      <a:pt x="0" y="60783"/>
                    </a:lnTo>
                    <a:cubicBezTo>
                      <a:pt x="0" y="44662"/>
                      <a:pt x="6404" y="29202"/>
                      <a:pt x="17803" y="17803"/>
                    </a:cubicBezTo>
                    <a:cubicBezTo>
                      <a:pt x="29202" y="6404"/>
                      <a:pt x="44662" y="0"/>
                      <a:pt x="60783" y="0"/>
                    </a:cubicBezTo>
                    <a:close/>
                  </a:path>
                </a:pathLst>
              </a:custGeom>
              <a:solidFill>
                <a:srgbClr val="FF1300"/>
              </a:solidFill>
              <a:ln w="19050" cap="rnd">
                <a:solidFill>
                  <a:srgbClr val="F4ECE0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241207" cy="7984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2882528" y="403830"/>
              <a:ext cx="605016" cy="605016"/>
            </a:xfrm>
            <a:custGeom>
              <a:avLst/>
              <a:gdLst/>
              <a:ahLst/>
              <a:cxnLst/>
              <a:rect r="r" b="b" t="t" l="l"/>
              <a:pathLst>
                <a:path h="605016" w="605016">
                  <a:moveTo>
                    <a:pt x="0" y="0"/>
                  </a:moveTo>
                  <a:lnTo>
                    <a:pt x="605016" y="0"/>
                  </a:lnTo>
                  <a:lnTo>
                    <a:pt x="605016" y="605016"/>
                  </a:lnTo>
                  <a:lnTo>
                    <a:pt x="0" y="605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794518" y="1030008"/>
              <a:ext cx="497597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Early Revenue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94518" y="1690831"/>
              <a:ext cx="4043187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€420~ from Paid Events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32~ Total Paying Attendees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74147" y="3415057"/>
            <a:ext cx="4712709" cy="2850718"/>
            <a:chOff x="0" y="0"/>
            <a:chExt cx="6283612" cy="380095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283612" cy="3800957"/>
              <a:chOff x="0" y="0"/>
              <a:chExt cx="1241207" cy="7508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41207" cy="750806"/>
              </a:xfrm>
              <a:custGeom>
                <a:avLst/>
                <a:gdLst/>
                <a:ahLst/>
                <a:cxnLst/>
                <a:rect r="r" b="b" t="t" l="l"/>
                <a:pathLst>
                  <a:path h="750806" w="1241207">
                    <a:moveTo>
                      <a:pt x="60783" y="0"/>
                    </a:moveTo>
                    <a:lnTo>
                      <a:pt x="1180425" y="0"/>
                    </a:lnTo>
                    <a:cubicBezTo>
                      <a:pt x="1196545" y="0"/>
                      <a:pt x="1212005" y="6404"/>
                      <a:pt x="1223404" y="17803"/>
                    </a:cubicBezTo>
                    <a:cubicBezTo>
                      <a:pt x="1234803" y="29202"/>
                      <a:pt x="1241207" y="44662"/>
                      <a:pt x="1241207" y="60783"/>
                    </a:cubicBezTo>
                    <a:lnTo>
                      <a:pt x="1241207" y="690024"/>
                    </a:lnTo>
                    <a:cubicBezTo>
                      <a:pt x="1241207" y="706144"/>
                      <a:pt x="1234803" y="721604"/>
                      <a:pt x="1223404" y="733003"/>
                    </a:cubicBezTo>
                    <a:cubicBezTo>
                      <a:pt x="1212005" y="744402"/>
                      <a:pt x="1196545" y="750806"/>
                      <a:pt x="1180425" y="750806"/>
                    </a:cubicBezTo>
                    <a:lnTo>
                      <a:pt x="60783" y="750806"/>
                    </a:lnTo>
                    <a:cubicBezTo>
                      <a:pt x="44662" y="750806"/>
                      <a:pt x="29202" y="744402"/>
                      <a:pt x="17803" y="733003"/>
                    </a:cubicBezTo>
                    <a:cubicBezTo>
                      <a:pt x="6404" y="721604"/>
                      <a:pt x="0" y="706144"/>
                      <a:pt x="0" y="690024"/>
                    </a:cubicBezTo>
                    <a:lnTo>
                      <a:pt x="0" y="60783"/>
                    </a:lnTo>
                    <a:cubicBezTo>
                      <a:pt x="0" y="44662"/>
                      <a:pt x="6404" y="29202"/>
                      <a:pt x="17803" y="17803"/>
                    </a:cubicBezTo>
                    <a:cubicBezTo>
                      <a:pt x="29202" y="6404"/>
                      <a:pt x="44662" y="0"/>
                      <a:pt x="60783" y="0"/>
                    </a:cubicBezTo>
                    <a:close/>
                  </a:path>
                </a:pathLst>
              </a:custGeom>
              <a:solidFill>
                <a:srgbClr val="FF1300"/>
              </a:solidFill>
              <a:ln w="19050" cap="rnd">
                <a:solidFill>
                  <a:srgbClr val="F4ECE0"/>
                </a:soli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1241207" cy="7984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2993111" y="403830"/>
              <a:ext cx="600761" cy="592023"/>
            </a:xfrm>
            <a:custGeom>
              <a:avLst/>
              <a:gdLst/>
              <a:ahLst/>
              <a:cxnLst/>
              <a:rect r="r" b="b" t="t" l="l"/>
              <a:pathLst>
                <a:path h="592023" w="600761">
                  <a:moveTo>
                    <a:pt x="0" y="0"/>
                  </a:moveTo>
                  <a:lnTo>
                    <a:pt x="600761" y="0"/>
                  </a:lnTo>
                  <a:lnTo>
                    <a:pt x="600761" y="592023"/>
                  </a:lnTo>
                  <a:lnTo>
                    <a:pt x="0" y="592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660016" y="1030008"/>
              <a:ext cx="526695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Early Demand Signals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75754" y="1620856"/>
              <a:ext cx="5544782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150 Women Waitlist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30k</a:t>
              </a:r>
              <a:r>
                <a:rPr lang="en-US" sz="18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 Organic Views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 University + Corporate Partnerships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40 women piloting wave 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90372" y="4775645"/>
            <a:ext cx="580072" cy="1632585"/>
            <a:chOff x="0" y="0"/>
            <a:chExt cx="773430" cy="21767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8446" y="50800"/>
              <a:ext cx="674601" cy="2076930"/>
            </a:xfrm>
            <a:custGeom>
              <a:avLst/>
              <a:gdLst/>
              <a:ahLst/>
              <a:cxnLst/>
              <a:rect r="r" b="b" t="t" l="l"/>
              <a:pathLst>
                <a:path h="2076930" w="674601">
                  <a:moveTo>
                    <a:pt x="103954" y="0"/>
                  </a:moveTo>
                  <a:cubicBezTo>
                    <a:pt x="266514" y="78740"/>
                    <a:pt x="283024" y="96520"/>
                    <a:pt x="299534" y="119380"/>
                  </a:cubicBezTo>
                  <a:cubicBezTo>
                    <a:pt x="317314" y="144780"/>
                    <a:pt x="332554" y="171450"/>
                    <a:pt x="343984" y="209550"/>
                  </a:cubicBezTo>
                  <a:cubicBezTo>
                    <a:pt x="361764" y="269240"/>
                    <a:pt x="377004" y="387350"/>
                    <a:pt x="371924" y="444500"/>
                  </a:cubicBezTo>
                  <a:cubicBezTo>
                    <a:pt x="369384" y="478790"/>
                    <a:pt x="363034" y="501650"/>
                    <a:pt x="349064" y="527050"/>
                  </a:cubicBezTo>
                  <a:cubicBezTo>
                    <a:pt x="335094" y="552450"/>
                    <a:pt x="290644" y="568960"/>
                    <a:pt x="285564" y="594360"/>
                  </a:cubicBezTo>
                  <a:cubicBezTo>
                    <a:pt x="279214" y="617220"/>
                    <a:pt x="290644" y="642620"/>
                    <a:pt x="305884" y="668020"/>
                  </a:cubicBezTo>
                  <a:cubicBezTo>
                    <a:pt x="326204" y="707390"/>
                    <a:pt x="396054" y="754380"/>
                    <a:pt x="420184" y="793750"/>
                  </a:cubicBezTo>
                  <a:cubicBezTo>
                    <a:pt x="436694" y="820420"/>
                    <a:pt x="439234" y="836930"/>
                    <a:pt x="446854" y="868680"/>
                  </a:cubicBezTo>
                  <a:cubicBezTo>
                    <a:pt x="460824" y="915670"/>
                    <a:pt x="474794" y="976630"/>
                    <a:pt x="482414" y="1051560"/>
                  </a:cubicBezTo>
                  <a:cubicBezTo>
                    <a:pt x="495114" y="1169670"/>
                    <a:pt x="483684" y="1417320"/>
                    <a:pt x="493844" y="1510030"/>
                  </a:cubicBezTo>
                  <a:cubicBezTo>
                    <a:pt x="497654" y="1551940"/>
                    <a:pt x="498924" y="1562100"/>
                    <a:pt x="511624" y="1598930"/>
                  </a:cubicBezTo>
                  <a:cubicBezTo>
                    <a:pt x="534484" y="1671320"/>
                    <a:pt x="631004" y="1837690"/>
                    <a:pt x="655134" y="1903730"/>
                  </a:cubicBezTo>
                  <a:cubicBezTo>
                    <a:pt x="666564" y="1932940"/>
                    <a:pt x="672914" y="1949450"/>
                    <a:pt x="674184" y="1971040"/>
                  </a:cubicBezTo>
                  <a:cubicBezTo>
                    <a:pt x="675454" y="1990090"/>
                    <a:pt x="674184" y="2011680"/>
                    <a:pt x="665294" y="2028190"/>
                  </a:cubicBezTo>
                  <a:cubicBezTo>
                    <a:pt x="656404" y="2044700"/>
                    <a:pt x="642434" y="2061210"/>
                    <a:pt x="623384" y="2067560"/>
                  </a:cubicBezTo>
                  <a:cubicBezTo>
                    <a:pt x="601794" y="2076450"/>
                    <a:pt x="561154" y="2077720"/>
                    <a:pt x="539564" y="2065020"/>
                  </a:cubicBezTo>
                  <a:cubicBezTo>
                    <a:pt x="517974" y="2052320"/>
                    <a:pt x="496384" y="2018030"/>
                    <a:pt x="495114" y="1992630"/>
                  </a:cubicBezTo>
                  <a:cubicBezTo>
                    <a:pt x="492574" y="1967230"/>
                    <a:pt x="509084" y="1930400"/>
                    <a:pt x="529404" y="1915160"/>
                  </a:cubicBezTo>
                  <a:cubicBezTo>
                    <a:pt x="548454" y="1899920"/>
                    <a:pt x="589094" y="1892300"/>
                    <a:pt x="613224" y="1899920"/>
                  </a:cubicBezTo>
                  <a:cubicBezTo>
                    <a:pt x="636084" y="1907540"/>
                    <a:pt x="665294" y="1936750"/>
                    <a:pt x="671644" y="1960880"/>
                  </a:cubicBezTo>
                  <a:cubicBezTo>
                    <a:pt x="679264" y="1985010"/>
                    <a:pt x="667834" y="2025650"/>
                    <a:pt x="655134" y="2044700"/>
                  </a:cubicBezTo>
                  <a:cubicBezTo>
                    <a:pt x="643704" y="2059940"/>
                    <a:pt x="623384" y="2070100"/>
                    <a:pt x="605604" y="2075180"/>
                  </a:cubicBezTo>
                  <a:cubicBezTo>
                    <a:pt x="587824" y="2078990"/>
                    <a:pt x="564964" y="2076450"/>
                    <a:pt x="548454" y="2068830"/>
                  </a:cubicBezTo>
                  <a:cubicBezTo>
                    <a:pt x="530674" y="2061210"/>
                    <a:pt x="521784" y="2052320"/>
                    <a:pt x="505274" y="2029460"/>
                  </a:cubicBezTo>
                  <a:cubicBezTo>
                    <a:pt x="462094" y="1968500"/>
                    <a:pt x="363034" y="1720850"/>
                    <a:pt x="336364" y="1637030"/>
                  </a:cubicBezTo>
                  <a:cubicBezTo>
                    <a:pt x="323664" y="1597660"/>
                    <a:pt x="321124" y="1590040"/>
                    <a:pt x="317314" y="1550670"/>
                  </a:cubicBezTo>
                  <a:cubicBezTo>
                    <a:pt x="305884" y="1460500"/>
                    <a:pt x="319854" y="1220470"/>
                    <a:pt x="309694" y="1107440"/>
                  </a:cubicBezTo>
                  <a:cubicBezTo>
                    <a:pt x="302074" y="1033780"/>
                    <a:pt x="293184" y="977900"/>
                    <a:pt x="279214" y="929640"/>
                  </a:cubicBezTo>
                  <a:cubicBezTo>
                    <a:pt x="269054" y="896620"/>
                    <a:pt x="261434" y="875030"/>
                    <a:pt x="241114" y="847090"/>
                  </a:cubicBezTo>
                  <a:cubicBezTo>
                    <a:pt x="214444" y="808990"/>
                    <a:pt x="149674" y="768350"/>
                    <a:pt x="123004" y="730250"/>
                  </a:cubicBezTo>
                  <a:cubicBezTo>
                    <a:pt x="102684" y="699770"/>
                    <a:pt x="89984" y="671830"/>
                    <a:pt x="82364" y="642620"/>
                  </a:cubicBezTo>
                  <a:cubicBezTo>
                    <a:pt x="76014" y="615950"/>
                    <a:pt x="73474" y="586740"/>
                    <a:pt x="79824" y="562610"/>
                  </a:cubicBezTo>
                  <a:cubicBezTo>
                    <a:pt x="86174" y="538480"/>
                    <a:pt x="103954" y="513080"/>
                    <a:pt x="123004" y="495300"/>
                  </a:cubicBezTo>
                  <a:cubicBezTo>
                    <a:pt x="143324" y="476250"/>
                    <a:pt x="189044" y="480060"/>
                    <a:pt x="203014" y="454660"/>
                  </a:cubicBezTo>
                  <a:cubicBezTo>
                    <a:pt x="222064" y="421640"/>
                    <a:pt x="199204" y="336550"/>
                    <a:pt x="190314" y="293370"/>
                  </a:cubicBezTo>
                  <a:cubicBezTo>
                    <a:pt x="185234" y="261620"/>
                    <a:pt x="182694" y="234950"/>
                    <a:pt x="167454" y="214630"/>
                  </a:cubicBezTo>
                  <a:cubicBezTo>
                    <a:pt x="153484" y="193040"/>
                    <a:pt x="125544" y="179070"/>
                    <a:pt x="103954" y="166370"/>
                  </a:cubicBezTo>
                  <a:cubicBezTo>
                    <a:pt x="82364" y="154940"/>
                    <a:pt x="51884" y="153670"/>
                    <a:pt x="35374" y="139700"/>
                  </a:cubicBezTo>
                  <a:cubicBezTo>
                    <a:pt x="20134" y="128270"/>
                    <a:pt x="7434" y="111760"/>
                    <a:pt x="2354" y="95250"/>
                  </a:cubicBezTo>
                  <a:cubicBezTo>
                    <a:pt x="-2726" y="78740"/>
                    <a:pt x="1084" y="54610"/>
                    <a:pt x="7434" y="39370"/>
                  </a:cubicBezTo>
                  <a:cubicBezTo>
                    <a:pt x="12514" y="27940"/>
                    <a:pt x="20134" y="17780"/>
                    <a:pt x="31564" y="11430"/>
                  </a:cubicBezTo>
                  <a:cubicBezTo>
                    <a:pt x="48074" y="1270"/>
                    <a:pt x="103954" y="0"/>
                    <a:pt x="103954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808946" y="4799458"/>
            <a:ext cx="542925" cy="1584960"/>
            <a:chOff x="0" y="0"/>
            <a:chExt cx="723900" cy="2113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8623" y="47122"/>
              <a:ext cx="625972" cy="2018388"/>
            </a:xfrm>
            <a:custGeom>
              <a:avLst/>
              <a:gdLst/>
              <a:ahLst/>
              <a:cxnLst/>
              <a:rect r="r" b="b" t="t" l="l"/>
              <a:pathLst>
                <a:path h="2018388" w="625972">
                  <a:moveTo>
                    <a:pt x="488587" y="1992498"/>
                  </a:moveTo>
                  <a:cubicBezTo>
                    <a:pt x="162197" y="1639438"/>
                    <a:pt x="145687" y="1587368"/>
                    <a:pt x="131717" y="1540378"/>
                  </a:cubicBezTo>
                  <a:cubicBezTo>
                    <a:pt x="119017" y="1502278"/>
                    <a:pt x="116477" y="1485768"/>
                    <a:pt x="111397" y="1434968"/>
                  </a:cubicBezTo>
                  <a:cubicBezTo>
                    <a:pt x="97427" y="1302888"/>
                    <a:pt x="79647" y="822828"/>
                    <a:pt x="97427" y="717418"/>
                  </a:cubicBezTo>
                  <a:cubicBezTo>
                    <a:pt x="103777" y="685668"/>
                    <a:pt x="107587" y="672968"/>
                    <a:pt x="120287" y="658998"/>
                  </a:cubicBezTo>
                  <a:cubicBezTo>
                    <a:pt x="132987" y="643758"/>
                    <a:pt x="155847" y="632328"/>
                    <a:pt x="176167" y="629788"/>
                  </a:cubicBezTo>
                  <a:cubicBezTo>
                    <a:pt x="195217" y="627248"/>
                    <a:pt x="220617" y="634868"/>
                    <a:pt x="237127" y="645028"/>
                  </a:cubicBezTo>
                  <a:cubicBezTo>
                    <a:pt x="249827" y="652648"/>
                    <a:pt x="254907" y="658998"/>
                    <a:pt x="265067" y="676778"/>
                  </a:cubicBezTo>
                  <a:cubicBezTo>
                    <a:pt x="291737" y="726308"/>
                    <a:pt x="333647" y="909188"/>
                    <a:pt x="350157" y="1003168"/>
                  </a:cubicBezTo>
                  <a:cubicBezTo>
                    <a:pt x="362857" y="1071748"/>
                    <a:pt x="365397" y="1120008"/>
                    <a:pt x="366667" y="1186048"/>
                  </a:cubicBezTo>
                  <a:cubicBezTo>
                    <a:pt x="370477" y="1262248"/>
                    <a:pt x="367937" y="1372738"/>
                    <a:pt x="362857" y="1433698"/>
                  </a:cubicBezTo>
                  <a:cubicBezTo>
                    <a:pt x="360317" y="1470528"/>
                    <a:pt x="361587" y="1497198"/>
                    <a:pt x="350157" y="1520058"/>
                  </a:cubicBezTo>
                  <a:cubicBezTo>
                    <a:pt x="341267" y="1539108"/>
                    <a:pt x="323487" y="1556888"/>
                    <a:pt x="308247" y="1565778"/>
                  </a:cubicBezTo>
                  <a:cubicBezTo>
                    <a:pt x="296817" y="1572128"/>
                    <a:pt x="281577" y="1574668"/>
                    <a:pt x="268877" y="1574668"/>
                  </a:cubicBezTo>
                  <a:cubicBezTo>
                    <a:pt x="254907" y="1574668"/>
                    <a:pt x="240937" y="1572128"/>
                    <a:pt x="228237" y="1563238"/>
                  </a:cubicBezTo>
                  <a:cubicBezTo>
                    <a:pt x="212997" y="1554348"/>
                    <a:pt x="197757" y="1542918"/>
                    <a:pt x="187597" y="1517518"/>
                  </a:cubicBezTo>
                  <a:cubicBezTo>
                    <a:pt x="166007" y="1457828"/>
                    <a:pt x="195217" y="1293998"/>
                    <a:pt x="186327" y="1178428"/>
                  </a:cubicBezTo>
                  <a:cubicBezTo>
                    <a:pt x="177437" y="1055238"/>
                    <a:pt x="145687" y="874898"/>
                    <a:pt x="127907" y="797428"/>
                  </a:cubicBezTo>
                  <a:cubicBezTo>
                    <a:pt x="119017" y="763138"/>
                    <a:pt x="116477" y="751708"/>
                    <a:pt x="103777" y="723768"/>
                  </a:cubicBezTo>
                  <a:cubicBezTo>
                    <a:pt x="84727" y="679318"/>
                    <a:pt x="28847" y="612008"/>
                    <a:pt x="13607" y="563748"/>
                  </a:cubicBezTo>
                  <a:cubicBezTo>
                    <a:pt x="907" y="526918"/>
                    <a:pt x="-2903" y="498978"/>
                    <a:pt x="2177" y="462148"/>
                  </a:cubicBezTo>
                  <a:cubicBezTo>
                    <a:pt x="9797" y="412618"/>
                    <a:pt x="60597" y="346578"/>
                    <a:pt x="70757" y="294508"/>
                  </a:cubicBezTo>
                  <a:cubicBezTo>
                    <a:pt x="78377" y="251328"/>
                    <a:pt x="83457" y="203068"/>
                    <a:pt x="70757" y="172588"/>
                  </a:cubicBezTo>
                  <a:cubicBezTo>
                    <a:pt x="59327" y="147188"/>
                    <a:pt x="19957" y="137028"/>
                    <a:pt x="11067" y="116708"/>
                  </a:cubicBezTo>
                  <a:cubicBezTo>
                    <a:pt x="3447" y="98928"/>
                    <a:pt x="3447" y="77338"/>
                    <a:pt x="9797" y="60828"/>
                  </a:cubicBezTo>
                  <a:cubicBezTo>
                    <a:pt x="18687" y="39238"/>
                    <a:pt x="47897" y="11298"/>
                    <a:pt x="69487" y="3678"/>
                  </a:cubicBezTo>
                  <a:cubicBezTo>
                    <a:pt x="87267" y="-2672"/>
                    <a:pt x="108857" y="-132"/>
                    <a:pt x="125367" y="6218"/>
                  </a:cubicBezTo>
                  <a:cubicBezTo>
                    <a:pt x="141877" y="12568"/>
                    <a:pt x="158387" y="27808"/>
                    <a:pt x="167277" y="43048"/>
                  </a:cubicBezTo>
                  <a:cubicBezTo>
                    <a:pt x="177437" y="57018"/>
                    <a:pt x="181247" y="79878"/>
                    <a:pt x="179977" y="96388"/>
                  </a:cubicBezTo>
                  <a:cubicBezTo>
                    <a:pt x="178707" y="114168"/>
                    <a:pt x="171087" y="134488"/>
                    <a:pt x="157117" y="147188"/>
                  </a:cubicBezTo>
                  <a:cubicBezTo>
                    <a:pt x="140607" y="162428"/>
                    <a:pt x="102507" y="176398"/>
                    <a:pt x="79647" y="173858"/>
                  </a:cubicBezTo>
                  <a:cubicBezTo>
                    <a:pt x="60597" y="172588"/>
                    <a:pt x="41547" y="161158"/>
                    <a:pt x="30117" y="148458"/>
                  </a:cubicBezTo>
                  <a:cubicBezTo>
                    <a:pt x="17417" y="135758"/>
                    <a:pt x="7257" y="116708"/>
                    <a:pt x="5987" y="97658"/>
                  </a:cubicBezTo>
                  <a:cubicBezTo>
                    <a:pt x="5987" y="74798"/>
                    <a:pt x="17417" y="36698"/>
                    <a:pt x="36467" y="21458"/>
                  </a:cubicBezTo>
                  <a:cubicBezTo>
                    <a:pt x="54247" y="6218"/>
                    <a:pt x="88537" y="-1402"/>
                    <a:pt x="116477" y="3678"/>
                  </a:cubicBezTo>
                  <a:cubicBezTo>
                    <a:pt x="148227" y="8758"/>
                    <a:pt x="195217" y="39238"/>
                    <a:pt x="214267" y="65908"/>
                  </a:cubicBezTo>
                  <a:cubicBezTo>
                    <a:pt x="232047" y="87498"/>
                    <a:pt x="233317" y="112898"/>
                    <a:pt x="238397" y="144648"/>
                  </a:cubicBezTo>
                  <a:cubicBezTo>
                    <a:pt x="244747" y="191638"/>
                    <a:pt x="246017" y="272918"/>
                    <a:pt x="240937" y="319908"/>
                  </a:cubicBezTo>
                  <a:cubicBezTo>
                    <a:pt x="237127" y="354198"/>
                    <a:pt x="230777" y="379598"/>
                    <a:pt x="219347" y="404998"/>
                  </a:cubicBezTo>
                  <a:cubicBezTo>
                    <a:pt x="206647" y="429128"/>
                    <a:pt x="174897" y="445638"/>
                    <a:pt x="169817" y="469768"/>
                  </a:cubicBezTo>
                  <a:cubicBezTo>
                    <a:pt x="164737" y="492628"/>
                    <a:pt x="176167" y="518028"/>
                    <a:pt x="186327" y="545968"/>
                  </a:cubicBezTo>
                  <a:cubicBezTo>
                    <a:pt x="201567" y="587878"/>
                    <a:pt x="240937" y="631058"/>
                    <a:pt x="261257" y="688208"/>
                  </a:cubicBezTo>
                  <a:cubicBezTo>
                    <a:pt x="290467" y="768218"/>
                    <a:pt x="306977" y="897758"/>
                    <a:pt x="323487" y="985388"/>
                  </a:cubicBezTo>
                  <a:cubicBezTo>
                    <a:pt x="334917" y="1055238"/>
                    <a:pt x="345077" y="1100958"/>
                    <a:pt x="351427" y="1172078"/>
                  </a:cubicBezTo>
                  <a:cubicBezTo>
                    <a:pt x="359047" y="1266058"/>
                    <a:pt x="371747" y="1437508"/>
                    <a:pt x="355237" y="1499738"/>
                  </a:cubicBezTo>
                  <a:cubicBezTo>
                    <a:pt x="348887" y="1526408"/>
                    <a:pt x="341267" y="1541648"/>
                    <a:pt x="326027" y="1553078"/>
                  </a:cubicBezTo>
                  <a:cubicBezTo>
                    <a:pt x="312057" y="1565778"/>
                    <a:pt x="287927" y="1574668"/>
                    <a:pt x="268877" y="1574668"/>
                  </a:cubicBezTo>
                  <a:cubicBezTo>
                    <a:pt x="248557" y="1574668"/>
                    <a:pt x="225697" y="1564508"/>
                    <a:pt x="210457" y="1551808"/>
                  </a:cubicBezTo>
                  <a:cubicBezTo>
                    <a:pt x="196487" y="1539108"/>
                    <a:pt x="187597" y="1520058"/>
                    <a:pt x="183787" y="1497198"/>
                  </a:cubicBezTo>
                  <a:cubicBezTo>
                    <a:pt x="176167" y="1460368"/>
                    <a:pt x="195217" y="1410838"/>
                    <a:pt x="196487" y="1354958"/>
                  </a:cubicBezTo>
                  <a:cubicBezTo>
                    <a:pt x="197757" y="1272408"/>
                    <a:pt x="196487" y="1151758"/>
                    <a:pt x="181247" y="1047618"/>
                  </a:cubicBezTo>
                  <a:cubicBezTo>
                    <a:pt x="164737" y="939668"/>
                    <a:pt x="93617" y="782188"/>
                    <a:pt x="97427" y="717418"/>
                  </a:cubicBezTo>
                  <a:cubicBezTo>
                    <a:pt x="99967" y="689478"/>
                    <a:pt x="107587" y="672968"/>
                    <a:pt x="120287" y="658998"/>
                  </a:cubicBezTo>
                  <a:cubicBezTo>
                    <a:pt x="132987" y="643758"/>
                    <a:pt x="158387" y="632328"/>
                    <a:pt x="176167" y="629788"/>
                  </a:cubicBezTo>
                  <a:cubicBezTo>
                    <a:pt x="190137" y="627248"/>
                    <a:pt x="204107" y="628518"/>
                    <a:pt x="218077" y="634868"/>
                  </a:cubicBezTo>
                  <a:cubicBezTo>
                    <a:pt x="234587" y="642488"/>
                    <a:pt x="252367" y="650108"/>
                    <a:pt x="265067" y="676778"/>
                  </a:cubicBezTo>
                  <a:cubicBezTo>
                    <a:pt x="306977" y="768218"/>
                    <a:pt x="266337" y="1282568"/>
                    <a:pt x="280307" y="1413378"/>
                  </a:cubicBezTo>
                  <a:cubicBezTo>
                    <a:pt x="285387" y="1461638"/>
                    <a:pt x="290467" y="1480688"/>
                    <a:pt x="299357" y="1511168"/>
                  </a:cubicBezTo>
                  <a:cubicBezTo>
                    <a:pt x="308247" y="1540378"/>
                    <a:pt x="312057" y="1560698"/>
                    <a:pt x="333647" y="1593718"/>
                  </a:cubicBezTo>
                  <a:cubicBezTo>
                    <a:pt x="374287" y="1657218"/>
                    <a:pt x="517797" y="1781678"/>
                    <a:pt x="567327" y="1843908"/>
                  </a:cubicBezTo>
                  <a:cubicBezTo>
                    <a:pt x="593997" y="1876928"/>
                    <a:pt x="618127" y="1898518"/>
                    <a:pt x="624477" y="1923918"/>
                  </a:cubicBezTo>
                  <a:cubicBezTo>
                    <a:pt x="628287" y="1942968"/>
                    <a:pt x="624477" y="1963288"/>
                    <a:pt x="616857" y="1978528"/>
                  </a:cubicBezTo>
                  <a:cubicBezTo>
                    <a:pt x="607967" y="1993768"/>
                    <a:pt x="590187" y="2009008"/>
                    <a:pt x="573677" y="2014088"/>
                  </a:cubicBezTo>
                  <a:cubicBezTo>
                    <a:pt x="558437" y="2020438"/>
                    <a:pt x="534307" y="2019168"/>
                    <a:pt x="519067" y="2014088"/>
                  </a:cubicBezTo>
                  <a:cubicBezTo>
                    <a:pt x="506367" y="2010278"/>
                    <a:pt x="488587" y="1992498"/>
                    <a:pt x="488587" y="199249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268403" y="5665280"/>
            <a:ext cx="271462" cy="440055"/>
            <a:chOff x="0" y="0"/>
            <a:chExt cx="361950" cy="5867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703" y="49479"/>
              <a:ext cx="262352" cy="488130"/>
            </a:xfrm>
            <a:custGeom>
              <a:avLst/>
              <a:gdLst/>
              <a:ahLst/>
              <a:cxnLst/>
              <a:rect r="r" b="b" t="t" l="l"/>
              <a:pathLst>
                <a:path h="488130" w="262352">
                  <a:moveTo>
                    <a:pt x="28037" y="247701"/>
                  </a:moveTo>
                  <a:cubicBezTo>
                    <a:pt x="226157" y="443281"/>
                    <a:pt x="226157" y="449631"/>
                    <a:pt x="223617" y="452171"/>
                  </a:cubicBezTo>
                  <a:cubicBezTo>
                    <a:pt x="219807" y="455981"/>
                    <a:pt x="212187" y="457251"/>
                    <a:pt x="205837" y="454711"/>
                  </a:cubicBezTo>
                  <a:cubicBezTo>
                    <a:pt x="191867" y="450901"/>
                    <a:pt x="171547" y="426771"/>
                    <a:pt x="149957" y="405181"/>
                  </a:cubicBezTo>
                  <a:cubicBezTo>
                    <a:pt x="113127" y="368351"/>
                    <a:pt x="12797" y="304851"/>
                    <a:pt x="12797" y="252781"/>
                  </a:cubicBezTo>
                  <a:cubicBezTo>
                    <a:pt x="11527" y="196901"/>
                    <a:pt x="113127" y="124511"/>
                    <a:pt x="160117" y="80061"/>
                  </a:cubicBezTo>
                  <a:cubicBezTo>
                    <a:pt x="194407" y="47041"/>
                    <a:pt x="246477" y="-2489"/>
                    <a:pt x="257907" y="1321"/>
                  </a:cubicBezTo>
                  <a:cubicBezTo>
                    <a:pt x="261717" y="3861"/>
                    <a:pt x="262987" y="12751"/>
                    <a:pt x="260447" y="21641"/>
                  </a:cubicBezTo>
                  <a:cubicBezTo>
                    <a:pt x="246477" y="57201"/>
                    <a:pt x="33117" y="166421"/>
                    <a:pt x="30577" y="241351"/>
                  </a:cubicBezTo>
                  <a:cubicBezTo>
                    <a:pt x="26767" y="315011"/>
                    <a:pt x="233777" y="455981"/>
                    <a:pt x="227427" y="466141"/>
                  </a:cubicBezTo>
                  <a:cubicBezTo>
                    <a:pt x="224887" y="469951"/>
                    <a:pt x="204567" y="463601"/>
                    <a:pt x="190597" y="452171"/>
                  </a:cubicBezTo>
                  <a:cubicBezTo>
                    <a:pt x="155037" y="424231"/>
                    <a:pt x="53437" y="275641"/>
                    <a:pt x="45817" y="243891"/>
                  </a:cubicBezTo>
                  <a:cubicBezTo>
                    <a:pt x="43277" y="236271"/>
                    <a:pt x="44547" y="228651"/>
                    <a:pt x="47087" y="227381"/>
                  </a:cubicBezTo>
                  <a:cubicBezTo>
                    <a:pt x="50897" y="224841"/>
                    <a:pt x="57247" y="224841"/>
                    <a:pt x="63597" y="228651"/>
                  </a:cubicBezTo>
                  <a:cubicBezTo>
                    <a:pt x="82647" y="240081"/>
                    <a:pt x="139797" y="320091"/>
                    <a:pt x="153767" y="346761"/>
                  </a:cubicBezTo>
                  <a:cubicBezTo>
                    <a:pt x="158847" y="359461"/>
                    <a:pt x="165197" y="374701"/>
                    <a:pt x="161387" y="377241"/>
                  </a:cubicBezTo>
                  <a:cubicBezTo>
                    <a:pt x="155037" y="382321"/>
                    <a:pt x="102967" y="346761"/>
                    <a:pt x="81377" y="325171"/>
                  </a:cubicBezTo>
                  <a:cubicBezTo>
                    <a:pt x="58517" y="302311"/>
                    <a:pt x="26767" y="265481"/>
                    <a:pt x="28037" y="242621"/>
                  </a:cubicBezTo>
                  <a:cubicBezTo>
                    <a:pt x="28037" y="227381"/>
                    <a:pt x="43277" y="217221"/>
                    <a:pt x="57247" y="204521"/>
                  </a:cubicBezTo>
                  <a:cubicBezTo>
                    <a:pt x="78837" y="184201"/>
                    <a:pt x="122017" y="167691"/>
                    <a:pt x="147417" y="142291"/>
                  </a:cubicBezTo>
                  <a:cubicBezTo>
                    <a:pt x="171547" y="116891"/>
                    <a:pt x="191867" y="64821"/>
                    <a:pt x="207107" y="55931"/>
                  </a:cubicBezTo>
                  <a:cubicBezTo>
                    <a:pt x="213457" y="52121"/>
                    <a:pt x="221077" y="52121"/>
                    <a:pt x="224887" y="54661"/>
                  </a:cubicBezTo>
                  <a:cubicBezTo>
                    <a:pt x="228697" y="57201"/>
                    <a:pt x="231237" y="64821"/>
                    <a:pt x="228697" y="71171"/>
                  </a:cubicBezTo>
                  <a:cubicBezTo>
                    <a:pt x="222347" y="86411"/>
                    <a:pt x="179167" y="101651"/>
                    <a:pt x="155037" y="125781"/>
                  </a:cubicBezTo>
                  <a:cubicBezTo>
                    <a:pt x="122017" y="154991"/>
                    <a:pt x="64867" y="243891"/>
                    <a:pt x="53437" y="241351"/>
                  </a:cubicBezTo>
                  <a:cubicBezTo>
                    <a:pt x="49627" y="241351"/>
                    <a:pt x="47087" y="227381"/>
                    <a:pt x="49627" y="227381"/>
                  </a:cubicBezTo>
                  <a:cubicBezTo>
                    <a:pt x="54707" y="223571"/>
                    <a:pt x="128367" y="295961"/>
                    <a:pt x="146147" y="323901"/>
                  </a:cubicBezTo>
                  <a:cubicBezTo>
                    <a:pt x="157577" y="341681"/>
                    <a:pt x="167737" y="365811"/>
                    <a:pt x="163927" y="370891"/>
                  </a:cubicBezTo>
                  <a:cubicBezTo>
                    <a:pt x="161387" y="374701"/>
                    <a:pt x="153767" y="374701"/>
                    <a:pt x="147417" y="372161"/>
                  </a:cubicBezTo>
                  <a:cubicBezTo>
                    <a:pt x="134717" y="367081"/>
                    <a:pt x="105507" y="331521"/>
                    <a:pt x="102967" y="317551"/>
                  </a:cubicBezTo>
                  <a:cubicBezTo>
                    <a:pt x="101697" y="309931"/>
                    <a:pt x="105507" y="298501"/>
                    <a:pt x="109317" y="297231"/>
                  </a:cubicBezTo>
                  <a:cubicBezTo>
                    <a:pt x="113127" y="297231"/>
                    <a:pt x="125827" y="307391"/>
                    <a:pt x="124557" y="311201"/>
                  </a:cubicBezTo>
                  <a:cubicBezTo>
                    <a:pt x="124557" y="315011"/>
                    <a:pt x="109317" y="322631"/>
                    <a:pt x="106777" y="320091"/>
                  </a:cubicBezTo>
                  <a:cubicBezTo>
                    <a:pt x="102967" y="318821"/>
                    <a:pt x="101697" y="302311"/>
                    <a:pt x="104237" y="299771"/>
                  </a:cubicBezTo>
                  <a:cubicBezTo>
                    <a:pt x="108047" y="297231"/>
                    <a:pt x="115667" y="298501"/>
                    <a:pt x="123287" y="302311"/>
                  </a:cubicBezTo>
                  <a:cubicBezTo>
                    <a:pt x="135987" y="309931"/>
                    <a:pt x="167737" y="345491"/>
                    <a:pt x="166467" y="356921"/>
                  </a:cubicBezTo>
                  <a:cubicBezTo>
                    <a:pt x="166467" y="364541"/>
                    <a:pt x="156307" y="373431"/>
                    <a:pt x="147417" y="372161"/>
                  </a:cubicBezTo>
                  <a:cubicBezTo>
                    <a:pt x="124557" y="369621"/>
                    <a:pt x="30577" y="274371"/>
                    <a:pt x="31847" y="226111"/>
                  </a:cubicBezTo>
                  <a:cubicBezTo>
                    <a:pt x="34387" y="175311"/>
                    <a:pt x="138527" y="97841"/>
                    <a:pt x="176627" y="73711"/>
                  </a:cubicBezTo>
                  <a:cubicBezTo>
                    <a:pt x="195677" y="61011"/>
                    <a:pt x="222347" y="50851"/>
                    <a:pt x="227427" y="57201"/>
                  </a:cubicBezTo>
                  <a:cubicBezTo>
                    <a:pt x="233777" y="64821"/>
                    <a:pt x="196947" y="123241"/>
                    <a:pt x="171547" y="152451"/>
                  </a:cubicBezTo>
                  <a:cubicBezTo>
                    <a:pt x="141067" y="186741"/>
                    <a:pt x="57247" y="215951"/>
                    <a:pt x="50897" y="243891"/>
                  </a:cubicBezTo>
                  <a:cubicBezTo>
                    <a:pt x="47087" y="260401"/>
                    <a:pt x="63597" y="274371"/>
                    <a:pt x="76297" y="289611"/>
                  </a:cubicBezTo>
                  <a:cubicBezTo>
                    <a:pt x="94077" y="312471"/>
                    <a:pt x="157577" y="351841"/>
                    <a:pt x="155037" y="359461"/>
                  </a:cubicBezTo>
                  <a:cubicBezTo>
                    <a:pt x="153767" y="363271"/>
                    <a:pt x="143607" y="364541"/>
                    <a:pt x="135987" y="360731"/>
                  </a:cubicBezTo>
                  <a:cubicBezTo>
                    <a:pt x="115667" y="350571"/>
                    <a:pt x="39467" y="255321"/>
                    <a:pt x="42007" y="236271"/>
                  </a:cubicBezTo>
                  <a:cubicBezTo>
                    <a:pt x="43277" y="229921"/>
                    <a:pt x="53437" y="224841"/>
                    <a:pt x="58517" y="226111"/>
                  </a:cubicBezTo>
                  <a:cubicBezTo>
                    <a:pt x="66137" y="226111"/>
                    <a:pt x="72487" y="240081"/>
                    <a:pt x="82647" y="254051"/>
                  </a:cubicBezTo>
                  <a:cubicBezTo>
                    <a:pt x="111857" y="290881"/>
                    <a:pt x="207107" y="412801"/>
                    <a:pt x="223617" y="452171"/>
                  </a:cubicBezTo>
                  <a:cubicBezTo>
                    <a:pt x="228697" y="467411"/>
                    <a:pt x="232507" y="481381"/>
                    <a:pt x="228697" y="486461"/>
                  </a:cubicBezTo>
                  <a:cubicBezTo>
                    <a:pt x="224887" y="489001"/>
                    <a:pt x="217267" y="489001"/>
                    <a:pt x="207107" y="483921"/>
                  </a:cubicBezTo>
                  <a:cubicBezTo>
                    <a:pt x="171547" y="464871"/>
                    <a:pt x="5177" y="292151"/>
                    <a:pt x="97" y="246431"/>
                  </a:cubicBezTo>
                  <a:cubicBezTo>
                    <a:pt x="-1173" y="228651"/>
                    <a:pt x="10257" y="224841"/>
                    <a:pt x="22957" y="209601"/>
                  </a:cubicBezTo>
                  <a:cubicBezTo>
                    <a:pt x="50897" y="171501"/>
                    <a:pt x="153767" y="80061"/>
                    <a:pt x="194407" y="43231"/>
                  </a:cubicBezTo>
                  <a:cubicBezTo>
                    <a:pt x="214727" y="24181"/>
                    <a:pt x="229967" y="5131"/>
                    <a:pt x="242667" y="1321"/>
                  </a:cubicBezTo>
                  <a:cubicBezTo>
                    <a:pt x="249017" y="-1219"/>
                    <a:pt x="256637" y="51"/>
                    <a:pt x="260447" y="3861"/>
                  </a:cubicBezTo>
                  <a:cubicBezTo>
                    <a:pt x="262987" y="6401"/>
                    <a:pt x="262987" y="12751"/>
                    <a:pt x="260447" y="21641"/>
                  </a:cubicBezTo>
                  <a:cubicBezTo>
                    <a:pt x="245207" y="55931"/>
                    <a:pt x="40737" y="172771"/>
                    <a:pt x="39467" y="245161"/>
                  </a:cubicBezTo>
                  <a:cubicBezTo>
                    <a:pt x="39467" y="309931"/>
                    <a:pt x="209647" y="403911"/>
                    <a:pt x="222347" y="435661"/>
                  </a:cubicBezTo>
                  <a:cubicBezTo>
                    <a:pt x="226157" y="443281"/>
                    <a:pt x="226157" y="449631"/>
                    <a:pt x="223617" y="452171"/>
                  </a:cubicBezTo>
                  <a:cubicBezTo>
                    <a:pt x="219807" y="455981"/>
                    <a:pt x="212187" y="455981"/>
                    <a:pt x="203297" y="453441"/>
                  </a:cubicBezTo>
                  <a:cubicBezTo>
                    <a:pt x="171547" y="440741"/>
                    <a:pt x="21687" y="294691"/>
                    <a:pt x="10257" y="265481"/>
                  </a:cubicBezTo>
                  <a:cubicBezTo>
                    <a:pt x="7717" y="257861"/>
                    <a:pt x="8987" y="251511"/>
                    <a:pt x="11527" y="248971"/>
                  </a:cubicBezTo>
                  <a:cubicBezTo>
                    <a:pt x="15337" y="246431"/>
                    <a:pt x="28037" y="247701"/>
                    <a:pt x="28037" y="24770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316980" y="5678615"/>
            <a:ext cx="298132" cy="366712"/>
            <a:chOff x="0" y="0"/>
            <a:chExt cx="397510" cy="4889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383" y="50605"/>
              <a:ext cx="283327" cy="386323"/>
            </a:xfrm>
            <a:custGeom>
              <a:avLst/>
              <a:gdLst/>
              <a:ahLst/>
              <a:cxnLst/>
              <a:rect r="r" b="b" t="t" l="l"/>
              <a:pathLst>
                <a:path h="386323" w="283327">
                  <a:moveTo>
                    <a:pt x="97907" y="363415"/>
                  </a:moveTo>
                  <a:cubicBezTo>
                    <a:pt x="-16393" y="205935"/>
                    <a:pt x="-4963" y="188155"/>
                    <a:pt x="7737" y="165295"/>
                  </a:cubicBezTo>
                  <a:cubicBezTo>
                    <a:pt x="25517" y="133545"/>
                    <a:pt x="64887" y="91635"/>
                    <a:pt x="99177" y="63695"/>
                  </a:cubicBezTo>
                  <a:cubicBezTo>
                    <a:pt x="130927" y="37025"/>
                    <a:pt x="171567" y="4005"/>
                    <a:pt x="202047" y="1465"/>
                  </a:cubicBezTo>
                  <a:cubicBezTo>
                    <a:pt x="224907" y="-1075"/>
                    <a:pt x="251577" y="7815"/>
                    <a:pt x="264277" y="23055"/>
                  </a:cubicBezTo>
                  <a:cubicBezTo>
                    <a:pt x="278247" y="37025"/>
                    <a:pt x="285867" y="67505"/>
                    <a:pt x="282057" y="86555"/>
                  </a:cubicBezTo>
                  <a:cubicBezTo>
                    <a:pt x="278247" y="105605"/>
                    <a:pt x="255387" y="128465"/>
                    <a:pt x="238877" y="136085"/>
                  </a:cubicBezTo>
                  <a:cubicBezTo>
                    <a:pt x="224907" y="143705"/>
                    <a:pt x="207127" y="142435"/>
                    <a:pt x="193157" y="138625"/>
                  </a:cubicBezTo>
                  <a:cubicBezTo>
                    <a:pt x="180457" y="134815"/>
                    <a:pt x="163947" y="125925"/>
                    <a:pt x="156327" y="113225"/>
                  </a:cubicBezTo>
                  <a:cubicBezTo>
                    <a:pt x="146167" y="97985"/>
                    <a:pt x="141087" y="66235"/>
                    <a:pt x="146167" y="48455"/>
                  </a:cubicBezTo>
                  <a:cubicBezTo>
                    <a:pt x="149977" y="33215"/>
                    <a:pt x="161407" y="20515"/>
                    <a:pt x="174107" y="11625"/>
                  </a:cubicBezTo>
                  <a:cubicBezTo>
                    <a:pt x="185537" y="4005"/>
                    <a:pt x="203317" y="-1075"/>
                    <a:pt x="217287" y="195"/>
                  </a:cubicBezTo>
                  <a:cubicBezTo>
                    <a:pt x="231257" y="1465"/>
                    <a:pt x="249037" y="6545"/>
                    <a:pt x="259197" y="16705"/>
                  </a:cubicBezTo>
                  <a:cubicBezTo>
                    <a:pt x="271897" y="30675"/>
                    <a:pt x="283327" y="61155"/>
                    <a:pt x="283327" y="78935"/>
                  </a:cubicBezTo>
                  <a:cubicBezTo>
                    <a:pt x="283327" y="94175"/>
                    <a:pt x="276977" y="105605"/>
                    <a:pt x="264277" y="119575"/>
                  </a:cubicBezTo>
                  <a:cubicBezTo>
                    <a:pt x="240147" y="146245"/>
                    <a:pt x="130927" y="169105"/>
                    <a:pt x="125847" y="200855"/>
                  </a:cubicBezTo>
                  <a:cubicBezTo>
                    <a:pt x="122037" y="228795"/>
                    <a:pt x="195697" y="264355"/>
                    <a:pt x="205857" y="293565"/>
                  </a:cubicBezTo>
                  <a:cubicBezTo>
                    <a:pt x="213477" y="313885"/>
                    <a:pt x="213477" y="338015"/>
                    <a:pt x="204587" y="353255"/>
                  </a:cubicBezTo>
                  <a:cubicBezTo>
                    <a:pt x="195697" y="369765"/>
                    <a:pt x="171567" y="385005"/>
                    <a:pt x="153787" y="386275"/>
                  </a:cubicBezTo>
                  <a:cubicBezTo>
                    <a:pt x="136007" y="387545"/>
                    <a:pt x="97907" y="363415"/>
                    <a:pt x="97907" y="36341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314122" y="5805298"/>
            <a:ext cx="165735" cy="166688"/>
            <a:chOff x="0" y="0"/>
            <a:chExt cx="220980" cy="222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7665" y="50739"/>
              <a:ext cx="121245" cy="122854"/>
            </a:xfrm>
            <a:custGeom>
              <a:avLst/>
              <a:gdLst/>
              <a:ahLst/>
              <a:cxnLst/>
              <a:rect r="r" b="b" t="t" l="l"/>
              <a:pathLst>
                <a:path h="122854" w="121245">
                  <a:moveTo>
                    <a:pt x="121245" y="43241"/>
                  </a:moveTo>
                  <a:cubicBezTo>
                    <a:pt x="104735" y="110551"/>
                    <a:pt x="97115" y="116901"/>
                    <a:pt x="86955" y="120711"/>
                  </a:cubicBezTo>
                  <a:cubicBezTo>
                    <a:pt x="71715" y="124521"/>
                    <a:pt x="41235" y="123251"/>
                    <a:pt x="27265" y="116901"/>
                  </a:cubicBezTo>
                  <a:cubicBezTo>
                    <a:pt x="17105" y="111821"/>
                    <a:pt x="10755" y="105471"/>
                    <a:pt x="5675" y="95311"/>
                  </a:cubicBezTo>
                  <a:cubicBezTo>
                    <a:pt x="-675" y="81341"/>
                    <a:pt x="-1945" y="50861"/>
                    <a:pt x="3135" y="35621"/>
                  </a:cubicBezTo>
                  <a:cubicBezTo>
                    <a:pt x="5675" y="25461"/>
                    <a:pt x="13295" y="17841"/>
                    <a:pt x="20915" y="12761"/>
                  </a:cubicBezTo>
                  <a:cubicBezTo>
                    <a:pt x="28535" y="6411"/>
                    <a:pt x="38695" y="61"/>
                    <a:pt x="48855" y="61"/>
                  </a:cubicBezTo>
                  <a:cubicBezTo>
                    <a:pt x="64095" y="-1209"/>
                    <a:pt x="106005" y="17841"/>
                    <a:pt x="106005" y="1784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6186658" y="4775645"/>
            <a:ext cx="1970930" cy="3678175"/>
          </a:xfrm>
          <a:custGeom>
            <a:avLst/>
            <a:gdLst/>
            <a:ahLst/>
            <a:cxnLst/>
            <a:rect r="r" b="b" t="t" l="l"/>
            <a:pathLst>
              <a:path h="3678175" w="1970930">
                <a:moveTo>
                  <a:pt x="0" y="0"/>
                </a:moveTo>
                <a:lnTo>
                  <a:pt x="1970930" y="0"/>
                </a:lnTo>
                <a:lnTo>
                  <a:pt x="1970930" y="3678175"/>
                </a:lnTo>
                <a:lnTo>
                  <a:pt x="0" y="3678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1068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2049125" y="4804220"/>
            <a:ext cx="349568" cy="762000"/>
            <a:chOff x="0" y="0"/>
            <a:chExt cx="466090" cy="1016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49910" y="50800"/>
              <a:ext cx="364414" cy="915204"/>
            </a:xfrm>
            <a:custGeom>
              <a:avLst/>
              <a:gdLst/>
              <a:ahLst/>
              <a:cxnLst/>
              <a:rect r="r" b="b" t="t" l="l"/>
              <a:pathLst>
                <a:path h="915204" w="364414">
                  <a:moveTo>
                    <a:pt x="75820" y="0"/>
                  </a:moveTo>
                  <a:cubicBezTo>
                    <a:pt x="223140" y="44450"/>
                    <a:pt x="238380" y="53340"/>
                    <a:pt x="256160" y="73660"/>
                  </a:cubicBezTo>
                  <a:cubicBezTo>
                    <a:pt x="280290" y="104140"/>
                    <a:pt x="304420" y="161290"/>
                    <a:pt x="319660" y="205740"/>
                  </a:cubicBezTo>
                  <a:cubicBezTo>
                    <a:pt x="333630" y="248920"/>
                    <a:pt x="337440" y="294640"/>
                    <a:pt x="345060" y="339090"/>
                  </a:cubicBezTo>
                  <a:cubicBezTo>
                    <a:pt x="352680" y="383540"/>
                    <a:pt x="366650" y="427990"/>
                    <a:pt x="364110" y="473710"/>
                  </a:cubicBezTo>
                  <a:cubicBezTo>
                    <a:pt x="362840" y="518160"/>
                    <a:pt x="331090" y="565150"/>
                    <a:pt x="332360" y="609600"/>
                  </a:cubicBezTo>
                  <a:cubicBezTo>
                    <a:pt x="332360" y="651510"/>
                    <a:pt x="365380" y="698500"/>
                    <a:pt x="364110" y="734060"/>
                  </a:cubicBezTo>
                  <a:cubicBezTo>
                    <a:pt x="364110" y="760730"/>
                    <a:pt x="355220" y="781050"/>
                    <a:pt x="341250" y="805180"/>
                  </a:cubicBezTo>
                  <a:cubicBezTo>
                    <a:pt x="323470" y="838200"/>
                    <a:pt x="280290" y="896620"/>
                    <a:pt x="252350" y="909320"/>
                  </a:cubicBezTo>
                  <a:cubicBezTo>
                    <a:pt x="235840" y="918210"/>
                    <a:pt x="219330" y="915670"/>
                    <a:pt x="204090" y="910590"/>
                  </a:cubicBezTo>
                  <a:cubicBezTo>
                    <a:pt x="190120" y="906780"/>
                    <a:pt x="174880" y="895350"/>
                    <a:pt x="165990" y="882650"/>
                  </a:cubicBezTo>
                  <a:cubicBezTo>
                    <a:pt x="157100" y="871220"/>
                    <a:pt x="152020" y="852170"/>
                    <a:pt x="152020" y="836930"/>
                  </a:cubicBezTo>
                  <a:cubicBezTo>
                    <a:pt x="152020" y="821690"/>
                    <a:pt x="157100" y="803910"/>
                    <a:pt x="168530" y="792480"/>
                  </a:cubicBezTo>
                  <a:cubicBezTo>
                    <a:pt x="181230" y="778510"/>
                    <a:pt x="211710" y="763270"/>
                    <a:pt x="233300" y="764540"/>
                  </a:cubicBezTo>
                  <a:cubicBezTo>
                    <a:pt x="253620" y="767080"/>
                    <a:pt x="281560" y="784860"/>
                    <a:pt x="291720" y="802640"/>
                  </a:cubicBezTo>
                  <a:cubicBezTo>
                    <a:pt x="301880" y="820420"/>
                    <a:pt x="300610" y="854710"/>
                    <a:pt x="292990" y="872490"/>
                  </a:cubicBezTo>
                  <a:cubicBezTo>
                    <a:pt x="287910" y="887730"/>
                    <a:pt x="272670" y="900430"/>
                    <a:pt x="259970" y="906780"/>
                  </a:cubicBezTo>
                  <a:cubicBezTo>
                    <a:pt x="246000" y="913130"/>
                    <a:pt x="226950" y="915670"/>
                    <a:pt x="211710" y="913130"/>
                  </a:cubicBezTo>
                  <a:cubicBezTo>
                    <a:pt x="197740" y="910590"/>
                    <a:pt x="181230" y="900430"/>
                    <a:pt x="171070" y="889000"/>
                  </a:cubicBezTo>
                  <a:cubicBezTo>
                    <a:pt x="160910" y="877570"/>
                    <a:pt x="152020" y="863600"/>
                    <a:pt x="152020" y="845820"/>
                  </a:cubicBezTo>
                  <a:cubicBezTo>
                    <a:pt x="152020" y="812800"/>
                    <a:pt x="206630" y="748030"/>
                    <a:pt x="207900" y="709930"/>
                  </a:cubicBezTo>
                  <a:cubicBezTo>
                    <a:pt x="209170" y="684530"/>
                    <a:pt x="188850" y="668020"/>
                    <a:pt x="185040" y="645160"/>
                  </a:cubicBezTo>
                  <a:cubicBezTo>
                    <a:pt x="181230" y="621030"/>
                    <a:pt x="182500" y="591820"/>
                    <a:pt x="188850" y="567690"/>
                  </a:cubicBezTo>
                  <a:cubicBezTo>
                    <a:pt x="195200" y="544830"/>
                    <a:pt x="215520" y="532130"/>
                    <a:pt x="220600" y="501650"/>
                  </a:cubicBezTo>
                  <a:cubicBezTo>
                    <a:pt x="229490" y="443230"/>
                    <a:pt x="197740" y="292100"/>
                    <a:pt x="182500" y="233680"/>
                  </a:cubicBezTo>
                  <a:cubicBezTo>
                    <a:pt x="174880" y="203200"/>
                    <a:pt x="176150" y="185420"/>
                    <a:pt x="158370" y="167640"/>
                  </a:cubicBezTo>
                  <a:cubicBezTo>
                    <a:pt x="135510" y="144780"/>
                    <a:pt x="65660" y="143510"/>
                    <a:pt x="38990" y="123190"/>
                  </a:cubicBezTo>
                  <a:cubicBezTo>
                    <a:pt x="19940" y="109220"/>
                    <a:pt x="4700" y="93980"/>
                    <a:pt x="890" y="76200"/>
                  </a:cubicBezTo>
                  <a:cubicBezTo>
                    <a:pt x="-2920" y="58420"/>
                    <a:pt x="5970" y="30480"/>
                    <a:pt x="18670" y="17780"/>
                  </a:cubicBezTo>
                  <a:cubicBezTo>
                    <a:pt x="31370" y="5080"/>
                    <a:pt x="75820" y="0"/>
                    <a:pt x="75820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084368" y="4846130"/>
            <a:ext cx="451485" cy="1503998"/>
            <a:chOff x="0" y="0"/>
            <a:chExt cx="601980" cy="20053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0043" y="50740"/>
              <a:ext cx="523218" cy="1903747"/>
            </a:xfrm>
            <a:custGeom>
              <a:avLst/>
              <a:gdLst/>
              <a:ahLst/>
              <a:cxnLst/>
              <a:rect r="r" b="b" t="t" l="l"/>
              <a:pathLst>
                <a:path h="1903747" w="523218">
                  <a:moveTo>
                    <a:pt x="260787" y="764600"/>
                  </a:moveTo>
                  <a:cubicBezTo>
                    <a:pt x="375087" y="1224340"/>
                    <a:pt x="353497" y="1346260"/>
                    <a:pt x="375087" y="1450400"/>
                  </a:cubicBezTo>
                  <a:cubicBezTo>
                    <a:pt x="394137" y="1545650"/>
                    <a:pt x="442397" y="1651060"/>
                    <a:pt x="470337" y="1715830"/>
                  </a:cubicBezTo>
                  <a:cubicBezTo>
                    <a:pt x="488117" y="1756470"/>
                    <a:pt x="513517" y="1785680"/>
                    <a:pt x="519867" y="1811080"/>
                  </a:cubicBezTo>
                  <a:cubicBezTo>
                    <a:pt x="523677" y="1825050"/>
                    <a:pt x="524947" y="1833940"/>
                    <a:pt x="519867" y="1845370"/>
                  </a:cubicBezTo>
                  <a:cubicBezTo>
                    <a:pt x="514787" y="1863150"/>
                    <a:pt x="494467" y="1889820"/>
                    <a:pt x="476687" y="1897440"/>
                  </a:cubicBezTo>
                  <a:cubicBezTo>
                    <a:pt x="457637" y="1905060"/>
                    <a:pt x="436047" y="1902520"/>
                    <a:pt x="408107" y="1891090"/>
                  </a:cubicBezTo>
                  <a:cubicBezTo>
                    <a:pt x="348417" y="1866960"/>
                    <a:pt x="211257" y="1755200"/>
                    <a:pt x="155377" y="1690430"/>
                  </a:cubicBezTo>
                  <a:cubicBezTo>
                    <a:pt x="116007" y="1645980"/>
                    <a:pt x="98227" y="1607880"/>
                    <a:pt x="77907" y="1560890"/>
                  </a:cubicBezTo>
                  <a:cubicBezTo>
                    <a:pt x="57587" y="1510090"/>
                    <a:pt x="44887" y="1463100"/>
                    <a:pt x="37267" y="1393250"/>
                  </a:cubicBezTo>
                  <a:cubicBezTo>
                    <a:pt x="23297" y="1276410"/>
                    <a:pt x="32187" y="1045270"/>
                    <a:pt x="38537" y="927160"/>
                  </a:cubicBezTo>
                  <a:cubicBezTo>
                    <a:pt x="41077" y="853500"/>
                    <a:pt x="39807" y="786190"/>
                    <a:pt x="55047" y="749360"/>
                  </a:cubicBezTo>
                  <a:cubicBezTo>
                    <a:pt x="63937" y="729040"/>
                    <a:pt x="75367" y="717610"/>
                    <a:pt x="89337" y="709990"/>
                  </a:cubicBezTo>
                  <a:cubicBezTo>
                    <a:pt x="103307" y="702370"/>
                    <a:pt x="124897" y="698560"/>
                    <a:pt x="141407" y="702370"/>
                  </a:cubicBezTo>
                  <a:cubicBezTo>
                    <a:pt x="159187" y="708720"/>
                    <a:pt x="179507" y="726500"/>
                    <a:pt x="192207" y="746820"/>
                  </a:cubicBezTo>
                  <a:cubicBezTo>
                    <a:pt x="209987" y="776030"/>
                    <a:pt x="213797" y="825560"/>
                    <a:pt x="222687" y="870010"/>
                  </a:cubicBezTo>
                  <a:cubicBezTo>
                    <a:pt x="232847" y="922080"/>
                    <a:pt x="244277" y="975420"/>
                    <a:pt x="250627" y="1041460"/>
                  </a:cubicBezTo>
                  <a:cubicBezTo>
                    <a:pt x="259517" y="1125280"/>
                    <a:pt x="244277" y="1239580"/>
                    <a:pt x="262057" y="1336100"/>
                  </a:cubicBezTo>
                  <a:cubicBezTo>
                    <a:pt x="279837" y="1437700"/>
                    <a:pt x="367467" y="1579940"/>
                    <a:pt x="362387" y="1635820"/>
                  </a:cubicBezTo>
                  <a:cubicBezTo>
                    <a:pt x="359847" y="1657410"/>
                    <a:pt x="348417" y="1670110"/>
                    <a:pt x="338257" y="1680270"/>
                  </a:cubicBezTo>
                  <a:cubicBezTo>
                    <a:pt x="329367" y="1689160"/>
                    <a:pt x="317937" y="1694240"/>
                    <a:pt x="306507" y="1696780"/>
                  </a:cubicBezTo>
                  <a:cubicBezTo>
                    <a:pt x="296347" y="1699320"/>
                    <a:pt x="283647" y="1699320"/>
                    <a:pt x="272217" y="1695510"/>
                  </a:cubicBezTo>
                  <a:cubicBezTo>
                    <a:pt x="258247" y="1691700"/>
                    <a:pt x="244277" y="1685350"/>
                    <a:pt x="230307" y="1666300"/>
                  </a:cubicBezTo>
                  <a:cubicBezTo>
                    <a:pt x="189667" y="1609150"/>
                    <a:pt x="136327" y="1374200"/>
                    <a:pt x="107117" y="1254820"/>
                  </a:cubicBezTo>
                  <a:cubicBezTo>
                    <a:pt x="84257" y="1165920"/>
                    <a:pt x="70287" y="1098610"/>
                    <a:pt x="58857" y="1017330"/>
                  </a:cubicBezTo>
                  <a:cubicBezTo>
                    <a:pt x="46157" y="934780"/>
                    <a:pt x="41077" y="870010"/>
                    <a:pt x="34727" y="764600"/>
                  </a:cubicBezTo>
                  <a:cubicBezTo>
                    <a:pt x="24567" y="591880"/>
                    <a:pt x="-28773" y="190560"/>
                    <a:pt x="20757" y="78800"/>
                  </a:cubicBezTo>
                  <a:cubicBezTo>
                    <a:pt x="42347" y="31810"/>
                    <a:pt x="86797" y="1330"/>
                    <a:pt x="113467" y="60"/>
                  </a:cubicBezTo>
                  <a:cubicBezTo>
                    <a:pt x="132517" y="-1210"/>
                    <a:pt x="150297" y="17840"/>
                    <a:pt x="165537" y="38160"/>
                  </a:cubicBezTo>
                  <a:cubicBezTo>
                    <a:pt x="189667" y="69910"/>
                    <a:pt x="212527" y="125790"/>
                    <a:pt x="226497" y="189290"/>
                  </a:cubicBezTo>
                  <a:cubicBezTo>
                    <a:pt x="249357" y="285810"/>
                    <a:pt x="250627" y="452180"/>
                    <a:pt x="248087" y="569020"/>
                  </a:cubicBezTo>
                  <a:cubicBezTo>
                    <a:pt x="245547" y="668080"/>
                    <a:pt x="249357" y="796350"/>
                    <a:pt x="220147" y="843340"/>
                  </a:cubicBezTo>
                  <a:cubicBezTo>
                    <a:pt x="206177" y="867470"/>
                    <a:pt x="183317" y="878900"/>
                    <a:pt x="162997" y="881440"/>
                  </a:cubicBezTo>
                  <a:cubicBezTo>
                    <a:pt x="142677" y="882710"/>
                    <a:pt x="112197" y="870010"/>
                    <a:pt x="99497" y="854770"/>
                  </a:cubicBezTo>
                  <a:cubicBezTo>
                    <a:pt x="86797" y="838260"/>
                    <a:pt x="81717" y="805240"/>
                    <a:pt x="85527" y="786190"/>
                  </a:cubicBezTo>
                  <a:cubicBezTo>
                    <a:pt x="89337" y="770950"/>
                    <a:pt x="100767" y="756980"/>
                    <a:pt x="113467" y="748090"/>
                  </a:cubicBezTo>
                  <a:cubicBezTo>
                    <a:pt x="124897" y="739200"/>
                    <a:pt x="142677" y="732850"/>
                    <a:pt x="157917" y="734120"/>
                  </a:cubicBezTo>
                  <a:cubicBezTo>
                    <a:pt x="176967" y="736660"/>
                    <a:pt x="206177" y="753170"/>
                    <a:pt x="217607" y="768410"/>
                  </a:cubicBezTo>
                  <a:cubicBezTo>
                    <a:pt x="227767" y="779840"/>
                    <a:pt x="230307" y="798890"/>
                    <a:pt x="230307" y="812860"/>
                  </a:cubicBezTo>
                  <a:cubicBezTo>
                    <a:pt x="229037" y="828100"/>
                    <a:pt x="222687" y="845880"/>
                    <a:pt x="211257" y="856040"/>
                  </a:cubicBezTo>
                  <a:cubicBezTo>
                    <a:pt x="197287" y="870010"/>
                    <a:pt x="165537" y="881440"/>
                    <a:pt x="146487" y="880170"/>
                  </a:cubicBezTo>
                  <a:cubicBezTo>
                    <a:pt x="131247" y="880170"/>
                    <a:pt x="116007" y="870010"/>
                    <a:pt x="104577" y="859850"/>
                  </a:cubicBezTo>
                  <a:cubicBezTo>
                    <a:pt x="94417" y="849690"/>
                    <a:pt x="88067" y="839530"/>
                    <a:pt x="84257" y="817940"/>
                  </a:cubicBezTo>
                  <a:cubicBezTo>
                    <a:pt x="71557" y="760790"/>
                    <a:pt x="105847" y="600770"/>
                    <a:pt x="103307" y="487740"/>
                  </a:cubicBezTo>
                  <a:cubicBezTo>
                    <a:pt x="102037" y="367090"/>
                    <a:pt x="33457" y="151190"/>
                    <a:pt x="71557" y="114360"/>
                  </a:cubicBezTo>
                  <a:cubicBezTo>
                    <a:pt x="89337" y="95310"/>
                    <a:pt x="138867" y="99120"/>
                    <a:pt x="160457" y="123250"/>
                  </a:cubicBezTo>
                  <a:cubicBezTo>
                    <a:pt x="217607" y="186750"/>
                    <a:pt x="147757" y="600770"/>
                    <a:pt x="151567" y="762060"/>
                  </a:cubicBezTo>
                  <a:cubicBezTo>
                    <a:pt x="155377" y="859850"/>
                    <a:pt x="156647" y="920810"/>
                    <a:pt x="168077" y="997010"/>
                  </a:cubicBezTo>
                  <a:cubicBezTo>
                    <a:pt x="179507" y="1073210"/>
                    <a:pt x="194747" y="1135440"/>
                    <a:pt x="220147" y="1220530"/>
                  </a:cubicBezTo>
                  <a:cubicBezTo>
                    <a:pt x="253167" y="1334830"/>
                    <a:pt x="359847" y="1548190"/>
                    <a:pt x="362387" y="1618040"/>
                  </a:cubicBezTo>
                  <a:cubicBezTo>
                    <a:pt x="363657" y="1642170"/>
                    <a:pt x="357307" y="1654870"/>
                    <a:pt x="349687" y="1667570"/>
                  </a:cubicBezTo>
                  <a:cubicBezTo>
                    <a:pt x="343337" y="1677730"/>
                    <a:pt x="334447" y="1685350"/>
                    <a:pt x="323017" y="1690430"/>
                  </a:cubicBezTo>
                  <a:cubicBezTo>
                    <a:pt x="309047" y="1696780"/>
                    <a:pt x="286187" y="1699320"/>
                    <a:pt x="272217" y="1695510"/>
                  </a:cubicBezTo>
                  <a:cubicBezTo>
                    <a:pt x="259517" y="1694240"/>
                    <a:pt x="251897" y="1690430"/>
                    <a:pt x="241737" y="1679000"/>
                  </a:cubicBezTo>
                  <a:cubicBezTo>
                    <a:pt x="218877" y="1656140"/>
                    <a:pt x="188397" y="1587560"/>
                    <a:pt x="169347" y="1538030"/>
                  </a:cubicBezTo>
                  <a:cubicBezTo>
                    <a:pt x="149027" y="1489770"/>
                    <a:pt x="135057" y="1449130"/>
                    <a:pt x="124897" y="1386900"/>
                  </a:cubicBezTo>
                  <a:cubicBezTo>
                    <a:pt x="108387" y="1292920"/>
                    <a:pt x="118547" y="1136710"/>
                    <a:pt x="104577" y="1026220"/>
                  </a:cubicBezTo>
                  <a:cubicBezTo>
                    <a:pt x="91877" y="932240"/>
                    <a:pt x="48697" y="811590"/>
                    <a:pt x="51237" y="765870"/>
                  </a:cubicBezTo>
                  <a:cubicBezTo>
                    <a:pt x="52507" y="749360"/>
                    <a:pt x="56317" y="743010"/>
                    <a:pt x="63937" y="732850"/>
                  </a:cubicBezTo>
                  <a:cubicBezTo>
                    <a:pt x="72827" y="721420"/>
                    <a:pt x="90607" y="707450"/>
                    <a:pt x="105847" y="703640"/>
                  </a:cubicBezTo>
                  <a:cubicBezTo>
                    <a:pt x="121087" y="698560"/>
                    <a:pt x="143947" y="702370"/>
                    <a:pt x="157917" y="708720"/>
                  </a:cubicBezTo>
                  <a:cubicBezTo>
                    <a:pt x="169347" y="713800"/>
                    <a:pt x="178237" y="721420"/>
                    <a:pt x="184587" y="731580"/>
                  </a:cubicBezTo>
                  <a:cubicBezTo>
                    <a:pt x="192207" y="744280"/>
                    <a:pt x="194747" y="758250"/>
                    <a:pt x="197287" y="782380"/>
                  </a:cubicBezTo>
                  <a:cubicBezTo>
                    <a:pt x="202367" y="840800"/>
                    <a:pt x="176967" y="995740"/>
                    <a:pt x="174427" y="1089720"/>
                  </a:cubicBezTo>
                  <a:cubicBezTo>
                    <a:pt x="171887" y="1169730"/>
                    <a:pt x="171887" y="1240850"/>
                    <a:pt x="176967" y="1309430"/>
                  </a:cubicBezTo>
                  <a:cubicBezTo>
                    <a:pt x="182047" y="1370390"/>
                    <a:pt x="184587" y="1428810"/>
                    <a:pt x="203637" y="1479610"/>
                  </a:cubicBezTo>
                  <a:cubicBezTo>
                    <a:pt x="221417" y="1527870"/>
                    <a:pt x="246817" y="1568510"/>
                    <a:pt x="283647" y="1609150"/>
                  </a:cubicBezTo>
                  <a:cubicBezTo>
                    <a:pt x="326827" y="1656140"/>
                    <a:pt x="419537" y="1700590"/>
                    <a:pt x="458907" y="1737420"/>
                  </a:cubicBezTo>
                  <a:cubicBezTo>
                    <a:pt x="484307" y="1759010"/>
                    <a:pt x="503357" y="1774250"/>
                    <a:pt x="512247" y="1794570"/>
                  </a:cubicBezTo>
                  <a:cubicBezTo>
                    <a:pt x="521137" y="1811080"/>
                    <a:pt x="524947" y="1830130"/>
                    <a:pt x="519867" y="1845370"/>
                  </a:cubicBezTo>
                  <a:cubicBezTo>
                    <a:pt x="514787" y="1864420"/>
                    <a:pt x="491927" y="1889820"/>
                    <a:pt x="476687" y="1897440"/>
                  </a:cubicBezTo>
                  <a:cubicBezTo>
                    <a:pt x="465257" y="1903790"/>
                    <a:pt x="453827" y="1905060"/>
                    <a:pt x="441127" y="1902520"/>
                  </a:cubicBezTo>
                  <a:cubicBezTo>
                    <a:pt x="427157" y="1899980"/>
                    <a:pt x="408107" y="1892360"/>
                    <a:pt x="394137" y="1879660"/>
                  </a:cubicBezTo>
                  <a:cubicBezTo>
                    <a:pt x="376357" y="1863150"/>
                    <a:pt x="366197" y="1837750"/>
                    <a:pt x="349687" y="1803460"/>
                  </a:cubicBezTo>
                  <a:cubicBezTo>
                    <a:pt x="320477" y="1742500"/>
                    <a:pt x="268407" y="1598990"/>
                    <a:pt x="249357" y="1535490"/>
                  </a:cubicBezTo>
                  <a:cubicBezTo>
                    <a:pt x="239197" y="1501200"/>
                    <a:pt x="236657" y="1491040"/>
                    <a:pt x="232847" y="1455480"/>
                  </a:cubicBezTo>
                  <a:cubicBezTo>
                    <a:pt x="223957" y="1385630"/>
                    <a:pt x="236657" y="1247200"/>
                    <a:pt x="221417" y="1139250"/>
                  </a:cubicBezTo>
                  <a:cubicBezTo>
                    <a:pt x="204907" y="1026220"/>
                    <a:pt x="132517" y="853500"/>
                    <a:pt x="133787" y="792540"/>
                  </a:cubicBezTo>
                  <a:cubicBezTo>
                    <a:pt x="133787" y="770950"/>
                    <a:pt x="137597" y="759520"/>
                    <a:pt x="145217" y="748090"/>
                  </a:cubicBezTo>
                  <a:cubicBezTo>
                    <a:pt x="154107" y="736660"/>
                    <a:pt x="170617" y="725230"/>
                    <a:pt x="184587" y="722690"/>
                  </a:cubicBezTo>
                  <a:cubicBezTo>
                    <a:pt x="198557" y="718880"/>
                    <a:pt x="217607" y="722690"/>
                    <a:pt x="230307" y="729040"/>
                  </a:cubicBezTo>
                  <a:cubicBezTo>
                    <a:pt x="243007" y="736660"/>
                    <a:pt x="260787" y="764600"/>
                    <a:pt x="260787" y="76460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2285368" y="4173275"/>
            <a:ext cx="37319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Customer Validation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19083" y="4935499"/>
            <a:ext cx="389525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96% report cycle impacts performance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86% want a personalised solution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68344" y="789913"/>
            <a:ext cx="4870198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Traction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926486" y="2153313"/>
            <a:ext cx="8753915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On track to launch to </a:t>
            </a:r>
            <a:r>
              <a:rPr lang="en-US" sz="3200" b="true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250 users in Q4 2</a:t>
            </a:r>
            <a:r>
              <a:rPr lang="en-US" sz="3200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026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952624" y="4626030"/>
            <a:ext cx="2397466" cy="28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5"/>
              </a:lnSpc>
            </a:pPr>
            <a:r>
              <a:rPr lang="en-US" b="true" sz="17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160 Interviews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058563" y="8760150"/>
            <a:ext cx="6292602" cy="88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RUNNER-UP – IE VENTURE LAB (200+ STARTUPS)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FINALIST IN IE ENTREPRENEURSHIP SUMMIT (60 STARTUPS))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2ND PLACE - ESADE SHARK TANK (100+ STARTUPS)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136755" y="5054728"/>
            <a:ext cx="85725" cy="82868"/>
            <a:chOff x="0" y="0"/>
            <a:chExt cx="114300" cy="11049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56798" y="50800"/>
              <a:ext cx="5432" cy="4877"/>
            </a:xfrm>
            <a:custGeom>
              <a:avLst/>
              <a:gdLst/>
              <a:ahLst/>
              <a:cxnLst/>
              <a:rect r="r" b="b" t="t" l="l"/>
              <a:pathLst>
                <a:path h="4877" w="5432">
                  <a:moveTo>
                    <a:pt x="5432" y="3810"/>
                  </a:moveTo>
                  <a:cubicBezTo>
                    <a:pt x="-5998" y="7620"/>
                    <a:pt x="4162" y="0"/>
                    <a:pt x="4162" y="0"/>
                  </a:cubicBezTo>
                </a:path>
              </a:pathLst>
            </a:custGeom>
            <a:solidFill>
              <a:srgbClr val="2D2E3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136755" y="5049965"/>
            <a:ext cx="94298" cy="92392"/>
            <a:chOff x="0" y="0"/>
            <a:chExt cx="125730" cy="1231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49748" y="49927"/>
              <a:ext cx="23912" cy="20208"/>
            </a:xfrm>
            <a:custGeom>
              <a:avLst/>
              <a:gdLst/>
              <a:ahLst/>
              <a:cxnLst/>
              <a:rect r="r" b="b" t="t" l="l"/>
              <a:pathLst>
                <a:path h="20208" w="23912">
                  <a:moveTo>
                    <a:pt x="23912" y="7223"/>
                  </a:moveTo>
                  <a:cubicBezTo>
                    <a:pt x="13752" y="23733"/>
                    <a:pt x="3592" y="21193"/>
                    <a:pt x="1052" y="17383"/>
                  </a:cubicBezTo>
                  <a:cubicBezTo>
                    <a:pt x="-1488" y="13573"/>
                    <a:pt x="1052" y="3413"/>
                    <a:pt x="3592" y="873"/>
                  </a:cubicBezTo>
                  <a:cubicBezTo>
                    <a:pt x="7402" y="-1667"/>
                    <a:pt x="21372" y="2143"/>
                    <a:pt x="21372" y="2143"/>
                  </a:cubicBezTo>
                </a:path>
              </a:pathLst>
            </a:custGeom>
            <a:solidFill>
              <a:srgbClr val="2D2E3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1442382" y="5856733"/>
            <a:ext cx="305753" cy="303847"/>
            <a:chOff x="0" y="0"/>
            <a:chExt cx="407670" cy="40513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50094" y="50800"/>
              <a:ext cx="306776" cy="303959"/>
            </a:xfrm>
            <a:custGeom>
              <a:avLst/>
              <a:gdLst/>
              <a:ahLst/>
              <a:cxnLst/>
              <a:rect r="r" b="b" t="t" l="l"/>
              <a:pathLst>
                <a:path h="303959" w="306776">
                  <a:moveTo>
                    <a:pt x="59126" y="16510"/>
                  </a:moveTo>
                  <a:cubicBezTo>
                    <a:pt x="193746" y="123190"/>
                    <a:pt x="278836" y="209550"/>
                    <a:pt x="297886" y="241300"/>
                  </a:cubicBezTo>
                  <a:cubicBezTo>
                    <a:pt x="305506" y="252730"/>
                    <a:pt x="306776" y="257810"/>
                    <a:pt x="306776" y="266700"/>
                  </a:cubicBezTo>
                  <a:cubicBezTo>
                    <a:pt x="306776" y="275590"/>
                    <a:pt x="302966" y="285750"/>
                    <a:pt x="296616" y="292100"/>
                  </a:cubicBezTo>
                  <a:cubicBezTo>
                    <a:pt x="291536" y="297180"/>
                    <a:pt x="281376" y="302260"/>
                    <a:pt x="272486" y="303530"/>
                  </a:cubicBezTo>
                  <a:cubicBezTo>
                    <a:pt x="263596" y="304800"/>
                    <a:pt x="258516" y="302260"/>
                    <a:pt x="247086" y="295910"/>
                  </a:cubicBezTo>
                  <a:cubicBezTo>
                    <a:pt x="208986" y="275590"/>
                    <a:pt x="85796" y="160020"/>
                    <a:pt x="45156" y="113030"/>
                  </a:cubicBezTo>
                  <a:cubicBezTo>
                    <a:pt x="23566" y="87630"/>
                    <a:pt x="7056" y="68580"/>
                    <a:pt x="3246" y="49530"/>
                  </a:cubicBezTo>
                  <a:cubicBezTo>
                    <a:pt x="-564" y="36830"/>
                    <a:pt x="3246" y="22860"/>
                    <a:pt x="9596" y="15240"/>
                  </a:cubicBezTo>
                  <a:cubicBezTo>
                    <a:pt x="15946" y="6350"/>
                    <a:pt x="31186" y="0"/>
                    <a:pt x="41346" y="0"/>
                  </a:cubicBezTo>
                  <a:cubicBezTo>
                    <a:pt x="52776" y="1270"/>
                    <a:pt x="66746" y="10160"/>
                    <a:pt x="71826" y="19050"/>
                  </a:cubicBezTo>
                  <a:cubicBezTo>
                    <a:pt x="76906" y="27940"/>
                    <a:pt x="78176" y="45720"/>
                    <a:pt x="73096" y="54610"/>
                  </a:cubicBezTo>
                  <a:cubicBezTo>
                    <a:pt x="69286" y="64770"/>
                    <a:pt x="55316" y="74930"/>
                    <a:pt x="43886" y="76200"/>
                  </a:cubicBezTo>
                  <a:cubicBezTo>
                    <a:pt x="33726" y="77470"/>
                    <a:pt x="18486" y="72390"/>
                    <a:pt x="10866" y="63500"/>
                  </a:cubicBezTo>
                  <a:cubicBezTo>
                    <a:pt x="3246" y="55880"/>
                    <a:pt x="-564" y="39370"/>
                    <a:pt x="1976" y="29210"/>
                  </a:cubicBezTo>
                  <a:cubicBezTo>
                    <a:pt x="4516" y="19050"/>
                    <a:pt x="15946" y="6350"/>
                    <a:pt x="26106" y="2540"/>
                  </a:cubicBezTo>
                  <a:cubicBezTo>
                    <a:pt x="34996" y="-1270"/>
                    <a:pt x="48966" y="0"/>
                    <a:pt x="61666" y="7620"/>
                  </a:cubicBezTo>
                  <a:cubicBezTo>
                    <a:pt x="79446" y="17780"/>
                    <a:pt x="92146" y="50800"/>
                    <a:pt x="118816" y="78740"/>
                  </a:cubicBezTo>
                  <a:cubicBezTo>
                    <a:pt x="160726" y="123190"/>
                    <a:pt x="276296" y="208280"/>
                    <a:pt x="297886" y="241300"/>
                  </a:cubicBezTo>
                  <a:cubicBezTo>
                    <a:pt x="305506" y="251460"/>
                    <a:pt x="306776" y="257810"/>
                    <a:pt x="306776" y="266700"/>
                  </a:cubicBezTo>
                  <a:cubicBezTo>
                    <a:pt x="306776" y="275590"/>
                    <a:pt x="302966" y="285750"/>
                    <a:pt x="296616" y="292100"/>
                  </a:cubicBezTo>
                  <a:cubicBezTo>
                    <a:pt x="291536" y="297180"/>
                    <a:pt x="281376" y="302260"/>
                    <a:pt x="272486" y="303530"/>
                  </a:cubicBezTo>
                  <a:cubicBezTo>
                    <a:pt x="263596" y="304800"/>
                    <a:pt x="257246" y="303530"/>
                    <a:pt x="247086" y="295910"/>
                  </a:cubicBezTo>
                  <a:cubicBezTo>
                    <a:pt x="215336" y="278130"/>
                    <a:pt x="144216" y="181610"/>
                    <a:pt x="99766" y="140970"/>
                  </a:cubicBezTo>
                  <a:cubicBezTo>
                    <a:pt x="65476" y="110490"/>
                    <a:pt x="17216" y="87630"/>
                    <a:pt x="4516" y="66040"/>
                  </a:cubicBezTo>
                  <a:cubicBezTo>
                    <a:pt x="-564" y="55880"/>
                    <a:pt x="-564" y="48260"/>
                    <a:pt x="706" y="39370"/>
                  </a:cubicBezTo>
                  <a:cubicBezTo>
                    <a:pt x="3246" y="31750"/>
                    <a:pt x="8326" y="21590"/>
                    <a:pt x="15946" y="16510"/>
                  </a:cubicBezTo>
                  <a:cubicBezTo>
                    <a:pt x="26106" y="11430"/>
                    <a:pt x="59126" y="16510"/>
                    <a:pt x="59126" y="165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474768" y="5306188"/>
            <a:ext cx="296228" cy="783907"/>
            <a:chOff x="0" y="0"/>
            <a:chExt cx="394970" cy="1045210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86360"/>
              <a:ext cx="379730" cy="958850"/>
              <a:chOff x="0" y="0"/>
              <a:chExt cx="379730" cy="95885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49778" y="50562"/>
                <a:ext cx="279647" cy="858721"/>
              </a:xfrm>
              <a:custGeom>
                <a:avLst/>
                <a:gdLst/>
                <a:ahLst/>
                <a:cxnLst/>
                <a:rect r="r" b="b" t="t" l="l"/>
                <a:pathLst>
                  <a:path h="858721" w="279647">
                    <a:moveTo>
                      <a:pt x="51822" y="661908"/>
                    </a:moveTo>
                    <a:cubicBezTo>
                      <a:pt x="181362" y="734298"/>
                      <a:pt x="218192" y="772398"/>
                      <a:pt x="229622" y="796528"/>
                    </a:cubicBezTo>
                    <a:cubicBezTo>
                      <a:pt x="237242" y="809228"/>
                      <a:pt x="241052" y="820658"/>
                      <a:pt x="238512" y="830818"/>
                    </a:cubicBezTo>
                    <a:cubicBezTo>
                      <a:pt x="235972" y="840978"/>
                      <a:pt x="224542" y="853678"/>
                      <a:pt x="214382" y="856218"/>
                    </a:cubicBezTo>
                    <a:cubicBezTo>
                      <a:pt x="205492" y="860028"/>
                      <a:pt x="192792" y="860028"/>
                      <a:pt x="180092" y="852408"/>
                    </a:cubicBezTo>
                    <a:cubicBezTo>
                      <a:pt x="144532" y="832088"/>
                      <a:pt x="41662" y="706358"/>
                      <a:pt x="34042" y="663178"/>
                    </a:cubicBezTo>
                    <a:cubicBezTo>
                      <a:pt x="31502" y="642858"/>
                      <a:pt x="39122" y="632698"/>
                      <a:pt x="49282" y="617458"/>
                    </a:cubicBezTo>
                    <a:cubicBezTo>
                      <a:pt x="61982" y="593328"/>
                      <a:pt x="92462" y="564118"/>
                      <a:pt x="117862" y="539988"/>
                    </a:cubicBezTo>
                    <a:cubicBezTo>
                      <a:pt x="144532" y="515858"/>
                      <a:pt x="181362" y="480298"/>
                      <a:pt x="205492" y="473948"/>
                    </a:cubicBezTo>
                    <a:cubicBezTo>
                      <a:pt x="219462" y="470138"/>
                      <a:pt x="232162" y="472678"/>
                      <a:pt x="241052" y="477758"/>
                    </a:cubicBezTo>
                    <a:cubicBezTo>
                      <a:pt x="248672" y="481568"/>
                      <a:pt x="253752" y="491728"/>
                      <a:pt x="256292" y="499348"/>
                    </a:cubicBezTo>
                    <a:cubicBezTo>
                      <a:pt x="258832" y="506968"/>
                      <a:pt x="258832" y="514588"/>
                      <a:pt x="253752" y="526018"/>
                    </a:cubicBezTo>
                    <a:cubicBezTo>
                      <a:pt x="242322" y="556498"/>
                      <a:pt x="159772" y="641588"/>
                      <a:pt x="141992" y="674608"/>
                    </a:cubicBezTo>
                    <a:cubicBezTo>
                      <a:pt x="134372" y="689848"/>
                      <a:pt x="139452" y="701278"/>
                      <a:pt x="131832" y="708898"/>
                    </a:cubicBezTo>
                    <a:cubicBezTo>
                      <a:pt x="122942" y="716518"/>
                      <a:pt x="100082" y="721598"/>
                      <a:pt x="88652" y="716518"/>
                    </a:cubicBezTo>
                    <a:cubicBezTo>
                      <a:pt x="78492" y="711438"/>
                      <a:pt x="65792" y="694928"/>
                      <a:pt x="67062" y="679688"/>
                    </a:cubicBezTo>
                    <a:cubicBezTo>
                      <a:pt x="67062" y="650478"/>
                      <a:pt x="117862" y="578088"/>
                      <a:pt x="143262" y="560308"/>
                    </a:cubicBezTo>
                    <a:cubicBezTo>
                      <a:pt x="157232" y="551418"/>
                      <a:pt x="175012" y="548878"/>
                      <a:pt x="185172" y="553958"/>
                    </a:cubicBezTo>
                    <a:cubicBezTo>
                      <a:pt x="195332" y="557768"/>
                      <a:pt x="201682" y="567928"/>
                      <a:pt x="206762" y="581898"/>
                    </a:cubicBezTo>
                    <a:cubicBezTo>
                      <a:pt x="219462" y="614918"/>
                      <a:pt x="228352" y="724138"/>
                      <a:pt x="214382" y="755888"/>
                    </a:cubicBezTo>
                    <a:cubicBezTo>
                      <a:pt x="208032" y="772398"/>
                      <a:pt x="194062" y="782558"/>
                      <a:pt x="182632" y="785098"/>
                    </a:cubicBezTo>
                    <a:cubicBezTo>
                      <a:pt x="173742" y="787638"/>
                      <a:pt x="163582" y="783828"/>
                      <a:pt x="157232" y="778748"/>
                    </a:cubicBezTo>
                    <a:cubicBezTo>
                      <a:pt x="149612" y="774938"/>
                      <a:pt x="145802" y="768588"/>
                      <a:pt x="140722" y="757158"/>
                    </a:cubicBezTo>
                    <a:cubicBezTo>
                      <a:pt x="130562" y="730488"/>
                      <a:pt x="111512" y="641588"/>
                      <a:pt x="116592" y="614918"/>
                    </a:cubicBezTo>
                    <a:cubicBezTo>
                      <a:pt x="119132" y="604758"/>
                      <a:pt x="125482" y="598408"/>
                      <a:pt x="133102" y="593328"/>
                    </a:cubicBezTo>
                    <a:cubicBezTo>
                      <a:pt x="141992" y="588248"/>
                      <a:pt x="158502" y="586978"/>
                      <a:pt x="168662" y="590788"/>
                    </a:cubicBezTo>
                    <a:cubicBezTo>
                      <a:pt x="177552" y="594598"/>
                      <a:pt x="187712" y="604758"/>
                      <a:pt x="191522" y="617458"/>
                    </a:cubicBezTo>
                    <a:cubicBezTo>
                      <a:pt x="197872" y="640318"/>
                      <a:pt x="187712" y="707628"/>
                      <a:pt x="176282" y="726678"/>
                    </a:cubicBezTo>
                    <a:cubicBezTo>
                      <a:pt x="169932" y="736838"/>
                      <a:pt x="162312" y="740648"/>
                      <a:pt x="154692" y="743188"/>
                    </a:cubicBezTo>
                    <a:cubicBezTo>
                      <a:pt x="145802" y="744458"/>
                      <a:pt x="134372" y="745728"/>
                      <a:pt x="126752" y="740648"/>
                    </a:cubicBezTo>
                    <a:cubicBezTo>
                      <a:pt x="117862" y="734298"/>
                      <a:pt x="110242" y="721598"/>
                      <a:pt x="106432" y="702548"/>
                    </a:cubicBezTo>
                    <a:cubicBezTo>
                      <a:pt x="97542" y="647938"/>
                      <a:pt x="152152" y="477758"/>
                      <a:pt x="163582" y="377428"/>
                    </a:cubicBezTo>
                    <a:cubicBezTo>
                      <a:pt x="172472" y="291068"/>
                      <a:pt x="163582" y="203438"/>
                      <a:pt x="175012" y="136128"/>
                    </a:cubicBezTo>
                    <a:cubicBezTo>
                      <a:pt x="183902" y="87868"/>
                      <a:pt x="197872" y="30718"/>
                      <a:pt x="213112" y="11668"/>
                    </a:cubicBezTo>
                    <a:cubicBezTo>
                      <a:pt x="219462" y="4048"/>
                      <a:pt x="225812" y="1508"/>
                      <a:pt x="234702" y="238"/>
                    </a:cubicBezTo>
                    <a:cubicBezTo>
                      <a:pt x="243592" y="-1032"/>
                      <a:pt x="261372" y="2778"/>
                      <a:pt x="267722" y="11668"/>
                    </a:cubicBezTo>
                    <a:cubicBezTo>
                      <a:pt x="275342" y="20558"/>
                      <a:pt x="279152" y="45958"/>
                      <a:pt x="274072" y="57388"/>
                    </a:cubicBezTo>
                    <a:cubicBezTo>
                      <a:pt x="268992" y="66278"/>
                      <a:pt x="253752" y="76438"/>
                      <a:pt x="243592" y="76438"/>
                    </a:cubicBezTo>
                    <a:cubicBezTo>
                      <a:pt x="230892" y="75168"/>
                      <a:pt x="209302" y="61198"/>
                      <a:pt x="205492" y="51038"/>
                    </a:cubicBezTo>
                    <a:cubicBezTo>
                      <a:pt x="200412" y="40878"/>
                      <a:pt x="202952" y="23098"/>
                      <a:pt x="210572" y="15478"/>
                    </a:cubicBezTo>
                    <a:cubicBezTo>
                      <a:pt x="218192" y="6588"/>
                      <a:pt x="242322" y="-2302"/>
                      <a:pt x="253752" y="2778"/>
                    </a:cubicBezTo>
                    <a:cubicBezTo>
                      <a:pt x="265182" y="6588"/>
                      <a:pt x="275342" y="23098"/>
                      <a:pt x="279152" y="40878"/>
                    </a:cubicBezTo>
                    <a:cubicBezTo>
                      <a:pt x="284232" y="73898"/>
                      <a:pt x="248672" y="136128"/>
                      <a:pt x="242322" y="186928"/>
                    </a:cubicBezTo>
                    <a:cubicBezTo>
                      <a:pt x="235972" y="242808"/>
                      <a:pt x="244862" y="299958"/>
                      <a:pt x="241052" y="364728"/>
                    </a:cubicBezTo>
                    <a:cubicBezTo>
                      <a:pt x="234702" y="443468"/>
                      <a:pt x="222002" y="556498"/>
                      <a:pt x="206762" y="625078"/>
                    </a:cubicBezTo>
                    <a:cubicBezTo>
                      <a:pt x="196602" y="669528"/>
                      <a:pt x="188982" y="717788"/>
                      <a:pt x="169932" y="734298"/>
                    </a:cubicBezTo>
                    <a:cubicBezTo>
                      <a:pt x="158502" y="743188"/>
                      <a:pt x="138182" y="745728"/>
                      <a:pt x="126752" y="740648"/>
                    </a:cubicBezTo>
                    <a:cubicBezTo>
                      <a:pt x="116592" y="735568"/>
                      <a:pt x="108972" y="719058"/>
                      <a:pt x="106432" y="702548"/>
                    </a:cubicBezTo>
                    <a:cubicBezTo>
                      <a:pt x="101352" y="678418"/>
                      <a:pt x="110242" y="625078"/>
                      <a:pt x="120402" y="607298"/>
                    </a:cubicBezTo>
                    <a:cubicBezTo>
                      <a:pt x="125482" y="597138"/>
                      <a:pt x="133102" y="592058"/>
                      <a:pt x="140722" y="589518"/>
                    </a:cubicBezTo>
                    <a:cubicBezTo>
                      <a:pt x="149612" y="586978"/>
                      <a:pt x="159772" y="585708"/>
                      <a:pt x="168662" y="590788"/>
                    </a:cubicBezTo>
                    <a:cubicBezTo>
                      <a:pt x="178822" y="595868"/>
                      <a:pt x="187712" y="612378"/>
                      <a:pt x="195332" y="630158"/>
                    </a:cubicBezTo>
                    <a:cubicBezTo>
                      <a:pt x="206762" y="659368"/>
                      <a:pt x="224542" y="730488"/>
                      <a:pt x="214382" y="755888"/>
                    </a:cubicBezTo>
                    <a:cubicBezTo>
                      <a:pt x="209302" y="771128"/>
                      <a:pt x="194062" y="782558"/>
                      <a:pt x="182632" y="785098"/>
                    </a:cubicBezTo>
                    <a:cubicBezTo>
                      <a:pt x="173742" y="787638"/>
                      <a:pt x="163582" y="783828"/>
                      <a:pt x="157232" y="778748"/>
                    </a:cubicBezTo>
                    <a:cubicBezTo>
                      <a:pt x="149612" y="774938"/>
                      <a:pt x="144532" y="768588"/>
                      <a:pt x="140722" y="757158"/>
                    </a:cubicBezTo>
                    <a:cubicBezTo>
                      <a:pt x="130562" y="725408"/>
                      <a:pt x="124212" y="595868"/>
                      <a:pt x="136912" y="567928"/>
                    </a:cubicBezTo>
                    <a:cubicBezTo>
                      <a:pt x="141992" y="557768"/>
                      <a:pt x="150882" y="553958"/>
                      <a:pt x="158502" y="551418"/>
                    </a:cubicBezTo>
                    <a:cubicBezTo>
                      <a:pt x="167392" y="548878"/>
                      <a:pt x="177552" y="550148"/>
                      <a:pt x="185172" y="553958"/>
                    </a:cubicBezTo>
                    <a:cubicBezTo>
                      <a:pt x="192792" y="557768"/>
                      <a:pt x="201682" y="565388"/>
                      <a:pt x="204222" y="573008"/>
                    </a:cubicBezTo>
                    <a:cubicBezTo>
                      <a:pt x="208032" y="580628"/>
                      <a:pt x="209302" y="588248"/>
                      <a:pt x="205492" y="599678"/>
                    </a:cubicBezTo>
                    <a:cubicBezTo>
                      <a:pt x="199142" y="625078"/>
                      <a:pt x="155962" y="692388"/>
                      <a:pt x="131832" y="708898"/>
                    </a:cubicBezTo>
                    <a:cubicBezTo>
                      <a:pt x="116592" y="717788"/>
                      <a:pt x="100082" y="721598"/>
                      <a:pt x="88652" y="716518"/>
                    </a:cubicBezTo>
                    <a:cubicBezTo>
                      <a:pt x="78492" y="711438"/>
                      <a:pt x="68332" y="693658"/>
                      <a:pt x="67062" y="679688"/>
                    </a:cubicBezTo>
                    <a:cubicBezTo>
                      <a:pt x="64522" y="659368"/>
                      <a:pt x="79762" y="635238"/>
                      <a:pt x="93732" y="609838"/>
                    </a:cubicBezTo>
                    <a:cubicBezTo>
                      <a:pt x="116592" y="571738"/>
                      <a:pt x="172472" y="495538"/>
                      <a:pt x="197872" y="479028"/>
                    </a:cubicBezTo>
                    <a:cubicBezTo>
                      <a:pt x="208032" y="471408"/>
                      <a:pt x="215652" y="470138"/>
                      <a:pt x="223272" y="471408"/>
                    </a:cubicBezTo>
                    <a:cubicBezTo>
                      <a:pt x="232162" y="472678"/>
                      <a:pt x="242322" y="477758"/>
                      <a:pt x="247402" y="482838"/>
                    </a:cubicBezTo>
                    <a:cubicBezTo>
                      <a:pt x="253752" y="489188"/>
                      <a:pt x="257562" y="500618"/>
                      <a:pt x="257562" y="508238"/>
                    </a:cubicBezTo>
                    <a:cubicBezTo>
                      <a:pt x="257562" y="517128"/>
                      <a:pt x="256292" y="523478"/>
                      <a:pt x="248672" y="533638"/>
                    </a:cubicBezTo>
                    <a:cubicBezTo>
                      <a:pt x="233432" y="556498"/>
                      <a:pt x="161042" y="598408"/>
                      <a:pt x="139452" y="623808"/>
                    </a:cubicBezTo>
                    <a:cubicBezTo>
                      <a:pt x="128022" y="637778"/>
                      <a:pt x="117862" y="646668"/>
                      <a:pt x="119132" y="661908"/>
                    </a:cubicBezTo>
                    <a:cubicBezTo>
                      <a:pt x="122942" y="693658"/>
                      <a:pt x="214382" y="764778"/>
                      <a:pt x="229622" y="796528"/>
                    </a:cubicBezTo>
                    <a:cubicBezTo>
                      <a:pt x="237242" y="810498"/>
                      <a:pt x="239782" y="820658"/>
                      <a:pt x="238512" y="830818"/>
                    </a:cubicBezTo>
                    <a:cubicBezTo>
                      <a:pt x="237242" y="838438"/>
                      <a:pt x="230892" y="848598"/>
                      <a:pt x="223272" y="852408"/>
                    </a:cubicBezTo>
                    <a:cubicBezTo>
                      <a:pt x="214382" y="857488"/>
                      <a:pt x="200412" y="861298"/>
                      <a:pt x="187712" y="856218"/>
                    </a:cubicBezTo>
                    <a:cubicBezTo>
                      <a:pt x="164852" y="848598"/>
                      <a:pt x="139452" y="796528"/>
                      <a:pt x="110242" y="774938"/>
                    </a:cubicBezTo>
                    <a:cubicBezTo>
                      <a:pt x="82302" y="754618"/>
                      <a:pt x="32772" y="743188"/>
                      <a:pt x="16262" y="729218"/>
                    </a:cubicBezTo>
                    <a:cubicBezTo>
                      <a:pt x="7372" y="721598"/>
                      <a:pt x="2292" y="713978"/>
                      <a:pt x="1022" y="706358"/>
                    </a:cubicBezTo>
                    <a:cubicBezTo>
                      <a:pt x="-1518" y="697468"/>
                      <a:pt x="1022" y="687308"/>
                      <a:pt x="4832" y="679688"/>
                    </a:cubicBezTo>
                    <a:cubicBezTo>
                      <a:pt x="8642" y="672068"/>
                      <a:pt x="17532" y="664448"/>
                      <a:pt x="25152" y="661908"/>
                    </a:cubicBezTo>
                    <a:cubicBezTo>
                      <a:pt x="32772" y="659368"/>
                      <a:pt x="51822" y="661908"/>
                      <a:pt x="51822" y="661908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8" id="58"/>
            <p:cNvGrpSpPr/>
            <p:nvPr/>
          </p:nvGrpSpPr>
          <p:grpSpPr>
            <a:xfrm rot="0">
              <a:off x="130810" y="279400"/>
              <a:ext cx="193040" cy="436880"/>
              <a:chOff x="0" y="0"/>
              <a:chExt cx="193040" cy="43688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46319" y="50476"/>
                <a:ext cx="95995" cy="336104"/>
              </a:xfrm>
              <a:custGeom>
                <a:avLst/>
                <a:gdLst/>
                <a:ahLst/>
                <a:cxnLst/>
                <a:rect r="r" b="b" t="t" l="l"/>
                <a:pathLst>
                  <a:path h="336104" w="95995">
                    <a:moveTo>
                      <a:pt x="80681" y="38424"/>
                    </a:moveTo>
                    <a:cubicBezTo>
                      <a:pt x="92111" y="312744"/>
                      <a:pt x="87031" y="322904"/>
                      <a:pt x="79411" y="329254"/>
                    </a:cubicBezTo>
                    <a:cubicBezTo>
                      <a:pt x="74331" y="334334"/>
                      <a:pt x="65441" y="336874"/>
                      <a:pt x="56551" y="335604"/>
                    </a:cubicBezTo>
                    <a:cubicBezTo>
                      <a:pt x="46391" y="334334"/>
                      <a:pt x="31151" y="327984"/>
                      <a:pt x="26071" y="317824"/>
                    </a:cubicBezTo>
                    <a:cubicBezTo>
                      <a:pt x="19721" y="307664"/>
                      <a:pt x="22261" y="282264"/>
                      <a:pt x="29881" y="272104"/>
                    </a:cubicBezTo>
                    <a:cubicBezTo>
                      <a:pt x="36231" y="263214"/>
                      <a:pt x="52741" y="258134"/>
                      <a:pt x="62901" y="259404"/>
                    </a:cubicBezTo>
                    <a:cubicBezTo>
                      <a:pt x="74331" y="263214"/>
                      <a:pt x="93381" y="280994"/>
                      <a:pt x="95921" y="292424"/>
                    </a:cubicBezTo>
                    <a:cubicBezTo>
                      <a:pt x="97191" y="305124"/>
                      <a:pt x="81951" y="326714"/>
                      <a:pt x="73061" y="333064"/>
                    </a:cubicBezTo>
                    <a:cubicBezTo>
                      <a:pt x="65441" y="336874"/>
                      <a:pt x="56551" y="336874"/>
                      <a:pt x="48931" y="334334"/>
                    </a:cubicBezTo>
                    <a:cubicBezTo>
                      <a:pt x="38771" y="331794"/>
                      <a:pt x="28611" y="325444"/>
                      <a:pt x="22261" y="311474"/>
                    </a:cubicBezTo>
                    <a:cubicBezTo>
                      <a:pt x="1941" y="270834"/>
                      <a:pt x="-5679" y="82874"/>
                      <a:pt x="4481" y="38424"/>
                    </a:cubicBezTo>
                    <a:cubicBezTo>
                      <a:pt x="8291" y="21914"/>
                      <a:pt x="13371" y="13024"/>
                      <a:pt x="20991" y="6674"/>
                    </a:cubicBezTo>
                    <a:cubicBezTo>
                      <a:pt x="28611" y="1594"/>
                      <a:pt x="38771" y="-946"/>
                      <a:pt x="47661" y="324"/>
                    </a:cubicBezTo>
                    <a:cubicBezTo>
                      <a:pt x="55281" y="1594"/>
                      <a:pt x="65441" y="6674"/>
                      <a:pt x="71791" y="13024"/>
                    </a:cubicBezTo>
                    <a:cubicBezTo>
                      <a:pt x="76871" y="19374"/>
                      <a:pt x="80681" y="38424"/>
                      <a:pt x="80681" y="38424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160020" y="0"/>
              <a:ext cx="234950" cy="811530"/>
              <a:chOff x="0" y="0"/>
              <a:chExt cx="234950" cy="81153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50350" y="50470"/>
                <a:ext cx="133800" cy="708990"/>
              </a:xfrm>
              <a:custGeom>
                <a:avLst/>
                <a:gdLst/>
                <a:ahLst/>
                <a:cxnLst/>
                <a:rect r="r" b="b" t="t" l="l"/>
                <a:pathLst>
                  <a:path h="708990" w="133800">
                    <a:moveTo>
                      <a:pt x="133800" y="38430"/>
                    </a:moveTo>
                    <a:cubicBezTo>
                      <a:pt x="110940" y="462610"/>
                      <a:pt x="95700" y="627710"/>
                      <a:pt x="76650" y="675970"/>
                    </a:cubicBezTo>
                    <a:cubicBezTo>
                      <a:pt x="70300" y="692480"/>
                      <a:pt x="65220" y="701370"/>
                      <a:pt x="55060" y="705180"/>
                    </a:cubicBezTo>
                    <a:cubicBezTo>
                      <a:pt x="46170" y="710260"/>
                      <a:pt x="28390" y="708990"/>
                      <a:pt x="19500" y="703910"/>
                    </a:cubicBezTo>
                    <a:cubicBezTo>
                      <a:pt x="10610" y="698830"/>
                      <a:pt x="1720" y="684860"/>
                      <a:pt x="450" y="673430"/>
                    </a:cubicBezTo>
                    <a:cubicBezTo>
                      <a:pt x="-820" y="663270"/>
                      <a:pt x="6800" y="648030"/>
                      <a:pt x="14420" y="641680"/>
                    </a:cubicBezTo>
                    <a:cubicBezTo>
                      <a:pt x="23310" y="635330"/>
                      <a:pt x="39820" y="631520"/>
                      <a:pt x="49980" y="635330"/>
                    </a:cubicBezTo>
                    <a:cubicBezTo>
                      <a:pt x="60140" y="637870"/>
                      <a:pt x="71570" y="650570"/>
                      <a:pt x="75380" y="660730"/>
                    </a:cubicBezTo>
                    <a:cubicBezTo>
                      <a:pt x="77920" y="670890"/>
                      <a:pt x="74110" y="687400"/>
                      <a:pt x="67760" y="695020"/>
                    </a:cubicBezTo>
                    <a:cubicBezTo>
                      <a:pt x="61410" y="703910"/>
                      <a:pt x="44900" y="708990"/>
                      <a:pt x="34740" y="708990"/>
                    </a:cubicBezTo>
                    <a:cubicBezTo>
                      <a:pt x="27120" y="708990"/>
                      <a:pt x="18230" y="705180"/>
                      <a:pt x="13150" y="698830"/>
                    </a:cubicBezTo>
                    <a:cubicBezTo>
                      <a:pt x="5530" y="692480"/>
                      <a:pt x="2990" y="682320"/>
                      <a:pt x="450" y="665810"/>
                    </a:cubicBezTo>
                    <a:cubicBezTo>
                      <a:pt x="-4630" y="615010"/>
                      <a:pt x="34740" y="457530"/>
                      <a:pt x="44900" y="350850"/>
                    </a:cubicBezTo>
                    <a:cubicBezTo>
                      <a:pt x="53790" y="244170"/>
                      <a:pt x="43630" y="71450"/>
                      <a:pt x="58870" y="27000"/>
                    </a:cubicBezTo>
                    <a:cubicBezTo>
                      <a:pt x="63950" y="14300"/>
                      <a:pt x="67760" y="10490"/>
                      <a:pt x="75380" y="5410"/>
                    </a:cubicBezTo>
                    <a:cubicBezTo>
                      <a:pt x="81730" y="1600"/>
                      <a:pt x="93160" y="-940"/>
                      <a:pt x="102050" y="330"/>
                    </a:cubicBezTo>
                    <a:cubicBezTo>
                      <a:pt x="109670" y="1600"/>
                      <a:pt x="119830" y="6680"/>
                      <a:pt x="124910" y="13030"/>
                    </a:cubicBezTo>
                    <a:cubicBezTo>
                      <a:pt x="129990" y="19380"/>
                      <a:pt x="133800" y="38430"/>
                      <a:pt x="133800" y="3843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62" id="62"/>
          <p:cNvGrpSpPr/>
          <p:nvPr/>
        </p:nvGrpSpPr>
        <p:grpSpPr>
          <a:xfrm rot="0">
            <a:off x="11442382" y="5621465"/>
            <a:ext cx="339090" cy="369570"/>
            <a:chOff x="0" y="0"/>
            <a:chExt cx="452120" cy="4927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0800" y="50067"/>
              <a:ext cx="350949" cy="390623"/>
            </a:xfrm>
            <a:custGeom>
              <a:avLst/>
              <a:gdLst/>
              <a:ahLst/>
              <a:cxnLst/>
              <a:rect r="r" b="b" t="t" l="l"/>
              <a:pathLst>
                <a:path h="390623" w="350949">
                  <a:moveTo>
                    <a:pt x="7620" y="330933"/>
                  </a:moveTo>
                  <a:cubicBezTo>
                    <a:pt x="308610" y="-4347"/>
                    <a:pt x="320040" y="-3077"/>
                    <a:pt x="328930" y="733"/>
                  </a:cubicBezTo>
                  <a:cubicBezTo>
                    <a:pt x="336550" y="3273"/>
                    <a:pt x="344170" y="9623"/>
                    <a:pt x="346710" y="17243"/>
                  </a:cubicBezTo>
                  <a:cubicBezTo>
                    <a:pt x="350520" y="28673"/>
                    <a:pt x="346710" y="54073"/>
                    <a:pt x="340360" y="62963"/>
                  </a:cubicBezTo>
                  <a:cubicBezTo>
                    <a:pt x="335280" y="69313"/>
                    <a:pt x="326390" y="73123"/>
                    <a:pt x="317500" y="73123"/>
                  </a:cubicBezTo>
                  <a:cubicBezTo>
                    <a:pt x="308610" y="73123"/>
                    <a:pt x="292100" y="66773"/>
                    <a:pt x="284480" y="60423"/>
                  </a:cubicBezTo>
                  <a:cubicBezTo>
                    <a:pt x="279400" y="55343"/>
                    <a:pt x="275590" y="46453"/>
                    <a:pt x="275590" y="37563"/>
                  </a:cubicBezTo>
                  <a:cubicBezTo>
                    <a:pt x="275590" y="27403"/>
                    <a:pt x="281940" y="10893"/>
                    <a:pt x="290830" y="5813"/>
                  </a:cubicBezTo>
                  <a:cubicBezTo>
                    <a:pt x="300990" y="-1807"/>
                    <a:pt x="326390" y="-537"/>
                    <a:pt x="336550" y="4543"/>
                  </a:cubicBezTo>
                  <a:cubicBezTo>
                    <a:pt x="344170" y="8353"/>
                    <a:pt x="349250" y="17243"/>
                    <a:pt x="350520" y="24863"/>
                  </a:cubicBezTo>
                  <a:cubicBezTo>
                    <a:pt x="351790" y="35023"/>
                    <a:pt x="350520" y="43913"/>
                    <a:pt x="342900" y="60423"/>
                  </a:cubicBezTo>
                  <a:cubicBezTo>
                    <a:pt x="314960" y="115033"/>
                    <a:pt x="109220" y="349983"/>
                    <a:pt x="63500" y="381733"/>
                  </a:cubicBezTo>
                  <a:cubicBezTo>
                    <a:pt x="52070" y="389353"/>
                    <a:pt x="46990" y="390623"/>
                    <a:pt x="38100" y="390623"/>
                  </a:cubicBezTo>
                  <a:cubicBezTo>
                    <a:pt x="29210" y="390623"/>
                    <a:pt x="19050" y="386813"/>
                    <a:pt x="12700" y="380463"/>
                  </a:cubicBezTo>
                  <a:cubicBezTo>
                    <a:pt x="6350" y="375383"/>
                    <a:pt x="1270" y="365223"/>
                    <a:pt x="0" y="357603"/>
                  </a:cubicBezTo>
                  <a:cubicBezTo>
                    <a:pt x="0" y="348713"/>
                    <a:pt x="7620" y="330933"/>
                    <a:pt x="7620" y="33093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538585" y="5298568"/>
            <a:ext cx="212408" cy="608648"/>
            <a:chOff x="0" y="0"/>
            <a:chExt cx="283210" cy="81153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50800" y="49479"/>
              <a:ext cx="180670" cy="713467"/>
            </a:xfrm>
            <a:custGeom>
              <a:avLst/>
              <a:gdLst/>
              <a:ahLst/>
              <a:cxnLst/>
              <a:rect r="r" b="b" t="t" l="l"/>
              <a:pathLst>
                <a:path h="713467" w="180670">
                  <a:moveTo>
                    <a:pt x="158750" y="72441"/>
                  </a:moveTo>
                  <a:cubicBezTo>
                    <a:pt x="93980" y="134671"/>
                    <a:pt x="152400" y="190551"/>
                    <a:pt x="148590" y="228651"/>
                  </a:cubicBezTo>
                  <a:cubicBezTo>
                    <a:pt x="143510" y="265481"/>
                    <a:pt x="86360" y="301041"/>
                    <a:pt x="80010" y="335331"/>
                  </a:cubicBezTo>
                  <a:cubicBezTo>
                    <a:pt x="73660" y="364541"/>
                    <a:pt x="99060" y="397561"/>
                    <a:pt x="96520" y="420421"/>
                  </a:cubicBezTo>
                  <a:cubicBezTo>
                    <a:pt x="95250" y="435661"/>
                    <a:pt x="83820" y="440741"/>
                    <a:pt x="81280" y="458521"/>
                  </a:cubicBezTo>
                  <a:cubicBezTo>
                    <a:pt x="74930" y="494081"/>
                    <a:pt x="99060" y="579171"/>
                    <a:pt x="93980" y="624891"/>
                  </a:cubicBezTo>
                  <a:cubicBezTo>
                    <a:pt x="90170" y="656641"/>
                    <a:pt x="82550" y="696011"/>
                    <a:pt x="67310" y="707441"/>
                  </a:cubicBezTo>
                  <a:cubicBezTo>
                    <a:pt x="54610" y="715061"/>
                    <a:pt x="30480" y="713791"/>
                    <a:pt x="20320" y="706171"/>
                  </a:cubicBezTo>
                  <a:cubicBezTo>
                    <a:pt x="11430" y="701091"/>
                    <a:pt x="5080" y="684581"/>
                    <a:pt x="6350" y="674421"/>
                  </a:cubicBezTo>
                  <a:cubicBezTo>
                    <a:pt x="6350" y="662991"/>
                    <a:pt x="15240" y="649021"/>
                    <a:pt x="24130" y="643941"/>
                  </a:cubicBezTo>
                  <a:cubicBezTo>
                    <a:pt x="34290" y="638861"/>
                    <a:pt x="50800" y="636321"/>
                    <a:pt x="59690" y="641401"/>
                  </a:cubicBezTo>
                  <a:cubicBezTo>
                    <a:pt x="71120" y="647751"/>
                    <a:pt x="82550" y="670611"/>
                    <a:pt x="81280" y="683311"/>
                  </a:cubicBezTo>
                  <a:cubicBezTo>
                    <a:pt x="80010" y="693471"/>
                    <a:pt x="68580" y="707441"/>
                    <a:pt x="59690" y="711251"/>
                  </a:cubicBezTo>
                  <a:cubicBezTo>
                    <a:pt x="49530" y="715061"/>
                    <a:pt x="33020" y="713791"/>
                    <a:pt x="24130" y="708711"/>
                  </a:cubicBezTo>
                  <a:cubicBezTo>
                    <a:pt x="15240" y="703631"/>
                    <a:pt x="6350" y="688391"/>
                    <a:pt x="6350" y="678231"/>
                  </a:cubicBezTo>
                  <a:cubicBezTo>
                    <a:pt x="5080" y="668071"/>
                    <a:pt x="17780" y="660451"/>
                    <a:pt x="21590" y="646481"/>
                  </a:cubicBezTo>
                  <a:cubicBezTo>
                    <a:pt x="26670" y="623621"/>
                    <a:pt x="25400" y="582981"/>
                    <a:pt x="21590" y="553771"/>
                  </a:cubicBezTo>
                  <a:cubicBezTo>
                    <a:pt x="17780" y="525831"/>
                    <a:pt x="0" y="501701"/>
                    <a:pt x="0" y="476301"/>
                  </a:cubicBezTo>
                  <a:cubicBezTo>
                    <a:pt x="0" y="450901"/>
                    <a:pt x="19050" y="425501"/>
                    <a:pt x="20320" y="398831"/>
                  </a:cubicBezTo>
                  <a:cubicBezTo>
                    <a:pt x="21590" y="370891"/>
                    <a:pt x="0" y="340411"/>
                    <a:pt x="5080" y="309931"/>
                  </a:cubicBezTo>
                  <a:cubicBezTo>
                    <a:pt x="10160" y="274371"/>
                    <a:pt x="63500" y="235001"/>
                    <a:pt x="63500" y="200711"/>
                  </a:cubicBezTo>
                  <a:cubicBezTo>
                    <a:pt x="63500" y="172771"/>
                    <a:pt x="26670" y="146101"/>
                    <a:pt x="24130" y="123241"/>
                  </a:cubicBezTo>
                  <a:cubicBezTo>
                    <a:pt x="21590" y="106731"/>
                    <a:pt x="26670" y="91491"/>
                    <a:pt x="33020" y="77521"/>
                  </a:cubicBezTo>
                  <a:cubicBezTo>
                    <a:pt x="39370" y="64821"/>
                    <a:pt x="46990" y="53391"/>
                    <a:pt x="59690" y="41961"/>
                  </a:cubicBezTo>
                  <a:cubicBezTo>
                    <a:pt x="76200" y="26721"/>
                    <a:pt x="109220" y="8941"/>
                    <a:pt x="127000" y="3861"/>
                  </a:cubicBezTo>
                  <a:cubicBezTo>
                    <a:pt x="137160" y="51"/>
                    <a:pt x="144780" y="-1219"/>
                    <a:pt x="153670" y="1321"/>
                  </a:cubicBezTo>
                  <a:cubicBezTo>
                    <a:pt x="161290" y="3861"/>
                    <a:pt x="170180" y="10211"/>
                    <a:pt x="175260" y="17831"/>
                  </a:cubicBezTo>
                  <a:cubicBezTo>
                    <a:pt x="179070" y="25451"/>
                    <a:pt x="181610" y="35611"/>
                    <a:pt x="180340" y="44501"/>
                  </a:cubicBezTo>
                  <a:cubicBezTo>
                    <a:pt x="177800" y="54661"/>
                    <a:pt x="158750" y="72441"/>
                    <a:pt x="158750" y="7244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66" id="66"/>
          <p:cNvSpPr/>
          <p:nvPr/>
        </p:nvSpPr>
        <p:spPr>
          <a:xfrm flipH="false" flipV="false" rot="0">
            <a:off x="11061843" y="4799458"/>
            <a:ext cx="2413990" cy="3678175"/>
          </a:xfrm>
          <a:custGeom>
            <a:avLst/>
            <a:gdLst/>
            <a:ahLst/>
            <a:cxnLst/>
            <a:rect r="r" b="b" t="t" l="l"/>
            <a:pathLst>
              <a:path h="3678175" w="2413990">
                <a:moveTo>
                  <a:pt x="0" y="0"/>
                </a:moveTo>
                <a:lnTo>
                  <a:pt x="2413990" y="0"/>
                </a:lnTo>
                <a:lnTo>
                  <a:pt x="2413990" y="3678175"/>
                </a:lnTo>
                <a:lnTo>
                  <a:pt x="0" y="3678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62236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7788593" y="8366570"/>
            <a:ext cx="78105" cy="86677"/>
            <a:chOff x="0" y="0"/>
            <a:chExt cx="104140" cy="11557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50800" y="50800"/>
              <a:ext cx="1270" cy="5644"/>
            </a:xfrm>
            <a:custGeom>
              <a:avLst/>
              <a:gdLst/>
              <a:ahLst/>
              <a:cxnLst/>
              <a:rect r="r" b="b" t="t" l="l"/>
              <a:pathLst>
                <a:path h="5644" w="1270">
                  <a:moveTo>
                    <a:pt x="1270" y="0"/>
                  </a:moveTo>
                  <a:cubicBezTo>
                    <a:pt x="0" y="1270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549109" y="8427458"/>
            <a:ext cx="2014405" cy="64915"/>
            <a:chOff x="0" y="0"/>
            <a:chExt cx="2685873" cy="8655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69747" y="26031"/>
              <a:ext cx="2544875" cy="42334"/>
            </a:xfrm>
            <a:custGeom>
              <a:avLst/>
              <a:gdLst/>
              <a:ahLst/>
              <a:cxnLst/>
              <a:rect r="r" b="b" t="t" l="l"/>
              <a:pathLst>
                <a:path h="42334" w="2544875">
                  <a:moveTo>
                    <a:pt x="2405" y="0"/>
                  </a:moveTo>
                  <a:cubicBezTo>
                    <a:pt x="2506094" y="25380"/>
                    <a:pt x="2538562" y="24079"/>
                    <a:pt x="2543974" y="27333"/>
                  </a:cubicBezTo>
                  <a:cubicBezTo>
                    <a:pt x="2547581" y="29285"/>
                    <a:pt x="2538562" y="33841"/>
                    <a:pt x="2538562" y="33841"/>
                  </a:cubicBezTo>
                  <a:cubicBezTo>
                    <a:pt x="2538562" y="33841"/>
                    <a:pt x="2543974" y="27333"/>
                    <a:pt x="2543974" y="27333"/>
                  </a:cubicBezTo>
                  <a:cubicBezTo>
                    <a:pt x="2543974" y="27333"/>
                    <a:pt x="2547581" y="31888"/>
                    <a:pt x="2540366" y="33841"/>
                  </a:cubicBezTo>
                  <a:cubicBezTo>
                    <a:pt x="2462802" y="55967"/>
                    <a:pt x="69146" y="30587"/>
                    <a:pt x="2405" y="6508"/>
                  </a:cubicBezTo>
                  <a:cubicBezTo>
                    <a:pt x="-3006" y="3905"/>
                    <a:pt x="2405" y="0"/>
                    <a:pt x="2405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6268403" y="8355762"/>
            <a:ext cx="3241396" cy="64915"/>
            <a:chOff x="0" y="0"/>
            <a:chExt cx="4321861" cy="8655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12231" y="26031"/>
              <a:ext cx="4094980" cy="42334"/>
            </a:xfrm>
            <a:custGeom>
              <a:avLst/>
              <a:gdLst/>
              <a:ahLst/>
              <a:cxnLst/>
              <a:rect r="r" b="b" t="t" l="l"/>
              <a:pathLst>
                <a:path h="42334" w="4094980">
                  <a:moveTo>
                    <a:pt x="3870" y="0"/>
                  </a:moveTo>
                  <a:cubicBezTo>
                    <a:pt x="4032576" y="25380"/>
                    <a:pt x="4084822" y="24079"/>
                    <a:pt x="4093529" y="27333"/>
                  </a:cubicBezTo>
                  <a:cubicBezTo>
                    <a:pt x="4099334" y="29285"/>
                    <a:pt x="4084821" y="33841"/>
                    <a:pt x="4084821" y="33841"/>
                  </a:cubicBezTo>
                  <a:cubicBezTo>
                    <a:pt x="4084821" y="33841"/>
                    <a:pt x="4093529" y="27333"/>
                    <a:pt x="4093529" y="27333"/>
                  </a:cubicBezTo>
                  <a:cubicBezTo>
                    <a:pt x="4093529" y="27333"/>
                    <a:pt x="4099334" y="31888"/>
                    <a:pt x="4087724" y="33841"/>
                  </a:cubicBezTo>
                  <a:cubicBezTo>
                    <a:pt x="3962915" y="55967"/>
                    <a:pt x="111263" y="30587"/>
                    <a:pt x="3870" y="6508"/>
                  </a:cubicBezTo>
                  <a:cubicBezTo>
                    <a:pt x="-4838" y="3905"/>
                    <a:pt x="3870" y="0"/>
                    <a:pt x="387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1611928" y="8366570"/>
            <a:ext cx="1734311" cy="64915"/>
            <a:chOff x="0" y="0"/>
            <a:chExt cx="2312414" cy="8655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60049" y="26031"/>
              <a:ext cx="2191021" cy="42334"/>
            </a:xfrm>
            <a:custGeom>
              <a:avLst/>
              <a:gdLst/>
              <a:ahLst/>
              <a:cxnLst/>
              <a:rect r="r" b="b" t="t" l="l"/>
              <a:pathLst>
                <a:path h="42334" w="2191021">
                  <a:moveTo>
                    <a:pt x="2071" y="0"/>
                  </a:moveTo>
                  <a:cubicBezTo>
                    <a:pt x="2157632" y="25380"/>
                    <a:pt x="2185586" y="24079"/>
                    <a:pt x="2190245" y="27333"/>
                  </a:cubicBezTo>
                  <a:cubicBezTo>
                    <a:pt x="2193351" y="29285"/>
                    <a:pt x="2185586" y="33841"/>
                    <a:pt x="2185586" y="33841"/>
                  </a:cubicBezTo>
                  <a:cubicBezTo>
                    <a:pt x="2185586" y="33841"/>
                    <a:pt x="2190245" y="27333"/>
                    <a:pt x="2190245" y="27333"/>
                  </a:cubicBezTo>
                  <a:cubicBezTo>
                    <a:pt x="2190245" y="27333"/>
                    <a:pt x="2193351" y="31888"/>
                    <a:pt x="2187139" y="33841"/>
                  </a:cubicBezTo>
                  <a:cubicBezTo>
                    <a:pt x="2120360" y="55967"/>
                    <a:pt x="59532" y="30587"/>
                    <a:pt x="2071" y="6508"/>
                  </a:cubicBezTo>
                  <a:cubicBezTo>
                    <a:pt x="-2588" y="3905"/>
                    <a:pt x="2071" y="0"/>
                    <a:pt x="2071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75" id="75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4901" y="2289745"/>
            <a:ext cx="14118197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Four revenue streams. Subscription first, B2B as the multiplier, clinical partnerships as the moat.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65641" y="1276350"/>
            <a:ext cx="8633094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Business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8104" y="3052379"/>
            <a:ext cx="7658392" cy="1933478"/>
            <a:chOff x="0" y="0"/>
            <a:chExt cx="10211190" cy="257797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211190" cy="2577971"/>
              <a:chOff x="0" y="0"/>
              <a:chExt cx="2017025" cy="509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17025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2017025">
                    <a:moveTo>
                      <a:pt x="39425" y="0"/>
                    </a:moveTo>
                    <a:lnTo>
                      <a:pt x="1977600" y="0"/>
                    </a:lnTo>
                    <a:cubicBezTo>
                      <a:pt x="1988056" y="0"/>
                      <a:pt x="1998084" y="4154"/>
                      <a:pt x="2005478" y="11547"/>
                    </a:cubicBezTo>
                    <a:cubicBezTo>
                      <a:pt x="2012871" y="18941"/>
                      <a:pt x="2017025" y="28969"/>
                      <a:pt x="2017025" y="39425"/>
                    </a:cubicBezTo>
                    <a:lnTo>
                      <a:pt x="2017025" y="469803"/>
                    </a:lnTo>
                    <a:cubicBezTo>
                      <a:pt x="2017025" y="491577"/>
                      <a:pt x="1999374" y="509229"/>
                      <a:pt x="1977600" y="509229"/>
                    </a:cubicBezTo>
                    <a:lnTo>
                      <a:pt x="39425" y="509229"/>
                    </a:lnTo>
                    <a:cubicBezTo>
                      <a:pt x="17651" y="509229"/>
                      <a:pt x="0" y="491577"/>
                      <a:pt x="0" y="469803"/>
                    </a:cubicBezTo>
                    <a:lnTo>
                      <a:pt x="0" y="39425"/>
                    </a:lnTo>
                    <a:cubicBezTo>
                      <a:pt x="0" y="17651"/>
                      <a:pt x="17651" y="0"/>
                      <a:pt x="39425" y="0"/>
                    </a:cubicBezTo>
                    <a:close/>
                  </a:path>
                </a:pathLst>
              </a:custGeom>
              <a:solidFill>
                <a:srgbClr val="FF004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017025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61076" y="0"/>
              <a:ext cx="9950114" cy="2577971"/>
              <a:chOff x="0" y="0"/>
              <a:chExt cx="1965455" cy="50922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65455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1965455">
                    <a:moveTo>
                      <a:pt x="40460" y="0"/>
                    </a:moveTo>
                    <a:lnTo>
                      <a:pt x="1924995" y="0"/>
                    </a:lnTo>
                    <a:cubicBezTo>
                      <a:pt x="1935725" y="0"/>
                      <a:pt x="1946016" y="4263"/>
                      <a:pt x="1953604" y="11850"/>
                    </a:cubicBezTo>
                    <a:cubicBezTo>
                      <a:pt x="1961192" y="19438"/>
                      <a:pt x="1965455" y="29729"/>
                      <a:pt x="1965455" y="40460"/>
                    </a:cubicBezTo>
                    <a:lnTo>
                      <a:pt x="1965455" y="468769"/>
                    </a:lnTo>
                    <a:cubicBezTo>
                      <a:pt x="1965455" y="479500"/>
                      <a:pt x="1961192" y="489791"/>
                      <a:pt x="1953604" y="497378"/>
                    </a:cubicBezTo>
                    <a:cubicBezTo>
                      <a:pt x="1946016" y="504966"/>
                      <a:pt x="1935725" y="509229"/>
                      <a:pt x="1924995" y="509229"/>
                    </a:cubicBezTo>
                    <a:lnTo>
                      <a:pt x="40460" y="509229"/>
                    </a:lnTo>
                    <a:cubicBezTo>
                      <a:pt x="29729" y="509229"/>
                      <a:pt x="19438" y="504966"/>
                      <a:pt x="11850" y="497378"/>
                    </a:cubicBezTo>
                    <a:cubicBezTo>
                      <a:pt x="4263" y="489791"/>
                      <a:pt x="0" y="479500"/>
                      <a:pt x="0" y="468769"/>
                    </a:cubicBezTo>
                    <a:lnTo>
                      <a:pt x="0" y="40460"/>
                    </a:lnTo>
                    <a:cubicBezTo>
                      <a:pt x="0" y="29729"/>
                      <a:pt x="4263" y="19438"/>
                      <a:pt x="11850" y="11850"/>
                    </a:cubicBezTo>
                    <a:cubicBezTo>
                      <a:pt x="19438" y="4263"/>
                      <a:pt x="29729" y="0"/>
                      <a:pt x="404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75" cap="rnd">
                <a:solidFill>
                  <a:srgbClr val="FF1300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965455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79296" y="732801"/>
              <a:ext cx="2940191" cy="5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  <a:spcBef>
                  <a:spcPct val="0"/>
                </a:spcBef>
              </a:pPr>
              <a:r>
                <a:rPr lang="en-US" sz="2514" b="true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€4.99</a:t>
              </a:r>
              <a:r>
                <a:rPr lang="en-US" sz="251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/mo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79296" y="138653"/>
              <a:ext cx="4974648" cy="6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B2C BASIC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79296" y="1344031"/>
              <a:ext cx="9196265" cy="814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0"/>
                </a:lnSpc>
                <a:spcBef>
                  <a:spcPct val="0"/>
                </a:spcBef>
              </a:pPr>
              <a:r>
                <a:rPr lang="en-US" sz="1814" spc="58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Core subscription. Cycle aware nutrition + fitness plans. Penetration pricing to maximise Y1 user volume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41503" y="3052379"/>
            <a:ext cx="7658392" cy="1933478"/>
            <a:chOff x="0" y="0"/>
            <a:chExt cx="10211190" cy="257797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875561" cy="2577971"/>
              <a:chOff x="0" y="0"/>
              <a:chExt cx="1950728" cy="50922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50728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1950728">
                    <a:moveTo>
                      <a:pt x="40765" y="0"/>
                    </a:moveTo>
                    <a:lnTo>
                      <a:pt x="1909963" y="0"/>
                    </a:lnTo>
                    <a:cubicBezTo>
                      <a:pt x="1932477" y="0"/>
                      <a:pt x="1950728" y="18251"/>
                      <a:pt x="1950728" y="40765"/>
                    </a:cubicBezTo>
                    <a:lnTo>
                      <a:pt x="1950728" y="468464"/>
                    </a:lnTo>
                    <a:cubicBezTo>
                      <a:pt x="1950728" y="479275"/>
                      <a:pt x="1946433" y="489644"/>
                      <a:pt x="1938788" y="497289"/>
                    </a:cubicBezTo>
                    <a:cubicBezTo>
                      <a:pt x="1931143" y="504934"/>
                      <a:pt x="1920774" y="509229"/>
                      <a:pt x="1909963" y="509229"/>
                    </a:cubicBezTo>
                    <a:lnTo>
                      <a:pt x="40765" y="509229"/>
                    </a:lnTo>
                    <a:cubicBezTo>
                      <a:pt x="18251" y="509229"/>
                      <a:pt x="0" y="490978"/>
                      <a:pt x="0" y="468464"/>
                    </a:cubicBezTo>
                    <a:lnTo>
                      <a:pt x="0" y="40765"/>
                    </a:lnTo>
                    <a:cubicBezTo>
                      <a:pt x="0" y="29954"/>
                      <a:pt x="4295" y="19585"/>
                      <a:pt x="11940" y="11940"/>
                    </a:cubicBezTo>
                    <a:cubicBezTo>
                      <a:pt x="19585" y="4295"/>
                      <a:pt x="29954" y="0"/>
                      <a:pt x="40765" y="0"/>
                    </a:cubicBezTo>
                    <a:close/>
                  </a:path>
                </a:pathLst>
              </a:custGeom>
              <a:solidFill>
                <a:srgbClr val="FF8E0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950728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61076" y="0"/>
              <a:ext cx="9950114" cy="2577971"/>
              <a:chOff x="0" y="0"/>
              <a:chExt cx="1965455" cy="50922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65455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1965455">
                    <a:moveTo>
                      <a:pt x="40460" y="0"/>
                    </a:moveTo>
                    <a:lnTo>
                      <a:pt x="1924995" y="0"/>
                    </a:lnTo>
                    <a:cubicBezTo>
                      <a:pt x="1935725" y="0"/>
                      <a:pt x="1946016" y="4263"/>
                      <a:pt x="1953604" y="11850"/>
                    </a:cubicBezTo>
                    <a:cubicBezTo>
                      <a:pt x="1961192" y="19438"/>
                      <a:pt x="1965455" y="29729"/>
                      <a:pt x="1965455" y="40460"/>
                    </a:cubicBezTo>
                    <a:lnTo>
                      <a:pt x="1965455" y="468769"/>
                    </a:lnTo>
                    <a:cubicBezTo>
                      <a:pt x="1965455" y="479500"/>
                      <a:pt x="1961192" y="489791"/>
                      <a:pt x="1953604" y="497378"/>
                    </a:cubicBezTo>
                    <a:cubicBezTo>
                      <a:pt x="1946016" y="504966"/>
                      <a:pt x="1935725" y="509229"/>
                      <a:pt x="1924995" y="509229"/>
                    </a:cubicBezTo>
                    <a:lnTo>
                      <a:pt x="40460" y="509229"/>
                    </a:lnTo>
                    <a:cubicBezTo>
                      <a:pt x="29729" y="509229"/>
                      <a:pt x="19438" y="504966"/>
                      <a:pt x="11850" y="497378"/>
                    </a:cubicBezTo>
                    <a:cubicBezTo>
                      <a:pt x="4263" y="489791"/>
                      <a:pt x="0" y="479500"/>
                      <a:pt x="0" y="468769"/>
                    </a:cubicBezTo>
                    <a:lnTo>
                      <a:pt x="0" y="40460"/>
                    </a:lnTo>
                    <a:cubicBezTo>
                      <a:pt x="0" y="29729"/>
                      <a:pt x="4263" y="19438"/>
                      <a:pt x="11850" y="11850"/>
                    </a:cubicBezTo>
                    <a:cubicBezTo>
                      <a:pt x="19438" y="4263"/>
                      <a:pt x="29729" y="0"/>
                      <a:pt x="404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75" cap="rnd">
                <a:solidFill>
                  <a:srgbClr val="FF8E05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965455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79296" y="732801"/>
              <a:ext cx="2940191" cy="5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  <a:spcBef>
                  <a:spcPct val="0"/>
                </a:spcBef>
              </a:pPr>
              <a:r>
                <a:rPr lang="en-US" sz="2514" b="true">
                  <a:solidFill>
                    <a:srgbClr val="FF8C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€12.99</a:t>
              </a:r>
              <a:r>
                <a:rPr lang="en-US" sz="251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/mo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79296" y="138653"/>
              <a:ext cx="4974648" cy="6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B2C PREMIUM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79296" y="1344031"/>
              <a:ext cx="9196265" cy="814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0"/>
                </a:lnSpc>
                <a:spcBef>
                  <a:spcPct val="0"/>
                </a:spcBef>
              </a:pPr>
              <a:r>
                <a:rPr lang="en-US" sz="1814" spc="58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Launches month 13. AI personalised cycle plans + clinical consultation booking. 160% more revenue per user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560498" y="6062141"/>
            <a:ext cx="2205144" cy="43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2514" spc="8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€3.99</a:t>
            </a:r>
            <a:r>
              <a:rPr lang="en-US" sz="2514" spc="8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/mo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21156" y="5462320"/>
            <a:ext cx="2883827" cy="65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2"/>
              </a:lnSpc>
            </a:pPr>
            <a:r>
              <a:rPr lang="en-US" sz="26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B2B CORPORATE WELLBEING 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41503" y="5301143"/>
            <a:ext cx="7658392" cy="1933478"/>
            <a:chOff x="0" y="0"/>
            <a:chExt cx="10211190" cy="257797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875561" cy="2577971"/>
              <a:chOff x="0" y="0"/>
              <a:chExt cx="1950728" cy="50922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950728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1950728">
                    <a:moveTo>
                      <a:pt x="40765" y="0"/>
                    </a:moveTo>
                    <a:lnTo>
                      <a:pt x="1909963" y="0"/>
                    </a:lnTo>
                    <a:cubicBezTo>
                      <a:pt x="1932477" y="0"/>
                      <a:pt x="1950728" y="18251"/>
                      <a:pt x="1950728" y="40765"/>
                    </a:cubicBezTo>
                    <a:lnTo>
                      <a:pt x="1950728" y="468464"/>
                    </a:lnTo>
                    <a:cubicBezTo>
                      <a:pt x="1950728" y="479275"/>
                      <a:pt x="1946433" y="489644"/>
                      <a:pt x="1938788" y="497289"/>
                    </a:cubicBezTo>
                    <a:cubicBezTo>
                      <a:pt x="1931143" y="504934"/>
                      <a:pt x="1920774" y="509229"/>
                      <a:pt x="1909963" y="509229"/>
                    </a:cubicBezTo>
                    <a:lnTo>
                      <a:pt x="40765" y="509229"/>
                    </a:lnTo>
                    <a:cubicBezTo>
                      <a:pt x="18251" y="509229"/>
                      <a:pt x="0" y="490978"/>
                      <a:pt x="0" y="468464"/>
                    </a:cubicBezTo>
                    <a:lnTo>
                      <a:pt x="0" y="40765"/>
                    </a:lnTo>
                    <a:cubicBezTo>
                      <a:pt x="0" y="29954"/>
                      <a:pt x="4295" y="19585"/>
                      <a:pt x="11940" y="11940"/>
                    </a:cubicBezTo>
                    <a:cubicBezTo>
                      <a:pt x="19585" y="4295"/>
                      <a:pt x="29954" y="0"/>
                      <a:pt x="40765" y="0"/>
                    </a:cubicBezTo>
                    <a:close/>
                  </a:path>
                </a:pathLst>
              </a:custGeom>
              <a:solidFill>
                <a:srgbClr val="FF004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950728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61076" y="0"/>
              <a:ext cx="9950114" cy="2577971"/>
              <a:chOff x="0" y="0"/>
              <a:chExt cx="1965455" cy="50922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65455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1965455">
                    <a:moveTo>
                      <a:pt x="40460" y="0"/>
                    </a:moveTo>
                    <a:lnTo>
                      <a:pt x="1924995" y="0"/>
                    </a:lnTo>
                    <a:cubicBezTo>
                      <a:pt x="1935725" y="0"/>
                      <a:pt x="1946016" y="4263"/>
                      <a:pt x="1953604" y="11850"/>
                    </a:cubicBezTo>
                    <a:cubicBezTo>
                      <a:pt x="1961192" y="19438"/>
                      <a:pt x="1965455" y="29729"/>
                      <a:pt x="1965455" y="40460"/>
                    </a:cubicBezTo>
                    <a:lnTo>
                      <a:pt x="1965455" y="468769"/>
                    </a:lnTo>
                    <a:cubicBezTo>
                      <a:pt x="1965455" y="479500"/>
                      <a:pt x="1961192" y="489791"/>
                      <a:pt x="1953604" y="497378"/>
                    </a:cubicBezTo>
                    <a:cubicBezTo>
                      <a:pt x="1946016" y="504966"/>
                      <a:pt x="1935725" y="509229"/>
                      <a:pt x="1924995" y="509229"/>
                    </a:cubicBezTo>
                    <a:lnTo>
                      <a:pt x="40460" y="509229"/>
                    </a:lnTo>
                    <a:cubicBezTo>
                      <a:pt x="29729" y="509229"/>
                      <a:pt x="19438" y="504966"/>
                      <a:pt x="11850" y="497378"/>
                    </a:cubicBezTo>
                    <a:cubicBezTo>
                      <a:pt x="4263" y="489791"/>
                      <a:pt x="0" y="479500"/>
                      <a:pt x="0" y="468769"/>
                    </a:cubicBezTo>
                    <a:lnTo>
                      <a:pt x="0" y="40460"/>
                    </a:lnTo>
                    <a:cubicBezTo>
                      <a:pt x="0" y="29729"/>
                      <a:pt x="4263" y="19438"/>
                      <a:pt x="11850" y="11850"/>
                    </a:cubicBezTo>
                    <a:cubicBezTo>
                      <a:pt x="19438" y="4263"/>
                      <a:pt x="29729" y="0"/>
                      <a:pt x="404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75" cap="rnd">
                <a:solidFill>
                  <a:srgbClr val="FF1300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965455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679296" y="732801"/>
              <a:ext cx="4258484" cy="5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  <a:spcBef>
                  <a:spcPct val="0"/>
                </a:spcBef>
              </a:pPr>
              <a:r>
                <a:rPr lang="en-US" sz="2514" b="true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€500-8K</a:t>
              </a:r>
              <a:r>
                <a:rPr lang="en-US" sz="251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/source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679296" y="138653"/>
              <a:ext cx="7263758" cy="6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-1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CLINICAL + EVENTS + BRAND 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679296" y="1344031"/>
              <a:ext cx="9196265" cy="814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0"/>
                </a:lnSpc>
                <a:spcBef>
                  <a:spcPct val="0"/>
                </a:spcBef>
              </a:pPr>
              <a:r>
                <a:rPr lang="en-US" sz="1814" spc="58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Clinic referral fees, paid workshops/masterclasses, and founder brand partnerships as social audience scales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8104" y="5301143"/>
            <a:ext cx="7406671" cy="1933478"/>
            <a:chOff x="0" y="0"/>
            <a:chExt cx="1950728" cy="5092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50728" cy="509229"/>
            </a:xfrm>
            <a:custGeom>
              <a:avLst/>
              <a:gdLst/>
              <a:ahLst/>
              <a:cxnLst/>
              <a:rect r="r" b="b" t="t" l="l"/>
              <a:pathLst>
                <a:path h="509229" w="1950728">
                  <a:moveTo>
                    <a:pt x="40765" y="0"/>
                  </a:moveTo>
                  <a:lnTo>
                    <a:pt x="1909963" y="0"/>
                  </a:lnTo>
                  <a:cubicBezTo>
                    <a:pt x="1932477" y="0"/>
                    <a:pt x="1950728" y="18251"/>
                    <a:pt x="1950728" y="40765"/>
                  </a:cubicBezTo>
                  <a:lnTo>
                    <a:pt x="1950728" y="468464"/>
                  </a:lnTo>
                  <a:cubicBezTo>
                    <a:pt x="1950728" y="479275"/>
                    <a:pt x="1946433" y="489644"/>
                    <a:pt x="1938788" y="497289"/>
                  </a:cubicBezTo>
                  <a:cubicBezTo>
                    <a:pt x="1931143" y="504934"/>
                    <a:pt x="1920774" y="509229"/>
                    <a:pt x="1909963" y="509229"/>
                  </a:cubicBezTo>
                  <a:lnTo>
                    <a:pt x="40765" y="509229"/>
                  </a:lnTo>
                  <a:cubicBezTo>
                    <a:pt x="18251" y="509229"/>
                    <a:pt x="0" y="490978"/>
                    <a:pt x="0" y="468464"/>
                  </a:cubicBezTo>
                  <a:lnTo>
                    <a:pt x="0" y="40765"/>
                  </a:lnTo>
                  <a:cubicBezTo>
                    <a:pt x="0" y="29954"/>
                    <a:pt x="4295" y="19585"/>
                    <a:pt x="11940" y="11940"/>
                  </a:cubicBezTo>
                  <a:cubicBezTo>
                    <a:pt x="19585" y="4295"/>
                    <a:pt x="29954" y="0"/>
                    <a:pt x="40765" y="0"/>
                  </a:cubicBezTo>
                  <a:close/>
                </a:path>
              </a:pathLst>
            </a:custGeom>
            <a:solidFill>
              <a:srgbClr val="FF8E0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950728" cy="54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83911" y="5301143"/>
            <a:ext cx="7462585" cy="1933478"/>
            <a:chOff x="0" y="0"/>
            <a:chExt cx="1965455" cy="5092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65455" cy="509229"/>
            </a:xfrm>
            <a:custGeom>
              <a:avLst/>
              <a:gdLst/>
              <a:ahLst/>
              <a:cxnLst/>
              <a:rect r="r" b="b" t="t" l="l"/>
              <a:pathLst>
                <a:path h="509229" w="1965455">
                  <a:moveTo>
                    <a:pt x="40460" y="0"/>
                  </a:moveTo>
                  <a:lnTo>
                    <a:pt x="1924995" y="0"/>
                  </a:lnTo>
                  <a:cubicBezTo>
                    <a:pt x="1935725" y="0"/>
                    <a:pt x="1946016" y="4263"/>
                    <a:pt x="1953604" y="11850"/>
                  </a:cubicBezTo>
                  <a:cubicBezTo>
                    <a:pt x="1961192" y="19438"/>
                    <a:pt x="1965455" y="29729"/>
                    <a:pt x="1965455" y="40460"/>
                  </a:cubicBezTo>
                  <a:lnTo>
                    <a:pt x="1965455" y="468769"/>
                  </a:lnTo>
                  <a:cubicBezTo>
                    <a:pt x="1965455" y="479500"/>
                    <a:pt x="1961192" y="489791"/>
                    <a:pt x="1953604" y="497378"/>
                  </a:cubicBezTo>
                  <a:cubicBezTo>
                    <a:pt x="1946016" y="504966"/>
                    <a:pt x="1935725" y="509229"/>
                    <a:pt x="1924995" y="509229"/>
                  </a:cubicBezTo>
                  <a:lnTo>
                    <a:pt x="40460" y="509229"/>
                  </a:lnTo>
                  <a:cubicBezTo>
                    <a:pt x="29729" y="509229"/>
                    <a:pt x="19438" y="504966"/>
                    <a:pt x="11850" y="497378"/>
                  </a:cubicBezTo>
                  <a:cubicBezTo>
                    <a:pt x="4263" y="489791"/>
                    <a:pt x="0" y="479500"/>
                    <a:pt x="0" y="468769"/>
                  </a:cubicBezTo>
                  <a:lnTo>
                    <a:pt x="0" y="40460"/>
                  </a:lnTo>
                  <a:cubicBezTo>
                    <a:pt x="0" y="29729"/>
                    <a:pt x="4263" y="19438"/>
                    <a:pt x="11850" y="11850"/>
                  </a:cubicBezTo>
                  <a:cubicBezTo>
                    <a:pt x="19438" y="4263"/>
                    <a:pt x="29729" y="0"/>
                    <a:pt x="4046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rnd">
              <a:solidFill>
                <a:srgbClr val="FF8E05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965455" cy="54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797576" y="5836457"/>
            <a:ext cx="2205144" cy="43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sz="2514" b="true">
                <a:solidFill>
                  <a:srgbClr val="FF8C00"/>
                </a:solidFill>
                <a:latin typeface="Aileron Bold"/>
                <a:ea typeface="Aileron Bold"/>
                <a:cs typeface="Aileron Bold"/>
                <a:sym typeface="Aileron Bold"/>
              </a:rPr>
              <a:t>€3.99</a:t>
            </a:r>
            <a:r>
              <a:rPr lang="en-US" sz="251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/mo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97576" y="5383702"/>
            <a:ext cx="559005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B2B CORPORATE WELLBEING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97576" y="6299642"/>
            <a:ext cx="6897198" cy="62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  <a:spcBef>
                <a:spcPct val="0"/>
              </a:spcBef>
            </a:pPr>
            <a:r>
              <a:rPr lang="en-US" sz="1814" spc="5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Corporate wellness contracts. Warm leads active. Avg 150 employees = €7,182/yr per contract. Renews at €5.99. 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58179" y="7374056"/>
            <a:ext cx="1992588" cy="1884130"/>
            <a:chOff x="0" y="0"/>
            <a:chExt cx="2656784" cy="2512173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2656784" cy="2512173"/>
              <a:chOff x="0" y="0"/>
              <a:chExt cx="859588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69046" lIns="69046" bIns="69046" rIns="69046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395048" y="373545"/>
              <a:ext cx="1866688" cy="1771408"/>
              <a:chOff x="0" y="0"/>
              <a:chExt cx="859588" cy="815713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59517" lIns="59517" bIns="59517" rIns="59517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737724" y="605480"/>
              <a:ext cx="1181335" cy="621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6"/>
                </a:lnSpc>
                <a:spcBef>
                  <a:spcPct val="0"/>
                </a:spcBef>
              </a:pPr>
              <a:r>
                <a:rPr lang="en-US" b="true" sz="2733" spc="-207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13.6x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639490" y="1186679"/>
              <a:ext cx="1377804" cy="680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2"/>
                </a:lnSpc>
              </a:pPr>
              <a:r>
                <a:rPr lang="en-US" sz="1736" spc="-11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LTV:CAC</a:t>
              </a:r>
            </a:p>
            <a:p>
              <a:pPr algn="ctr">
                <a:lnSpc>
                  <a:spcPts val="1962"/>
                </a:lnSpc>
              </a:pPr>
              <a:r>
                <a:rPr lang="en-US" sz="1736" spc="-11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ORGANIC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534084" y="7374056"/>
            <a:ext cx="1992588" cy="1884130"/>
            <a:chOff x="0" y="0"/>
            <a:chExt cx="2656784" cy="2512173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2656784" cy="2512173"/>
              <a:chOff x="0" y="0"/>
              <a:chExt cx="859588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395048" y="373545"/>
              <a:ext cx="1866688" cy="1771408"/>
              <a:chOff x="0" y="0"/>
              <a:chExt cx="859588" cy="815713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737724" y="756757"/>
              <a:ext cx="1181335" cy="621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6"/>
                </a:lnSpc>
                <a:spcBef>
                  <a:spcPct val="0"/>
                </a:spcBef>
              </a:pPr>
              <a:r>
                <a:rPr lang="en-US" b="true" sz="2733" spc="-207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2.85x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639490" y="1337956"/>
              <a:ext cx="1377804" cy="350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2"/>
                </a:lnSpc>
              </a:pPr>
              <a:r>
                <a:rPr lang="en-US" sz="1736" spc="-11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LTV:CAC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809989" y="7374056"/>
            <a:ext cx="1992588" cy="1884130"/>
            <a:chOff x="0" y="0"/>
            <a:chExt cx="2656784" cy="2512173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2656784" cy="2512173"/>
              <a:chOff x="0" y="0"/>
              <a:chExt cx="859588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395048" y="373545"/>
              <a:ext cx="1866688" cy="1771408"/>
              <a:chOff x="0" y="0"/>
              <a:chExt cx="859588" cy="815713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737724" y="756757"/>
              <a:ext cx="1181335" cy="621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6"/>
                </a:lnSpc>
                <a:spcBef>
                  <a:spcPct val="0"/>
                </a:spcBef>
              </a:pPr>
              <a:r>
                <a:rPr lang="en-US" b="true" sz="2733" spc="-207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€4.20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639490" y="1337956"/>
              <a:ext cx="1377804" cy="680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2"/>
                </a:lnSpc>
              </a:pPr>
              <a:r>
                <a:rPr lang="en-US" sz="1736" spc="-11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CAC </a:t>
              </a:r>
            </a:p>
            <a:p>
              <a:pPr algn="ctr">
                <a:lnSpc>
                  <a:spcPts val="1962"/>
                </a:lnSpc>
              </a:pPr>
              <a:r>
                <a:rPr lang="en-US" sz="1736" spc="-11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ORGANIC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085894" y="7374056"/>
            <a:ext cx="1992588" cy="1884130"/>
            <a:chOff x="0" y="0"/>
            <a:chExt cx="2656784" cy="2512173"/>
          </a:xfrm>
        </p:grpSpPr>
        <p:grpSp>
          <p:nvGrpSpPr>
            <p:cNvPr name="Group 73" id="73"/>
            <p:cNvGrpSpPr/>
            <p:nvPr/>
          </p:nvGrpSpPr>
          <p:grpSpPr>
            <a:xfrm rot="0">
              <a:off x="0" y="0"/>
              <a:ext cx="2656784" cy="2512173"/>
              <a:chOff x="0" y="0"/>
              <a:chExt cx="859588" cy="8128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395048" y="373545"/>
              <a:ext cx="1866688" cy="1771408"/>
              <a:chOff x="0" y="0"/>
              <a:chExt cx="859588" cy="81571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79" id="79"/>
            <p:cNvSpPr txBox="true"/>
            <p:nvPr/>
          </p:nvSpPr>
          <p:spPr>
            <a:xfrm rot="0">
              <a:off x="737724" y="756757"/>
              <a:ext cx="1181335" cy="621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6"/>
                </a:lnSpc>
                <a:spcBef>
                  <a:spcPct val="0"/>
                </a:spcBef>
              </a:pPr>
              <a:r>
                <a:rPr lang="en-US" b="true" sz="2733" spc="-207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€20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639490" y="1337956"/>
              <a:ext cx="1377804" cy="350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2"/>
                </a:lnSpc>
              </a:pPr>
              <a:r>
                <a:rPr lang="en-US" sz="1736" spc="-11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CAC 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361799" y="7374056"/>
            <a:ext cx="1992588" cy="1884130"/>
            <a:chOff x="0" y="0"/>
            <a:chExt cx="2656784" cy="2512173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0" y="0"/>
              <a:ext cx="2656784" cy="2512173"/>
              <a:chOff x="0" y="0"/>
              <a:chExt cx="859588" cy="8128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395048" y="373545"/>
              <a:ext cx="1866688" cy="1771408"/>
              <a:chOff x="0" y="0"/>
              <a:chExt cx="859588" cy="81571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88" id="88"/>
            <p:cNvSpPr txBox="true"/>
            <p:nvPr/>
          </p:nvSpPr>
          <p:spPr>
            <a:xfrm rot="0">
              <a:off x="737724" y="594819"/>
              <a:ext cx="1181335" cy="621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6"/>
                </a:lnSpc>
                <a:spcBef>
                  <a:spcPct val="0"/>
                </a:spcBef>
              </a:pPr>
              <a:r>
                <a:rPr lang="en-US" b="true" sz="2733" spc="-207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89%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639490" y="1176018"/>
              <a:ext cx="1377804" cy="680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2"/>
                </a:lnSpc>
              </a:pPr>
              <a:r>
                <a:rPr lang="en-US" sz="1736" spc="-11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GROSS </a:t>
              </a:r>
            </a:p>
            <a:p>
              <a:pPr algn="ctr">
                <a:lnSpc>
                  <a:spcPts val="1962"/>
                </a:lnSpc>
              </a:pPr>
              <a:r>
                <a:rPr lang="en-US" sz="1736" spc="-11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MARGIN  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637704" y="7358212"/>
            <a:ext cx="1992588" cy="1915818"/>
            <a:chOff x="0" y="0"/>
            <a:chExt cx="2656784" cy="2554424"/>
          </a:xfrm>
        </p:grpSpPr>
        <p:grpSp>
          <p:nvGrpSpPr>
            <p:cNvPr name="Group 91" id="91"/>
            <p:cNvGrpSpPr/>
            <p:nvPr/>
          </p:nvGrpSpPr>
          <p:grpSpPr>
            <a:xfrm rot="0">
              <a:off x="0" y="0"/>
              <a:ext cx="2656784" cy="2554424"/>
              <a:chOff x="0" y="0"/>
              <a:chExt cx="859588" cy="82647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859588" cy="826470"/>
              </a:xfrm>
              <a:custGeom>
                <a:avLst/>
                <a:gdLst/>
                <a:ahLst/>
                <a:cxnLst/>
                <a:rect r="r" b="b" t="t" l="l"/>
                <a:pathLst>
                  <a:path h="826470" w="859588">
                    <a:moveTo>
                      <a:pt x="429794" y="0"/>
                    </a:moveTo>
                    <a:cubicBezTo>
                      <a:pt x="192425" y="0"/>
                      <a:pt x="0" y="185012"/>
                      <a:pt x="0" y="413235"/>
                    </a:cubicBezTo>
                    <a:cubicBezTo>
                      <a:pt x="0" y="641458"/>
                      <a:pt x="192425" y="826470"/>
                      <a:pt x="429794" y="826470"/>
                    </a:cubicBezTo>
                    <a:cubicBezTo>
                      <a:pt x="667163" y="826470"/>
                      <a:pt x="859588" y="641458"/>
                      <a:pt x="859588" y="413235"/>
                    </a:cubicBezTo>
                    <a:cubicBezTo>
                      <a:pt x="859588" y="185012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80586" y="29857"/>
                <a:ext cx="698415" cy="7191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395048" y="373545"/>
              <a:ext cx="1866688" cy="1771408"/>
              <a:chOff x="0" y="0"/>
              <a:chExt cx="859588" cy="81571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97" id="97"/>
            <p:cNvSpPr txBox="true"/>
            <p:nvPr/>
          </p:nvSpPr>
          <p:spPr>
            <a:xfrm rot="0">
              <a:off x="737724" y="594819"/>
              <a:ext cx="1181335" cy="621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6"/>
                </a:lnSpc>
                <a:spcBef>
                  <a:spcPct val="0"/>
                </a:spcBef>
              </a:pPr>
              <a:r>
                <a:rPr lang="en-US" b="true" sz="2733" spc="-207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~1mo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639490" y="1176018"/>
              <a:ext cx="1377804" cy="1011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2"/>
                </a:lnSpc>
              </a:pPr>
              <a:r>
                <a:rPr lang="en-US" sz="1736" spc="-11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PAYBACKPERIOD </a:t>
              </a:r>
            </a:p>
            <a:p>
              <a:pPr algn="ctr">
                <a:lnSpc>
                  <a:spcPts val="1962"/>
                </a:lnSpc>
              </a:pPr>
              <a:r>
                <a:rPr lang="en-US" sz="1736" spc="-11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ORGANIC  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913609" y="7374056"/>
            <a:ext cx="1992588" cy="1884130"/>
            <a:chOff x="0" y="0"/>
            <a:chExt cx="2656784" cy="2512173"/>
          </a:xfrm>
        </p:grpSpPr>
        <p:grpSp>
          <p:nvGrpSpPr>
            <p:cNvPr name="Group 100" id="100"/>
            <p:cNvGrpSpPr/>
            <p:nvPr/>
          </p:nvGrpSpPr>
          <p:grpSpPr>
            <a:xfrm rot="0">
              <a:off x="0" y="0"/>
              <a:ext cx="2656784" cy="2512173"/>
              <a:chOff x="0" y="0"/>
              <a:chExt cx="859588" cy="812800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395048" y="373545"/>
              <a:ext cx="1866688" cy="1771408"/>
              <a:chOff x="0" y="0"/>
              <a:chExt cx="859588" cy="81571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106" id="106"/>
            <p:cNvSpPr txBox="true"/>
            <p:nvPr/>
          </p:nvSpPr>
          <p:spPr>
            <a:xfrm rot="0">
              <a:off x="737724" y="594819"/>
              <a:ext cx="1279569" cy="621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6"/>
                </a:lnSpc>
                <a:spcBef>
                  <a:spcPct val="0"/>
                </a:spcBef>
              </a:pPr>
              <a:r>
                <a:rPr lang="en-US" b="true" sz="2733" spc="-207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4.7mo</a:t>
              </a:r>
            </a:p>
          </p:txBody>
        </p:sp>
        <p:sp>
          <p:nvSpPr>
            <p:cNvPr name="TextBox 107" id="107"/>
            <p:cNvSpPr txBox="true"/>
            <p:nvPr/>
          </p:nvSpPr>
          <p:spPr>
            <a:xfrm rot="0">
              <a:off x="639490" y="1176018"/>
              <a:ext cx="1377804" cy="680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2"/>
                </a:lnSpc>
              </a:pPr>
              <a:r>
                <a:rPr lang="en-US" sz="1736" spc="-11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PAYBACKPERIOD   </a:t>
              </a: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679" y="2215267"/>
            <a:ext cx="5709144" cy="57091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324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17188" y="2322726"/>
            <a:ext cx="5709144" cy="57091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4D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83532" y="2341915"/>
            <a:ext cx="5709144" cy="5670766"/>
            <a:chOff x="0" y="0"/>
            <a:chExt cx="812800" cy="8073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07336"/>
            </a:xfrm>
            <a:custGeom>
              <a:avLst/>
              <a:gdLst/>
              <a:ahLst/>
              <a:cxnLst/>
              <a:rect r="r" b="b" t="t" l="l"/>
              <a:pathLst>
                <a:path h="807336" w="812800">
                  <a:moveTo>
                    <a:pt x="406400" y="0"/>
                  </a:moveTo>
                  <a:cubicBezTo>
                    <a:pt x="181951" y="0"/>
                    <a:pt x="0" y="180728"/>
                    <a:pt x="0" y="403668"/>
                  </a:cubicBezTo>
                  <a:cubicBezTo>
                    <a:pt x="0" y="626608"/>
                    <a:pt x="181951" y="807336"/>
                    <a:pt x="406400" y="807336"/>
                  </a:cubicBezTo>
                  <a:cubicBezTo>
                    <a:pt x="630849" y="807336"/>
                    <a:pt x="812800" y="626608"/>
                    <a:pt x="812800" y="403668"/>
                  </a:cubicBezTo>
                  <a:cubicBezTo>
                    <a:pt x="812800" y="18072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8B24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7588"/>
              <a:ext cx="660400" cy="694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87611" y="4120198"/>
            <a:ext cx="4739002" cy="185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Pilot launch August 2026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Official app launch October 2026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AI personalisation engine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2 clinical partners signed, B2B pilot 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Target: 5K+ users €26K MRR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30042" y="2872884"/>
            <a:ext cx="3483437" cy="81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 M13-24 ACTIVE </a:t>
            </a:r>
          </a:p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DEEP TECH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20618" y="4059195"/>
            <a:ext cx="4660282" cy="222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Premium tier live €12.99 live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Predictive hormonal modelling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UK + Australia + Portugual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10 B2B, 5 clinical partners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Perimenopause tracking 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Target: 20K+ users €105k MRR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16724" y="4054723"/>
            <a:ext cx="5042762" cy="222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CGM integration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At home hormone test kit integration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Menopause as dedicated product tier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Academic publication of clinical findings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Target: 80K+ users €408k MRR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6123" y="6907990"/>
            <a:ext cx="3881403" cy="1769905"/>
            <a:chOff x="0" y="0"/>
            <a:chExt cx="5175203" cy="235987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175203" cy="2359873"/>
              <a:chOff x="0" y="0"/>
              <a:chExt cx="1812072" cy="82629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812072" cy="826298"/>
              </a:xfrm>
              <a:custGeom>
                <a:avLst/>
                <a:gdLst/>
                <a:ahLst/>
                <a:cxnLst/>
                <a:rect r="r" b="b" t="t" l="l"/>
                <a:pathLst>
                  <a:path h="826298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88400"/>
                    </a:lnTo>
                    <a:cubicBezTo>
                      <a:pt x="1812072" y="809330"/>
                      <a:pt x="1795105" y="826298"/>
                      <a:pt x="1774174" y="826298"/>
                    </a:cubicBezTo>
                    <a:lnTo>
                      <a:pt x="37898" y="826298"/>
                    </a:lnTo>
                    <a:cubicBezTo>
                      <a:pt x="27847" y="826298"/>
                      <a:pt x="18207" y="822305"/>
                      <a:pt x="11100" y="815198"/>
                    </a:cubicBezTo>
                    <a:cubicBezTo>
                      <a:pt x="3993" y="808091"/>
                      <a:pt x="0" y="798451"/>
                      <a:pt x="0" y="788400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4D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812072" cy="864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58639" y="1693380"/>
              <a:ext cx="4591438" cy="428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4"/>
                </a:lnSpc>
                <a:spcBef>
                  <a:spcPct val="0"/>
                </a:spcBef>
              </a:pPr>
              <a:r>
                <a:rPr lang="en-US" b="true" sz="1967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4K followers today ⟶ 50K+ Y3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58639" y="780584"/>
              <a:ext cx="4591438" cy="861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2"/>
                </a:lnSpc>
                <a:spcBef>
                  <a:spcPct val="0"/>
                </a:spcBef>
              </a:pPr>
              <a:r>
                <a:rPr lang="en-US" sz="1266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Founders posting on Linkedin, Instagram, Tiktok. Target demograhic audience, Zero marginal CAC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58639" y="294734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FOUNDER SOCIAL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28627" y="6941814"/>
            <a:ext cx="3881403" cy="1736080"/>
            <a:chOff x="0" y="0"/>
            <a:chExt cx="5175203" cy="2314774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175203" cy="2314774"/>
              <a:chOff x="0" y="0"/>
              <a:chExt cx="1812072" cy="81050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812072" cy="810507"/>
              </a:xfrm>
              <a:custGeom>
                <a:avLst/>
                <a:gdLst/>
                <a:ahLst/>
                <a:cxnLst/>
                <a:rect r="r" b="b" t="t" l="l"/>
                <a:pathLst>
                  <a:path h="810507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72609"/>
                    </a:lnTo>
                    <a:cubicBezTo>
                      <a:pt x="1812072" y="782660"/>
                      <a:pt x="1808079" y="792300"/>
                      <a:pt x="1800972" y="799407"/>
                    </a:cubicBezTo>
                    <a:cubicBezTo>
                      <a:pt x="1793865" y="806514"/>
                      <a:pt x="1784226" y="810507"/>
                      <a:pt x="1774174" y="810507"/>
                    </a:cubicBezTo>
                    <a:lnTo>
                      <a:pt x="37898" y="810507"/>
                    </a:lnTo>
                    <a:cubicBezTo>
                      <a:pt x="27847" y="810507"/>
                      <a:pt x="18207" y="806514"/>
                      <a:pt x="11100" y="799407"/>
                    </a:cubicBezTo>
                    <a:cubicBezTo>
                      <a:pt x="3993" y="792300"/>
                      <a:pt x="0" y="782660"/>
                      <a:pt x="0" y="772609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812072" cy="848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86940" y="735514"/>
              <a:ext cx="4322559" cy="86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€3-5k/mo on Instagram &amp; Tiktok from month 4. CAC €6-8 (50% below industry average)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86940" y="249635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PAID SOCIAL M4+ 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86940" y="1678809"/>
              <a:ext cx="3576592" cy="428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7"/>
                </a:lnSpc>
                <a:spcBef>
                  <a:spcPct val="0"/>
                </a:spcBef>
              </a:pPr>
              <a:r>
                <a:rPr lang="en-US" b="true" sz="1969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375-625 new users/month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99257" y="6954131"/>
            <a:ext cx="3881403" cy="1723763"/>
            <a:chOff x="0" y="0"/>
            <a:chExt cx="5175203" cy="229835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175203" cy="2298351"/>
              <a:chOff x="0" y="0"/>
              <a:chExt cx="1812072" cy="80475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12072" cy="804756"/>
              </a:xfrm>
              <a:custGeom>
                <a:avLst/>
                <a:gdLst/>
                <a:ahLst/>
                <a:cxnLst/>
                <a:rect r="r" b="b" t="t" l="l"/>
                <a:pathLst>
                  <a:path h="804756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66858"/>
                    </a:lnTo>
                    <a:cubicBezTo>
                      <a:pt x="1812072" y="776910"/>
                      <a:pt x="1808079" y="786549"/>
                      <a:pt x="1800972" y="793656"/>
                    </a:cubicBezTo>
                    <a:cubicBezTo>
                      <a:pt x="1793865" y="800763"/>
                      <a:pt x="1784226" y="804756"/>
                      <a:pt x="1774174" y="804756"/>
                    </a:cubicBezTo>
                    <a:lnTo>
                      <a:pt x="37898" y="804756"/>
                    </a:lnTo>
                    <a:cubicBezTo>
                      <a:pt x="27847" y="804756"/>
                      <a:pt x="18207" y="800763"/>
                      <a:pt x="11100" y="793656"/>
                    </a:cubicBezTo>
                    <a:cubicBezTo>
                      <a:pt x="3993" y="786549"/>
                      <a:pt x="0" y="776910"/>
                      <a:pt x="0" y="766858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812072" cy="8428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60443" y="1662386"/>
              <a:ext cx="4329005" cy="428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7"/>
                </a:lnSpc>
                <a:spcBef>
                  <a:spcPct val="0"/>
                </a:spcBef>
              </a:pPr>
              <a:r>
                <a:rPr lang="en-US" b="true" sz="1969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 contracts = 750 B2B users Y1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60443" y="741728"/>
              <a:ext cx="4580996" cy="86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One 150 employee contract = 150 users instantly. Clinic referrals: 50 patient conversions/clinic/mo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60443" y="244790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B2B &amp; CLINICAL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645938" y="6954131"/>
            <a:ext cx="3881403" cy="1723763"/>
            <a:chOff x="0" y="0"/>
            <a:chExt cx="5175203" cy="2298351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175203" cy="2298351"/>
              <a:chOff x="0" y="0"/>
              <a:chExt cx="1812072" cy="80475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812072" cy="804756"/>
              </a:xfrm>
              <a:custGeom>
                <a:avLst/>
                <a:gdLst/>
                <a:ahLst/>
                <a:cxnLst/>
                <a:rect r="r" b="b" t="t" l="l"/>
                <a:pathLst>
                  <a:path h="804756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66858"/>
                    </a:lnTo>
                    <a:cubicBezTo>
                      <a:pt x="1812072" y="776910"/>
                      <a:pt x="1808079" y="786549"/>
                      <a:pt x="1800972" y="793656"/>
                    </a:cubicBezTo>
                    <a:cubicBezTo>
                      <a:pt x="1793865" y="800763"/>
                      <a:pt x="1784226" y="804756"/>
                      <a:pt x="1774174" y="804756"/>
                    </a:cubicBezTo>
                    <a:lnTo>
                      <a:pt x="37898" y="804756"/>
                    </a:lnTo>
                    <a:cubicBezTo>
                      <a:pt x="27847" y="804756"/>
                      <a:pt x="18207" y="800763"/>
                      <a:pt x="11100" y="793656"/>
                    </a:cubicBezTo>
                    <a:cubicBezTo>
                      <a:pt x="3993" y="786549"/>
                      <a:pt x="0" y="776910"/>
                      <a:pt x="0" y="766858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812072" cy="8428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35935" y="719091"/>
              <a:ext cx="4400166" cy="86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Paid events already generating revenue. Attendees convert to subscribers at 40-60% rate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55021" y="233249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EVENTS &amp; COMMUNITY 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35935" y="1662386"/>
              <a:ext cx="4298884" cy="428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7"/>
                </a:lnSpc>
                <a:spcBef>
                  <a:spcPct val="0"/>
                </a:spcBef>
              </a:pPr>
              <a:r>
                <a:rPr lang="en-US" b="true" sz="1969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 events run ⟶ €500-1k/event 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252775" y="2938162"/>
            <a:ext cx="3765437" cy="81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25760F"/>
                </a:solidFill>
                <a:latin typeface="Aileron Bold"/>
                <a:ea typeface="Aileron Bold"/>
                <a:cs typeface="Aileron Bold"/>
                <a:sym typeface="Aileron Bold"/>
              </a:rPr>
              <a:t>M25-36 HORMONAL HEALTH 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35499" y="2872884"/>
            <a:ext cx="3239505" cy="81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FFC700"/>
                </a:solidFill>
                <a:latin typeface="Aileron Bold"/>
                <a:ea typeface="Aileron Bold"/>
                <a:cs typeface="Aileron Bold"/>
                <a:sym typeface="Aileron Bold"/>
              </a:rPr>
              <a:t>M1-12 LAUNCH &amp; FIRST DATA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1276350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From Waitlist to Global Platform</a:t>
            </a:r>
          </a:p>
        </p:txBody>
      </p:sp>
      <p:sp>
        <p:nvSpPr>
          <p:cNvPr name="AutoShape 46" id="46"/>
          <p:cNvSpPr/>
          <p:nvPr/>
        </p:nvSpPr>
        <p:spPr>
          <a:xfrm>
            <a:off x="787611" y="2406159"/>
            <a:ext cx="16230600" cy="0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679" y="2215267"/>
            <a:ext cx="5709144" cy="57091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1300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17188" y="2322726"/>
            <a:ext cx="5709144" cy="57091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4D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83532" y="2341915"/>
            <a:ext cx="5709144" cy="5670766"/>
            <a:chOff x="0" y="0"/>
            <a:chExt cx="812800" cy="8073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07336"/>
            </a:xfrm>
            <a:custGeom>
              <a:avLst/>
              <a:gdLst/>
              <a:ahLst/>
              <a:cxnLst/>
              <a:rect r="r" b="b" t="t" l="l"/>
              <a:pathLst>
                <a:path h="807336" w="812800">
                  <a:moveTo>
                    <a:pt x="406400" y="0"/>
                  </a:moveTo>
                  <a:cubicBezTo>
                    <a:pt x="181951" y="0"/>
                    <a:pt x="0" y="180728"/>
                    <a:pt x="0" y="403668"/>
                  </a:cubicBezTo>
                  <a:cubicBezTo>
                    <a:pt x="0" y="626608"/>
                    <a:pt x="181951" y="807336"/>
                    <a:pt x="406400" y="807336"/>
                  </a:cubicBezTo>
                  <a:cubicBezTo>
                    <a:pt x="630849" y="807336"/>
                    <a:pt x="812800" y="626608"/>
                    <a:pt x="812800" y="403668"/>
                  </a:cubicBezTo>
                  <a:cubicBezTo>
                    <a:pt x="812800" y="18072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1300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7588"/>
              <a:ext cx="660400" cy="694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87611" y="4120198"/>
            <a:ext cx="4739002" cy="185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Pilot launch August 2026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Official app launch October 2026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AI personalisation engine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2 clinical partners signed, B2B pilot 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Target: 5K+ users €26K MRR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30042" y="2872884"/>
            <a:ext cx="3483437" cy="81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 M13-24 ACTIVE </a:t>
            </a:r>
          </a:p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DEEP TECH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20618" y="4059195"/>
            <a:ext cx="4660282" cy="222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Premium tier live €12.99 live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Predictive hormonal modelling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UK + Australia + Portugual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10 B2B, 5 clinical partners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Perimenopause tracking 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Target: 20K+ users €105k MRR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16724" y="4054723"/>
            <a:ext cx="5042762" cy="222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CGM integration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At home hormone test kit integration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Menopause as dedicated product tier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Academic publication of clinical findings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Target: 80K+ users €408k MRR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6123" y="6907990"/>
            <a:ext cx="3881403" cy="1769905"/>
            <a:chOff x="0" y="0"/>
            <a:chExt cx="5175203" cy="235987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175203" cy="2359873"/>
              <a:chOff x="0" y="0"/>
              <a:chExt cx="1812072" cy="82629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812072" cy="826298"/>
              </a:xfrm>
              <a:custGeom>
                <a:avLst/>
                <a:gdLst/>
                <a:ahLst/>
                <a:cxnLst/>
                <a:rect r="r" b="b" t="t" l="l"/>
                <a:pathLst>
                  <a:path h="826298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88400"/>
                    </a:lnTo>
                    <a:cubicBezTo>
                      <a:pt x="1812072" y="809330"/>
                      <a:pt x="1795105" y="826298"/>
                      <a:pt x="1774174" y="826298"/>
                    </a:cubicBezTo>
                    <a:lnTo>
                      <a:pt x="37898" y="826298"/>
                    </a:lnTo>
                    <a:cubicBezTo>
                      <a:pt x="27847" y="826298"/>
                      <a:pt x="18207" y="822305"/>
                      <a:pt x="11100" y="815198"/>
                    </a:cubicBezTo>
                    <a:cubicBezTo>
                      <a:pt x="3993" y="808091"/>
                      <a:pt x="0" y="798451"/>
                      <a:pt x="0" y="788400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4D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812072" cy="864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58639" y="1693380"/>
              <a:ext cx="4591438" cy="428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4"/>
                </a:lnSpc>
                <a:spcBef>
                  <a:spcPct val="0"/>
                </a:spcBef>
              </a:pPr>
              <a:r>
                <a:rPr lang="en-US" b="true" sz="1967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4K followers today ⟶ 50K+ Y3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58639" y="780584"/>
              <a:ext cx="4591438" cy="861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2"/>
                </a:lnSpc>
                <a:spcBef>
                  <a:spcPct val="0"/>
                </a:spcBef>
              </a:pPr>
              <a:r>
                <a:rPr lang="en-US" sz="1266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Founders posting on Linkedin, Instagram, Tiktok. Target demograhic audience, Zero marginal CAC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58639" y="294734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FOUNDER SOCIAL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28627" y="6941814"/>
            <a:ext cx="3881403" cy="1736080"/>
            <a:chOff x="0" y="0"/>
            <a:chExt cx="5175203" cy="2314774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175203" cy="2314774"/>
              <a:chOff x="0" y="0"/>
              <a:chExt cx="1812072" cy="81050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812072" cy="810507"/>
              </a:xfrm>
              <a:custGeom>
                <a:avLst/>
                <a:gdLst/>
                <a:ahLst/>
                <a:cxnLst/>
                <a:rect r="r" b="b" t="t" l="l"/>
                <a:pathLst>
                  <a:path h="810507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72609"/>
                    </a:lnTo>
                    <a:cubicBezTo>
                      <a:pt x="1812072" y="782660"/>
                      <a:pt x="1808079" y="792300"/>
                      <a:pt x="1800972" y="799407"/>
                    </a:cubicBezTo>
                    <a:cubicBezTo>
                      <a:pt x="1793865" y="806514"/>
                      <a:pt x="1784226" y="810507"/>
                      <a:pt x="1774174" y="810507"/>
                    </a:cubicBezTo>
                    <a:lnTo>
                      <a:pt x="37898" y="810507"/>
                    </a:lnTo>
                    <a:cubicBezTo>
                      <a:pt x="27847" y="810507"/>
                      <a:pt x="18207" y="806514"/>
                      <a:pt x="11100" y="799407"/>
                    </a:cubicBezTo>
                    <a:cubicBezTo>
                      <a:pt x="3993" y="792300"/>
                      <a:pt x="0" y="782660"/>
                      <a:pt x="0" y="772609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812072" cy="848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86940" y="735514"/>
              <a:ext cx="4322559" cy="86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€3-5k/mo on Instagram &amp; Tiktok from month 4. CAC €6-8 (50% below industry average)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86940" y="249635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PAID SOCIAL M4+ 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86940" y="1678809"/>
              <a:ext cx="3576592" cy="428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7"/>
                </a:lnSpc>
                <a:spcBef>
                  <a:spcPct val="0"/>
                </a:spcBef>
              </a:pPr>
              <a:r>
                <a:rPr lang="en-US" b="true" sz="1969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375-625 new users/month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99257" y="6954131"/>
            <a:ext cx="3881403" cy="1723763"/>
            <a:chOff x="0" y="0"/>
            <a:chExt cx="5175203" cy="229835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175203" cy="2298351"/>
              <a:chOff x="0" y="0"/>
              <a:chExt cx="1812072" cy="80475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12072" cy="804756"/>
              </a:xfrm>
              <a:custGeom>
                <a:avLst/>
                <a:gdLst/>
                <a:ahLst/>
                <a:cxnLst/>
                <a:rect r="r" b="b" t="t" l="l"/>
                <a:pathLst>
                  <a:path h="804756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66858"/>
                    </a:lnTo>
                    <a:cubicBezTo>
                      <a:pt x="1812072" y="776910"/>
                      <a:pt x="1808079" y="786549"/>
                      <a:pt x="1800972" y="793656"/>
                    </a:cubicBezTo>
                    <a:cubicBezTo>
                      <a:pt x="1793865" y="800763"/>
                      <a:pt x="1784226" y="804756"/>
                      <a:pt x="1774174" y="804756"/>
                    </a:cubicBezTo>
                    <a:lnTo>
                      <a:pt x="37898" y="804756"/>
                    </a:lnTo>
                    <a:cubicBezTo>
                      <a:pt x="27847" y="804756"/>
                      <a:pt x="18207" y="800763"/>
                      <a:pt x="11100" y="793656"/>
                    </a:cubicBezTo>
                    <a:cubicBezTo>
                      <a:pt x="3993" y="786549"/>
                      <a:pt x="0" y="776910"/>
                      <a:pt x="0" y="766858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812072" cy="8428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60443" y="1662386"/>
              <a:ext cx="4329005" cy="428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7"/>
                </a:lnSpc>
                <a:spcBef>
                  <a:spcPct val="0"/>
                </a:spcBef>
              </a:pPr>
              <a:r>
                <a:rPr lang="en-US" b="true" sz="1969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 contracts = 750 B2B users Y1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60443" y="741728"/>
              <a:ext cx="4580996" cy="86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One 150 employee contract = 150 users instantly. Clinic referrals: 50 patient conversions/clinic/mo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60443" y="244790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B2B &amp; CLINICAL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645938" y="6954131"/>
            <a:ext cx="3881403" cy="1723763"/>
            <a:chOff x="0" y="0"/>
            <a:chExt cx="5175203" cy="2298351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175203" cy="2298351"/>
              <a:chOff x="0" y="0"/>
              <a:chExt cx="1812072" cy="80475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812072" cy="804756"/>
              </a:xfrm>
              <a:custGeom>
                <a:avLst/>
                <a:gdLst/>
                <a:ahLst/>
                <a:cxnLst/>
                <a:rect r="r" b="b" t="t" l="l"/>
                <a:pathLst>
                  <a:path h="804756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66858"/>
                    </a:lnTo>
                    <a:cubicBezTo>
                      <a:pt x="1812072" y="776910"/>
                      <a:pt x="1808079" y="786549"/>
                      <a:pt x="1800972" y="793656"/>
                    </a:cubicBezTo>
                    <a:cubicBezTo>
                      <a:pt x="1793865" y="800763"/>
                      <a:pt x="1784226" y="804756"/>
                      <a:pt x="1774174" y="804756"/>
                    </a:cubicBezTo>
                    <a:lnTo>
                      <a:pt x="37898" y="804756"/>
                    </a:lnTo>
                    <a:cubicBezTo>
                      <a:pt x="27847" y="804756"/>
                      <a:pt x="18207" y="800763"/>
                      <a:pt x="11100" y="793656"/>
                    </a:cubicBezTo>
                    <a:cubicBezTo>
                      <a:pt x="3993" y="786549"/>
                      <a:pt x="0" y="776910"/>
                      <a:pt x="0" y="766858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812072" cy="8428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35935" y="719091"/>
              <a:ext cx="4400166" cy="86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Paid events already generating revenue. Attendees convert to subscribers at 40-60% rate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55021" y="233249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EVENTS &amp; COMMUNITY 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35935" y="1662386"/>
              <a:ext cx="4298884" cy="428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7"/>
                </a:lnSpc>
                <a:spcBef>
                  <a:spcPct val="0"/>
                </a:spcBef>
              </a:pPr>
              <a:r>
                <a:rPr lang="en-US" b="true" sz="1969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 events run ⟶ €500-1k/event 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252775" y="2938162"/>
            <a:ext cx="3765437" cy="81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M25-36 HORMONAL HEALTH 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35499" y="2872884"/>
            <a:ext cx="3239505" cy="81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M1-12 LAUNCH &amp; FIRST DATA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1276350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From Waitlist to Global Platform</a:t>
            </a:r>
          </a:p>
        </p:txBody>
      </p:sp>
      <p:sp>
        <p:nvSpPr>
          <p:cNvPr name="AutoShape 46" id="46"/>
          <p:cNvSpPr/>
          <p:nvPr/>
        </p:nvSpPr>
        <p:spPr>
          <a:xfrm>
            <a:off x="787611" y="2406159"/>
            <a:ext cx="16230600" cy="0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69146" y="2225773"/>
            <a:ext cx="10898350" cy="7089144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901053" y="8061191"/>
            <a:ext cx="1523347" cy="51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29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USER</a:t>
            </a:r>
          </a:p>
          <a:p>
            <a:pPr algn="r">
              <a:lnSpc>
                <a:spcPts val="1929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GROWTH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40202" y="7454288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18664" y="7454288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40202" y="6005169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18664" y="6005169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40202" y="5273073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18664" y="5273073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40202" y="4522997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18664" y="4522997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40202" y="3795400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18664" y="3795400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041707" y="3567652"/>
            <a:ext cx="1636816" cy="4191077"/>
            <a:chOff x="0" y="0"/>
            <a:chExt cx="438916" cy="11238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6" cy="1123847"/>
            </a:xfrm>
            <a:custGeom>
              <a:avLst/>
              <a:gdLst/>
              <a:ahLst/>
              <a:cxnLst/>
              <a:rect r="r" b="b" t="t" l="l"/>
              <a:pathLst>
                <a:path h="1123847" w="438916">
                  <a:moveTo>
                    <a:pt x="0" y="0"/>
                  </a:moveTo>
                  <a:lnTo>
                    <a:pt x="438916" y="0"/>
                  </a:lnTo>
                  <a:lnTo>
                    <a:pt x="438916" y="1123847"/>
                  </a:lnTo>
                  <a:lnTo>
                    <a:pt x="0" y="11238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38916" cy="117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860115" y="6137478"/>
            <a:ext cx="796827" cy="38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5"/>
              </a:lnSpc>
              <a:spcBef>
                <a:spcPct val="0"/>
              </a:spcBef>
            </a:pP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40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7806049" y="5382202"/>
            <a:ext cx="1812389" cy="35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2"/>
              </a:lnSpc>
              <a:spcBef>
                <a:spcPct val="0"/>
              </a:spcBef>
            </a:pPr>
            <a:r>
              <a:rPr lang="en-US" b="true" sz="2101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€(Thousands)</a:t>
            </a:r>
          </a:p>
        </p:txBody>
      </p:sp>
      <p:grpSp>
        <p:nvGrpSpPr>
          <p:cNvPr name="Group 19" id="19"/>
          <p:cNvGrpSpPr/>
          <p:nvPr/>
        </p:nvGrpSpPr>
        <p:grpSpPr>
          <a:xfrm rot="-5400000">
            <a:off x="8551112" y="6787549"/>
            <a:ext cx="568033" cy="1525816"/>
            <a:chOff x="0" y="0"/>
            <a:chExt cx="152319" cy="4091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319" cy="409151"/>
            </a:xfrm>
            <a:custGeom>
              <a:avLst/>
              <a:gdLst/>
              <a:ahLst/>
              <a:cxnLst/>
              <a:rect r="r" b="b" t="t" l="l"/>
              <a:pathLst>
                <a:path h="409151" w="152319">
                  <a:moveTo>
                    <a:pt x="0" y="0"/>
                  </a:moveTo>
                  <a:lnTo>
                    <a:pt x="152319" y="0"/>
                  </a:lnTo>
                  <a:lnTo>
                    <a:pt x="152319" y="409151"/>
                  </a:lnTo>
                  <a:lnTo>
                    <a:pt x="0" y="4091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52319" cy="456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547223" y="2875878"/>
            <a:ext cx="7101603" cy="31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b="true" sz="2501" spc="-12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NutriSync Projections  Conservative (quarterly)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098024" y="8013566"/>
            <a:ext cx="784816" cy="301792"/>
            <a:chOff x="0" y="0"/>
            <a:chExt cx="210450" cy="809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0450" cy="80926"/>
            </a:xfrm>
            <a:custGeom>
              <a:avLst/>
              <a:gdLst/>
              <a:ahLst/>
              <a:cxnLst/>
              <a:rect r="r" b="b" t="t" l="l"/>
              <a:pathLst>
                <a:path h="80926" w="210450">
                  <a:moveTo>
                    <a:pt x="0" y="0"/>
                  </a:moveTo>
                  <a:lnTo>
                    <a:pt x="210450" y="0"/>
                  </a:lnTo>
                  <a:lnTo>
                    <a:pt x="210450" y="80926"/>
                  </a:lnTo>
                  <a:lnTo>
                    <a:pt x="0" y="809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0450" cy="12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734191" y="8091533"/>
            <a:ext cx="514906" cy="35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&gt;1K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833659" y="6457079"/>
            <a:ext cx="826617" cy="734037"/>
            <a:chOff x="0" y="0"/>
            <a:chExt cx="1102156" cy="97871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302157" y="331065"/>
              <a:ext cx="647651" cy="647651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624A">
                  <a:alpha val="65882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400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412255" y="468063"/>
              <a:ext cx="427455" cy="434071"/>
            </a:xfrm>
            <a:custGeom>
              <a:avLst/>
              <a:gdLst/>
              <a:ahLst/>
              <a:cxnLst/>
              <a:rect r="r" b="b" t="t" l="l"/>
              <a:pathLst>
                <a:path h="434071" w="427455">
                  <a:moveTo>
                    <a:pt x="0" y="0"/>
                  </a:moveTo>
                  <a:lnTo>
                    <a:pt x="427455" y="0"/>
                  </a:lnTo>
                  <a:lnTo>
                    <a:pt x="427455" y="434072"/>
                  </a:lnTo>
                  <a:lnTo>
                    <a:pt x="0" y="434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388" t="-20464" r="-17075" b="-1293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0" y="-28575"/>
              <a:ext cx="1102156" cy="285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34"/>
                </a:lnSpc>
                <a:spcBef>
                  <a:spcPct val="0"/>
                </a:spcBef>
              </a:pPr>
              <a:r>
                <a:rPr lang="en-US" sz="1310" i="true">
                  <a:solidFill>
                    <a:srgbClr val="000000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Breakeven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847498" y="8091533"/>
            <a:ext cx="514906" cy="35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+5K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18897" y="8091533"/>
            <a:ext cx="681328" cy="35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+20K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341191" y="8091533"/>
            <a:ext cx="681328" cy="35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+80K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61685" y="4305084"/>
            <a:ext cx="793687" cy="38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5"/>
              </a:lnSpc>
              <a:spcBef>
                <a:spcPct val="0"/>
              </a:spcBef>
            </a:pP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100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858252" y="6766947"/>
            <a:ext cx="796827" cy="38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5"/>
              </a:lnSpc>
              <a:spcBef>
                <a:spcPct val="0"/>
              </a:spcBef>
            </a:pP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20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881696" y="5515686"/>
            <a:ext cx="796827" cy="38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5"/>
              </a:lnSpc>
              <a:spcBef>
                <a:spcPct val="0"/>
              </a:spcBef>
            </a:pP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60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881696" y="4910157"/>
            <a:ext cx="796827" cy="38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5"/>
              </a:lnSpc>
              <a:spcBef>
                <a:spcPct val="0"/>
              </a:spcBef>
            </a:pP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80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68903" y="3696374"/>
            <a:ext cx="309981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Y3 Annual revenue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52897" y="2753520"/>
            <a:ext cx="5144095" cy="221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3"/>
              </a:lnSpc>
              <a:spcBef>
                <a:spcPct val="0"/>
              </a:spcBef>
            </a:pPr>
            <a:r>
              <a:rPr lang="en-US" b="true" sz="6638" spc="-331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€3M</a:t>
            </a:r>
          </a:p>
          <a:p>
            <a:pPr algn="l">
              <a:lnSpc>
                <a:spcPts val="8593"/>
              </a:lnSpc>
              <a:spcBef>
                <a:spcPct val="0"/>
              </a:spcBef>
            </a:pPr>
            <a:r>
              <a:rPr lang="en-US" b="true" sz="6138" spc="-306">
                <a:solidFill>
                  <a:srgbClr val="C8453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0900" y="4112299"/>
            <a:ext cx="4687628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737373"/>
                </a:solidFill>
                <a:latin typeface="Aileron"/>
                <a:ea typeface="Aileron"/>
                <a:cs typeface="Aileron"/>
                <a:sym typeface="Aileron"/>
              </a:rPr>
              <a:t>ARR: €4.89M annualised 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28700" y="5107982"/>
            <a:ext cx="4296519" cy="1832474"/>
            <a:chOff x="0" y="0"/>
            <a:chExt cx="5728692" cy="2443298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280126"/>
              <a:ext cx="5728692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Year 3 paying users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-123825"/>
              <a:ext cx="4011295" cy="1461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293"/>
                </a:lnSpc>
                <a:spcBef>
                  <a:spcPct val="0"/>
                </a:spcBef>
              </a:pPr>
              <a:r>
                <a:rPr lang="en-US" b="true" sz="6638" spc="-331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80K+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0" y="1831581"/>
              <a:ext cx="4834283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737373"/>
                  </a:solidFill>
                  <a:latin typeface="Aileron"/>
                  <a:ea typeface="Aileron"/>
                  <a:cs typeface="Aileron"/>
                  <a:sym typeface="Aileron"/>
                </a:rPr>
                <a:t>Deep tech Y2+ impact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52897" y="7340854"/>
            <a:ext cx="5464275" cy="1345424"/>
            <a:chOff x="0" y="0"/>
            <a:chExt cx="7285700" cy="1793899"/>
          </a:xfrm>
        </p:grpSpPr>
        <p:sp>
          <p:nvSpPr>
            <p:cNvPr name="TextBox 48" id="48"/>
            <p:cNvSpPr txBox="true"/>
            <p:nvPr/>
          </p:nvSpPr>
          <p:spPr>
            <a:xfrm rot="0">
              <a:off x="0" y="1182182"/>
              <a:ext cx="7285700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Reach profitability 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0" y="-123825"/>
              <a:ext cx="3274729" cy="1461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284"/>
                </a:lnSpc>
                <a:spcBef>
                  <a:spcPct val="0"/>
                </a:spcBef>
              </a:pPr>
              <a:r>
                <a:rPr lang="en-US" b="true" sz="6631" spc="-331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M19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8884836" y="3681931"/>
            <a:ext cx="793687" cy="38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5"/>
              </a:lnSpc>
              <a:spcBef>
                <a:spcPct val="0"/>
              </a:spcBef>
            </a:pP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120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52897" y="1293188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Capital Efficient Growth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119376" y="7536946"/>
            <a:ext cx="1478660" cy="35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2"/>
              </a:lnSpc>
            </a:pPr>
            <a:r>
              <a:rPr lang="en-US" b="true" sz="210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QUARTERS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68379" y="3253456"/>
            <a:ext cx="19325619" cy="2464409"/>
            <a:chOff x="0" y="0"/>
            <a:chExt cx="5089875" cy="649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75" cy="649063"/>
            </a:xfrm>
            <a:custGeom>
              <a:avLst/>
              <a:gdLst/>
              <a:ahLst/>
              <a:cxnLst/>
              <a:rect r="r" b="b" t="t" l="l"/>
              <a:pathLst>
                <a:path h="649063" w="5089875">
                  <a:moveTo>
                    <a:pt x="0" y="0"/>
                  </a:moveTo>
                  <a:lnTo>
                    <a:pt x="5089875" y="0"/>
                  </a:lnTo>
                  <a:lnTo>
                    <a:pt x="5089875" y="649063"/>
                  </a:lnTo>
                  <a:lnTo>
                    <a:pt x="0" y="649063"/>
                  </a:lnTo>
                  <a:close/>
                </a:path>
              </a:pathLst>
            </a:custGeom>
            <a:solidFill>
              <a:srgbClr val="FF004D">
                <a:alpha val="3372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75" cy="687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982869" y="2783811"/>
            <a:ext cx="8445440" cy="175946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982869" y="4413271"/>
            <a:ext cx="8445440" cy="1759466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982869" y="3597422"/>
            <a:ext cx="8445440" cy="1759466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82869" y="4004228"/>
            <a:ext cx="8445440" cy="1759466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982869" y="3191106"/>
            <a:ext cx="8445440" cy="1759466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 rot="0">
            <a:off x="15782842" y="3487598"/>
            <a:ext cx="1597769" cy="351405"/>
            <a:chOff x="0" y="0"/>
            <a:chExt cx="420812" cy="925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0812" cy="92551"/>
            </a:xfrm>
            <a:custGeom>
              <a:avLst/>
              <a:gdLst/>
              <a:ahLst/>
              <a:cxnLst/>
              <a:rect r="r" b="b" t="t" l="l"/>
              <a:pathLst>
                <a:path h="92551" w="420812">
                  <a:moveTo>
                    <a:pt x="46275" y="0"/>
                  </a:moveTo>
                  <a:lnTo>
                    <a:pt x="374536" y="0"/>
                  </a:lnTo>
                  <a:cubicBezTo>
                    <a:pt x="386809" y="0"/>
                    <a:pt x="398579" y="4875"/>
                    <a:pt x="407258" y="13554"/>
                  </a:cubicBezTo>
                  <a:cubicBezTo>
                    <a:pt x="415936" y="22232"/>
                    <a:pt x="420812" y="34002"/>
                    <a:pt x="420812" y="46275"/>
                  </a:cubicBezTo>
                  <a:lnTo>
                    <a:pt x="420812" y="46275"/>
                  </a:lnTo>
                  <a:cubicBezTo>
                    <a:pt x="420812" y="71833"/>
                    <a:pt x="400093" y="92551"/>
                    <a:pt x="374536" y="92551"/>
                  </a:cubicBezTo>
                  <a:lnTo>
                    <a:pt x="46275" y="92551"/>
                  </a:lnTo>
                  <a:cubicBezTo>
                    <a:pt x="34002" y="92551"/>
                    <a:pt x="22232" y="87676"/>
                    <a:pt x="13554" y="78997"/>
                  </a:cubicBezTo>
                  <a:cubicBezTo>
                    <a:pt x="4875" y="70319"/>
                    <a:pt x="0" y="58549"/>
                    <a:pt x="0" y="46275"/>
                  </a:cubicBezTo>
                  <a:lnTo>
                    <a:pt x="0" y="46275"/>
                  </a:lnTo>
                  <a:cubicBezTo>
                    <a:pt x="0" y="34002"/>
                    <a:pt x="4875" y="22232"/>
                    <a:pt x="13554" y="13554"/>
                  </a:cubicBezTo>
                  <a:cubicBezTo>
                    <a:pt x="22232" y="4875"/>
                    <a:pt x="34002" y="0"/>
                    <a:pt x="46275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20812" cy="13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994391" y="3491085"/>
            <a:ext cx="517884" cy="30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  <a:spcBef>
                <a:spcPct val="0"/>
              </a:spcBef>
            </a:pPr>
            <a:r>
              <a:rPr lang="en-US" b="true" sz="1814" spc="-18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34%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782842" y="3894893"/>
            <a:ext cx="1597769" cy="351405"/>
            <a:chOff x="0" y="0"/>
            <a:chExt cx="420812" cy="925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812" cy="92551"/>
            </a:xfrm>
            <a:custGeom>
              <a:avLst/>
              <a:gdLst/>
              <a:ahLst/>
              <a:cxnLst/>
              <a:rect r="r" b="b" t="t" l="l"/>
              <a:pathLst>
                <a:path h="92551" w="420812">
                  <a:moveTo>
                    <a:pt x="46275" y="0"/>
                  </a:moveTo>
                  <a:lnTo>
                    <a:pt x="374536" y="0"/>
                  </a:lnTo>
                  <a:cubicBezTo>
                    <a:pt x="386809" y="0"/>
                    <a:pt x="398579" y="4875"/>
                    <a:pt x="407258" y="13554"/>
                  </a:cubicBezTo>
                  <a:cubicBezTo>
                    <a:pt x="415936" y="22232"/>
                    <a:pt x="420812" y="34002"/>
                    <a:pt x="420812" y="46275"/>
                  </a:cubicBezTo>
                  <a:lnTo>
                    <a:pt x="420812" y="46275"/>
                  </a:lnTo>
                  <a:cubicBezTo>
                    <a:pt x="420812" y="71833"/>
                    <a:pt x="400093" y="92551"/>
                    <a:pt x="374536" y="92551"/>
                  </a:cubicBezTo>
                  <a:lnTo>
                    <a:pt x="46275" y="92551"/>
                  </a:lnTo>
                  <a:cubicBezTo>
                    <a:pt x="34002" y="92551"/>
                    <a:pt x="22232" y="87676"/>
                    <a:pt x="13554" y="78997"/>
                  </a:cubicBezTo>
                  <a:cubicBezTo>
                    <a:pt x="4875" y="70319"/>
                    <a:pt x="0" y="58549"/>
                    <a:pt x="0" y="46275"/>
                  </a:cubicBezTo>
                  <a:lnTo>
                    <a:pt x="0" y="46275"/>
                  </a:lnTo>
                  <a:cubicBezTo>
                    <a:pt x="0" y="34002"/>
                    <a:pt x="4875" y="22232"/>
                    <a:pt x="13554" y="13554"/>
                  </a:cubicBezTo>
                  <a:cubicBezTo>
                    <a:pt x="22232" y="4875"/>
                    <a:pt x="34002" y="0"/>
                    <a:pt x="46275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0812" cy="13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82842" y="4297766"/>
            <a:ext cx="1597769" cy="351405"/>
            <a:chOff x="0" y="0"/>
            <a:chExt cx="420812" cy="92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0812" cy="92551"/>
            </a:xfrm>
            <a:custGeom>
              <a:avLst/>
              <a:gdLst/>
              <a:ahLst/>
              <a:cxnLst/>
              <a:rect r="r" b="b" t="t" l="l"/>
              <a:pathLst>
                <a:path h="92551" w="420812">
                  <a:moveTo>
                    <a:pt x="46275" y="0"/>
                  </a:moveTo>
                  <a:lnTo>
                    <a:pt x="374536" y="0"/>
                  </a:lnTo>
                  <a:cubicBezTo>
                    <a:pt x="386809" y="0"/>
                    <a:pt x="398579" y="4875"/>
                    <a:pt x="407258" y="13554"/>
                  </a:cubicBezTo>
                  <a:cubicBezTo>
                    <a:pt x="415936" y="22232"/>
                    <a:pt x="420812" y="34002"/>
                    <a:pt x="420812" y="46275"/>
                  </a:cubicBezTo>
                  <a:lnTo>
                    <a:pt x="420812" y="46275"/>
                  </a:lnTo>
                  <a:cubicBezTo>
                    <a:pt x="420812" y="71833"/>
                    <a:pt x="400093" y="92551"/>
                    <a:pt x="374536" y="92551"/>
                  </a:cubicBezTo>
                  <a:lnTo>
                    <a:pt x="46275" y="92551"/>
                  </a:lnTo>
                  <a:cubicBezTo>
                    <a:pt x="34002" y="92551"/>
                    <a:pt x="22232" y="87676"/>
                    <a:pt x="13554" y="78997"/>
                  </a:cubicBezTo>
                  <a:cubicBezTo>
                    <a:pt x="4875" y="70319"/>
                    <a:pt x="0" y="58549"/>
                    <a:pt x="0" y="46275"/>
                  </a:cubicBezTo>
                  <a:lnTo>
                    <a:pt x="0" y="46275"/>
                  </a:lnTo>
                  <a:cubicBezTo>
                    <a:pt x="0" y="34002"/>
                    <a:pt x="4875" y="22232"/>
                    <a:pt x="13554" y="13554"/>
                  </a:cubicBezTo>
                  <a:cubicBezTo>
                    <a:pt x="22232" y="4875"/>
                    <a:pt x="34002" y="0"/>
                    <a:pt x="46275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20812" cy="13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782842" y="4712884"/>
            <a:ext cx="1597769" cy="351405"/>
            <a:chOff x="0" y="0"/>
            <a:chExt cx="420812" cy="92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812" cy="92551"/>
            </a:xfrm>
            <a:custGeom>
              <a:avLst/>
              <a:gdLst/>
              <a:ahLst/>
              <a:cxnLst/>
              <a:rect r="r" b="b" t="t" l="l"/>
              <a:pathLst>
                <a:path h="92551" w="420812">
                  <a:moveTo>
                    <a:pt x="46275" y="0"/>
                  </a:moveTo>
                  <a:lnTo>
                    <a:pt x="374536" y="0"/>
                  </a:lnTo>
                  <a:cubicBezTo>
                    <a:pt x="386809" y="0"/>
                    <a:pt x="398579" y="4875"/>
                    <a:pt x="407258" y="13554"/>
                  </a:cubicBezTo>
                  <a:cubicBezTo>
                    <a:pt x="415936" y="22232"/>
                    <a:pt x="420812" y="34002"/>
                    <a:pt x="420812" y="46275"/>
                  </a:cubicBezTo>
                  <a:lnTo>
                    <a:pt x="420812" y="46275"/>
                  </a:lnTo>
                  <a:cubicBezTo>
                    <a:pt x="420812" y="71833"/>
                    <a:pt x="400093" y="92551"/>
                    <a:pt x="374536" y="92551"/>
                  </a:cubicBezTo>
                  <a:lnTo>
                    <a:pt x="46275" y="92551"/>
                  </a:lnTo>
                  <a:cubicBezTo>
                    <a:pt x="34002" y="92551"/>
                    <a:pt x="22232" y="87676"/>
                    <a:pt x="13554" y="78997"/>
                  </a:cubicBezTo>
                  <a:cubicBezTo>
                    <a:pt x="4875" y="70319"/>
                    <a:pt x="0" y="58549"/>
                    <a:pt x="0" y="46275"/>
                  </a:cubicBezTo>
                  <a:lnTo>
                    <a:pt x="0" y="46275"/>
                  </a:lnTo>
                  <a:cubicBezTo>
                    <a:pt x="0" y="34002"/>
                    <a:pt x="4875" y="22232"/>
                    <a:pt x="13554" y="13554"/>
                  </a:cubicBezTo>
                  <a:cubicBezTo>
                    <a:pt x="22232" y="4875"/>
                    <a:pt x="34002" y="0"/>
                    <a:pt x="46275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20812" cy="13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782842" y="5122729"/>
            <a:ext cx="1597769" cy="351405"/>
            <a:chOff x="0" y="0"/>
            <a:chExt cx="420812" cy="925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0812" cy="92551"/>
            </a:xfrm>
            <a:custGeom>
              <a:avLst/>
              <a:gdLst/>
              <a:ahLst/>
              <a:cxnLst/>
              <a:rect r="r" b="b" t="t" l="l"/>
              <a:pathLst>
                <a:path h="92551" w="420812">
                  <a:moveTo>
                    <a:pt x="46275" y="0"/>
                  </a:moveTo>
                  <a:lnTo>
                    <a:pt x="374536" y="0"/>
                  </a:lnTo>
                  <a:cubicBezTo>
                    <a:pt x="386809" y="0"/>
                    <a:pt x="398579" y="4875"/>
                    <a:pt x="407258" y="13554"/>
                  </a:cubicBezTo>
                  <a:cubicBezTo>
                    <a:pt x="415936" y="22232"/>
                    <a:pt x="420812" y="34002"/>
                    <a:pt x="420812" y="46275"/>
                  </a:cubicBezTo>
                  <a:lnTo>
                    <a:pt x="420812" y="46275"/>
                  </a:lnTo>
                  <a:cubicBezTo>
                    <a:pt x="420812" y="71833"/>
                    <a:pt x="400093" y="92551"/>
                    <a:pt x="374536" y="92551"/>
                  </a:cubicBezTo>
                  <a:lnTo>
                    <a:pt x="46275" y="92551"/>
                  </a:lnTo>
                  <a:cubicBezTo>
                    <a:pt x="34002" y="92551"/>
                    <a:pt x="22232" y="87676"/>
                    <a:pt x="13554" y="78997"/>
                  </a:cubicBezTo>
                  <a:cubicBezTo>
                    <a:pt x="4875" y="70319"/>
                    <a:pt x="0" y="58549"/>
                    <a:pt x="0" y="46275"/>
                  </a:cubicBezTo>
                  <a:lnTo>
                    <a:pt x="0" y="46275"/>
                  </a:lnTo>
                  <a:cubicBezTo>
                    <a:pt x="0" y="34002"/>
                    <a:pt x="4875" y="22232"/>
                    <a:pt x="13554" y="13554"/>
                  </a:cubicBezTo>
                  <a:cubicBezTo>
                    <a:pt x="22232" y="4875"/>
                    <a:pt x="34002" y="0"/>
                    <a:pt x="46275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20812" cy="13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991223" y="3894036"/>
            <a:ext cx="587335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26%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004165" y="4296909"/>
            <a:ext cx="587335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20%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994391" y="4712027"/>
            <a:ext cx="587335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12%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328619" y="6175065"/>
            <a:ext cx="2906938" cy="290693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509131" y="6355577"/>
            <a:ext cx="2545914" cy="254591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192771" y="6663316"/>
            <a:ext cx="1196491" cy="29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 spc="-132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MONTH 13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18471" y="7068727"/>
            <a:ext cx="1745090" cy="123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Seed </a:t>
            </a:r>
          </a:p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Round</a:t>
            </a:r>
          </a:p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Closes 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690531" y="6175065"/>
            <a:ext cx="2906938" cy="2906938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871043" y="6355577"/>
            <a:ext cx="2545914" cy="2545914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8523204" y="6663316"/>
            <a:ext cx="1241591" cy="29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 spc="-132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MONTH 12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80768" y="7068727"/>
            <a:ext cx="1726464" cy="123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5000+ </a:t>
            </a:r>
          </a:p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paying </a:t>
            </a:r>
          </a:p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users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052443" y="6175065"/>
            <a:ext cx="2906938" cy="2906938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217746" y="6355577"/>
            <a:ext cx="2545914" cy="2545914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4180932" y="7266111"/>
            <a:ext cx="2649960" cy="83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 App live &amp; first revenue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892458" y="6771638"/>
            <a:ext cx="1196491" cy="29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 spc="-132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MONTH 1 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-486361" y="2474302"/>
            <a:ext cx="5495999" cy="4008348"/>
            <a:chOff x="0" y="0"/>
            <a:chExt cx="1447506" cy="105569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47506" cy="1055697"/>
            </a:xfrm>
            <a:custGeom>
              <a:avLst/>
              <a:gdLst/>
              <a:ahLst/>
              <a:cxnLst/>
              <a:rect r="r" b="b" t="t" l="l"/>
              <a:pathLst>
                <a:path h="1055697" w="1447506">
                  <a:moveTo>
                    <a:pt x="1447506" y="527848"/>
                  </a:moveTo>
                  <a:lnTo>
                    <a:pt x="1041106" y="0"/>
                  </a:lnTo>
                  <a:lnTo>
                    <a:pt x="1041106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041106" y="852497"/>
                  </a:lnTo>
                  <a:lnTo>
                    <a:pt x="1041106" y="1055697"/>
                  </a:lnTo>
                  <a:lnTo>
                    <a:pt x="1447506" y="527848"/>
                  </a:ln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165100"/>
              <a:ext cx="1345906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40653" y="3461723"/>
            <a:ext cx="3130822" cy="184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76"/>
              </a:lnSpc>
              <a:spcBef>
                <a:spcPct val="0"/>
              </a:spcBef>
            </a:pPr>
            <a:r>
              <a:rPr lang="en-US" b="true" sz="10768" spc="-50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350k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40653" y="3570991"/>
            <a:ext cx="2314966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57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RAISING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872000" y="3477437"/>
            <a:ext cx="2524829" cy="30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40"/>
              </a:lnSpc>
              <a:spcBef>
                <a:spcPct val="0"/>
              </a:spcBef>
            </a:pPr>
            <a:r>
              <a:rPr lang="en-US" sz="1814" spc="5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Tech infrastructure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017990" y="5116469"/>
            <a:ext cx="3378839" cy="31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9"/>
              </a:lnSpc>
              <a:spcBef>
                <a:spcPct val="0"/>
              </a:spcBef>
            </a:pPr>
            <a:r>
              <a:rPr lang="en-US" sz="1849" spc="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Legal, ops &amp; admin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017990" y="4291501"/>
            <a:ext cx="3378839" cy="31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9"/>
              </a:lnSpc>
              <a:spcBef>
                <a:spcPct val="0"/>
              </a:spcBef>
            </a:pPr>
            <a:r>
              <a:rPr lang="en-US" sz="1849" spc="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Marketing &amp; paid social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017990" y="4703985"/>
            <a:ext cx="3378839" cy="31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9"/>
              </a:lnSpc>
              <a:spcBef>
                <a:spcPct val="0"/>
              </a:spcBef>
            </a:pPr>
            <a:r>
              <a:rPr lang="en-US" sz="1849" spc="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Clinical partnerships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083690" y="3879017"/>
            <a:ext cx="3313139" cy="31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9"/>
              </a:lnSpc>
              <a:spcBef>
                <a:spcPct val="0"/>
              </a:spcBef>
            </a:pPr>
            <a:r>
              <a:rPr lang="en-US" sz="1849" spc="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Team stipends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626225" y="3478568"/>
            <a:ext cx="863310" cy="30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  <a:spcBef>
                <a:spcPct val="0"/>
              </a:spcBef>
            </a:pPr>
            <a:r>
              <a:rPr lang="en-US" b="true" sz="1814" spc="-181">
                <a:solidFill>
                  <a:srgbClr val="FFE500"/>
                </a:solidFill>
                <a:latin typeface="Aileron Bold"/>
                <a:ea typeface="Aileron Bold"/>
                <a:cs typeface="Aileron Bold"/>
                <a:sym typeface="Aileron Bold"/>
              </a:rPr>
              <a:t>€119K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683961" y="4921890"/>
            <a:ext cx="2951022" cy="51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b="true" sz="1847" spc="-184">
                <a:solidFill>
                  <a:srgbClr val="FFE500"/>
                </a:solidFill>
                <a:latin typeface="Aileron Bold"/>
                <a:ea typeface="Aileron Bold"/>
                <a:cs typeface="Aileron Bold"/>
                <a:sym typeface="Aileron Bold"/>
              </a:rPr>
              <a:t>€28K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683961" y="4296909"/>
            <a:ext cx="2951022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E500"/>
                </a:solidFill>
                <a:latin typeface="Aileron Bold"/>
                <a:ea typeface="Aileron Bold"/>
                <a:cs typeface="Aileron Bold"/>
                <a:sym typeface="Aileron Bold"/>
              </a:rPr>
              <a:t>€70K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683961" y="4715845"/>
            <a:ext cx="2951022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E500"/>
                </a:solidFill>
                <a:latin typeface="Aileron Bold"/>
                <a:ea typeface="Aileron Bold"/>
                <a:cs typeface="Aileron Bold"/>
                <a:sym typeface="Aileron Bold"/>
              </a:rPr>
              <a:t>€42K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668884" y="3877973"/>
            <a:ext cx="705879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E500"/>
                </a:solidFill>
                <a:latin typeface="Aileron Bold"/>
                <a:ea typeface="Aileron Bold"/>
                <a:cs typeface="Aileron Bold"/>
                <a:sym typeface="Aileron Bold"/>
              </a:rPr>
              <a:t>€91K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019798" y="5121438"/>
            <a:ext cx="496921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5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8%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53593" y="1276350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Join Our Growth Journey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0410" y="2348206"/>
            <a:ext cx="2972492" cy="4367978"/>
            <a:chOff x="0" y="0"/>
            <a:chExt cx="3963322" cy="582397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963322" cy="3963322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7679" t="-8230" r="-30563" b="-3861"/>
                </a:stretch>
              </a:blip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4358012"/>
              <a:ext cx="3795284" cy="555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2"/>
                </a:lnSpc>
                <a:spcBef>
                  <a:spcPct val="0"/>
                </a:spcBef>
              </a:pPr>
              <a:r>
                <a:rPr lang="en-US" b="true" sz="2465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3" tooltip="https://www.linkedin.com/in/pilar-gonzalez-522564240/"/>
                </a:rPr>
                <a:t>Pilar Gonzalez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963741"/>
              <a:ext cx="3473587" cy="860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8"/>
                </a:lnSpc>
              </a:pPr>
              <a:r>
                <a:rPr lang="en-US" sz="1870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CEO - Co Founder </a:t>
              </a:r>
            </a:p>
            <a:p>
              <a:pPr algn="l">
                <a:lnSpc>
                  <a:spcPts val="2618"/>
                </a:lnSpc>
                <a:spcBef>
                  <a:spcPct val="0"/>
                </a:spcBef>
              </a:pPr>
              <a:r>
                <a:rPr lang="en-US" sz="187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Experienced in strategy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81650" y="2348206"/>
            <a:ext cx="3336499" cy="4700033"/>
            <a:chOff x="0" y="0"/>
            <a:chExt cx="4448666" cy="626671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3963322" cy="3963322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78303" t="0" r="-78303" b="0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3963322" cy="3963322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41545" t="-10992" r="-25046" b="0"/>
                </a:stretch>
              </a:blip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14861" y="4358012"/>
              <a:ext cx="3533599" cy="555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2"/>
                </a:lnSpc>
                <a:spcBef>
                  <a:spcPct val="0"/>
                </a:spcBef>
              </a:pPr>
              <a:r>
                <a:rPr lang="en-US" b="true" sz="2465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6" tooltip="https://www.linkedin.com/in/lucia-cebrian-7333b829a/"/>
                </a:rPr>
                <a:t>Lucia Cebrian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14861" y="4963741"/>
              <a:ext cx="4233804" cy="1302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8"/>
                </a:lnSpc>
              </a:pPr>
              <a:r>
                <a:rPr lang="en-US" sz="1870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COO - Co Founder</a:t>
              </a:r>
            </a:p>
            <a:p>
              <a:pPr algn="l">
                <a:lnSpc>
                  <a:spcPts val="2618"/>
                </a:lnSpc>
                <a:spcBef>
                  <a:spcPct val="0"/>
                </a:spcBef>
              </a:pPr>
              <a:r>
                <a:rPr lang="en-US" sz="187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Experienced in branding, marketing &amp; UX design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04974" y="2348206"/>
            <a:ext cx="2972492" cy="297249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5046" t="0" r="-25046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551599" y="5602427"/>
            <a:ext cx="3585991" cy="43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  <a:spcBef>
                <a:spcPct val="0"/>
              </a:spcBef>
            </a:pPr>
            <a:r>
              <a:rPr lang="en-US" b="true" sz="2465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  <a:hlinkClick r:id="rId8" tooltip="https://www.linkedin.com/in/maria-paula-garz%C3%B3n-9410242b0/"/>
              </a:rPr>
              <a:t>Maria Paula Garzon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51599" y="6061487"/>
            <a:ext cx="3507497" cy="65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187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CMO - Co Founder </a:t>
            </a:r>
          </a:p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Experienced in </a:t>
            </a:r>
            <a:r>
              <a:rPr lang="en-US" sz="18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branding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193062"/>
            <a:ext cx="6287624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Your Vision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092" y="3760199"/>
            <a:ext cx="7654155" cy="1914298"/>
            <a:chOff x="0" y="0"/>
            <a:chExt cx="10205540" cy="255239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76872" y="0"/>
              <a:ext cx="2375524" cy="237552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78303" t="0" r="-78303" b="0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0"/>
              <a:ext cx="2552397" cy="2552397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3523" t="-5615" r="-6183" b="-2638"/>
                </a:stretch>
              </a:blip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2832447" y="-38100"/>
              <a:ext cx="7373093" cy="1005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8"/>
                </a:lnSpc>
              </a:pPr>
              <a:r>
                <a:rPr lang="en-US" b="true" sz="2199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4" tooltip="https://www.linkedin.com/in/kanika-pandey-959aa3a/"/>
                </a:rPr>
                <a:t>Kanika Pandey  </a:t>
              </a:r>
            </a:p>
            <a:p>
              <a:pPr algn="l">
                <a:lnSpc>
                  <a:spcPts val="3078"/>
                </a:lnSpc>
                <a:spcBef>
                  <a:spcPct val="0"/>
                </a:spcBef>
              </a:pPr>
              <a:r>
                <a:rPr lang="en-US" b="true" sz="2199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5" tooltip="https://www.linkedin.com/in/kanika-pandey-959aa3a/"/>
                </a:rPr>
                <a:t>AI &amp; Growth Strategy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829906" y="941170"/>
              <a:ext cx="7375635" cy="37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4975" indent="-177488" lvl="1">
                <a:lnSpc>
                  <a:spcPts val="230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4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2x founder, expert in GTM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74765" y="1576897"/>
            <a:ext cx="7484535" cy="1781643"/>
            <a:chOff x="0" y="0"/>
            <a:chExt cx="9979380" cy="237552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375524" cy="2375524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tru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4390" r="0" b="-10387"/>
                </a:stretch>
              </a:blip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652395" y="-38100"/>
              <a:ext cx="7326985" cy="1004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4"/>
                </a:lnSpc>
              </a:pPr>
              <a:r>
                <a:rPr lang="en-US" b="true" sz="2203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7" tooltip="https://www.linkedin.com/in/juanjosecebrian/"/>
                </a:rPr>
                <a:t>J</a:t>
              </a:r>
              <a:r>
                <a:rPr lang="en-US" b="true" sz="2203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8" tooltip="https://www.linkedin.com/in/juanjosecebrian/"/>
                </a:rPr>
                <a:t>uan Jose Cebrian Gonzalez </a:t>
              </a:r>
            </a:p>
            <a:p>
              <a:pPr algn="l">
                <a:lnSpc>
                  <a:spcPts val="3084"/>
                </a:lnSpc>
                <a:spcBef>
                  <a:spcPct val="0"/>
                </a:spcBef>
              </a:pPr>
              <a:r>
                <a:rPr lang="en-US" b="true" sz="220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Technology &amp; Digital Transformation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696906" y="1053463"/>
              <a:ext cx="7282474" cy="37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4954" indent="-177477" lvl="1">
                <a:lnSpc>
                  <a:spcPts val="230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4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EMEA CTO and head of engineering at CHUBB.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62275" y="6638793"/>
            <a:ext cx="7497025" cy="2004586"/>
            <a:chOff x="0" y="0"/>
            <a:chExt cx="9996033" cy="267278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608083" cy="2672782"/>
              <a:chOff x="0" y="0"/>
              <a:chExt cx="793125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9312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93125">
                    <a:moveTo>
                      <a:pt x="396562" y="0"/>
                    </a:moveTo>
                    <a:cubicBezTo>
                      <a:pt x="177547" y="0"/>
                      <a:pt x="0" y="181951"/>
                      <a:pt x="0" y="406400"/>
                    </a:cubicBezTo>
                    <a:cubicBezTo>
                      <a:pt x="0" y="630849"/>
                      <a:pt x="177547" y="812800"/>
                      <a:pt x="396562" y="812800"/>
                    </a:cubicBezTo>
                    <a:cubicBezTo>
                      <a:pt x="615578" y="812800"/>
                      <a:pt x="793125" y="630849"/>
                      <a:pt x="793125" y="406400"/>
                    </a:cubicBezTo>
                    <a:cubicBezTo>
                      <a:pt x="793125" y="181951"/>
                      <a:pt x="615578" y="0"/>
                      <a:pt x="396562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1240" t="0" r="-1240" b="0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608083" y="-27477"/>
              <a:ext cx="7387950" cy="1037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7"/>
                </a:lnSpc>
              </a:pPr>
              <a:r>
                <a:rPr lang="en-US" b="true" sz="2262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10" tooltip="https://www.linkedin.com/in/beatriz-serrano-sordo/?locale=en"/>
                </a:rPr>
                <a:t>Beatriz Serrano Sordo </a:t>
              </a:r>
            </a:p>
            <a:p>
              <a:pPr algn="l">
                <a:lnSpc>
                  <a:spcPts val="3167"/>
                </a:lnSpc>
                <a:spcBef>
                  <a:spcPct val="0"/>
                </a:spcBef>
              </a:pPr>
              <a:r>
                <a:rPr lang="en-US" b="true" sz="226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Finance &amp; Governance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608083" y="1113241"/>
              <a:ext cx="7387950" cy="763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4455" indent="-182227" lvl="1">
                <a:lnSpc>
                  <a:spcPts val="23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88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1x founder, ex MD Banco Santander Head of Investor Relations, senior analyst AXA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2060" y="6683937"/>
            <a:ext cx="7692188" cy="1914298"/>
            <a:chOff x="0" y="0"/>
            <a:chExt cx="10256250" cy="255239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552397" cy="2552397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l="0" t="-251" r="0" b="-251"/>
                </a:stretch>
              </a:blip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880616" y="-32716"/>
              <a:ext cx="7375635" cy="1004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4"/>
                </a:lnSpc>
              </a:pPr>
              <a:r>
                <a:rPr lang="en-US" b="true" sz="2203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12" tooltip="https://www.linkedin.com/in/constanzaramirezmilli/"/>
                </a:rPr>
                <a:t>Constanza Ramirez Milli </a:t>
              </a:r>
            </a:p>
            <a:p>
              <a:pPr algn="l">
                <a:lnSpc>
                  <a:spcPts val="3084"/>
                </a:lnSpc>
                <a:spcBef>
                  <a:spcPct val="0"/>
                </a:spcBef>
              </a:pPr>
              <a:r>
                <a:rPr lang="en-US" b="true" sz="220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Clinical Nutrition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880616" y="987236"/>
              <a:ext cx="7375635" cy="753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4954" indent="-177477" lvl="1">
                <a:lnSpc>
                  <a:spcPts val="230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4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Nutritionist specialized in clinical nutrition &amp; corporate wellness. 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74765" y="4078805"/>
            <a:ext cx="7484535" cy="1847783"/>
            <a:chOff x="0" y="0"/>
            <a:chExt cx="9979380" cy="246371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463710" cy="2463710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3"/>
                <a:stretch>
                  <a:fillRect l="-15824" t="-2315" r="-12019" b="-9068"/>
                </a:stretch>
              </a:blip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2614205" y="1013404"/>
              <a:ext cx="7365174" cy="355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4930" indent="-172465" lvl="1">
                <a:lnSpc>
                  <a:spcPts val="223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7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Former Global Innovation Lead at ING.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591162" y="-38950"/>
              <a:ext cx="6745066" cy="492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143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14" tooltip="https://www.linkedin.com/in/claramirandae/"/>
                </a:rPr>
                <a:t>Clara Miranda</a:t>
              </a:r>
              <a:r>
                <a:rPr lang="en-US" b="true" sz="214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 Escribano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630325" y="466772"/>
              <a:ext cx="6745066" cy="459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  <a:spcBef>
                  <a:spcPct val="0"/>
                </a:spcBef>
              </a:pPr>
              <a:r>
                <a:rPr lang="en-US" b="true" sz="20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Strategy &amp; Brand Innovation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8700" y="1224474"/>
            <a:ext cx="7504530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4D"/>
                </a:solidFill>
                <a:latin typeface="Aileron"/>
                <a:ea typeface="Aileron"/>
                <a:cs typeface="Aileron"/>
                <a:sym typeface="Aileron"/>
              </a:rPr>
              <a:t>Advisory Board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2404012"/>
            <a:ext cx="7078901" cy="95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4051" spc="-194">
                <a:solidFill>
                  <a:srgbClr val="FF004D"/>
                </a:solidFill>
                <a:latin typeface="Aileron"/>
                <a:ea typeface="Aileron"/>
                <a:cs typeface="Aileron"/>
                <a:sym typeface="Aileron"/>
              </a:rPr>
              <a:t>Global experties in tech, growth and nutrition.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9094" y="3929558"/>
            <a:ext cx="9218552" cy="2172760"/>
          </a:xfrm>
          <a:custGeom>
            <a:avLst/>
            <a:gdLst/>
            <a:ahLst/>
            <a:cxnLst/>
            <a:rect r="r" b="b" t="t" l="l"/>
            <a:pathLst>
              <a:path h="2172760" w="9218552">
                <a:moveTo>
                  <a:pt x="0" y="0"/>
                </a:moveTo>
                <a:lnTo>
                  <a:pt x="9218552" y="0"/>
                </a:lnTo>
                <a:lnTo>
                  <a:pt x="9218552" y="2172759"/>
                </a:lnTo>
                <a:lnTo>
                  <a:pt x="0" y="2172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0127" y="6214110"/>
            <a:ext cx="102870" cy="100965"/>
            <a:chOff x="0" y="0"/>
            <a:chExt cx="137160" cy="1346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9252" y="49583"/>
              <a:ext cx="35838" cy="30765"/>
            </a:xfrm>
            <a:custGeom>
              <a:avLst/>
              <a:gdLst/>
              <a:ahLst/>
              <a:cxnLst/>
              <a:rect r="r" b="b" t="t" l="l"/>
              <a:pathLst>
                <a:path h="30765" w="35838">
                  <a:moveTo>
                    <a:pt x="35838" y="11377"/>
                  </a:moveTo>
                  <a:cubicBezTo>
                    <a:pt x="19328" y="36777"/>
                    <a:pt x="5358" y="31697"/>
                    <a:pt x="1548" y="26617"/>
                  </a:cubicBezTo>
                  <a:cubicBezTo>
                    <a:pt x="-2262" y="21537"/>
                    <a:pt x="1548" y="5027"/>
                    <a:pt x="6628" y="1217"/>
                  </a:cubicBezTo>
                  <a:cubicBezTo>
                    <a:pt x="11708" y="-2593"/>
                    <a:pt x="30758" y="3757"/>
                    <a:pt x="30758" y="3757"/>
                  </a:cubicBezTo>
                </a:path>
              </a:pathLst>
            </a:custGeom>
            <a:solidFill>
              <a:srgbClr val="2D2E3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082815" y="9056741"/>
            <a:ext cx="1725580" cy="136951"/>
          </a:xfrm>
          <a:custGeom>
            <a:avLst/>
            <a:gdLst/>
            <a:ahLst/>
            <a:cxnLst/>
            <a:rect r="r" b="b" t="t" l="l"/>
            <a:pathLst>
              <a:path h="136951" w="1725580">
                <a:moveTo>
                  <a:pt x="0" y="0"/>
                </a:moveTo>
                <a:lnTo>
                  <a:pt x="1725579" y="0"/>
                </a:lnTo>
                <a:lnTo>
                  <a:pt x="1725579" y="136950"/>
                </a:lnTo>
                <a:lnTo>
                  <a:pt x="0" y="136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49111" y="9056741"/>
            <a:ext cx="1725580" cy="136951"/>
          </a:xfrm>
          <a:custGeom>
            <a:avLst/>
            <a:gdLst/>
            <a:ahLst/>
            <a:cxnLst/>
            <a:rect r="r" b="b" t="t" l="l"/>
            <a:pathLst>
              <a:path h="136951" w="1725580">
                <a:moveTo>
                  <a:pt x="0" y="0"/>
                </a:moveTo>
                <a:lnTo>
                  <a:pt x="1725580" y="0"/>
                </a:lnTo>
                <a:lnTo>
                  <a:pt x="1725580" y="136950"/>
                </a:lnTo>
                <a:lnTo>
                  <a:pt x="0" y="136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1193615">
            <a:off x="2842581" y="5983158"/>
            <a:ext cx="958598" cy="877413"/>
          </a:xfrm>
          <a:custGeom>
            <a:avLst/>
            <a:gdLst/>
            <a:ahLst/>
            <a:cxnLst/>
            <a:rect r="r" b="b" t="t" l="l"/>
            <a:pathLst>
              <a:path h="877413" w="958598">
                <a:moveTo>
                  <a:pt x="958598" y="0"/>
                </a:moveTo>
                <a:lnTo>
                  <a:pt x="0" y="0"/>
                </a:lnTo>
                <a:lnTo>
                  <a:pt x="0" y="877413"/>
                </a:lnTo>
                <a:lnTo>
                  <a:pt x="958598" y="877413"/>
                </a:lnTo>
                <a:lnTo>
                  <a:pt x="95859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20763" y="6215165"/>
            <a:ext cx="689627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i="true">
                <a:solidFill>
                  <a:srgbClr val="FF004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Adaptive nutrition, movement and recovery guidance that learns across cycles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90600"/>
            <a:ext cx="3228156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nutrisynccollective.com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20763" y="8885557"/>
            <a:ext cx="1906993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5" tooltip="https://www.linkedin.com/in/pilar-gonzalez-522564240/"/>
              </a:rPr>
              <a:t>Pilar Gonzalez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3316" y="8885557"/>
            <a:ext cx="1801300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6" tooltip="https://www.linkedin.com/in/lucia-cebrian-7333b829a/"/>
              </a:rPr>
              <a:t>Lucia Cebrian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60176" y="8885557"/>
            <a:ext cx="2481242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7" tooltip="https://www.linkedin.com/in/maria-paula-garz%C3%B3n-9410242b0/"/>
              </a:rPr>
              <a:t>Maria Paula Garzon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29026" y="990600"/>
            <a:ext cx="4230274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contact@</a:t>
            </a: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nutrisynccollective.com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1434394">
            <a:off x="14088272" y="7163213"/>
            <a:ext cx="1021052" cy="959542"/>
          </a:xfrm>
          <a:custGeom>
            <a:avLst/>
            <a:gdLst/>
            <a:ahLst/>
            <a:cxnLst/>
            <a:rect r="r" b="b" t="t" l="l"/>
            <a:pathLst>
              <a:path h="959542" w="1021052">
                <a:moveTo>
                  <a:pt x="0" y="0"/>
                </a:moveTo>
                <a:lnTo>
                  <a:pt x="1021052" y="0"/>
                </a:lnTo>
                <a:lnTo>
                  <a:pt x="1021052" y="959542"/>
                </a:lnTo>
                <a:lnTo>
                  <a:pt x="0" y="9595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13309" y="4547254"/>
            <a:ext cx="2260315" cy="4711046"/>
          </a:xfrm>
          <a:custGeom>
            <a:avLst/>
            <a:gdLst/>
            <a:ahLst/>
            <a:cxnLst/>
            <a:rect r="r" b="b" t="t" l="l"/>
            <a:pathLst>
              <a:path h="4711046" w="2260315">
                <a:moveTo>
                  <a:pt x="0" y="0"/>
                </a:moveTo>
                <a:lnTo>
                  <a:pt x="2260316" y="0"/>
                </a:lnTo>
                <a:lnTo>
                  <a:pt x="2260316" y="4711046"/>
                </a:lnTo>
                <a:lnTo>
                  <a:pt x="0" y="47110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5943" t="-14963" r="-22599" b="-792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088511" y="4197415"/>
            <a:ext cx="2186180" cy="4996277"/>
          </a:xfrm>
          <a:custGeom>
            <a:avLst/>
            <a:gdLst/>
            <a:ahLst/>
            <a:cxnLst/>
            <a:rect r="r" b="b" t="t" l="l"/>
            <a:pathLst>
              <a:path h="4996277" w="2186180">
                <a:moveTo>
                  <a:pt x="0" y="0"/>
                </a:moveTo>
                <a:lnTo>
                  <a:pt x="2186180" y="0"/>
                </a:lnTo>
                <a:lnTo>
                  <a:pt x="2186180" y="4996276"/>
                </a:lnTo>
                <a:lnTo>
                  <a:pt x="0" y="4996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474" t="-7825" r="-17883" b="-558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088511" y="4197415"/>
            <a:ext cx="2186180" cy="4996277"/>
          </a:xfrm>
          <a:custGeom>
            <a:avLst/>
            <a:gdLst/>
            <a:ahLst/>
            <a:cxnLst/>
            <a:rect r="r" b="b" t="t" l="l"/>
            <a:pathLst>
              <a:path h="4996277" w="2186180">
                <a:moveTo>
                  <a:pt x="0" y="0"/>
                </a:moveTo>
                <a:lnTo>
                  <a:pt x="2186180" y="0"/>
                </a:lnTo>
                <a:lnTo>
                  <a:pt x="2186180" y="4996276"/>
                </a:lnTo>
                <a:lnTo>
                  <a:pt x="0" y="4996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474" t="-7825" r="-17883" b="-558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088511" y="4197415"/>
            <a:ext cx="2186180" cy="4996277"/>
          </a:xfrm>
          <a:custGeom>
            <a:avLst/>
            <a:gdLst/>
            <a:ahLst/>
            <a:cxnLst/>
            <a:rect r="r" b="b" t="t" l="l"/>
            <a:pathLst>
              <a:path h="4996277" w="2186180">
                <a:moveTo>
                  <a:pt x="0" y="0"/>
                </a:moveTo>
                <a:lnTo>
                  <a:pt x="2186180" y="0"/>
                </a:lnTo>
                <a:lnTo>
                  <a:pt x="2186180" y="4996276"/>
                </a:lnTo>
                <a:lnTo>
                  <a:pt x="0" y="4996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474" t="-7825" r="-17883" b="-558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088511" y="4193661"/>
            <a:ext cx="2186180" cy="4996277"/>
          </a:xfrm>
          <a:custGeom>
            <a:avLst/>
            <a:gdLst/>
            <a:ahLst/>
            <a:cxnLst/>
            <a:rect r="r" b="b" t="t" l="l"/>
            <a:pathLst>
              <a:path h="4996277" w="2186180">
                <a:moveTo>
                  <a:pt x="0" y="0"/>
                </a:moveTo>
                <a:lnTo>
                  <a:pt x="2186180" y="0"/>
                </a:lnTo>
                <a:lnTo>
                  <a:pt x="2186180" y="4996277"/>
                </a:lnTo>
                <a:lnTo>
                  <a:pt x="0" y="49962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474" t="-7825" r="-17883" b="-5589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09398" y="1953408"/>
            <a:ext cx="6920791" cy="69207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6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99805" y="5158718"/>
            <a:ext cx="3535935" cy="3555027"/>
            <a:chOff x="0" y="0"/>
            <a:chExt cx="880062" cy="8848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0062" cy="884814"/>
            </a:xfrm>
            <a:custGeom>
              <a:avLst/>
              <a:gdLst/>
              <a:ahLst/>
              <a:cxnLst/>
              <a:rect r="r" b="b" t="t" l="l"/>
              <a:pathLst>
                <a:path h="884814" w="880062">
                  <a:moveTo>
                    <a:pt x="440031" y="0"/>
                  </a:moveTo>
                  <a:cubicBezTo>
                    <a:pt x="197009" y="0"/>
                    <a:pt x="0" y="198072"/>
                    <a:pt x="0" y="442407"/>
                  </a:cubicBezTo>
                  <a:cubicBezTo>
                    <a:pt x="0" y="686741"/>
                    <a:pt x="197009" y="884814"/>
                    <a:pt x="440031" y="884814"/>
                  </a:cubicBezTo>
                  <a:cubicBezTo>
                    <a:pt x="683053" y="884814"/>
                    <a:pt x="880062" y="686741"/>
                    <a:pt x="880062" y="442407"/>
                  </a:cubicBezTo>
                  <a:cubicBezTo>
                    <a:pt x="880062" y="198072"/>
                    <a:pt x="683053" y="0"/>
                    <a:pt x="440031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82506" y="16276"/>
              <a:ext cx="715050" cy="785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1419305" y="6825780"/>
            <a:ext cx="1697075" cy="169707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003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7474295"/>
            <a:ext cx="4459729" cy="9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7697">
                <a:solidFill>
                  <a:srgbClr val="CF013F"/>
                </a:solidFill>
                <a:latin typeface="Aileron"/>
                <a:ea typeface="Aileron"/>
                <a:cs typeface="Aileron"/>
                <a:sym typeface="Aileron"/>
              </a:rPr>
              <a:t>~€1.2M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878979"/>
            <a:ext cx="4773535" cy="99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5"/>
              </a:lnSpc>
            </a:pPr>
            <a:r>
              <a:rPr lang="en-US" sz="7700">
                <a:solidFill>
                  <a:srgbClr val="FFC700"/>
                </a:solidFill>
                <a:latin typeface="Aileron"/>
                <a:ea typeface="Aileron"/>
                <a:cs typeface="Aileron"/>
                <a:sym typeface="Aileron"/>
              </a:rPr>
              <a:t>~€1.4Bn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517275"/>
            <a:ext cx="5493071" cy="3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317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Spain share of projected 400k users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298455"/>
            <a:ext cx="7880698" cy="3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317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Women paying for digital health + B2B wellness buyers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923555"/>
            <a:ext cx="7880698" cy="3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317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Spain’s women’s health app + corporate wellness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3357" y="9490495"/>
            <a:ext cx="10225949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Sources: (INE, 2024), (Heraldo, 2023), (Agencia SINC, 2023), (European Psychiatry, 2022)</a:t>
            </a:r>
          </a:p>
        </p:txBody>
      </p:sp>
      <p:sp>
        <p:nvSpPr>
          <p:cNvPr name="AutoShape 17" id="17"/>
          <p:cNvSpPr/>
          <p:nvPr/>
        </p:nvSpPr>
        <p:spPr>
          <a:xfrm>
            <a:off x="7161196" y="3367447"/>
            <a:ext cx="5106647" cy="0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oval" len="lg" w="lg"/>
            <a:tailEnd type="oval" len="lg" w="lg"/>
          </a:ln>
        </p:spPr>
      </p:sp>
      <p:sp>
        <p:nvSpPr>
          <p:cNvPr name="AutoShape 18" id="18"/>
          <p:cNvSpPr/>
          <p:nvPr/>
        </p:nvSpPr>
        <p:spPr>
          <a:xfrm>
            <a:off x="7161196" y="5831730"/>
            <a:ext cx="5106647" cy="0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oval" len="lg" w="lg"/>
            <a:tailEnd type="oval" len="lg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5253968"/>
            <a:ext cx="4459729" cy="9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7697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~€168M</a:t>
            </a:r>
          </a:p>
        </p:txBody>
      </p:sp>
      <p:sp>
        <p:nvSpPr>
          <p:cNvPr name="AutoShape 20" id="20"/>
          <p:cNvSpPr/>
          <p:nvPr/>
        </p:nvSpPr>
        <p:spPr>
          <a:xfrm>
            <a:off x="7161266" y="7955300"/>
            <a:ext cx="5106577" cy="0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oval" len="lg" w="lg"/>
            <a:tailEnd type="oval" len="lg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1028700" y="4273350"/>
            <a:ext cx="7954979" cy="3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31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All Spanish companies and women who could ever pay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648250"/>
            <a:ext cx="7512230" cy="57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31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2M Spanish women already paying and companies actively purchasing digital employee wellness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838200"/>
            <a:ext cx="15617679" cy="106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70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Spanish Market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07177" y="3139326"/>
            <a:ext cx="8288906" cy="4008348"/>
            <a:chOff x="0" y="0"/>
            <a:chExt cx="2183086" cy="10556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3086" cy="1055697"/>
            </a:xfrm>
            <a:custGeom>
              <a:avLst/>
              <a:gdLst/>
              <a:ahLst/>
              <a:cxnLst/>
              <a:rect r="r" b="b" t="t" l="l"/>
              <a:pathLst>
                <a:path h="1055697" w="2183086">
                  <a:moveTo>
                    <a:pt x="2183086" y="527848"/>
                  </a:moveTo>
                  <a:lnTo>
                    <a:pt x="1776686" y="0"/>
                  </a:lnTo>
                  <a:lnTo>
                    <a:pt x="1776686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776686" y="852497"/>
                  </a:lnTo>
                  <a:lnTo>
                    <a:pt x="1776686" y="1055697"/>
                  </a:lnTo>
                  <a:lnTo>
                    <a:pt x="2183086" y="527848"/>
                  </a:lnTo>
                  <a:close/>
                </a:path>
              </a:pathLst>
            </a:custGeom>
            <a:solidFill>
              <a:srgbClr val="C6003B"/>
            </a:solidFill>
            <a:ln w="38100" cap="sq">
              <a:solidFill>
                <a:srgbClr val="E8014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65100"/>
              <a:ext cx="2081486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44942" y="3139326"/>
            <a:ext cx="7509790" cy="4008348"/>
            <a:chOff x="0" y="0"/>
            <a:chExt cx="1977887" cy="10556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7887" cy="1055697"/>
            </a:xfrm>
            <a:custGeom>
              <a:avLst/>
              <a:gdLst/>
              <a:ahLst/>
              <a:cxnLst/>
              <a:rect r="r" b="b" t="t" l="l"/>
              <a:pathLst>
                <a:path h="1055697" w="1977887">
                  <a:moveTo>
                    <a:pt x="1977887" y="527848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571487" y="852497"/>
                  </a:lnTo>
                  <a:lnTo>
                    <a:pt x="1571487" y="1055697"/>
                  </a:lnTo>
                  <a:lnTo>
                    <a:pt x="1977887" y="527848"/>
                  </a:lnTo>
                  <a:close/>
                </a:path>
              </a:pathLst>
            </a:custGeom>
            <a:solidFill>
              <a:srgbClr val="E80046"/>
            </a:solidFill>
            <a:ln w="38100" cap="sq">
              <a:solidFill>
                <a:srgbClr val="E80046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65100"/>
              <a:ext cx="1876287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83152" y="3139326"/>
            <a:ext cx="7509790" cy="4008348"/>
            <a:chOff x="0" y="0"/>
            <a:chExt cx="1977887" cy="1055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7887" cy="1055697"/>
            </a:xfrm>
            <a:custGeom>
              <a:avLst/>
              <a:gdLst/>
              <a:ahLst/>
              <a:cxnLst/>
              <a:rect r="r" b="b" t="t" l="l"/>
              <a:pathLst>
                <a:path h="1055697" w="1977887">
                  <a:moveTo>
                    <a:pt x="1977887" y="527848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571487" y="852497"/>
                  </a:lnTo>
                  <a:lnTo>
                    <a:pt x="1571487" y="1055697"/>
                  </a:lnTo>
                  <a:lnTo>
                    <a:pt x="1977887" y="527848"/>
                  </a:lnTo>
                  <a:close/>
                </a:path>
              </a:pathLst>
            </a:custGeom>
            <a:solidFill>
              <a:srgbClr val="FF004D"/>
            </a:solidFill>
            <a:ln w="381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65100"/>
              <a:ext cx="1876287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441741" y="3139326"/>
            <a:ext cx="5495999" cy="4008348"/>
            <a:chOff x="0" y="0"/>
            <a:chExt cx="1447506" cy="10556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7506" cy="1055697"/>
            </a:xfrm>
            <a:custGeom>
              <a:avLst/>
              <a:gdLst/>
              <a:ahLst/>
              <a:cxnLst/>
              <a:rect r="r" b="b" t="t" l="l"/>
              <a:pathLst>
                <a:path h="1055697" w="1447506">
                  <a:moveTo>
                    <a:pt x="1447506" y="527848"/>
                  </a:moveTo>
                  <a:lnTo>
                    <a:pt x="1041106" y="0"/>
                  </a:lnTo>
                  <a:lnTo>
                    <a:pt x="1041106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041106" y="852497"/>
                  </a:lnTo>
                  <a:lnTo>
                    <a:pt x="1041106" y="1055697"/>
                  </a:lnTo>
                  <a:lnTo>
                    <a:pt x="1447506" y="527848"/>
                  </a:lnTo>
                  <a:close/>
                </a:path>
              </a:pathLst>
            </a:custGeom>
            <a:solidFill>
              <a:srgbClr val="FF1300"/>
            </a:solidFill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1345906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22697" y="7471360"/>
            <a:ext cx="3881403" cy="1300075"/>
            <a:chOff x="0" y="0"/>
            <a:chExt cx="1812072" cy="6069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12072" cy="606953"/>
            </a:xfrm>
            <a:custGeom>
              <a:avLst/>
              <a:gdLst/>
              <a:ahLst/>
              <a:cxnLst/>
              <a:rect r="r" b="b" t="t" l="l"/>
              <a:pathLst>
                <a:path h="606953" w="1812072">
                  <a:moveTo>
                    <a:pt x="75796" y="0"/>
                  </a:moveTo>
                  <a:lnTo>
                    <a:pt x="1736277" y="0"/>
                  </a:lnTo>
                  <a:cubicBezTo>
                    <a:pt x="1778137" y="0"/>
                    <a:pt x="1812072" y="33935"/>
                    <a:pt x="1812072" y="75796"/>
                  </a:cubicBezTo>
                  <a:lnTo>
                    <a:pt x="1812072" y="531158"/>
                  </a:lnTo>
                  <a:cubicBezTo>
                    <a:pt x="1812072" y="573018"/>
                    <a:pt x="1778137" y="606953"/>
                    <a:pt x="1736277" y="606953"/>
                  </a:cubicBezTo>
                  <a:lnTo>
                    <a:pt x="75796" y="606953"/>
                  </a:lnTo>
                  <a:cubicBezTo>
                    <a:pt x="33935" y="606953"/>
                    <a:pt x="0" y="573018"/>
                    <a:pt x="0" y="531158"/>
                  </a:cubicBezTo>
                  <a:lnTo>
                    <a:pt x="0" y="75796"/>
                  </a:lnTo>
                  <a:cubicBezTo>
                    <a:pt x="0" y="33935"/>
                    <a:pt x="33935" y="0"/>
                    <a:pt x="75796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FF004D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12072" cy="645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52490" y="7522220"/>
            <a:ext cx="3703914" cy="1249216"/>
            <a:chOff x="0" y="0"/>
            <a:chExt cx="1729210" cy="5832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29210" cy="583209"/>
            </a:xfrm>
            <a:custGeom>
              <a:avLst/>
              <a:gdLst/>
              <a:ahLst/>
              <a:cxnLst/>
              <a:rect r="r" b="b" t="t" l="l"/>
              <a:pathLst>
                <a:path h="583209" w="1729210">
                  <a:moveTo>
                    <a:pt x="79428" y="0"/>
                  </a:moveTo>
                  <a:lnTo>
                    <a:pt x="1649782" y="0"/>
                  </a:lnTo>
                  <a:cubicBezTo>
                    <a:pt x="1693649" y="0"/>
                    <a:pt x="1729210" y="35561"/>
                    <a:pt x="1729210" y="79428"/>
                  </a:cubicBezTo>
                  <a:lnTo>
                    <a:pt x="1729210" y="503782"/>
                  </a:lnTo>
                  <a:cubicBezTo>
                    <a:pt x="1729210" y="547648"/>
                    <a:pt x="1693649" y="583209"/>
                    <a:pt x="1649782" y="583209"/>
                  </a:cubicBezTo>
                  <a:lnTo>
                    <a:pt x="79428" y="583209"/>
                  </a:lnTo>
                  <a:cubicBezTo>
                    <a:pt x="35561" y="583209"/>
                    <a:pt x="0" y="547648"/>
                    <a:pt x="0" y="503782"/>
                  </a:cubicBezTo>
                  <a:lnTo>
                    <a:pt x="0" y="79428"/>
                  </a:lnTo>
                  <a:cubicBezTo>
                    <a:pt x="0" y="35561"/>
                    <a:pt x="35561" y="0"/>
                    <a:pt x="79428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FF004D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29210" cy="621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081568" y="7471360"/>
            <a:ext cx="3881403" cy="1300075"/>
            <a:chOff x="0" y="0"/>
            <a:chExt cx="1812072" cy="6069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12072" cy="606953"/>
            </a:xfrm>
            <a:custGeom>
              <a:avLst/>
              <a:gdLst/>
              <a:ahLst/>
              <a:cxnLst/>
              <a:rect r="r" b="b" t="t" l="l"/>
              <a:pathLst>
                <a:path h="606953" w="1812072">
                  <a:moveTo>
                    <a:pt x="75796" y="0"/>
                  </a:moveTo>
                  <a:lnTo>
                    <a:pt x="1736277" y="0"/>
                  </a:lnTo>
                  <a:cubicBezTo>
                    <a:pt x="1778137" y="0"/>
                    <a:pt x="1812072" y="33935"/>
                    <a:pt x="1812072" y="75796"/>
                  </a:cubicBezTo>
                  <a:lnTo>
                    <a:pt x="1812072" y="531158"/>
                  </a:lnTo>
                  <a:cubicBezTo>
                    <a:pt x="1812072" y="573018"/>
                    <a:pt x="1778137" y="606953"/>
                    <a:pt x="1736277" y="606953"/>
                  </a:cubicBezTo>
                  <a:lnTo>
                    <a:pt x="75796" y="606953"/>
                  </a:lnTo>
                  <a:cubicBezTo>
                    <a:pt x="33935" y="606953"/>
                    <a:pt x="0" y="573018"/>
                    <a:pt x="0" y="531158"/>
                  </a:cubicBezTo>
                  <a:lnTo>
                    <a:pt x="0" y="75796"/>
                  </a:lnTo>
                  <a:cubicBezTo>
                    <a:pt x="0" y="33935"/>
                    <a:pt x="33935" y="0"/>
                    <a:pt x="75796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FF004D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12072" cy="645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152000" y="4657998"/>
            <a:ext cx="3904135" cy="108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CONVERSATIONAL AI NUTRI COMPANION </a:t>
            </a:r>
          </a:p>
          <a:p>
            <a:pPr algn="l">
              <a:lnSpc>
                <a:spcPts val="2823"/>
              </a:lnSpc>
            </a:pPr>
            <a:r>
              <a:rPr lang="en-US" sz="300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(M13 Premium)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059056" y="2605792"/>
            <a:ext cx="2044393" cy="2044393"/>
          </a:xfrm>
          <a:custGeom>
            <a:avLst/>
            <a:gdLst/>
            <a:ahLst/>
            <a:cxnLst/>
            <a:rect r="r" b="b" t="t" l="l"/>
            <a:pathLst>
              <a:path h="2044393" w="2044393">
                <a:moveTo>
                  <a:pt x="0" y="0"/>
                </a:moveTo>
                <a:lnTo>
                  <a:pt x="2044393" y="0"/>
                </a:lnTo>
                <a:lnTo>
                  <a:pt x="2044393" y="2044392"/>
                </a:lnTo>
                <a:lnTo>
                  <a:pt x="0" y="204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1755083">
            <a:off x="6358801" y="3022803"/>
            <a:ext cx="1414855" cy="1329622"/>
          </a:xfrm>
          <a:custGeom>
            <a:avLst/>
            <a:gdLst/>
            <a:ahLst/>
            <a:cxnLst/>
            <a:rect r="r" b="b" t="t" l="l"/>
            <a:pathLst>
              <a:path h="1329622" w="1414855">
                <a:moveTo>
                  <a:pt x="1414854" y="0"/>
                </a:moveTo>
                <a:lnTo>
                  <a:pt x="0" y="0"/>
                </a:lnTo>
                <a:lnTo>
                  <a:pt x="0" y="1329623"/>
                </a:lnTo>
                <a:lnTo>
                  <a:pt x="1414854" y="1329623"/>
                </a:lnTo>
                <a:lnTo>
                  <a:pt x="141485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6124154" y="2844291"/>
            <a:ext cx="773410" cy="665132"/>
          </a:xfrm>
          <a:custGeom>
            <a:avLst/>
            <a:gdLst/>
            <a:ahLst/>
            <a:cxnLst/>
            <a:rect r="r" b="b" t="t" l="l"/>
            <a:pathLst>
              <a:path h="665132" w="773410">
                <a:moveTo>
                  <a:pt x="773409" y="0"/>
                </a:moveTo>
                <a:lnTo>
                  <a:pt x="0" y="0"/>
                </a:lnTo>
                <a:lnTo>
                  <a:pt x="0" y="665132"/>
                </a:lnTo>
                <a:lnTo>
                  <a:pt x="773409" y="665132"/>
                </a:lnTo>
                <a:lnTo>
                  <a:pt x="77340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15574" y="4455740"/>
            <a:ext cx="3581369" cy="144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ADAPTIVE AI </a:t>
            </a:r>
          </a:p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PERSONALIZATION ENGINE </a:t>
            </a:r>
          </a:p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</a:t>
            </a:r>
            <a:r>
              <a:rPr lang="en-US" sz="300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now-M6)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746159" y="2736245"/>
            <a:ext cx="1783486" cy="1783486"/>
          </a:xfrm>
          <a:custGeom>
            <a:avLst/>
            <a:gdLst/>
            <a:ahLst/>
            <a:cxnLst/>
            <a:rect r="r" b="b" t="t" l="l"/>
            <a:pathLst>
              <a:path h="1783486" w="1783486">
                <a:moveTo>
                  <a:pt x="0" y="0"/>
                </a:moveTo>
                <a:lnTo>
                  <a:pt x="1783485" y="0"/>
                </a:lnTo>
                <a:lnTo>
                  <a:pt x="1783485" y="1783486"/>
                </a:lnTo>
                <a:lnTo>
                  <a:pt x="0" y="17834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2129003">
            <a:off x="2068760" y="3071836"/>
            <a:ext cx="1215223" cy="1112305"/>
          </a:xfrm>
          <a:custGeom>
            <a:avLst/>
            <a:gdLst/>
            <a:ahLst/>
            <a:cxnLst/>
            <a:rect r="r" b="b" t="t" l="l"/>
            <a:pathLst>
              <a:path h="1112305" w="1215223">
                <a:moveTo>
                  <a:pt x="0" y="0"/>
                </a:moveTo>
                <a:lnTo>
                  <a:pt x="1215222" y="0"/>
                </a:lnTo>
                <a:lnTo>
                  <a:pt x="1215222" y="1112305"/>
                </a:lnTo>
                <a:lnTo>
                  <a:pt x="0" y="11123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1247921">
            <a:off x="2676371" y="3011983"/>
            <a:ext cx="387533" cy="387533"/>
          </a:xfrm>
          <a:custGeom>
            <a:avLst/>
            <a:gdLst/>
            <a:ahLst/>
            <a:cxnLst/>
            <a:rect r="r" b="b" t="t" l="l"/>
            <a:pathLst>
              <a:path h="387533" w="387533">
                <a:moveTo>
                  <a:pt x="0" y="0"/>
                </a:moveTo>
                <a:lnTo>
                  <a:pt x="387533" y="0"/>
                </a:lnTo>
                <a:lnTo>
                  <a:pt x="387533" y="387533"/>
                </a:lnTo>
                <a:lnTo>
                  <a:pt x="0" y="387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368366" y="2736245"/>
            <a:ext cx="1683740" cy="1229130"/>
          </a:xfrm>
          <a:custGeom>
            <a:avLst/>
            <a:gdLst/>
            <a:ahLst/>
            <a:cxnLst/>
            <a:rect r="r" b="b" t="t" l="l"/>
            <a:pathLst>
              <a:path h="1229130" w="1683740">
                <a:moveTo>
                  <a:pt x="0" y="0"/>
                </a:moveTo>
                <a:lnTo>
                  <a:pt x="1683740" y="0"/>
                </a:lnTo>
                <a:lnTo>
                  <a:pt x="1683740" y="1229131"/>
                </a:lnTo>
                <a:lnTo>
                  <a:pt x="0" y="12291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111191" y="4624216"/>
            <a:ext cx="2301773" cy="110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b="true" sz="3003" spc="4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PREDICTIVE HORMONAL MODELLING </a:t>
            </a:r>
          </a:p>
        </p:txBody>
      </p:sp>
      <p:sp>
        <p:nvSpPr>
          <p:cNvPr name="Freeform 33" id="33"/>
          <p:cNvSpPr/>
          <p:nvPr/>
        </p:nvSpPr>
        <p:spPr>
          <a:xfrm flipH="true" flipV="false" rot="1755083">
            <a:off x="11088788" y="3059657"/>
            <a:ext cx="1414855" cy="1329622"/>
          </a:xfrm>
          <a:custGeom>
            <a:avLst/>
            <a:gdLst/>
            <a:ahLst/>
            <a:cxnLst/>
            <a:rect r="r" b="b" t="t" l="l"/>
            <a:pathLst>
              <a:path h="1329622" w="1414855">
                <a:moveTo>
                  <a:pt x="1414854" y="0"/>
                </a:moveTo>
                <a:lnTo>
                  <a:pt x="0" y="0"/>
                </a:lnTo>
                <a:lnTo>
                  <a:pt x="0" y="1329622"/>
                </a:lnTo>
                <a:lnTo>
                  <a:pt x="1414854" y="1329622"/>
                </a:lnTo>
                <a:lnTo>
                  <a:pt x="141485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957946" y="3100847"/>
            <a:ext cx="671517" cy="527141"/>
          </a:xfrm>
          <a:custGeom>
            <a:avLst/>
            <a:gdLst/>
            <a:ahLst/>
            <a:cxnLst/>
            <a:rect r="r" b="b" t="t" l="l"/>
            <a:pathLst>
              <a:path h="527141" w="671517">
                <a:moveTo>
                  <a:pt x="0" y="0"/>
                </a:moveTo>
                <a:lnTo>
                  <a:pt x="671517" y="0"/>
                </a:lnTo>
                <a:lnTo>
                  <a:pt x="671517" y="527141"/>
                </a:lnTo>
                <a:lnTo>
                  <a:pt x="0" y="5271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-1247921">
            <a:off x="6622518" y="2762040"/>
            <a:ext cx="387533" cy="387533"/>
          </a:xfrm>
          <a:custGeom>
            <a:avLst/>
            <a:gdLst/>
            <a:ahLst/>
            <a:cxnLst/>
            <a:rect r="r" b="b" t="t" l="l"/>
            <a:pathLst>
              <a:path h="387533" w="387533">
                <a:moveTo>
                  <a:pt x="0" y="0"/>
                </a:moveTo>
                <a:lnTo>
                  <a:pt x="387533" y="0"/>
                </a:lnTo>
                <a:lnTo>
                  <a:pt x="387533" y="387533"/>
                </a:lnTo>
                <a:lnTo>
                  <a:pt x="0" y="387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4464511" y="4591323"/>
            <a:ext cx="3224760" cy="1138136"/>
            <a:chOff x="0" y="0"/>
            <a:chExt cx="4299680" cy="1517514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66675"/>
              <a:ext cx="4299680" cy="1005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3"/>
                </a:lnSpc>
              </a:pPr>
              <a:r>
                <a:rPr lang="en-US" b="true" sz="3003" spc="48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LAB TEST + CGM INTEGRATION 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841239"/>
              <a:ext cx="2986088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(series A Y3) 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6508329" y="2955807"/>
            <a:ext cx="673592" cy="886306"/>
          </a:xfrm>
          <a:custGeom>
            <a:avLst/>
            <a:gdLst/>
            <a:ahLst/>
            <a:cxnLst/>
            <a:rect r="r" b="b" t="t" l="l"/>
            <a:pathLst>
              <a:path h="886306" w="673592">
                <a:moveTo>
                  <a:pt x="0" y="0"/>
                </a:moveTo>
                <a:lnTo>
                  <a:pt x="673593" y="0"/>
                </a:lnTo>
                <a:lnTo>
                  <a:pt x="673593" y="886306"/>
                </a:lnTo>
                <a:lnTo>
                  <a:pt x="0" y="8863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true" flipV="false" rot="-1084427">
            <a:off x="15032824" y="2966314"/>
            <a:ext cx="1103029" cy="1103029"/>
          </a:xfrm>
          <a:custGeom>
            <a:avLst/>
            <a:gdLst/>
            <a:ahLst/>
            <a:cxnLst/>
            <a:rect r="r" b="b" t="t" l="l"/>
            <a:pathLst>
              <a:path h="1103029" w="1103029">
                <a:moveTo>
                  <a:pt x="1103029" y="0"/>
                </a:moveTo>
                <a:lnTo>
                  <a:pt x="0" y="0"/>
                </a:lnTo>
                <a:lnTo>
                  <a:pt x="0" y="1103029"/>
                </a:lnTo>
                <a:lnTo>
                  <a:pt x="1103029" y="1103029"/>
                </a:lnTo>
                <a:lnTo>
                  <a:pt x="1103029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true" flipV="false" rot="1755083">
            <a:off x="15532420" y="3022803"/>
            <a:ext cx="1414855" cy="1329622"/>
          </a:xfrm>
          <a:custGeom>
            <a:avLst/>
            <a:gdLst/>
            <a:ahLst/>
            <a:cxnLst/>
            <a:rect r="r" b="b" t="t" l="l"/>
            <a:pathLst>
              <a:path h="1329622" w="1414855">
                <a:moveTo>
                  <a:pt x="1414855" y="0"/>
                </a:moveTo>
                <a:lnTo>
                  <a:pt x="0" y="0"/>
                </a:lnTo>
                <a:lnTo>
                  <a:pt x="0" y="1329623"/>
                </a:lnTo>
                <a:lnTo>
                  <a:pt x="1414855" y="1329623"/>
                </a:lnTo>
                <a:lnTo>
                  <a:pt x="1414855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044350" y="1653897"/>
            <a:ext cx="14118197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Four deep tech layers sequenced by funding stage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719866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Deep Tech Rollout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37902" y="8015852"/>
            <a:ext cx="3241919" cy="43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4"/>
              </a:lnSpc>
              <a:spcBef>
                <a:spcPct val="0"/>
              </a:spcBef>
            </a:pPr>
            <a:r>
              <a:rPr lang="en-US" sz="1267" spc="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Every user who tracks 3+ months creates a unique hormonal data signature.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637902" y="7649062"/>
            <a:ext cx="3153571" cy="33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b="true" sz="1966" spc="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 MOAT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967695" y="8066711"/>
            <a:ext cx="3241919" cy="43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4"/>
              </a:lnSpc>
              <a:spcBef>
                <a:spcPct val="0"/>
              </a:spcBef>
            </a:pPr>
            <a:r>
              <a:rPr lang="en-US" sz="1267" spc="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Clinical partnerships take 12-18 months to build. We start now.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967695" y="7699921"/>
            <a:ext cx="3153571" cy="33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b="true" sz="1966" spc="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CLINICAL MOAT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418429" y="7957872"/>
            <a:ext cx="3241919" cy="65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4"/>
              </a:lnSpc>
              <a:spcBef>
                <a:spcPct val="0"/>
              </a:spcBef>
            </a:pPr>
            <a:r>
              <a:rPr lang="en-US" sz="1267" spc="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Founder social channels are the acquisition engine. 50K+ combined audience in exact target demographic.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18429" y="7591082"/>
            <a:ext cx="3153571" cy="33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b="true" sz="1966" spc="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DISTRIBUTION MOAT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15574" y="3989560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835841" y="3979245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9851730" y="3989560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3.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109101" y="3989560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5615871" y="2955807"/>
            <a:ext cx="671517" cy="527141"/>
          </a:xfrm>
          <a:custGeom>
            <a:avLst/>
            <a:gdLst/>
            <a:ahLst/>
            <a:cxnLst/>
            <a:rect r="r" b="b" t="t" l="l"/>
            <a:pathLst>
              <a:path h="527141" w="671517">
                <a:moveTo>
                  <a:pt x="0" y="0"/>
                </a:moveTo>
                <a:lnTo>
                  <a:pt x="671517" y="0"/>
                </a:lnTo>
                <a:lnTo>
                  <a:pt x="671517" y="527141"/>
                </a:lnTo>
                <a:lnTo>
                  <a:pt x="0" y="5271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07177" y="2663076"/>
            <a:ext cx="8435137" cy="4008348"/>
            <a:chOff x="0" y="0"/>
            <a:chExt cx="2221600" cy="10556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1600" cy="1055697"/>
            </a:xfrm>
            <a:custGeom>
              <a:avLst/>
              <a:gdLst/>
              <a:ahLst/>
              <a:cxnLst/>
              <a:rect r="r" b="b" t="t" l="l"/>
              <a:pathLst>
                <a:path h="1055697" w="2221600">
                  <a:moveTo>
                    <a:pt x="2221600" y="527848"/>
                  </a:moveTo>
                  <a:lnTo>
                    <a:pt x="1815200" y="0"/>
                  </a:lnTo>
                  <a:lnTo>
                    <a:pt x="1815200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815200" y="852497"/>
                  </a:lnTo>
                  <a:lnTo>
                    <a:pt x="1815200" y="1055697"/>
                  </a:lnTo>
                  <a:lnTo>
                    <a:pt x="2221600" y="527848"/>
                  </a:lnTo>
                  <a:close/>
                </a:path>
              </a:pathLst>
            </a:custGeom>
            <a:solidFill>
              <a:srgbClr val="FF1300"/>
            </a:solidFill>
            <a:ln w="38100" cap="sq">
              <a:solidFill>
                <a:srgbClr val="FF13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65100"/>
              <a:ext cx="2120000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44942" y="2663076"/>
            <a:ext cx="7509790" cy="4008348"/>
            <a:chOff x="0" y="0"/>
            <a:chExt cx="1977887" cy="10556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7887" cy="1055697"/>
            </a:xfrm>
            <a:custGeom>
              <a:avLst/>
              <a:gdLst/>
              <a:ahLst/>
              <a:cxnLst/>
              <a:rect r="r" b="b" t="t" l="l"/>
              <a:pathLst>
                <a:path h="1055697" w="1977887">
                  <a:moveTo>
                    <a:pt x="1977887" y="527848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571487" y="852497"/>
                  </a:lnTo>
                  <a:lnTo>
                    <a:pt x="1571487" y="1055697"/>
                  </a:lnTo>
                  <a:lnTo>
                    <a:pt x="1977887" y="527848"/>
                  </a:lnTo>
                  <a:close/>
                </a:path>
              </a:pathLst>
            </a:custGeom>
            <a:solidFill>
              <a:srgbClr val="FF004D"/>
            </a:solidFill>
            <a:ln w="381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65100"/>
              <a:ext cx="1876287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83152" y="2663076"/>
            <a:ext cx="7509790" cy="4008348"/>
            <a:chOff x="0" y="0"/>
            <a:chExt cx="1977887" cy="1055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7887" cy="1055697"/>
            </a:xfrm>
            <a:custGeom>
              <a:avLst/>
              <a:gdLst/>
              <a:ahLst/>
              <a:cxnLst/>
              <a:rect r="r" b="b" t="t" l="l"/>
              <a:pathLst>
                <a:path h="1055697" w="1977887">
                  <a:moveTo>
                    <a:pt x="1977887" y="527848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571487" y="852497"/>
                  </a:lnTo>
                  <a:lnTo>
                    <a:pt x="1571487" y="1055697"/>
                  </a:lnTo>
                  <a:lnTo>
                    <a:pt x="1977887" y="527848"/>
                  </a:lnTo>
                  <a:close/>
                </a:path>
              </a:pathLst>
            </a:custGeom>
            <a:solidFill>
              <a:srgbClr val="E80146"/>
            </a:solidFill>
            <a:ln w="38100" cap="sq">
              <a:solidFill>
                <a:srgbClr val="E8014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65100"/>
              <a:ext cx="1876287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441741" y="2663076"/>
            <a:ext cx="5495999" cy="4008348"/>
            <a:chOff x="0" y="0"/>
            <a:chExt cx="1447506" cy="10556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7506" cy="1055697"/>
            </a:xfrm>
            <a:custGeom>
              <a:avLst/>
              <a:gdLst/>
              <a:ahLst/>
              <a:cxnLst/>
              <a:rect r="r" b="b" t="t" l="l"/>
              <a:pathLst>
                <a:path h="1055697" w="1447506">
                  <a:moveTo>
                    <a:pt x="1447506" y="527848"/>
                  </a:moveTo>
                  <a:lnTo>
                    <a:pt x="1041106" y="0"/>
                  </a:lnTo>
                  <a:lnTo>
                    <a:pt x="1041106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041106" y="852497"/>
                  </a:lnTo>
                  <a:lnTo>
                    <a:pt x="1041106" y="1055697"/>
                  </a:lnTo>
                  <a:lnTo>
                    <a:pt x="1447506" y="527848"/>
                  </a:lnTo>
                  <a:close/>
                </a:path>
              </a:pathLst>
            </a:custGeom>
            <a:solidFill>
              <a:srgbClr val="C7013B"/>
            </a:solidFill>
            <a:ln w="38100" cap="sq">
              <a:solidFill>
                <a:srgbClr val="C7013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1345906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11505" y="7266089"/>
            <a:ext cx="7059099" cy="1992211"/>
            <a:chOff x="0" y="0"/>
            <a:chExt cx="2706351" cy="7637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06351" cy="763783"/>
            </a:xfrm>
            <a:custGeom>
              <a:avLst/>
              <a:gdLst/>
              <a:ahLst/>
              <a:cxnLst/>
              <a:rect r="r" b="b" t="t" l="l"/>
              <a:pathLst>
                <a:path h="763783" w="2706351">
                  <a:moveTo>
                    <a:pt x="42772" y="0"/>
                  </a:moveTo>
                  <a:lnTo>
                    <a:pt x="2663578" y="0"/>
                  </a:lnTo>
                  <a:cubicBezTo>
                    <a:pt x="2687201" y="0"/>
                    <a:pt x="2706351" y="19150"/>
                    <a:pt x="2706351" y="42772"/>
                  </a:cubicBezTo>
                  <a:lnTo>
                    <a:pt x="2706351" y="721011"/>
                  </a:lnTo>
                  <a:cubicBezTo>
                    <a:pt x="2706351" y="732355"/>
                    <a:pt x="2701844" y="743234"/>
                    <a:pt x="2693823" y="751256"/>
                  </a:cubicBezTo>
                  <a:cubicBezTo>
                    <a:pt x="2685802" y="759277"/>
                    <a:pt x="2674922" y="763783"/>
                    <a:pt x="2663578" y="763783"/>
                  </a:cubicBezTo>
                  <a:lnTo>
                    <a:pt x="42772" y="763783"/>
                  </a:lnTo>
                  <a:cubicBezTo>
                    <a:pt x="31428" y="763783"/>
                    <a:pt x="20549" y="759277"/>
                    <a:pt x="12528" y="751256"/>
                  </a:cubicBezTo>
                  <a:cubicBezTo>
                    <a:pt x="4506" y="743234"/>
                    <a:pt x="0" y="732355"/>
                    <a:pt x="0" y="721011"/>
                  </a:cubicBezTo>
                  <a:lnTo>
                    <a:pt x="0" y="42772"/>
                  </a:lnTo>
                  <a:cubicBezTo>
                    <a:pt x="0" y="31428"/>
                    <a:pt x="4506" y="20549"/>
                    <a:pt x="12528" y="12528"/>
                  </a:cubicBezTo>
                  <a:cubicBezTo>
                    <a:pt x="20549" y="4506"/>
                    <a:pt x="31428" y="0"/>
                    <a:pt x="42772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FF13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06351" cy="801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44942" y="6734996"/>
            <a:ext cx="4658636" cy="796382"/>
            <a:chOff x="0" y="0"/>
            <a:chExt cx="1226966" cy="2097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966" cy="209747"/>
            </a:xfrm>
            <a:custGeom>
              <a:avLst/>
              <a:gdLst/>
              <a:ahLst/>
              <a:cxnLst/>
              <a:rect r="r" b="b" t="t" l="l"/>
              <a:pathLst>
                <a:path h="209747" w="1226966">
                  <a:moveTo>
                    <a:pt x="0" y="0"/>
                  </a:moveTo>
                  <a:lnTo>
                    <a:pt x="1226966" y="0"/>
                  </a:lnTo>
                  <a:lnTo>
                    <a:pt x="1226966" y="209747"/>
                  </a:lnTo>
                  <a:lnTo>
                    <a:pt x="0" y="2097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966" cy="24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93048" y="2216487"/>
            <a:ext cx="14118197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An even bigger and almost empty opportunity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276350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Long-term Expansion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64511" y="4155703"/>
            <a:ext cx="3224760" cy="108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b="true" sz="3003" spc="4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MENOPAUSE B2B - WORKPLACE PROGRAMME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11191" y="4155703"/>
            <a:ext cx="3696770" cy="108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b="true" sz="3003" spc="4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MENOPAUSE AS DEDICTATED PRODUCT TIER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7011" y="4183444"/>
            <a:ext cx="3581369" cy="73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b="true" sz="3003" spc="4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HRT INTERACTION GUIDANCE LAYER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5574" y="4183444"/>
            <a:ext cx="3581369" cy="73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b="true" sz="3003" spc="4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PERIMENOPAUSE TRACKING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5574" y="3513310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35841" y="3502995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9851730" y="3513310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3.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88887" y="3513310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6936655" y="4804607"/>
            <a:ext cx="752617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(Y3)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42420" y="4804607"/>
            <a:ext cx="752617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(Y3)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77011" y="4804607"/>
            <a:ext cx="868988" cy="41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(M22)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4" y="4811966"/>
            <a:ext cx="238936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(soft launch M18)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975660" y="7753388"/>
            <a:ext cx="173719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 spc="73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$22.7B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660973" y="6934124"/>
            <a:ext cx="5026574" cy="59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0"/>
              </a:lnSpc>
              <a:spcBef>
                <a:spcPct val="0"/>
              </a:spcBef>
            </a:pPr>
            <a:r>
              <a:rPr lang="en-US" b="true" sz="3486" spc="-163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MENOPAUSE MARKET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977034" y="8161693"/>
            <a:ext cx="1859714" cy="58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546" spc="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Global menopause market by 2028, 7% CAGR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03449" y="7753388"/>
            <a:ext cx="173719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 spc="73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1M+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10695" y="8161693"/>
            <a:ext cx="1932160" cy="58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546" spc="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Women entering menopause per year in the US alone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12387" y="7753388"/>
            <a:ext cx="173719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 spc="73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~12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12387" y="8161693"/>
            <a:ext cx="1737190" cy="58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546" spc="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App solutions available, mostly symptom trackers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73317" y="8613594"/>
            <a:ext cx="4303694" cy="64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9161" indent="-134581" lvl="1">
              <a:lnSpc>
                <a:spcPts val="1745"/>
              </a:lnSpc>
              <a:buFont typeface="Arial"/>
              <a:buChar char="•"/>
            </a:pPr>
            <a:r>
              <a:rPr lang="en-US" sz="1246" spc="3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infrastructure - different life stage</a:t>
            </a:r>
          </a:p>
          <a:p>
            <a:pPr algn="l" marL="269161" indent="-134581" lvl="1">
              <a:lnSpc>
                <a:spcPts val="1745"/>
              </a:lnSpc>
              <a:buFont typeface="Arial"/>
              <a:buChar char="•"/>
            </a:pPr>
            <a:r>
              <a:rPr lang="en-US" sz="1246" spc="3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Higher ARPU than core product </a:t>
            </a:r>
          </a:p>
          <a:p>
            <a:pPr algn="l" marL="269161" indent="-134581" lvl="1">
              <a:lnSpc>
                <a:spcPts val="1745"/>
              </a:lnSpc>
              <a:spcBef>
                <a:spcPct val="0"/>
              </a:spcBef>
              <a:buFont typeface="Arial"/>
              <a:buChar char="•"/>
            </a:pPr>
            <a:r>
              <a:rPr lang="en-US" sz="1246" spc="3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Proven market demand, almost no tech supply 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83230" y="1762779"/>
            <a:ext cx="11482409" cy="746906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649000" y="7917899"/>
            <a:ext cx="1604986" cy="53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2"/>
              </a:lnSpc>
            </a:pPr>
            <a:r>
              <a:rPr lang="en-US" b="true" sz="2209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USER</a:t>
            </a:r>
          </a:p>
          <a:p>
            <a:pPr algn="r">
              <a:lnSpc>
                <a:spcPts val="2032"/>
              </a:lnSpc>
            </a:pPr>
            <a:r>
              <a:rPr lang="en-US" b="true" sz="2209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GROWTH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59916" y="726299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15788" y="726299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59916" y="573621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15788" y="573621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59916" y="496488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15788" y="496488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59916" y="417461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15788" y="417461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9916" y="340802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5788" y="340802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797192" y="3176572"/>
            <a:ext cx="1724536" cy="4415684"/>
            <a:chOff x="0" y="0"/>
            <a:chExt cx="438916" cy="11238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6" cy="1123847"/>
            </a:xfrm>
            <a:custGeom>
              <a:avLst/>
              <a:gdLst/>
              <a:ahLst/>
              <a:cxnLst/>
              <a:rect r="r" b="b" t="t" l="l"/>
              <a:pathLst>
                <a:path h="1123847" w="438916">
                  <a:moveTo>
                    <a:pt x="0" y="0"/>
                  </a:moveTo>
                  <a:lnTo>
                    <a:pt x="438916" y="0"/>
                  </a:lnTo>
                  <a:lnTo>
                    <a:pt x="438916" y="1123847"/>
                  </a:lnTo>
                  <a:lnTo>
                    <a:pt x="0" y="1123847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38916" cy="117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659460" y="5906231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40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7423853" y="4970052"/>
            <a:ext cx="1909518" cy="37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n-US" b="true" sz="2214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€(Thousands)</a:t>
            </a:r>
          </a:p>
        </p:txBody>
      </p:sp>
      <p:grpSp>
        <p:nvGrpSpPr>
          <p:cNvPr name="Group 19" id="19"/>
          <p:cNvGrpSpPr/>
          <p:nvPr/>
        </p:nvGrpSpPr>
        <p:grpSpPr>
          <a:xfrm rot="-5400000">
            <a:off x="8333896" y="6569028"/>
            <a:ext cx="598475" cy="1607587"/>
            <a:chOff x="0" y="0"/>
            <a:chExt cx="152319" cy="4091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319" cy="409151"/>
            </a:xfrm>
            <a:custGeom>
              <a:avLst/>
              <a:gdLst/>
              <a:ahLst/>
              <a:cxnLst/>
              <a:rect r="r" b="b" t="t" l="l"/>
              <a:pathLst>
                <a:path h="409151" w="152319">
                  <a:moveTo>
                    <a:pt x="0" y="0"/>
                  </a:moveTo>
                  <a:lnTo>
                    <a:pt x="152319" y="0"/>
                  </a:lnTo>
                  <a:lnTo>
                    <a:pt x="152319" y="409151"/>
                  </a:lnTo>
                  <a:lnTo>
                    <a:pt x="0" y="409151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52319" cy="456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13346779" y="-141538"/>
            <a:ext cx="598475" cy="5052880"/>
            <a:chOff x="0" y="0"/>
            <a:chExt cx="152319" cy="12860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319" cy="1286021"/>
            </a:xfrm>
            <a:custGeom>
              <a:avLst/>
              <a:gdLst/>
              <a:ahLst/>
              <a:cxnLst/>
              <a:rect r="r" b="b" t="t" l="l"/>
              <a:pathLst>
                <a:path h="1286021" w="152319">
                  <a:moveTo>
                    <a:pt x="0" y="0"/>
                  </a:moveTo>
                  <a:lnTo>
                    <a:pt x="152319" y="0"/>
                  </a:lnTo>
                  <a:lnTo>
                    <a:pt x="152319" y="1286021"/>
                  </a:lnTo>
                  <a:lnTo>
                    <a:pt x="0" y="1286021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2319" cy="1333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580379" y="2427227"/>
            <a:ext cx="7482189" cy="32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5"/>
              </a:lnSpc>
            </a:pPr>
            <a:r>
              <a:rPr lang="en-US" b="true" sz="2635" spc="-126">
                <a:solidFill>
                  <a:srgbClr val="C84530"/>
                </a:solidFill>
                <a:latin typeface="Aileron Bold"/>
                <a:ea typeface="Aileron Bold"/>
                <a:cs typeface="Aileron Bold"/>
                <a:sym typeface="Aileron Bold"/>
              </a:rPr>
              <a:t>NutriSync Projections  - Realistic (quarterly)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124486" y="7860749"/>
            <a:ext cx="826876" cy="317965"/>
            <a:chOff x="0" y="0"/>
            <a:chExt cx="210450" cy="8092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0450" cy="80926"/>
            </a:xfrm>
            <a:custGeom>
              <a:avLst/>
              <a:gdLst/>
              <a:ahLst/>
              <a:cxnLst/>
              <a:rect r="r" b="b" t="t" l="l"/>
              <a:pathLst>
                <a:path h="80926" w="210450">
                  <a:moveTo>
                    <a:pt x="0" y="0"/>
                  </a:moveTo>
                  <a:lnTo>
                    <a:pt x="210450" y="0"/>
                  </a:lnTo>
                  <a:lnTo>
                    <a:pt x="210450" y="80926"/>
                  </a:lnTo>
                  <a:lnTo>
                    <a:pt x="0" y="80926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10450" cy="12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580379" y="7954972"/>
            <a:ext cx="542501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209" b="true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&gt;1K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79023" y="7361138"/>
            <a:ext cx="1557904" cy="37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00"/>
              </a:lnSpc>
            </a:pPr>
            <a:r>
              <a:rPr lang="en-US" b="true" sz="221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QUARTERS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119577" y="6686896"/>
            <a:ext cx="870917" cy="773375"/>
            <a:chOff x="0" y="0"/>
            <a:chExt cx="1161222" cy="1031167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318350" y="348807"/>
              <a:ext cx="682360" cy="682360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624A">
                  <a:alpha val="65882"/>
                </a:srgbClr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39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434348" y="493148"/>
              <a:ext cx="450363" cy="457334"/>
            </a:xfrm>
            <a:custGeom>
              <a:avLst/>
              <a:gdLst/>
              <a:ahLst/>
              <a:cxnLst/>
              <a:rect r="r" b="b" t="t" l="l"/>
              <a:pathLst>
                <a:path h="457334" w="450363">
                  <a:moveTo>
                    <a:pt x="0" y="0"/>
                  </a:moveTo>
                  <a:lnTo>
                    <a:pt x="450363" y="0"/>
                  </a:lnTo>
                  <a:lnTo>
                    <a:pt x="450363" y="457333"/>
                  </a:lnTo>
                  <a:lnTo>
                    <a:pt x="0" y="457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388" t="-20464" r="-17075" b="-1293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-28575"/>
              <a:ext cx="1161222" cy="299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32"/>
                </a:lnSpc>
                <a:spcBef>
                  <a:spcPct val="0"/>
                </a:spcBef>
              </a:pPr>
              <a:r>
                <a:rPr lang="en-US" sz="1380" i="true">
                  <a:solidFill>
                    <a:srgbClr val="000000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Breakeven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806941" y="7954972"/>
            <a:ext cx="542501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+8K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305428" y="7954972"/>
            <a:ext cx="717842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+32K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3749" y="7954972"/>
            <a:ext cx="893259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209" b="true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+135</a:t>
            </a:r>
            <a:r>
              <a:rPr lang="en-US" b="true" sz="2209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61114" y="3975637"/>
            <a:ext cx="836222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100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657497" y="6569435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20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682197" y="5251116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60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682197" y="4613136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80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4706" y="3126024"/>
            <a:ext cx="309981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Y3 Annual revenue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2897" y="2192695"/>
            <a:ext cx="3091619" cy="104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3"/>
              </a:lnSpc>
              <a:spcBef>
                <a:spcPct val="0"/>
              </a:spcBef>
            </a:pPr>
            <a:r>
              <a:rPr lang="en-US" b="true" sz="6138" spc="-306">
                <a:solidFill>
                  <a:srgbClr val="C84530"/>
                </a:solidFill>
                <a:latin typeface="Aileron Bold"/>
                <a:ea typeface="Aileron Bold"/>
                <a:cs typeface="Aileron Bold"/>
                <a:sym typeface="Aileron Bold"/>
              </a:rPr>
              <a:t>€4.9M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6703" y="3541949"/>
            <a:ext cx="4687628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749">
                <a:solidFill>
                  <a:srgbClr val="737373"/>
                </a:solidFill>
                <a:latin typeface="Aileron"/>
                <a:ea typeface="Aileron"/>
                <a:cs typeface="Aileron"/>
                <a:sym typeface="Aileron"/>
              </a:rPr>
              <a:t>ARR: €8.4M annualised</a:t>
            </a:r>
          </a:p>
          <a:p>
            <a:pPr algn="l">
              <a:lnSpc>
                <a:spcPts val="3849"/>
              </a:lnSpc>
              <a:spcBef>
                <a:spcPct val="0"/>
              </a:spcBef>
            </a:pPr>
          </a:p>
        </p:txBody>
      </p:sp>
      <p:grpSp>
        <p:nvGrpSpPr>
          <p:cNvPr name="Group 47" id="47"/>
          <p:cNvGrpSpPr/>
          <p:nvPr/>
        </p:nvGrpSpPr>
        <p:grpSpPr>
          <a:xfrm rot="0">
            <a:off x="1036703" y="4592951"/>
            <a:ext cx="4296519" cy="1759448"/>
            <a:chOff x="0" y="0"/>
            <a:chExt cx="5728692" cy="2345931"/>
          </a:xfrm>
        </p:grpSpPr>
        <p:sp>
          <p:nvSpPr>
            <p:cNvPr name="TextBox 48" id="48"/>
            <p:cNvSpPr txBox="true"/>
            <p:nvPr/>
          </p:nvSpPr>
          <p:spPr>
            <a:xfrm rot="0">
              <a:off x="0" y="1182759"/>
              <a:ext cx="5728692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Year 3 paying users 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0" y="-114300"/>
              <a:ext cx="4011295" cy="1354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593"/>
                </a:lnSpc>
                <a:spcBef>
                  <a:spcPct val="0"/>
                </a:spcBef>
              </a:pPr>
              <a:r>
                <a:rPr lang="en-US" b="true" sz="6138" spc="-306">
                  <a:solidFill>
                    <a:srgbClr val="C8453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135K+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0" y="1734214"/>
              <a:ext cx="4834283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737373"/>
                  </a:solidFill>
                  <a:latin typeface="Aileron"/>
                  <a:ea typeface="Aileron"/>
                  <a:cs typeface="Aileron"/>
                  <a:sym typeface="Aileron"/>
                </a:rPr>
                <a:t>Deep tech Y2+ impact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8700" y="6851360"/>
            <a:ext cx="5464275" cy="2015961"/>
            <a:chOff x="0" y="0"/>
            <a:chExt cx="7285700" cy="2687948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1182182"/>
              <a:ext cx="7285700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Reach profitability 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-114300"/>
              <a:ext cx="3274729" cy="280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584"/>
                </a:lnSpc>
              </a:pPr>
              <a:r>
                <a:rPr lang="en-US" sz="6131" spc="-306" b="true">
                  <a:solidFill>
                    <a:srgbClr val="C8453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M11</a:t>
              </a:r>
            </a:p>
            <a:p>
              <a:pPr algn="l">
                <a:lnSpc>
                  <a:spcPts val="858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8685506" y="3319088"/>
            <a:ext cx="836222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120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719866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 b="true">
                <a:solidFill>
                  <a:srgbClr val="EB624A"/>
                </a:solidFill>
                <a:latin typeface="Aileron Bold"/>
                <a:ea typeface="Aileron Bold"/>
                <a:cs typeface="Aileron Bold"/>
                <a:sym typeface="Aileron Bold"/>
              </a:rPr>
              <a:t>Capital Efficient Growth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27553" y="1750007"/>
            <a:ext cx="11635663" cy="7494604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649000" y="7917899"/>
            <a:ext cx="1604986" cy="53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2"/>
              </a:lnSpc>
            </a:pPr>
            <a:r>
              <a:rPr lang="en-US" b="true" sz="2209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USER</a:t>
            </a:r>
          </a:p>
          <a:p>
            <a:pPr algn="r">
              <a:lnSpc>
                <a:spcPts val="2032"/>
              </a:lnSpc>
            </a:pPr>
            <a:r>
              <a:rPr lang="en-US" b="true" sz="2209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GROWTH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59916" y="726299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15788" y="726299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59916" y="573621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15788" y="573621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59916" y="496488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15788" y="496488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59916" y="417461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15788" y="417461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9916" y="340802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5788" y="340802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797192" y="3176572"/>
            <a:ext cx="1724536" cy="4415684"/>
            <a:chOff x="0" y="0"/>
            <a:chExt cx="438916" cy="11238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6" cy="1123847"/>
            </a:xfrm>
            <a:custGeom>
              <a:avLst/>
              <a:gdLst/>
              <a:ahLst/>
              <a:cxnLst/>
              <a:rect r="r" b="b" t="t" l="l"/>
              <a:pathLst>
                <a:path h="1123847" w="438916">
                  <a:moveTo>
                    <a:pt x="0" y="0"/>
                  </a:moveTo>
                  <a:lnTo>
                    <a:pt x="438916" y="0"/>
                  </a:lnTo>
                  <a:lnTo>
                    <a:pt x="438916" y="1123847"/>
                  </a:lnTo>
                  <a:lnTo>
                    <a:pt x="0" y="1123847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38916" cy="117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659460" y="5906231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40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7423853" y="4970052"/>
            <a:ext cx="1909518" cy="37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n-US" b="true" sz="2214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€(Thousands)</a:t>
            </a:r>
          </a:p>
        </p:txBody>
      </p:sp>
      <p:grpSp>
        <p:nvGrpSpPr>
          <p:cNvPr name="Group 19" id="19"/>
          <p:cNvGrpSpPr/>
          <p:nvPr/>
        </p:nvGrpSpPr>
        <p:grpSpPr>
          <a:xfrm rot="-5400000">
            <a:off x="8333896" y="6569028"/>
            <a:ext cx="598475" cy="1607587"/>
            <a:chOff x="0" y="0"/>
            <a:chExt cx="152319" cy="4091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319" cy="409151"/>
            </a:xfrm>
            <a:custGeom>
              <a:avLst/>
              <a:gdLst/>
              <a:ahLst/>
              <a:cxnLst/>
              <a:rect r="r" b="b" t="t" l="l"/>
              <a:pathLst>
                <a:path h="409151" w="152319">
                  <a:moveTo>
                    <a:pt x="0" y="0"/>
                  </a:moveTo>
                  <a:lnTo>
                    <a:pt x="152319" y="0"/>
                  </a:lnTo>
                  <a:lnTo>
                    <a:pt x="152319" y="409151"/>
                  </a:lnTo>
                  <a:lnTo>
                    <a:pt x="0" y="409151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52319" cy="456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13346779" y="-141538"/>
            <a:ext cx="598475" cy="5052880"/>
            <a:chOff x="0" y="0"/>
            <a:chExt cx="152319" cy="12860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319" cy="1286021"/>
            </a:xfrm>
            <a:custGeom>
              <a:avLst/>
              <a:gdLst/>
              <a:ahLst/>
              <a:cxnLst/>
              <a:rect r="r" b="b" t="t" l="l"/>
              <a:pathLst>
                <a:path h="1286021" w="152319">
                  <a:moveTo>
                    <a:pt x="0" y="0"/>
                  </a:moveTo>
                  <a:lnTo>
                    <a:pt x="152319" y="0"/>
                  </a:lnTo>
                  <a:lnTo>
                    <a:pt x="152319" y="1286021"/>
                  </a:lnTo>
                  <a:lnTo>
                    <a:pt x="0" y="1286021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2319" cy="1333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497027" y="2357515"/>
            <a:ext cx="7482189" cy="32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5"/>
              </a:lnSpc>
            </a:pPr>
            <a:r>
              <a:rPr lang="en-US" b="true" sz="2635" spc="-126">
                <a:solidFill>
                  <a:srgbClr val="C84530"/>
                </a:solidFill>
                <a:latin typeface="Aileron Bold"/>
                <a:ea typeface="Aileron Bold"/>
                <a:cs typeface="Aileron Bold"/>
                <a:sym typeface="Aileron Bold"/>
              </a:rPr>
              <a:t>NutriSync Projections  - Ambitious (quarterly)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124486" y="7860749"/>
            <a:ext cx="826876" cy="317965"/>
            <a:chOff x="0" y="0"/>
            <a:chExt cx="210450" cy="8092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0450" cy="80926"/>
            </a:xfrm>
            <a:custGeom>
              <a:avLst/>
              <a:gdLst/>
              <a:ahLst/>
              <a:cxnLst/>
              <a:rect r="r" b="b" t="t" l="l"/>
              <a:pathLst>
                <a:path h="80926" w="210450">
                  <a:moveTo>
                    <a:pt x="0" y="0"/>
                  </a:moveTo>
                  <a:lnTo>
                    <a:pt x="210450" y="0"/>
                  </a:lnTo>
                  <a:lnTo>
                    <a:pt x="210450" y="80926"/>
                  </a:lnTo>
                  <a:lnTo>
                    <a:pt x="0" y="80926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10450" cy="12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580379" y="7954972"/>
            <a:ext cx="542501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209" b="true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&gt;1K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79023" y="7361138"/>
            <a:ext cx="1557904" cy="37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00"/>
              </a:lnSpc>
            </a:pPr>
            <a:r>
              <a:rPr lang="en-US" b="true" sz="221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QUARTERS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912378" y="6750697"/>
            <a:ext cx="870917" cy="773375"/>
            <a:chOff x="0" y="0"/>
            <a:chExt cx="1161222" cy="1031167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318350" y="348807"/>
              <a:ext cx="682360" cy="682360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624A">
                  <a:alpha val="65882"/>
                </a:srgbClr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39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434348" y="493148"/>
              <a:ext cx="450363" cy="457334"/>
            </a:xfrm>
            <a:custGeom>
              <a:avLst/>
              <a:gdLst/>
              <a:ahLst/>
              <a:cxnLst/>
              <a:rect r="r" b="b" t="t" l="l"/>
              <a:pathLst>
                <a:path h="457334" w="450363">
                  <a:moveTo>
                    <a:pt x="0" y="0"/>
                  </a:moveTo>
                  <a:lnTo>
                    <a:pt x="450363" y="0"/>
                  </a:lnTo>
                  <a:lnTo>
                    <a:pt x="450363" y="457333"/>
                  </a:lnTo>
                  <a:lnTo>
                    <a:pt x="0" y="457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388" t="-20464" r="-17075" b="-1293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-28575"/>
              <a:ext cx="1161222" cy="299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32"/>
                </a:lnSpc>
                <a:spcBef>
                  <a:spcPct val="0"/>
                </a:spcBef>
              </a:pPr>
              <a:r>
                <a:rPr lang="en-US" sz="1380" i="true">
                  <a:solidFill>
                    <a:srgbClr val="000000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Breakeven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719271" y="7954972"/>
            <a:ext cx="717842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+12K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305428" y="7954972"/>
            <a:ext cx="717842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+50K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3749" y="7954972"/>
            <a:ext cx="893259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209" b="true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+218</a:t>
            </a:r>
            <a:r>
              <a:rPr lang="en-US" b="true" sz="2209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61114" y="3975637"/>
            <a:ext cx="836222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100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657497" y="6569435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20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682197" y="5251116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60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682197" y="4613136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80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4706" y="3126024"/>
            <a:ext cx="309981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Y3 Annual revenue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2897" y="2192695"/>
            <a:ext cx="3091619" cy="213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3"/>
              </a:lnSpc>
              <a:spcBef>
                <a:spcPct val="0"/>
              </a:spcBef>
            </a:pPr>
            <a:r>
              <a:rPr lang="en-US" b="true" sz="6138" spc="-306">
                <a:solidFill>
                  <a:srgbClr val="C84530"/>
                </a:solidFill>
                <a:latin typeface="Aileron Bold"/>
                <a:ea typeface="Aileron Bold"/>
                <a:cs typeface="Aileron Bold"/>
                <a:sym typeface="Aileron Bold"/>
              </a:rPr>
              <a:t>€8.2M</a:t>
            </a:r>
          </a:p>
          <a:p>
            <a:pPr algn="l">
              <a:lnSpc>
                <a:spcPts val="8593"/>
              </a:lnSpc>
              <a:spcBef>
                <a:spcPct val="0"/>
              </a:spcBef>
            </a:pPr>
            <a:r>
              <a:rPr lang="en-US" b="true" sz="6138" spc="-306">
                <a:solidFill>
                  <a:srgbClr val="C8453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6703" y="3541949"/>
            <a:ext cx="4687628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737373"/>
                </a:solidFill>
                <a:latin typeface="Aileron"/>
                <a:ea typeface="Aileron"/>
                <a:cs typeface="Aileron"/>
                <a:sym typeface="Aileron"/>
              </a:rPr>
              <a:t>ARR: €13.8M annualised 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36703" y="4592951"/>
            <a:ext cx="4296519" cy="1759448"/>
            <a:chOff x="0" y="0"/>
            <a:chExt cx="5728692" cy="2345931"/>
          </a:xfrm>
        </p:grpSpPr>
        <p:sp>
          <p:nvSpPr>
            <p:cNvPr name="TextBox 48" id="48"/>
            <p:cNvSpPr txBox="true"/>
            <p:nvPr/>
          </p:nvSpPr>
          <p:spPr>
            <a:xfrm rot="0">
              <a:off x="0" y="1182759"/>
              <a:ext cx="5728692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Year 3 paying users 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0" y="-114300"/>
              <a:ext cx="4011295" cy="1354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593"/>
                </a:lnSpc>
                <a:spcBef>
                  <a:spcPct val="0"/>
                </a:spcBef>
              </a:pPr>
              <a:r>
                <a:rPr lang="en-US" b="true" sz="6138" spc="-306">
                  <a:solidFill>
                    <a:srgbClr val="C8453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218K+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0" y="1734214"/>
              <a:ext cx="4834283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737373"/>
                  </a:solidFill>
                  <a:latin typeface="Aileron"/>
                  <a:ea typeface="Aileron"/>
                  <a:cs typeface="Aileron"/>
                  <a:sym typeface="Aileron"/>
                </a:rPr>
                <a:t>Deep tech Y2+ impact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8700" y="6851360"/>
            <a:ext cx="5464275" cy="1345424"/>
            <a:chOff x="0" y="0"/>
            <a:chExt cx="7285700" cy="1793899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1182182"/>
              <a:ext cx="7285700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Reach profitability 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-114300"/>
              <a:ext cx="3274729" cy="1354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584"/>
                </a:lnSpc>
                <a:spcBef>
                  <a:spcPct val="0"/>
                </a:spcBef>
              </a:pPr>
              <a:r>
                <a:rPr lang="en-US" b="true" sz="6131" spc="-306">
                  <a:solidFill>
                    <a:srgbClr val="C8453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M10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8685506" y="3319088"/>
            <a:ext cx="836222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EA5B45"/>
                </a:solidFill>
                <a:latin typeface="Aileron Bold"/>
                <a:ea typeface="Aileron Bold"/>
                <a:cs typeface="Aileron Bold"/>
                <a:sym typeface="Aileron Bold"/>
              </a:rPr>
              <a:t>120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719866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 b="true">
                <a:solidFill>
                  <a:srgbClr val="EB624A"/>
                </a:solidFill>
                <a:latin typeface="Aileron Bold"/>
                <a:ea typeface="Aileron Bold"/>
                <a:cs typeface="Aileron Bold"/>
                <a:sym typeface="Aileron Bold"/>
              </a:rPr>
              <a:t>Capital Efficient Growth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948503" y="3352359"/>
          <a:ext cx="15310462" cy="6010926"/>
        </p:xfrm>
        <a:graphic>
          <a:graphicData uri="http://schemas.openxmlformats.org/presentationml/2006/ole">
            <p:oleObj imgW="18364200" imgH="9067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979817"/>
            <a:ext cx="16365933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3000" spc="-144">
                <a:solidFill>
                  <a:srgbClr val="EB624A"/>
                </a:solidFill>
                <a:latin typeface="Aileron"/>
                <a:ea typeface="Aileron"/>
                <a:cs typeface="Aileron"/>
                <a:sym typeface="Aileron"/>
              </a:rPr>
              <a:t>After 3 cycles algorithm must map symptom intensity per phase, identify user’s high sensitivity window, create a personalized symptom plan.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1291"/>
            <a:ext cx="17259300" cy="96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5"/>
              </a:lnSpc>
            </a:pPr>
            <a:r>
              <a:rPr lang="en-US" sz="7770" spc="-372" b="true">
                <a:solidFill>
                  <a:srgbClr val="EB624A"/>
                </a:solidFill>
                <a:latin typeface="Aileron Bold"/>
                <a:ea typeface="Aileron Bold"/>
                <a:cs typeface="Aileron Bold"/>
                <a:sym typeface="Aileron Bold"/>
              </a:rPr>
              <a:t>NutriSync’s Adaptive Cycle Intelligence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715641" y="2228760"/>
          <a:ext cx="15310462" cy="6010926"/>
        </p:xfrm>
        <a:graphic>
          <a:graphicData uri="http://schemas.openxmlformats.org/presentationml/2006/ole">
            <p:oleObj imgW="18364200" imgH="9067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691291"/>
            <a:ext cx="17259300" cy="96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5"/>
              </a:lnSpc>
            </a:pPr>
            <a:r>
              <a:rPr lang="en-US" sz="7770" spc="-372" b="true">
                <a:solidFill>
                  <a:srgbClr val="EB624A"/>
                </a:solidFill>
                <a:latin typeface="Aileron Bold"/>
                <a:ea typeface="Aileron Bold"/>
                <a:cs typeface="Aileron Bold"/>
                <a:sym typeface="Aileron Bold"/>
              </a:rPr>
              <a:t>NutriSync’s Adaptive Cycle Intelligence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67317" y="9787167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3779852"/>
          <a:ext cx="15310462" cy="6010926"/>
        </p:xfrm>
        <a:graphic>
          <a:graphicData uri="http://schemas.openxmlformats.org/presentationml/2006/ole">
            <p:oleObj imgW="18364200" imgH="9067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975807" y="2032092"/>
            <a:ext cx="10336387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3000" spc="-144">
                <a:solidFill>
                  <a:srgbClr val="EB624A"/>
                </a:solidFill>
                <a:latin typeface="Aileron"/>
                <a:ea typeface="Aileron"/>
                <a:cs typeface="Aileron"/>
                <a:sym typeface="Aileron"/>
              </a:rPr>
              <a:t>Measures longitudinal improvement vs. personal baseline using volatility and severity reduction across cycles.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1291"/>
            <a:ext cx="17060947" cy="96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5"/>
              </a:lnSpc>
            </a:pPr>
            <a:r>
              <a:rPr lang="en-US" sz="7770" spc="-372" b="true">
                <a:solidFill>
                  <a:srgbClr val="EB624A"/>
                </a:solidFill>
                <a:latin typeface="Aileron Bold"/>
                <a:ea typeface="Aileron Bold"/>
                <a:cs typeface="Aileron Bold"/>
                <a:sym typeface="Aileron Bold"/>
              </a:rPr>
              <a:t>NutriSync’s Adaptive Cycle Intelligence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1522" y="1737479"/>
            <a:ext cx="19477627" cy="36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Turning an Apple Watch into a hormonal health advisor costs €0 in hardware and gives us access to 100M+ existing devices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704897" y="2353682"/>
            <a:ext cx="8396968" cy="5579636"/>
            <a:chOff x="0" y="0"/>
            <a:chExt cx="2211547" cy="14695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1547" cy="1469534"/>
            </a:xfrm>
            <a:custGeom>
              <a:avLst/>
              <a:gdLst/>
              <a:ahLst/>
              <a:cxnLst/>
              <a:rect r="r" b="b" t="t" l="l"/>
              <a:pathLst>
                <a:path h="1469534" w="2211547">
                  <a:moveTo>
                    <a:pt x="2211547" y="734767"/>
                  </a:moveTo>
                  <a:lnTo>
                    <a:pt x="1805147" y="0"/>
                  </a:lnTo>
                  <a:lnTo>
                    <a:pt x="1805147" y="203200"/>
                  </a:lnTo>
                  <a:lnTo>
                    <a:pt x="0" y="203200"/>
                  </a:lnTo>
                  <a:lnTo>
                    <a:pt x="0" y="1266334"/>
                  </a:lnTo>
                  <a:lnTo>
                    <a:pt x="1805147" y="1266334"/>
                  </a:lnTo>
                  <a:lnTo>
                    <a:pt x="1805147" y="1469534"/>
                  </a:lnTo>
                  <a:lnTo>
                    <a:pt x="2211547" y="734767"/>
                  </a:lnTo>
                  <a:close/>
                </a:path>
              </a:pathLst>
            </a:custGeom>
            <a:solidFill>
              <a:srgbClr val="F4EBDE"/>
            </a:solidFill>
            <a:ln w="38100" cap="sq">
              <a:solidFill>
                <a:srgbClr val="3A8A24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65100"/>
              <a:ext cx="2109947" cy="110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42663" y="2353682"/>
            <a:ext cx="7509790" cy="5579636"/>
            <a:chOff x="0" y="0"/>
            <a:chExt cx="1977887" cy="14695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7887" cy="1469534"/>
            </a:xfrm>
            <a:custGeom>
              <a:avLst/>
              <a:gdLst/>
              <a:ahLst/>
              <a:cxnLst/>
              <a:rect r="r" b="b" t="t" l="l"/>
              <a:pathLst>
                <a:path h="1469534" w="1977887">
                  <a:moveTo>
                    <a:pt x="1977887" y="734767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1266334"/>
                  </a:lnTo>
                  <a:lnTo>
                    <a:pt x="1571487" y="1266334"/>
                  </a:lnTo>
                  <a:lnTo>
                    <a:pt x="1571487" y="1469534"/>
                  </a:lnTo>
                  <a:lnTo>
                    <a:pt x="1977887" y="734767"/>
                  </a:lnTo>
                  <a:close/>
                </a:path>
              </a:pathLst>
            </a:custGeom>
            <a:solidFill>
              <a:srgbClr val="F4EBDE"/>
            </a:solidFill>
            <a:ln w="38100" cap="sq">
              <a:solidFill>
                <a:srgbClr val="E1956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65100"/>
              <a:ext cx="1876287" cy="110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980873" y="2353682"/>
            <a:ext cx="7509790" cy="5579636"/>
            <a:chOff x="0" y="0"/>
            <a:chExt cx="1977887" cy="14695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7887" cy="1469534"/>
            </a:xfrm>
            <a:custGeom>
              <a:avLst/>
              <a:gdLst/>
              <a:ahLst/>
              <a:cxnLst/>
              <a:rect r="r" b="b" t="t" l="l"/>
              <a:pathLst>
                <a:path h="1469534" w="1977887">
                  <a:moveTo>
                    <a:pt x="1977887" y="734767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1266334"/>
                  </a:lnTo>
                  <a:lnTo>
                    <a:pt x="1571487" y="1266334"/>
                  </a:lnTo>
                  <a:lnTo>
                    <a:pt x="1571487" y="1469534"/>
                  </a:lnTo>
                  <a:lnTo>
                    <a:pt x="1977887" y="734767"/>
                  </a:lnTo>
                  <a:close/>
                </a:path>
              </a:pathLst>
            </a:custGeom>
            <a:solidFill>
              <a:srgbClr val="F4EBDF"/>
            </a:solidFill>
            <a:ln w="38100" cap="sq">
              <a:solidFill>
                <a:srgbClr val="C8453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65100"/>
              <a:ext cx="1876287" cy="110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544020" y="2353682"/>
            <a:ext cx="5495999" cy="5579636"/>
            <a:chOff x="0" y="0"/>
            <a:chExt cx="1447506" cy="14695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47506" cy="1469534"/>
            </a:xfrm>
            <a:custGeom>
              <a:avLst/>
              <a:gdLst/>
              <a:ahLst/>
              <a:cxnLst/>
              <a:rect r="r" b="b" t="t" l="l"/>
              <a:pathLst>
                <a:path h="1469534" w="1447506">
                  <a:moveTo>
                    <a:pt x="1447506" y="734767"/>
                  </a:moveTo>
                  <a:lnTo>
                    <a:pt x="1041106" y="0"/>
                  </a:lnTo>
                  <a:lnTo>
                    <a:pt x="1041106" y="203200"/>
                  </a:lnTo>
                  <a:lnTo>
                    <a:pt x="0" y="203200"/>
                  </a:lnTo>
                  <a:lnTo>
                    <a:pt x="0" y="1266334"/>
                  </a:lnTo>
                  <a:lnTo>
                    <a:pt x="1041106" y="1266334"/>
                  </a:lnTo>
                  <a:lnTo>
                    <a:pt x="1041106" y="1469534"/>
                  </a:lnTo>
                  <a:lnTo>
                    <a:pt x="1447506" y="734767"/>
                  </a:lnTo>
                  <a:close/>
                </a:path>
              </a:pathLst>
            </a:custGeom>
            <a:solidFill>
              <a:srgbClr val="F4EBDF"/>
            </a:solidFill>
            <a:ln w="38100" cap="sq">
              <a:solidFill>
                <a:srgbClr val="DDA44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1345906" cy="110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719866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 b="true">
                <a:solidFill>
                  <a:srgbClr val="EB624A"/>
                </a:solidFill>
                <a:latin typeface="Aileron Bold"/>
                <a:ea typeface="Aileron Bold"/>
                <a:cs typeface="Aileron Bold"/>
                <a:sym typeface="Aileron Bold"/>
              </a:rPr>
              <a:t>Wearables Strategy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01896" y="3806846"/>
            <a:ext cx="3224760" cy="73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spc="4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CGM - DEXCOM / ABBOTT LIBRE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49451" y="3834056"/>
            <a:ext cx="3696770" cy="38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spc="4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OURA RING (M15)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74732" y="3874050"/>
            <a:ext cx="3581369" cy="73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spc="4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GOOGLE FIT + WEAR OS (M4)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3295" y="3874050"/>
            <a:ext cx="3581369" cy="73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spc="4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APPLE WATCH + HEALTHKIT (M4)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3295" y="3203916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33562" y="3193601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749451" y="3203916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3.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76829" y="3203916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7145751" y="4265475"/>
            <a:ext cx="752617" cy="41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(Y3)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04191" y="4127481"/>
            <a:ext cx="752617" cy="41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(Y3)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13295" y="4799532"/>
            <a:ext cx="3490558" cy="1485070"/>
            <a:chOff x="0" y="0"/>
            <a:chExt cx="4654077" cy="1980093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19050"/>
              <a:ext cx="4223754" cy="1055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3"/>
                </a:lnSpc>
              </a:pPr>
              <a:r>
                <a:rPr lang="en-US" sz="1927" spc="-67" b="true">
                  <a:solidFill>
                    <a:srgbClr val="E65026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Data: Heart rate, HRV, sleep stages, activity, skin temperature, blood oxygen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207746"/>
              <a:ext cx="4654077" cy="772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2"/>
                </a:lnSpc>
              </a:pP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60% of our target demographic (urban women 25-45) owns an Apple watch. </a:t>
              </a:r>
            </a:p>
            <a:p>
              <a:pPr algn="l">
                <a:lnSpc>
                  <a:spcPts val="1562"/>
                </a:lnSpc>
              </a:pP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HealthKit API free, 4-6 weeks dev time.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099817" y="4799532"/>
            <a:ext cx="3490558" cy="1418395"/>
            <a:chOff x="0" y="0"/>
            <a:chExt cx="4654077" cy="1891193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19050"/>
              <a:ext cx="4223754" cy="7124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3"/>
                </a:lnSpc>
              </a:pPr>
              <a:r>
                <a:rPr lang="en-US" sz="1927" spc="-67" b="true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Data: Heart rate, activity, sleep, stress score 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864846"/>
              <a:ext cx="4654077" cy="1026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2"/>
                </a:lnSpc>
              </a:pP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Essential for Spain and Australia where Android market share is 70% +. Built in parallel with HealthKit, shared codebase, low marginal cost.</a:t>
              </a: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749451" y="4799532"/>
            <a:ext cx="3490558" cy="1866070"/>
            <a:chOff x="0" y="0"/>
            <a:chExt cx="4654077" cy="2488093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19050"/>
              <a:ext cx="4223754" cy="1055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3"/>
                </a:lnSpc>
              </a:pPr>
              <a:r>
                <a:rPr lang="en-US" sz="1927" spc="-67" b="true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Data: Skin temperature trend, HRV, readiness score, sleep stages, resting heart rate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207746"/>
              <a:ext cx="4654077" cy="1280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2"/>
                </a:lnSpc>
              </a:pP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Most clinically relevant wearable for NutriSync. Skin temp data makes cycle prediction automatic. Oura has an investment arm and actively partners with health apps.</a:t>
              </a: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04853" y="4799532"/>
            <a:ext cx="3490558" cy="1932745"/>
            <a:chOff x="0" y="0"/>
            <a:chExt cx="4654077" cy="2576993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19050"/>
              <a:ext cx="4223754" cy="1398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3"/>
                </a:lnSpc>
              </a:pPr>
              <a:r>
                <a:rPr lang="en-US" sz="1927" spc="-67" b="true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Data: Blood glucose fluctuates across cycle, causing energy crashes and cravings 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1550646"/>
              <a:ext cx="4654077" cy="1026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2"/>
                </a:lnSpc>
              </a:pP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Glucose + cycle data = the most complete hormonal nutrition picture. Requires medical device partnership agreements. Series A territory.</a:t>
              </a: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729953" y="8104768"/>
            <a:ext cx="3218027" cy="1451851"/>
            <a:chOff x="0" y="0"/>
            <a:chExt cx="4290703" cy="193580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4290703" cy="1935802"/>
              <a:chOff x="0" y="0"/>
              <a:chExt cx="1608827" cy="72584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608827" cy="725842"/>
              </a:xfrm>
              <a:custGeom>
                <a:avLst/>
                <a:gdLst/>
                <a:ahLst/>
                <a:cxnLst/>
                <a:rect r="r" b="b" t="t" l="l"/>
                <a:pathLst>
                  <a:path h="725842" w="1608827">
                    <a:moveTo>
                      <a:pt x="85371" y="0"/>
                    </a:moveTo>
                    <a:lnTo>
                      <a:pt x="1523457" y="0"/>
                    </a:lnTo>
                    <a:cubicBezTo>
                      <a:pt x="1570606" y="0"/>
                      <a:pt x="1608827" y="38222"/>
                      <a:pt x="1608827" y="85371"/>
                    </a:cubicBezTo>
                    <a:lnTo>
                      <a:pt x="1608827" y="640471"/>
                    </a:lnTo>
                    <a:cubicBezTo>
                      <a:pt x="1608827" y="663112"/>
                      <a:pt x="1599833" y="684827"/>
                      <a:pt x="1583823" y="700837"/>
                    </a:cubicBezTo>
                    <a:cubicBezTo>
                      <a:pt x="1567813" y="716847"/>
                      <a:pt x="1546098" y="725842"/>
                      <a:pt x="1523457" y="725842"/>
                    </a:cubicBezTo>
                    <a:lnTo>
                      <a:pt x="85371" y="725842"/>
                    </a:lnTo>
                    <a:cubicBezTo>
                      <a:pt x="38222" y="725842"/>
                      <a:pt x="0" y="687620"/>
                      <a:pt x="0" y="640471"/>
                    </a:cubicBezTo>
                    <a:lnTo>
                      <a:pt x="0" y="85371"/>
                    </a:lnTo>
                    <a:cubicBezTo>
                      <a:pt x="0" y="38222"/>
                      <a:pt x="38222" y="0"/>
                      <a:pt x="85371" y="0"/>
                    </a:cubicBezTo>
                    <a:close/>
                  </a:path>
                </a:pathLst>
              </a:custGeom>
              <a:solidFill>
                <a:srgbClr val="F4EBD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608827" cy="7639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504886" y="129434"/>
              <a:ext cx="1385729" cy="7774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37"/>
                </a:lnSpc>
                <a:spcBef>
                  <a:spcPct val="0"/>
                </a:spcBef>
              </a:pPr>
              <a:r>
                <a:rPr lang="en-US" b="true" sz="3526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50% 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469192" y="906846"/>
              <a:ext cx="3457116" cy="724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9"/>
                </a:lnSpc>
              </a:pPr>
              <a:r>
                <a:rPr lang="en-US" sz="1843" spc="-103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Churn reduction for wearable connected users 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184526" y="8112920"/>
            <a:ext cx="2863747" cy="1435548"/>
            <a:chOff x="0" y="0"/>
            <a:chExt cx="3818329" cy="1914065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3818329" cy="1914065"/>
              <a:chOff x="0" y="0"/>
              <a:chExt cx="1530186" cy="76705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530186" cy="767057"/>
              </a:xfrm>
              <a:custGeom>
                <a:avLst/>
                <a:gdLst/>
                <a:ahLst/>
                <a:cxnLst/>
                <a:rect r="r" b="b" t="t" l="l"/>
                <a:pathLst>
                  <a:path h="767057" w="1530186">
                    <a:moveTo>
                      <a:pt x="89758" y="0"/>
                    </a:moveTo>
                    <a:lnTo>
                      <a:pt x="1440427" y="0"/>
                    </a:lnTo>
                    <a:cubicBezTo>
                      <a:pt x="1464233" y="0"/>
                      <a:pt x="1487063" y="9457"/>
                      <a:pt x="1503896" y="26290"/>
                    </a:cubicBezTo>
                    <a:cubicBezTo>
                      <a:pt x="1520729" y="43123"/>
                      <a:pt x="1530186" y="65953"/>
                      <a:pt x="1530186" y="89758"/>
                    </a:cubicBezTo>
                    <a:lnTo>
                      <a:pt x="1530186" y="677298"/>
                    </a:lnTo>
                    <a:cubicBezTo>
                      <a:pt x="1530186" y="726870"/>
                      <a:pt x="1490000" y="767057"/>
                      <a:pt x="1440427" y="767057"/>
                    </a:cubicBezTo>
                    <a:lnTo>
                      <a:pt x="89758" y="767057"/>
                    </a:lnTo>
                    <a:cubicBezTo>
                      <a:pt x="40186" y="767057"/>
                      <a:pt x="0" y="726870"/>
                      <a:pt x="0" y="677298"/>
                    </a:cubicBezTo>
                    <a:lnTo>
                      <a:pt x="0" y="89758"/>
                    </a:lnTo>
                    <a:cubicBezTo>
                      <a:pt x="0" y="40186"/>
                      <a:pt x="40186" y="0"/>
                      <a:pt x="89758" y="0"/>
                    </a:cubicBezTo>
                    <a:close/>
                  </a:path>
                </a:pathLst>
              </a:custGeom>
              <a:solidFill>
                <a:srgbClr val="F4EBD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1530186" cy="805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975878" y="107288"/>
              <a:ext cx="1596502" cy="74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b="true" sz="3299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12.4x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417538" y="838959"/>
              <a:ext cx="3076514" cy="686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1"/>
                </a:lnSpc>
              </a:pPr>
              <a:r>
                <a:rPr lang="en-US" sz="1725" spc="-9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LTV:CAC for wearable users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84818" y="8116917"/>
            <a:ext cx="2431684" cy="1427554"/>
            <a:chOff x="0" y="0"/>
            <a:chExt cx="3242245" cy="1903406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3242245" cy="1903406"/>
              <a:chOff x="0" y="0"/>
              <a:chExt cx="1530186" cy="898317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530186" cy="898317"/>
              </a:xfrm>
              <a:custGeom>
                <a:avLst/>
                <a:gdLst/>
                <a:ahLst/>
                <a:cxnLst/>
                <a:rect r="r" b="b" t="t" l="l"/>
                <a:pathLst>
                  <a:path h="898317" w="1530186">
                    <a:moveTo>
                      <a:pt x="89758" y="0"/>
                    </a:moveTo>
                    <a:lnTo>
                      <a:pt x="1440427" y="0"/>
                    </a:lnTo>
                    <a:cubicBezTo>
                      <a:pt x="1464233" y="0"/>
                      <a:pt x="1487063" y="9457"/>
                      <a:pt x="1503896" y="26290"/>
                    </a:cubicBezTo>
                    <a:cubicBezTo>
                      <a:pt x="1520729" y="43123"/>
                      <a:pt x="1530186" y="65953"/>
                      <a:pt x="1530186" y="89758"/>
                    </a:cubicBezTo>
                    <a:lnTo>
                      <a:pt x="1530186" y="808559"/>
                    </a:lnTo>
                    <a:cubicBezTo>
                      <a:pt x="1530186" y="858131"/>
                      <a:pt x="1490000" y="898317"/>
                      <a:pt x="1440427" y="898317"/>
                    </a:cubicBezTo>
                    <a:lnTo>
                      <a:pt x="89758" y="898317"/>
                    </a:lnTo>
                    <a:cubicBezTo>
                      <a:pt x="40186" y="898317"/>
                      <a:pt x="0" y="858131"/>
                      <a:pt x="0" y="808559"/>
                    </a:cubicBezTo>
                    <a:lnTo>
                      <a:pt x="0" y="89758"/>
                    </a:lnTo>
                    <a:cubicBezTo>
                      <a:pt x="0" y="40186"/>
                      <a:pt x="40186" y="0"/>
                      <a:pt x="89758" y="0"/>
                    </a:cubicBezTo>
                    <a:close/>
                  </a:path>
                </a:pathLst>
              </a:custGeom>
              <a:solidFill>
                <a:srgbClr val="F4EBDF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1530186" cy="9364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828644" y="98655"/>
              <a:ext cx="1355632" cy="621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2"/>
                </a:lnSpc>
                <a:spcBef>
                  <a:spcPct val="0"/>
                </a:spcBef>
              </a:pPr>
              <a:r>
                <a:rPr lang="en-US" b="true" sz="2801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€8K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354542" y="729995"/>
              <a:ext cx="2612350" cy="843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99"/>
                </a:lnSpc>
              </a:pPr>
              <a:r>
                <a:rPr lang="en-US" sz="1465" spc="-8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Total HealthKit dev cost payback &lt;2 months from retained users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953047" y="8144806"/>
            <a:ext cx="3605000" cy="1371775"/>
            <a:chOff x="0" y="0"/>
            <a:chExt cx="4806666" cy="1829033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4806666" cy="1829033"/>
              <a:chOff x="0" y="0"/>
              <a:chExt cx="2012053" cy="765627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012053" cy="765627"/>
              </a:xfrm>
              <a:custGeom>
                <a:avLst/>
                <a:gdLst/>
                <a:ahLst/>
                <a:cxnLst/>
                <a:rect r="r" b="b" t="t" l="l"/>
                <a:pathLst>
                  <a:path h="765627" w="2012053">
                    <a:moveTo>
                      <a:pt x="68262" y="0"/>
                    </a:moveTo>
                    <a:lnTo>
                      <a:pt x="1943791" y="0"/>
                    </a:lnTo>
                    <a:cubicBezTo>
                      <a:pt x="1981491" y="0"/>
                      <a:pt x="2012053" y="30562"/>
                      <a:pt x="2012053" y="68262"/>
                    </a:cubicBezTo>
                    <a:lnTo>
                      <a:pt x="2012053" y="697365"/>
                    </a:lnTo>
                    <a:cubicBezTo>
                      <a:pt x="2012053" y="715469"/>
                      <a:pt x="2004862" y="732832"/>
                      <a:pt x="1992060" y="745633"/>
                    </a:cubicBezTo>
                    <a:cubicBezTo>
                      <a:pt x="1979258" y="758435"/>
                      <a:pt x="1961896" y="765627"/>
                      <a:pt x="1943791" y="765627"/>
                    </a:cubicBezTo>
                    <a:lnTo>
                      <a:pt x="68262" y="765627"/>
                    </a:lnTo>
                    <a:cubicBezTo>
                      <a:pt x="50158" y="765627"/>
                      <a:pt x="32795" y="758435"/>
                      <a:pt x="19994" y="745633"/>
                    </a:cubicBezTo>
                    <a:cubicBezTo>
                      <a:pt x="7192" y="732832"/>
                      <a:pt x="0" y="715469"/>
                      <a:pt x="0" y="697365"/>
                    </a:cubicBezTo>
                    <a:lnTo>
                      <a:pt x="0" y="68262"/>
                    </a:lnTo>
                    <a:cubicBezTo>
                      <a:pt x="0" y="50158"/>
                      <a:pt x="7192" y="32795"/>
                      <a:pt x="19994" y="19994"/>
                    </a:cubicBezTo>
                    <a:cubicBezTo>
                      <a:pt x="32795" y="7192"/>
                      <a:pt x="50158" y="0"/>
                      <a:pt x="68262" y="0"/>
                    </a:cubicBezTo>
                    <a:close/>
                  </a:path>
                </a:pathLst>
              </a:custGeom>
              <a:solidFill>
                <a:srgbClr val="F4EBDF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2012053" cy="803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1228474" y="108989"/>
              <a:ext cx="2009741" cy="703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22"/>
                </a:lnSpc>
                <a:spcBef>
                  <a:spcPct val="0"/>
                </a:spcBef>
              </a:pPr>
              <a:r>
                <a:rPr lang="en-US" b="true" sz="3159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FREE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525613" y="812305"/>
              <a:ext cx="3872839" cy="645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6"/>
                </a:lnSpc>
              </a:pPr>
              <a:r>
                <a:rPr lang="en-US" sz="1651" spc="-9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HealthKit, Oura Cloud, Google Fit APIs are all free for developers</a:t>
              </a: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DAHL-PehDWI</dc:identifier>
  <dcterms:modified xsi:type="dcterms:W3CDTF">2011-08-01T06:04:30Z</dcterms:modified>
  <cp:revision>1</cp:revision>
  <dc:title>NutriSync PPT Aug 2026</dc:title>
</cp:coreProperties>
</file>