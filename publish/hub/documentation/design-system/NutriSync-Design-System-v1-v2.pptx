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image" Target="../media/image-13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webp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5276"/>
            <a:ext cx="1428750" cy="15757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337694"/>
            <a:ext cx="10674096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333"/>
              </a:lnSpc>
              <a:buNone/>
            </a:pPr>
            <a:r>
              <a:rPr lang="en-US" sz="6300" spc="-187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NutriSync Design System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914400" y="5105474"/>
            <a:ext cx="11399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D9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Hormonal care made easy — sync your cycle, fuel your mind.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9521503" y="5991225"/>
            <a:ext cx="1756097" cy="3333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02478" y="6076950"/>
            <a:ext cx="14703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V2 ·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THIS IS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0674096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system, three surfaces, reverse-engineered from real code.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847975"/>
            <a:ext cx="3301975" cy="1657350"/>
          </a:xfrm>
          <a:prstGeom prst="roundRect">
            <a:avLst>
              <a:gd name="adj" fmla="val 11494"/>
            </a:avLst>
          </a:prstGeom>
          <a:solidFill>
            <a:srgbClr val="FCF9F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76575"/>
            <a:ext cx="31292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3A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Marketing web (v2)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3362325"/>
            <a:ext cx="293011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nutrisync-web2 PWA: Home, Community (4 doors + joins), Our Story. Fixed Figma frames, everything in rem (1rem = 10px @ frame width).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4444975" y="2847975"/>
            <a:ext cx="3302050" cy="1657350"/>
          </a:xfrm>
          <a:prstGeom prst="roundRect">
            <a:avLst>
              <a:gd name="adj" fmla="val 11494"/>
            </a:avLst>
          </a:prstGeom>
          <a:solidFill>
            <a:srgbClr val="FCF9F5"/>
          </a:solidFill>
          <a:ln/>
        </p:spPr>
      </p:sp>
      <p:sp>
        <p:nvSpPr>
          <p:cNvPr id="8" name="Text 6"/>
          <p:cNvSpPr/>
          <p:nvPr/>
        </p:nvSpPr>
        <p:spPr>
          <a:xfrm>
            <a:off x="4673575" y="3076575"/>
            <a:ext cx="31293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3A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Mobile app (v1)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73575" y="3362325"/>
            <a:ext cx="2930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Expo/React Native. Calendar · NutriLog · Cycle · Movement · Progress; onboarding wizard, settings, meal photo AI, wearables.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7975625" y="2847975"/>
            <a:ext cx="3301975" cy="1657350"/>
          </a:xfrm>
          <a:prstGeom prst="roundRect">
            <a:avLst>
              <a:gd name="adj" fmla="val 11494"/>
            </a:avLst>
          </a:prstGeom>
          <a:solidFill>
            <a:srgbClr val="FCF9F5"/>
          </a:solidFill>
          <a:ln/>
        </p:spPr>
      </p:sp>
      <p:sp>
        <p:nvSpPr>
          <p:cNvPr id="11" name="Text 9"/>
          <p:cNvSpPr/>
          <p:nvPr/>
        </p:nvSpPr>
        <p:spPr>
          <a:xfrm>
            <a:off x="8204225" y="3076575"/>
            <a:ext cx="31292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3A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Also in the repos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04225" y="3362325"/>
            <a:ext cx="29301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v1 webapp, internal ops Hub, legal pages — documented, not rebuilt.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14400" y="4886325"/>
            <a:ext cx="106740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Sources: githubjuanjose/</a:t>
            </a:r>
            <a:pPr algn="l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nutrisync-proyecto </a:t>
            </a:r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(repos/web2, primary) · </a:t>
            </a:r>
            <a:pPr algn="l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nutrisync-web </a:t>
            </a:r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</a:t>
            </a:r>
            <a:pPr algn="l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nutrisync-app </a:t>
            </a:r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(src/theme.ts) · local Figma screen exports — sync state tracked in github.md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6265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TWO BRAND GENERATIONS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71550"/>
            <a:ext cx="5866829" cy="1642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465"/>
              </a:lnSpc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v2 is the default. v1 stays one attribute away.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785765"/>
            <a:ext cx="45129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35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v2 comes from the new marketing site (repos/web2, faithful to Lucía's Figma). v1 is the original app + Design site, preserved as a token theme: wrap any subtree in </a:t>
            </a:r>
            <a:pPr algn="l" indent="0" marL="0">
              <a:lnSpc>
                <a:spcPct val="130909"/>
              </a:lnSpc>
              <a:buNone/>
            </a:pPr>
            <a:r>
              <a:rPr lang="en-US" sz="1350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data-theme="ns-v1"</a:t>
            </a:r>
            <a:pPr algn="l" indent="0" marL="0">
              <a:lnSpc>
                <a:spcPct val="130909"/>
              </a:lnSpc>
              <a:buNone/>
            </a:pPr>
            <a:r>
              <a:rPr lang="en-US" sz="135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00850" y="1833563"/>
            <a:ext cx="4476750" cy="1509713"/>
          </a:xfrm>
          <a:prstGeom prst="roundRect">
            <a:avLst>
              <a:gd name="adj" fmla="val 151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29450" y="2062163"/>
            <a:ext cx="44215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v2 — Web 2.0 brand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7029450" y="23526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3A00"/>
          </a:solidFill>
          <a:ln/>
        </p:spPr>
      </p:sp>
      <p:sp>
        <p:nvSpPr>
          <p:cNvPr id="8" name="Shape 6"/>
          <p:cNvSpPr/>
          <p:nvPr/>
        </p:nvSpPr>
        <p:spPr>
          <a:xfrm>
            <a:off x="7600950" y="23526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52463"/>
          </a:solidFill>
          <a:ln/>
        </p:spPr>
      </p:sp>
      <p:sp>
        <p:nvSpPr>
          <p:cNvPr id="9" name="Shape 7"/>
          <p:cNvSpPr/>
          <p:nvPr/>
        </p:nvSpPr>
        <p:spPr>
          <a:xfrm>
            <a:off x="8172450" y="23526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4885FF"/>
          </a:solidFill>
          <a:ln/>
        </p:spPr>
      </p:sp>
      <p:sp>
        <p:nvSpPr>
          <p:cNvPr id="10" name="Shape 8"/>
          <p:cNvSpPr/>
          <p:nvPr/>
        </p:nvSpPr>
        <p:spPr>
          <a:xfrm>
            <a:off x="8743950" y="23526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C164"/>
          </a:solidFill>
          <a:ln/>
        </p:spPr>
      </p:sp>
      <p:sp>
        <p:nvSpPr>
          <p:cNvPr id="11" name="Shape 9"/>
          <p:cNvSpPr/>
          <p:nvPr/>
        </p:nvSpPr>
        <p:spPr>
          <a:xfrm>
            <a:off x="9315450" y="235267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CF9F5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06000" y="23526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A1818"/>
          </a:solidFill>
          <a:ln/>
        </p:spPr>
      </p:sp>
      <p:sp>
        <p:nvSpPr>
          <p:cNvPr id="13" name="Text 11"/>
          <p:cNvSpPr/>
          <p:nvPr/>
        </p:nvSpPr>
        <p:spPr>
          <a:xfrm>
            <a:off x="7029450" y="2962275"/>
            <a:ext cx="44215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Poppins 400 display · Instrument Sans UI · photography-led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6800850" y="3514725"/>
            <a:ext cx="4476750" cy="1509713"/>
          </a:xfrm>
          <a:prstGeom prst="roundRect">
            <a:avLst>
              <a:gd name="adj" fmla="val 151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29450" y="3743325"/>
            <a:ext cx="44215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v1 — original app &amp; site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029450" y="4033837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84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0950" y="4033837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550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72450" y="4033837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9142"/>
          </a:solidFill>
          <a:ln/>
        </p:spPr>
      </p:sp>
      <p:sp>
        <p:nvSpPr>
          <p:cNvPr id="19" name="Shape 17"/>
          <p:cNvSpPr/>
          <p:nvPr/>
        </p:nvSpPr>
        <p:spPr>
          <a:xfrm>
            <a:off x="8743950" y="4033837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6C6A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15450" y="4033837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5F2EB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6000" y="4033837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241D1A"/>
          </a:solidFill>
          <a:ln/>
        </p:spPr>
      </p:sp>
      <p:sp>
        <p:nvSpPr>
          <p:cNvPr id="22" name="Text 20"/>
          <p:cNvSpPr/>
          <p:nvPr/>
        </p:nvSpPr>
        <p:spPr>
          <a:xfrm>
            <a:off x="7029450" y="4643438"/>
            <a:ext cx="44215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Poppins app UI · Bricolage Grotesque web display · peach washes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COLOR · BRAND — 35 TOKENS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33450"/>
            <a:ext cx="1139952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Coral is the brand.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995487"/>
            <a:ext cx="1553617" cy="1619250"/>
          </a:xfrm>
          <a:prstGeom prst="rect">
            <a:avLst/>
          </a:prstGeom>
          <a:solidFill>
            <a:srgbClr val="FF3A0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181350"/>
            <a:ext cx="14156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--coral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7750" y="3343275"/>
            <a:ext cx="141560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#ff3a00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017" y="1995487"/>
            <a:ext cx="1071042" cy="1619250"/>
          </a:xfrm>
          <a:prstGeom prst="rect">
            <a:avLst/>
          </a:prstGeom>
          <a:solidFill>
            <a:srgbClr val="FF5532"/>
          </a:solidFill>
          <a:ln/>
        </p:spPr>
      </p:sp>
      <p:sp>
        <p:nvSpPr>
          <p:cNvPr id="8" name="Text 6"/>
          <p:cNvSpPr/>
          <p:nvPr/>
        </p:nvSpPr>
        <p:spPr>
          <a:xfrm>
            <a:off x="2601367" y="3181350"/>
            <a:ext cx="880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--coral-3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1367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#ff5532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39058" y="1995487"/>
            <a:ext cx="1071042" cy="1619250"/>
          </a:xfrm>
          <a:prstGeom prst="rect">
            <a:avLst/>
          </a:prstGeom>
          <a:solidFill>
            <a:srgbClr val="EB6246"/>
          </a:solidFill>
          <a:ln/>
        </p:spPr>
      </p:sp>
      <p:sp>
        <p:nvSpPr>
          <p:cNvPr id="11" name="Text 9"/>
          <p:cNvSpPr/>
          <p:nvPr/>
        </p:nvSpPr>
        <p:spPr>
          <a:xfrm>
            <a:off x="3672408" y="3181350"/>
            <a:ext cx="880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--coral-2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72408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#eb6246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0100" y="1995487"/>
            <a:ext cx="1312292" cy="1619250"/>
          </a:xfrm>
          <a:prstGeom prst="rect">
            <a:avLst/>
          </a:prstGeom>
          <a:solidFill>
            <a:srgbClr val="F52463"/>
          </a:solidFill>
          <a:ln/>
        </p:spPr>
      </p:sp>
      <p:sp>
        <p:nvSpPr>
          <p:cNvPr id="14" name="Text 12"/>
          <p:cNvSpPr/>
          <p:nvPr/>
        </p:nvSpPr>
        <p:spPr>
          <a:xfrm>
            <a:off x="4743450" y="3181350"/>
            <a:ext cx="11217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--pink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43450" y="3343275"/>
            <a:ext cx="112179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#f52463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22392" y="1995487"/>
            <a:ext cx="1071042" cy="1619250"/>
          </a:xfrm>
          <a:prstGeom prst="rect">
            <a:avLst/>
          </a:prstGeom>
          <a:solidFill>
            <a:srgbClr val="4885FF"/>
          </a:solidFill>
          <a:ln/>
        </p:spPr>
      </p:sp>
      <p:sp>
        <p:nvSpPr>
          <p:cNvPr id="17" name="Text 15"/>
          <p:cNvSpPr/>
          <p:nvPr/>
        </p:nvSpPr>
        <p:spPr>
          <a:xfrm>
            <a:off x="6055742" y="3181350"/>
            <a:ext cx="880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--blue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55742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#4885ff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93434" y="1995487"/>
            <a:ext cx="1071042" cy="1619250"/>
          </a:xfrm>
          <a:prstGeom prst="rect">
            <a:avLst/>
          </a:prstGeom>
          <a:solidFill>
            <a:srgbClr val="508AFE"/>
          </a:solidFill>
          <a:ln/>
        </p:spPr>
      </p:sp>
      <p:sp>
        <p:nvSpPr>
          <p:cNvPr id="20" name="Text 18"/>
          <p:cNvSpPr/>
          <p:nvPr/>
        </p:nvSpPr>
        <p:spPr>
          <a:xfrm>
            <a:off x="7126784" y="3181350"/>
            <a:ext cx="880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--blue-2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26784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#508afe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4475" y="1995487"/>
            <a:ext cx="1071042" cy="1619250"/>
          </a:xfrm>
          <a:prstGeom prst="rect">
            <a:avLst/>
          </a:prstGeom>
          <a:solidFill>
            <a:srgbClr val="FFC164"/>
          </a:solidFill>
          <a:ln/>
        </p:spPr>
      </p:sp>
      <p:sp>
        <p:nvSpPr>
          <p:cNvPr id="23" name="Text 21"/>
          <p:cNvSpPr/>
          <p:nvPr/>
        </p:nvSpPr>
        <p:spPr>
          <a:xfrm>
            <a:off x="8197825" y="3181350"/>
            <a:ext cx="880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373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--amber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97825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C3732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#ffc164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35517" y="1995487"/>
            <a:ext cx="1071042" cy="1619250"/>
          </a:xfrm>
          <a:prstGeom prst="rect">
            <a:avLst/>
          </a:prstGeom>
          <a:solidFill>
            <a:srgbClr val="FF9055"/>
          </a:solidFill>
          <a:ln/>
        </p:spPr>
      </p:sp>
      <p:sp>
        <p:nvSpPr>
          <p:cNvPr id="26" name="Text 24"/>
          <p:cNvSpPr/>
          <p:nvPr/>
        </p:nvSpPr>
        <p:spPr>
          <a:xfrm>
            <a:off x="9268867" y="3019425"/>
            <a:ext cx="8805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--orange-soft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68867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#ff9055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06558" y="1995487"/>
            <a:ext cx="1071042" cy="1619250"/>
          </a:xfrm>
          <a:prstGeom prst="rect">
            <a:avLst/>
          </a:prstGeom>
          <a:solidFill>
            <a:srgbClr val="6C3732"/>
          </a:solidFill>
          <a:ln/>
        </p:spPr>
      </p:sp>
      <p:sp>
        <p:nvSpPr>
          <p:cNvPr id="29" name="Text 27"/>
          <p:cNvSpPr/>
          <p:nvPr/>
        </p:nvSpPr>
        <p:spPr>
          <a:xfrm>
            <a:off x="10339908" y="3181350"/>
            <a:ext cx="880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--brown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339908" y="3343275"/>
            <a:ext cx="8805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#6c3732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3786188"/>
            <a:ext cx="10363200" cy="1066800"/>
          </a:xfrm>
          <a:prstGeom prst="roundRect">
            <a:avLst>
              <a:gd name="adj" fmla="val 14286"/>
            </a:avLst>
          </a:prstGeom>
          <a:ln w="9525">
            <a:solidFill>
              <a:srgbClr val="F0E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925" y="3795713"/>
            <a:ext cx="1485900" cy="1047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400300" y="3795713"/>
            <a:ext cx="9525" cy="1047750"/>
          </a:xfrm>
          <a:prstGeom prst="rect">
            <a:avLst/>
          </a:prstGeom>
          <a:solidFill>
            <a:srgbClr val="F0EBE4"/>
          </a:solidFill>
          <a:ln/>
        </p:spPr>
      </p:sp>
      <p:sp>
        <p:nvSpPr>
          <p:cNvPr id="34" name="Text 32"/>
          <p:cNvSpPr/>
          <p:nvPr/>
        </p:nvSpPr>
        <p:spPr>
          <a:xfrm>
            <a:off x="1038225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white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038225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24E4B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#ffffff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2409825" y="3795713"/>
            <a:ext cx="1476375" cy="1047750"/>
          </a:xfrm>
          <a:prstGeom prst="rect">
            <a:avLst/>
          </a:prstGeom>
          <a:solidFill>
            <a:srgbClr val="FCF9F5"/>
          </a:solidFill>
          <a:ln/>
        </p:spPr>
      </p:sp>
      <p:sp>
        <p:nvSpPr>
          <p:cNvPr id="37" name="Text 35"/>
          <p:cNvSpPr/>
          <p:nvPr/>
        </p:nvSpPr>
        <p:spPr>
          <a:xfrm>
            <a:off x="2524125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--cream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2524125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24E4B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#fcf9f5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3886200" y="3795713"/>
            <a:ext cx="1476375" cy="1047750"/>
          </a:xfrm>
          <a:prstGeom prst="rect">
            <a:avLst/>
          </a:prstGeom>
          <a:solidFill>
            <a:srgbClr val="F7F2E8"/>
          </a:solidFill>
          <a:ln/>
        </p:spPr>
      </p:sp>
      <p:sp>
        <p:nvSpPr>
          <p:cNvPr id="40" name="Text 38"/>
          <p:cNvSpPr/>
          <p:nvPr/>
        </p:nvSpPr>
        <p:spPr>
          <a:xfrm>
            <a:off x="4000500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--cream-2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4000500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24E4B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#f7f2e8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5362575" y="3795713"/>
            <a:ext cx="1476375" cy="1047750"/>
          </a:xfrm>
          <a:prstGeom prst="rect">
            <a:avLst/>
          </a:prstGeom>
          <a:solidFill>
            <a:srgbClr val="FFF9F8"/>
          </a:solidFill>
          <a:ln/>
        </p:spPr>
      </p:sp>
      <p:sp>
        <p:nvSpPr>
          <p:cNvPr id="43" name="Text 41"/>
          <p:cNvSpPr/>
          <p:nvPr/>
        </p:nvSpPr>
        <p:spPr>
          <a:xfrm>
            <a:off x="5476875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--cream-3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5476875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24E4B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#fff9f8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6838950" y="3795713"/>
            <a:ext cx="1476375" cy="104775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46" name="Text 44"/>
          <p:cNvSpPr/>
          <p:nvPr/>
        </p:nvSpPr>
        <p:spPr>
          <a:xfrm>
            <a:off x="6953250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--grey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6953250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#808080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8315325" y="3795713"/>
            <a:ext cx="1476375" cy="1047750"/>
          </a:xfrm>
          <a:prstGeom prst="rect">
            <a:avLst/>
          </a:prstGeom>
          <a:solidFill>
            <a:srgbClr val="524E4B"/>
          </a:solidFill>
          <a:ln/>
        </p:spPr>
      </p:sp>
      <p:sp>
        <p:nvSpPr>
          <p:cNvPr id="49" name="Text 47"/>
          <p:cNvSpPr/>
          <p:nvPr/>
        </p:nvSpPr>
        <p:spPr>
          <a:xfrm>
            <a:off x="8429625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--ink · body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8429625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#524e4b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9791700" y="3795713"/>
            <a:ext cx="1476375" cy="1047750"/>
          </a:xfrm>
          <a:prstGeom prst="rect">
            <a:avLst/>
          </a:prstGeom>
          <a:solidFill>
            <a:srgbClr val="1A1818"/>
          </a:solidFill>
          <a:ln/>
        </p:spPr>
      </p:sp>
      <p:sp>
        <p:nvSpPr>
          <p:cNvPr id="52" name="Text 50"/>
          <p:cNvSpPr/>
          <p:nvPr/>
        </p:nvSpPr>
        <p:spPr>
          <a:xfrm>
            <a:off x="9906000" y="4448175"/>
            <a:ext cx="1372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--dark · strong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9906000" y="4600575"/>
            <a:ext cx="13725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#1a1818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914400" y="5005388"/>
            <a:ext cx="113995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Semantic aliases ship too: --accent → coral · --accent-alt → pink · --text-body → ink · --surface-cream · --card-pink · --scrim. Shadows are always brown-tinted, never grey.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COLOR · GRADIENTS &amp; PHASES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33450"/>
            <a:ext cx="1139952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Warm glows, four phases.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976438"/>
            <a:ext cx="2948657" cy="190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4200">
                  <a:alpha val="100000"/>
                </a:srgbClr>
              </a:gs>
              <a:gs pos="12000">
                <a:srgbClr val="FA4B17">
                  <a:alpha val="100000"/>
                </a:srgbClr>
              </a:gs>
              <a:gs pos="38000">
                <a:srgbClr val="EF5C46">
                  <a:alpha val="100000"/>
                </a:srgbClr>
              </a:gs>
              <a:gs pos="75000">
                <a:srgbClr val="DE778D">
                  <a:alpha val="100000"/>
                </a:srgbClr>
              </a:gs>
              <a:gs pos="100000">
                <a:srgbClr val="D488BC">
                  <a:alpha val="100000"/>
                </a:srgbClr>
              </a:gs>
            </a:gsLst>
            <a:path path="circle">
              <a:fillToRect l="50000" t="45000" r="50000" b="55000"/>
            </a:path>
          </a:gradFill>
          <a:ln/>
        </p:spPr>
      </p:sp>
      <p:sp>
        <p:nvSpPr>
          <p:cNvPr id="5" name="Text 3"/>
          <p:cNvSpPr/>
          <p:nvPr/>
        </p:nvSpPr>
        <p:spPr>
          <a:xfrm>
            <a:off x="1066800" y="3414713"/>
            <a:ext cx="290824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--grad-hero-bg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066800" y="3590925"/>
            <a:ext cx="29082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radial coral → mauve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15457" y="1976438"/>
            <a:ext cx="2570931" cy="1905000"/>
          </a:xfrm>
          <a:prstGeom prst="roundRect">
            <a:avLst>
              <a:gd name="adj" fmla="val 10000"/>
            </a:avLst>
          </a:prstGeom>
          <a:solidFill>
            <a:srgbClr val="1A1818"/>
          </a:solidFill>
          <a:ln/>
        </p:spPr>
      </p:sp>
      <p:sp>
        <p:nvSpPr>
          <p:cNvPr id="8" name="Text 6"/>
          <p:cNvSpPr/>
          <p:nvPr/>
        </p:nvSpPr>
        <p:spPr>
          <a:xfrm>
            <a:off x="4167857" y="2571750"/>
            <a:ext cx="24927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3000" spc="-90" kern="0" dirty="0">
                <a:gradFill rotWithShape="1">
                  <a:gsLst>
                    <a:gs pos="20000">
                      <a:srgbClr val="FF0BA1">
                        <a:alpha val="100000"/>
                      </a:srgbClr>
                    </a:gs>
                    <a:gs pos="60000">
                      <a:srgbClr val="FF3A00">
                        <a:alpha val="100000"/>
                      </a:srgbClr>
                    </a:gs>
                    <a:gs pos="95000">
                      <a:srgbClr val="FFC164">
                        <a:alpha val="100000"/>
                      </a:srgbClr>
                    </a:gs>
                  </a:gsLst>
                  <a:lin ang="0" scaled="0"/>
                </a:gradFill>
                <a:latin typeface="Poppins" pitchFamily="34" charset="0"/>
                <a:ea typeface="Poppins" pitchFamily="34" charset="-122"/>
                <a:cs typeface="Poppins" pitchFamily="34" charset="-120"/>
              </a:rPr>
              <a:t>moooves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67857" y="3367088"/>
            <a:ext cx="90204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--grad-hero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167857" y="3581400"/>
            <a:ext cx="173075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#ff0ba1 → #ff3a00 → #ffc164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38789" y="1976438"/>
            <a:ext cx="2193206" cy="190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7600">
                  <a:alpha val="100000"/>
                </a:srgbClr>
              </a:gs>
              <a:gs pos="100000">
                <a:srgbClr val="FD400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6891189" y="3414713"/>
            <a:ext cx="207724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--grad-cta · v1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891189" y="3590925"/>
            <a:ext cx="207724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135° #FF7600 → #FD400C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84394" y="1976438"/>
            <a:ext cx="2193206" cy="190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E5936">
                  <a:alpha val="100000"/>
                </a:srgbClr>
              </a:gs>
              <a:gs pos="22000">
                <a:srgbClr val="FFD9CB">
                  <a:alpha val="100000"/>
                </a:srgbClr>
              </a:gs>
              <a:gs pos="50000">
                <a:srgbClr val="FFF6F1">
                  <a:alpha val="100000"/>
                </a:srgbClr>
              </a:gs>
              <a:gs pos="90000">
                <a:srgbClr val="FFFF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9236794" y="3414713"/>
            <a:ext cx="207724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C373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v1 app wash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236794" y="3590925"/>
            <a:ext cx="207724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C3732">
                    <a:alpha val="9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#FE5936 → white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4052888"/>
            <a:ext cx="2590800" cy="1428750"/>
          </a:xfrm>
          <a:prstGeom prst="rect">
            <a:avLst/>
          </a:prstGeom>
          <a:solidFill>
            <a:srgbClr val="E84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005388"/>
            <a:ext cx="2514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Menstrual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6800" y="5191125"/>
            <a:ext cx="25146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--phase-menstrual · #E8472A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05200" y="4052888"/>
            <a:ext cx="2590800" cy="1428750"/>
          </a:xfrm>
          <a:prstGeom prst="rect">
            <a:avLst/>
          </a:prstGeom>
          <a:solidFill>
            <a:srgbClr val="6B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5005388"/>
            <a:ext cx="2514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Follicular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5191125"/>
            <a:ext cx="25146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--phase-follicular · #6B9E6B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4052888"/>
            <a:ext cx="2590800" cy="14287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6248400" y="5005388"/>
            <a:ext cx="2514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Ovulatory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48400" y="5191125"/>
            <a:ext cx="25146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--phase-ovulatory · #D4A017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86800" y="4052888"/>
            <a:ext cx="2590800" cy="142875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7" name="Text 25"/>
          <p:cNvSpPr/>
          <p:nvPr/>
        </p:nvSpPr>
        <p:spPr>
          <a:xfrm>
            <a:off x="8839200" y="5005388"/>
            <a:ext cx="2514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Luteal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39200" y="5191125"/>
            <a:ext cx="25146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--phase-luteal · #7B5EA7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5614988"/>
            <a:ext cx="47199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Cycle phases per developer spec §2.2 — shared by both generations. Status: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73092" y="562927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BE8B"/>
          </a:solidFill>
          <a:ln/>
        </p:spPr>
      </p:sp>
      <p:sp>
        <p:nvSpPr>
          <p:cNvPr id="31" name="Text 29"/>
          <p:cNvSpPr/>
          <p:nvPr/>
        </p:nvSpPr>
        <p:spPr>
          <a:xfrm>
            <a:off x="5782642" y="5614988"/>
            <a:ext cx="1145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--good #3DBE8B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27949" y="562927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FC164"/>
          </a:solidFill>
          <a:ln/>
        </p:spPr>
      </p:sp>
      <p:sp>
        <p:nvSpPr>
          <p:cNvPr id="33" name="Text 31"/>
          <p:cNvSpPr/>
          <p:nvPr/>
        </p:nvSpPr>
        <p:spPr>
          <a:xfrm>
            <a:off x="7137499" y="5614988"/>
            <a:ext cx="990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--warn #ffc164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28248" y="561975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E1D6"/>
          </a:solidFill>
          <a:ln w="9525">
            <a:solidFill>
              <a:srgbClr val="F0EB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6848" y="5614988"/>
            <a:ext cx="1291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--error-soft #ffe1d6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TYPOGRAPHY · DISPLAY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1085850"/>
            <a:ext cx="10674096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333"/>
              </a:lnSpc>
              <a:buNone/>
            </a:pPr>
            <a:r>
              <a:rPr lang="en-US" sz="4800" spc="-144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Nutrition that </a:t>
            </a:r>
            <a:pPr algn="l" indent="0" marL="0">
              <a:lnSpc>
                <a:spcPct val="63333"/>
              </a:lnSpc>
              <a:buNone/>
            </a:pPr>
            <a:r>
              <a:rPr lang="en-US" sz="4800" spc="-144" kern="0" dirty="0">
                <a:solidFill>
                  <a:srgbClr val="F524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moooves </a:t>
            </a:r>
            <a:pPr algn="l" indent="0" marL="0">
              <a:lnSpc>
                <a:spcPct val="63333"/>
              </a:lnSpc>
              <a:buNone/>
            </a:pPr>
            <a:r>
              <a:rPr lang="en-US" sz="4800" spc="-144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your Cycle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67880"/>
            <a:ext cx="1139952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7200" spc="-225" kern="0" dirty="0">
                <a:solidFill>
                  <a:srgbClr val="FF3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phases. 1 body.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889921"/>
            <a:ext cx="1067409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38"/>
              </a:lnSpc>
              <a:buNone/>
            </a:pPr>
            <a:r>
              <a:rPr lang="en-US" sz="112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--f-display: Poppins at </a:t>
            </a:r>
            <a:pPr algn="l" indent="0" marL="0">
              <a:lnSpc>
                <a:spcPct val="137838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weight 400 — never bold </a:t>
            </a:r>
            <a:pPr algn="l" indent="0" marL="0">
              <a:lnSpc>
                <a:spcPct val="137838"/>
              </a:lnSpc>
              <a:buNone/>
            </a:pPr>
            <a:r>
              <a:rPr lang="en-US" sz="112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--fs-hero 70px / 0.9 / −0.03em · --fs-statement 110px / 1.12 / −3px Display is always sentence-case or a short declarative; the playful stretch ("moooves") is part of the voice.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TYPOGRAPHY · UI &amp; ACCENTS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914400" y="1123950"/>
            <a:ext cx="5687318" cy="3743325"/>
          </a:xfrm>
          <a:prstGeom prst="roundRect">
            <a:avLst>
              <a:gd name="adj" fmla="val 5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1100" y="1390650"/>
            <a:ext cx="566931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€4.99</a:t>
            </a:r>
            <a:pPr algn="l" indent="0" marL="0">
              <a:buNone/>
            </a:pPr>
            <a:r>
              <a:rPr lang="en-US" sz="16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/mo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81100" y="2033588"/>
            <a:ext cx="56693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Community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181100" y="2424113"/>
            <a:ext cx="566931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35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Ditch the cycle trackers, get your money's worth.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1100" y="2793653"/>
            <a:ext cx="56693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Phase-synced nutrition &amp; movement guidance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181100" y="3103215"/>
            <a:ext cx="1546250" cy="271463"/>
          </a:xfrm>
          <a:prstGeom prst="roundRect">
            <a:avLst>
              <a:gd name="adj" fmla="val 50000"/>
            </a:avLst>
          </a:prstGeom>
          <a:ln w="9525">
            <a:solidFill>
              <a:srgbClr val="1A18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3975" y="3169890"/>
            <a:ext cx="13367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BADGE 12 / 600 / CAPS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1100" y="3527078"/>
            <a:ext cx="56693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--f-ui: Instrument Sans — price 80/700 · nav 25/600 · body-lg 23 · body 18/1.6 · note 15/500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982718" y="1123950"/>
            <a:ext cx="4294882" cy="17526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11318" y="1352550"/>
            <a:ext cx="422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3A00"/>
                </a:solidFill>
                <a:latin typeface="Reenie Beanie" pitchFamily="34" charset="0"/>
                <a:ea typeface="Reenie Beanie" pitchFamily="34" charset="-122"/>
                <a:cs typeface="Reenie Beanie" pitchFamily="34" charset="-120"/>
              </a:rPr>
              <a:t>Lucía · Mapi · Pilar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7211318" y="1809750"/>
            <a:ext cx="39528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818"/>
                </a:solidFill>
                <a:latin typeface="Glacial Indifference" pitchFamily="34" charset="0"/>
                <a:ea typeface="Glacial Indifference" pitchFamily="34" charset="-122"/>
                <a:cs typeface="Glacial Indifference" pitchFamily="34" charset="-120"/>
              </a:rPr>
              <a:t>Glacial Indifference — Sync your cycle. </a:t>
            </a:r>
            <a:pPr algn="l" indent="0" marL="0">
              <a:buNone/>
            </a:pPr>
            <a:r>
              <a:rPr lang="en-US" sz="1500" b="1" dirty="0">
                <a:solidFill>
                  <a:srgbClr val="1A1818"/>
                </a:solidFill>
                <a:latin typeface="Glacial Indifference" pitchFamily="34" charset="0"/>
                <a:ea typeface="Glacial Indifference" pitchFamily="34" charset="-122"/>
                <a:cs typeface="Glacial Indifference" pitchFamily="34" charset="-120"/>
              </a:rPr>
              <a:t>Fuel your mind.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11318" y="2343150"/>
            <a:ext cx="3952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--f-hand: Reenie Beanie handwritten names · --f-alt: Glacial secondary · --f-inter: Inter internal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982718" y="3048000"/>
            <a:ext cx="4294882" cy="1819275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11318" y="3276600"/>
            <a:ext cx="395281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2250" b="1" dirty="0">
                <a:solidFill>
                  <a:srgbClr val="241D1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Nutrition that moves </a:t>
            </a:r>
            <a:pPr algn="l" indent="0" marL="0">
              <a:lnSpc>
                <a:spcPct val="87500"/>
              </a:lnSpc>
              <a:buNone/>
            </a:pPr>
            <a:r>
              <a:rPr lang="en-US" sz="2250" b="1" dirty="0">
                <a:solidFill>
                  <a:srgbClr val="FD400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with your cycle.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11318" y="3971925"/>
            <a:ext cx="4221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1D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Welcome to </a:t>
            </a:r>
            <a:pPr algn="l" indent="0" marL="0">
              <a:buNone/>
            </a:pPr>
            <a:r>
              <a:rPr lang="en-US" sz="1500" dirty="0">
                <a:solidFill>
                  <a:srgbClr val="FF550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NutriSync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11318" y="4333875"/>
            <a:ext cx="3952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v1: --f-display-v1 Bricolage Grotesque 600–800 web display · --f-app Poppins-only app (h1 38/500, titles 26/700, body 15)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2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1576388" cy="3048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6325" y="762000"/>
            <a:ext cx="1328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 &amp; VOICE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14400" y="1200150"/>
            <a:ext cx="1139952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Direct, warm, a little cheeky.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281238"/>
            <a:ext cx="4991100" cy="523875"/>
          </a:xfrm>
          <a:prstGeom prst="roundRect">
            <a:avLst>
              <a:gd name="adj" fmla="val 2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425" y="2443163"/>
            <a:ext cx="47407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"Ditch the cycle trackers, get your money's worth."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914400" y="2938463"/>
            <a:ext cx="4991100" cy="523875"/>
          </a:xfrm>
          <a:prstGeom prst="roundRect">
            <a:avLst>
              <a:gd name="adj" fmla="val 2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4425" y="3100388"/>
            <a:ext cx="47407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"4 phases. 1 body."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14400" y="3595688"/>
            <a:ext cx="4991100" cy="523875"/>
          </a:xfrm>
          <a:prstGeom prst="roundRect">
            <a:avLst>
              <a:gd name="adj" fmla="val 2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4425" y="3757613"/>
            <a:ext cx="47407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"WE DESERVE BETTER THAN GUESSWORK"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914400" y="4252913"/>
            <a:ext cx="4991100" cy="723900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4425" y="4414838"/>
            <a:ext cx="47407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"You're here because your body deserves better than guesswork."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286500" y="2281238"/>
            <a:ext cx="5140833" cy="2733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9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Speaks to </a:t>
            </a:r>
            <a:pPr algn="l" indent="0" marL="0">
              <a:lnSpc>
                <a:spcPct val="14359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you </a:t>
            </a:r>
            <a:pPr algn="l" indent="0" marL="0">
              <a:lnSpc>
                <a:spcPct val="14359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; the brand is "we". Sentence case everywhere, UPPERCASE only in small badges; app buttons go lowercase ("log today"). Branded compounds: NutriLog, NutriScore, MovementLog. Numbers lead ("500+ on the Waitlist"). No emoji in product copy — custom Nutri characters instead. EN first, ES catalog maintained. A dark disclaimer bar rides along wherever pricing shows: pilot prices are illustrative.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MARKS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33450"/>
            <a:ext cx="1139952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swirl-wings. Wordmark in type.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014538"/>
            <a:ext cx="1868314" cy="2667000"/>
          </a:xfrm>
          <a:prstGeom prst="roundRect">
            <a:avLst>
              <a:gd name="adj" fmla="val 10196"/>
            </a:avLst>
          </a:prstGeom>
          <a:solidFill>
            <a:srgbClr val="FF3A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645" y="2697956"/>
            <a:ext cx="1047750" cy="1047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9813" y="3860006"/>
            <a:ext cx="1293614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logo-swirl.webp · v2 nav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935114" y="2014538"/>
            <a:ext cx="1887438" cy="2667000"/>
          </a:xfrm>
          <a:prstGeom prst="roundRect">
            <a:avLst>
              <a:gd name="adj" fmla="val 10093"/>
            </a:avLst>
          </a:prstGeom>
          <a:solidFill>
            <a:srgbClr val="FCF9F5"/>
          </a:solidFill>
          <a:ln w="9525">
            <a:solidFill>
              <a:srgbClr val="F0EBE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848" y="2697956"/>
            <a:ext cx="949970" cy="1047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0281" y="3860006"/>
            <a:ext cx="1193304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nutri_wings_coral.png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974952" y="2014538"/>
            <a:ext cx="1868388" cy="2667000"/>
          </a:xfrm>
          <a:prstGeom prst="roundRect">
            <a:avLst>
              <a:gd name="adj" fmla="val 10196"/>
            </a:avLst>
          </a:prstGeom>
          <a:solidFill>
            <a:srgbClr val="241D1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61" y="2697956"/>
            <a:ext cx="949970" cy="1047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7125" y="3860006"/>
            <a:ext cx="122024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nutri_wings_white.png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995740" y="2014538"/>
            <a:ext cx="1868388" cy="2667000"/>
          </a:xfrm>
          <a:prstGeom prst="roundRect">
            <a:avLst>
              <a:gd name="adj" fmla="val 10196"/>
            </a:avLst>
          </a:prstGeom>
          <a:solidFill>
            <a:srgbClr val="F5F2E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950" y="2697956"/>
            <a:ext cx="949970" cy="1047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20570" y="3860006"/>
            <a:ext cx="1094854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F383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nutri_wings_ink.png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9016529" y="2014538"/>
            <a:ext cx="2261071" cy="2667000"/>
          </a:xfrm>
          <a:prstGeom prst="roundRect">
            <a:avLst>
              <a:gd name="adj" fmla="val 8425"/>
            </a:avLst>
          </a:prstGeom>
          <a:solidFill>
            <a:srgbClr val="FFFFFF"/>
          </a:solidFill>
          <a:ln w="9525">
            <a:solidFill>
              <a:srgbClr val="F0EBE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375428" y="2574131"/>
            <a:ext cx="1697519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NutriSync</a:t>
            </a:r>
            <a:endParaRPr lang="en-US" sz="2550" dirty="0"/>
          </a:p>
        </p:txBody>
      </p:sp>
      <p:sp>
        <p:nvSpPr>
          <p:cNvPr id="18" name="Text 12"/>
          <p:cNvSpPr/>
          <p:nvPr/>
        </p:nvSpPr>
        <p:spPr>
          <a:xfrm>
            <a:off x="9280178" y="3064669"/>
            <a:ext cx="180997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wordmark = Instrument Sans 700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327" y="3355181"/>
            <a:ext cx="533400" cy="533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64762" y="3983831"/>
            <a:ext cx="840804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icon-512 · PWA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914400" y="4910138"/>
            <a:ext cx="113995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 lockup file exists in the sources — wherever a lockup is needed, set "NutriSync" in Instrument Sans 700 next to the mark. Never redraw the swirl.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ICONOGRAPHY &amp; CHARACTERS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33450"/>
            <a:ext cx="10674096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icon fonts. No emoji. Exported assets and characters.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33675"/>
            <a:ext cx="3914775" cy="1753493"/>
          </a:xfrm>
          <a:prstGeom prst="roundRect">
            <a:avLst>
              <a:gd name="adj" fmla="val 108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23950" y="2943225"/>
            <a:ext cx="384524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SVGs + store chips</a:t>
            </a:r>
            <a:endParaRPr lang="en-US" sz="11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3300413"/>
            <a:ext cx="323850" cy="3238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300413"/>
            <a:ext cx="323850" cy="3238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00250" y="3252788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6C373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3338513"/>
            <a:ext cx="247650" cy="2476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33650" y="3252788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6C3732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5" y="3338513"/>
            <a:ext cx="247650" cy="24765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050" y="3338513"/>
            <a:ext cx="247650" cy="24765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338513"/>
            <a:ext cx="247650" cy="247650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950" y="3338513"/>
            <a:ext cx="247650" cy="2476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23950" y="3786188"/>
            <a:ext cx="360054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Per-icon SVG exports; v1 web used a Lucide-style 24px line set. Store marks live in brown #6c3732 chips, r12.</a:t>
            </a:r>
            <a:endParaRPr lang="en-US" sz="975" dirty="0"/>
          </a:p>
        </p:txBody>
      </p:sp>
      <p:sp>
        <p:nvSpPr>
          <p:cNvPr id="16" name="Shape 7"/>
          <p:cNvSpPr/>
          <p:nvPr/>
        </p:nvSpPr>
        <p:spPr>
          <a:xfrm>
            <a:off x="5057775" y="2733675"/>
            <a:ext cx="6219825" cy="1753493"/>
          </a:xfrm>
          <a:prstGeom prst="roundRect">
            <a:avLst>
              <a:gd name="adj" fmla="val 108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17" name="Text 8"/>
          <p:cNvSpPr/>
          <p:nvPr/>
        </p:nvSpPr>
        <p:spPr>
          <a:xfrm>
            <a:off x="5267325" y="2943225"/>
            <a:ext cx="638079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 mascots &amp; mood emotes (app)</a:t>
            </a:r>
            <a:endParaRPr lang="en-US" sz="1125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325" y="3252788"/>
            <a:ext cx="514350" cy="51435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6925" y="3286125"/>
            <a:ext cx="457200" cy="447675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286125"/>
            <a:ext cx="457200" cy="447675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1825" y="3286125"/>
            <a:ext cx="457200" cy="447675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4275" y="3286125"/>
            <a:ext cx="457200" cy="447675"/>
          </a:xfrm>
          <a:prstGeom prst="rect">
            <a:avLst/>
          </a:prstGeom>
        </p:spPr>
      </p:pic>
      <p:sp>
        <p:nvSpPr>
          <p:cNvPr id="23" name="Shape 9"/>
          <p:cNvSpPr/>
          <p:nvPr/>
        </p:nvSpPr>
        <p:spPr>
          <a:xfrm>
            <a:off x="8143875" y="3300413"/>
            <a:ext cx="9525" cy="419100"/>
          </a:xfrm>
          <a:prstGeom prst="rect">
            <a:avLst/>
          </a:prstGeom>
          <a:solidFill>
            <a:srgbClr val="EADFD5"/>
          </a:solidFill>
          <a:ln/>
        </p:spPr>
      </p:sp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3319463"/>
            <a:ext cx="381000" cy="381000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2050" y="3319463"/>
            <a:ext cx="381000" cy="381000"/>
          </a:xfrm>
          <a:prstGeom prst="rect">
            <a:avLst/>
          </a:prstGeom>
        </p:spPr>
      </p:pic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8300" y="3319463"/>
            <a:ext cx="381000" cy="381000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34550" y="3319463"/>
            <a:ext cx="381000" cy="3810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0800" y="3319463"/>
            <a:ext cx="381000" cy="381000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87050" y="3319463"/>
            <a:ext cx="381000" cy="381000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5267325" y="3881438"/>
            <a:ext cx="597474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Approved PNG set: orb mascot, 4 Nutri avatars (red·pink·yellow·blue), 12 mood emotes, tip characters. Never redraw them.</a:t>
            </a:r>
            <a:endParaRPr lang="en-US" sz="975" dirty="0"/>
          </a:p>
        </p:txBody>
      </p:sp>
      <p:sp>
        <p:nvSpPr>
          <p:cNvPr id="31" name="Shape 11"/>
          <p:cNvSpPr/>
          <p:nvPr/>
        </p:nvSpPr>
        <p:spPr>
          <a:xfrm>
            <a:off x="914400" y="4677668"/>
            <a:ext cx="5067300" cy="993800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32" name="Text 12"/>
          <p:cNvSpPr/>
          <p:nvPr/>
        </p:nvSpPr>
        <p:spPr>
          <a:xfrm>
            <a:off x="1123950" y="4868168"/>
            <a:ext cx="4800219" cy="6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63"/>
              </a:lnSpc>
              <a:buNone/>
            </a:pPr>
            <a:r>
              <a:rPr lang="en-US" sz="97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 tab glyphs </a:t>
            </a:r>
            <a:pPr algn="l" indent="0" marL="0">
              <a:lnSpc>
                <a:spcPct val="134063"/>
              </a:lnSpc>
              <a:buNone/>
            </a:pPr>
            <a:r>
              <a:rPr lang="en-US" sz="975" dirty="0">
                <a:solidFill>
                  <a:srgbClr val="524E4B"/>
                </a:solidFill>
                <a:highlight>
                  <a:srgbClr val="FFFFFF"/>
                </a:highlight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fat-line SVGs with baked captions (Calendar · NutriLog · Cycle · Movement · Progress), active #E4572E / inactive #B8ADA4, 50px in the floating pill bar.</a:t>
            </a:r>
            <a:endParaRPr lang="en-US" sz="975" dirty="0"/>
          </a:p>
        </p:txBody>
      </p:sp>
      <p:sp>
        <p:nvSpPr>
          <p:cNvPr id="33" name="Shape 13"/>
          <p:cNvSpPr/>
          <p:nvPr/>
        </p:nvSpPr>
        <p:spPr>
          <a:xfrm>
            <a:off x="6210300" y="4677668"/>
            <a:ext cx="5067300" cy="993800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34" name="Text 14"/>
          <p:cNvSpPr/>
          <p:nvPr/>
        </p:nvSpPr>
        <p:spPr>
          <a:xfrm>
            <a:off x="6419850" y="4868168"/>
            <a:ext cx="4800219" cy="6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63"/>
              </a:lnSpc>
              <a:buNone/>
            </a:pPr>
            <a:r>
              <a:rPr lang="en-US" sz="97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Imagery </a:t>
            </a:r>
            <a:pPr algn="l" indent="0" marL="0">
              <a:lnSpc>
                <a:spcPct val="134063"/>
              </a:lnSpc>
              <a:buNone/>
            </a:pPr>
            <a:r>
              <a:rPr lang="en-US" sz="975" dirty="0">
                <a:solidFill>
                  <a:srgbClr val="524E4B"/>
                </a:solidFill>
                <a:highlight>
                  <a:srgbClr val="FFFFFF"/>
                </a:highlight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warm, editorial, women-centric photography with coral/pink cast; rgba(0,0,0,.2) scrim under white text; white line illustrations over photos.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SHAPE · RADIUS, SHADOW, SPACING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33450"/>
            <a:ext cx="1139952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Pills everywhere. Warm shadows only.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014538"/>
            <a:ext cx="1047750" cy="1047750"/>
          </a:xfrm>
          <a:prstGeom prst="roundRect">
            <a:avLst>
              <a:gd name="adj" fmla="val 14545"/>
            </a:avLst>
          </a:prstGeom>
          <a:solidFill>
            <a:srgbClr val="FCF9F5"/>
          </a:solidFill>
          <a:ln w="9525">
            <a:solidFill>
              <a:srgbClr val="EEE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075" y="211931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--r-install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33600" y="2014538"/>
            <a:ext cx="1047750" cy="1047750"/>
          </a:xfrm>
          <a:prstGeom prst="roundRect">
            <a:avLst>
              <a:gd name="adj" fmla="val 21818"/>
            </a:avLst>
          </a:prstGeom>
          <a:solidFill>
            <a:srgbClr val="FCF9F5"/>
          </a:solidFill>
          <a:ln w="9525">
            <a:solidFill>
              <a:srgbClr val="EEE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0275" y="211931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--r-card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2800" y="2528888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FF3A00"/>
          </a:solidFill>
          <a:ln/>
        </p:spPr>
      </p:sp>
      <p:sp>
        <p:nvSpPr>
          <p:cNvPr id="9" name="Text 7"/>
          <p:cNvSpPr/>
          <p:nvPr/>
        </p:nvSpPr>
        <p:spPr>
          <a:xfrm>
            <a:off x="3314700" y="2528888"/>
            <a:ext cx="1504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--r-btn 30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4953000" y="2681288"/>
            <a:ext cx="1733550" cy="381000"/>
          </a:xfrm>
          <a:prstGeom prst="roundRect">
            <a:avLst>
              <a:gd name="adj" fmla="val 50000"/>
            </a:avLst>
          </a:prstGeom>
          <a:solidFill>
            <a:srgbClr val="FCF9F5"/>
          </a:solidFill>
          <a:ln w="9525">
            <a:solidFill>
              <a:srgbClr val="EEE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4425" y="2690812"/>
            <a:ext cx="1790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--r-pill 100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2014538"/>
            <a:ext cx="1047750" cy="1047750"/>
          </a:xfrm>
          <a:prstGeom prst="roundRect">
            <a:avLst>
              <a:gd name="adj" fmla="val 20000"/>
            </a:avLst>
          </a:prstGeom>
          <a:solidFill>
            <a:srgbClr val="F5F2EB"/>
          </a:solidFill>
          <a:ln w="9525">
            <a:solidFill>
              <a:srgbClr val="EA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4675" y="211931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v1 app 10·16·22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77200" y="2586038"/>
            <a:ext cx="1238250" cy="476250"/>
          </a:xfrm>
          <a:prstGeom prst="roundRect">
            <a:avLst>
              <a:gd name="adj" fmla="val 50000"/>
            </a:avLst>
          </a:prstGeom>
          <a:solidFill>
            <a:srgbClr val="241D1A"/>
          </a:solidFill>
          <a:ln/>
        </p:spPr>
      </p:sp>
      <p:sp>
        <p:nvSpPr>
          <p:cNvPr id="15" name="Text 13"/>
          <p:cNvSpPr/>
          <p:nvPr/>
        </p:nvSpPr>
        <p:spPr>
          <a:xfrm>
            <a:off x="8039100" y="2586038"/>
            <a:ext cx="1314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--r-app-pill 999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3405188"/>
            <a:ext cx="1809750" cy="104775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6C373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47750" y="4043363"/>
            <a:ext cx="169735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--shadow-card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7750" y="4181475"/>
            <a:ext cx="137502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 8 24 rgba(108,55,50,.18)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52750" y="3405188"/>
            <a:ext cx="1809750" cy="104775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0" dist="228600" dir="5400000">
              <a:srgbClr val="6C3732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86100" y="4043363"/>
            <a:ext cx="169735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--shadow-modal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86100" y="4181475"/>
            <a:ext cx="14844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 24 60 rgba(108,55,50,.25)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91100" y="3405188"/>
            <a:ext cx="180975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114300" dir="5400000">
              <a:srgbClr val="B4402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24450" y="4043363"/>
            <a:ext cx="169735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--shadow-app-card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4450" y="4181475"/>
            <a:ext cx="1405979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 12 24 rgba(180,64,42,.12)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29450" y="3475732"/>
            <a:ext cx="437559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Spacing: app = 4px grid (--sp-1…--sp-20, spacing(n)=n×4, screen padding 20, tab bar h62 r32). Web2 = exact per-frame rem values (1rem = 10px @ 1440/1495/390/393), 80px gutters — never snapped to a 4/8 grid.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COMPONENTS · WEB (V2)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113995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98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primitives from components.css + the Figma gen.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716881"/>
            <a:ext cx="1657648" cy="447675"/>
          </a:xfrm>
          <a:prstGeom prst="roundRect">
            <a:avLst>
              <a:gd name="adj" fmla="val 50000"/>
            </a:avLst>
          </a:prstGeom>
          <a:solidFill>
            <a:srgbClr val="FF3A00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1840706"/>
            <a:ext cx="12004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Download App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2705398" y="1759744"/>
            <a:ext cx="806723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0EB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67323" y="1864519"/>
            <a:ext cx="5590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A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Get App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645471" y="1714500"/>
            <a:ext cx="1437308" cy="452438"/>
          </a:xfrm>
          <a:prstGeom prst="roundRect">
            <a:avLst>
              <a:gd name="adj" fmla="val 50000"/>
            </a:avLst>
          </a:prstGeom>
          <a:solidFill>
            <a:srgbClr val="F52463"/>
          </a:solidFill>
          <a:ln/>
        </p:spPr>
      </p:sp>
      <p:sp>
        <p:nvSpPr>
          <p:cNvPr id="9" name="Text 7"/>
          <p:cNvSpPr/>
          <p:nvPr/>
        </p:nvSpPr>
        <p:spPr>
          <a:xfrm>
            <a:off x="3816921" y="1809750"/>
            <a:ext cx="11706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Join the club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16128" y="1797844"/>
            <a:ext cx="395288" cy="285750"/>
          </a:xfrm>
          <a:prstGeom prst="roundRect">
            <a:avLst>
              <a:gd name="adj" fmla="val 50000"/>
            </a:avLst>
          </a:prstGeom>
          <a:ln w="9525">
            <a:solidFill>
              <a:srgbClr val="8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428" y="1864519"/>
            <a:ext cx="2428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744766" y="1795463"/>
            <a:ext cx="2629719" cy="290513"/>
          </a:xfrm>
          <a:prstGeom prst="roundRect">
            <a:avLst>
              <a:gd name="adj" fmla="val 50000"/>
            </a:avLst>
          </a:prstGeom>
          <a:ln w="9525">
            <a:solidFill>
              <a:srgbClr val="1A18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166" y="1871663"/>
            <a:ext cx="240381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 DESERVE BETTER THAN GUESSWORK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07834" y="1788319"/>
            <a:ext cx="1710333" cy="304800"/>
          </a:xfrm>
          <a:prstGeom prst="roundRect">
            <a:avLst>
              <a:gd name="adj" fmla="val 50000"/>
            </a:avLst>
          </a:prstGeom>
          <a:ln w="9525">
            <a:solidFill>
              <a:srgbClr val="F52463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184" y="1869281"/>
            <a:ext cx="142875" cy="1428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841209" y="1864519"/>
            <a:ext cx="13198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24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@nutrisync.collective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914400" y="2395538"/>
            <a:ext cx="3276600" cy="2227659"/>
          </a:xfrm>
          <a:prstGeom prst="roundRect">
            <a:avLst>
              <a:gd name="adj" fmla="val 10262"/>
            </a:avLst>
          </a:prstGeom>
          <a:solidFill>
            <a:srgbClr val="F52463">
              <a:alpha val="8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123950" y="2605088"/>
            <a:ext cx="31432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Premium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123950" y="2857500"/>
            <a:ext cx="14157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51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€4.99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2449116" y="3062288"/>
            <a:ext cx="45072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/mo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123950" y="3448050"/>
            <a:ext cx="2857500" cy="952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23950" y="3590925"/>
            <a:ext cx="2943225" cy="743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375"/>
              </a:lnSpc>
              <a:buNone/>
            </a:pPr>
            <a:r>
              <a:rPr lang="en-US" sz="975" dirty="0">
                <a:solidFill>
                  <a:srgbClr val="FFFFFF">
                    <a:alpha val="88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Full analytics &amp; scores Phase-synced guidance Wearable integration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400550" y="2395538"/>
            <a:ext cx="33528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4400550" y="2600325"/>
            <a:ext cx="3048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62475" y="2609850"/>
            <a:ext cx="28155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you@example.com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400550" y="3171825"/>
            <a:ext cx="1809750" cy="438150"/>
          </a:xfrm>
          <a:prstGeom prst="roundRect">
            <a:avLst>
              <a:gd name="adj" fmla="val 50000"/>
            </a:avLst>
          </a:prstGeom>
          <a:solidFill>
            <a:srgbClr val="FF9055"/>
          </a:solidFill>
          <a:ln/>
        </p:spPr>
      </p:sp>
      <p:sp>
        <p:nvSpPr>
          <p:cNvPr id="27" name="Text 24"/>
          <p:cNvSpPr/>
          <p:nvPr/>
        </p:nvSpPr>
        <p:spPr>
          <a:xfrm>
            <a:off x="4362450" y="3171825"/>
            <a:ext cx="1885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Community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400550" y="3781425"/>
            <a:ext cx="4336352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125"/>
              </a:lnSpc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WebButton · LangToggle · SectionBadge · NavBarWeb (+mobile) · DisclaimerBar · InstallBanner · SoonModal · JoinForm (tabs/field/submit) · PricingCard · SocialChip · GlassStatCard — each with .d.ts contract + .prompt.md usage.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8820150" y="2395538"/>
            <a:ext cx="2457450" cy="738188"/>
          </a:xfrm>
          <a:prstGeom prst="roundRect">
            <a:avLst>
              <a:gd name="adj" fmla="val 20645"/>
            </a:avLst>
          </a:prstGeom>
          <a:solidFill>
            <a:srgbClr val="1A1818"/>
          </a:solidFill>
          <a:ln/>
        </p:spPr>
      </p:sp>
      <p:sp>
        <p:nvSpPr>
          <p:cNvPr id="30" name="Text 27"/>
          <p:cNvSpPr/>
          <p:nvPr/>
        </p:nvSpPr>
        <p:spPr>
          <a:xfrm>
            <a:off x="8953500" y="2528888"/>
            <a:ext cx="22669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22"/>
              </a:lnSpc>
              <a:buNone/>
            </a:pPr>
            <a:r>
              <a:rPr lang="en-US" sz="825" b="1" dirty="0">
                <a:solidFill>
                  <a:srgbClr val="F5EFE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NutriSync is in pilot. </a:t>
            </a:r>
            <a:pPr algn="l" indent="0" marL="0">
              <a:lnSpc>
                <a:spcPct val="122222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highlight>
                  <a:srgbClr val="1A1818"/>
                </a:highlight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Prices and claims are illustrative — keep this bar wherever pricing shows.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24053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UI KIT · WEB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33450"/>
            <a:ext cx="5494020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whole Home, section by section.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4611052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946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Hero · stats banner · The Problem (silhouettes) · marquee ticker · "4 phases. 1 body." · The App that knows · Daily Guided Experience · Phase-Synced Nutrition · Alignment Score · One Score (glass metrics on blue) · Pricing over photo · Physiology · Get to know us (reels wall) · Weekly Sync footer + waitlist. </a:t>
            </a:r>
            <a:pPr algn="l" indent="0" marL="0">
              <a:lnSpc>
                <a:spcPct val="145946"/>
              </a:lnSpc>
              <a:buNone/>
            </a:pPr>
            <a:r>
              <a:rPr lang="en-US" sz="1125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ui_kits/web/index.html </a:t>
            </a:r>
            <a:pPr algn="l" indent="0" marL="0">
              <a:lnSpc>
                <a:spcPct val="145946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at the production scale rule; </a:t>
            </a:r>
            <a:pPr algn="l" indent="0" marL="0">
              <a:lnSpc>
                <a:spcPct val="145946"/>
              </a:lnSpc>
              <a:buNone/>
            </a:pPr>
            <a:r>
              <a:rPr lang="en-US" sz="1125" b="1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community.html </a:t>
            </a:r>
            <a:pPr algn="l" indent="0" marL="0">
              <a:lnSpc>
                <a:spcPct val="145946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adds the four doors + exact join form.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7715250" y="609600"/>
            <a:ext cx="4762500" cy="5334000"/>
          </a:xfrm>
          <a:prstGeom prst="roundRect">
            <a:avLst>
              <a:gd name="adj" fmla="val 4800"/>
            </a:avLst>
          </a:prstGeom>
          <a:ln/>
          <a:effectLst>
            <a:outerShdw sx="100000" sy="100000" kx="0" ky="0" algn="bl" rotWithShape="0" blurRad="571500" dist="228600" dir="5400000">
              <a:srgbClr val="6C3732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20190" r="20190" t="0" b="0"/>
          <a:stretch/>
        </p:blipFill>
        <p:spPr>
          <a:xfrm>
            <a:off x="7715250" y="609600"/>
            <a:ext cx="4762500" cy="53340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3782467"/>
            <a:ext cx="2000250" cy="3647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EB624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COMPONENTS · APP (V1)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113995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98" kern="0" dirty="0">
                <a:solidFill>
                  <a:srgbClr val="1A18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primitives from the Expo app's src/ui.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6993" y="1714500"/>
            <a:ext cx="1619250" cy="16192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26493" y="3467100"/>
            <a:ext cx="2000250" cy="4953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641E">
                  <a:alpha val="100000"/>
                </a:srgbClr>
              </a:gs>
              <a:gs pos="100000">
                <a:srgbClr val="FF9142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1188393" y="3467100"/>
            <a:ext cx="2076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account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914400" y="4095750"/>
            <a:ext cx="76787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7275" y="4181475"/>
            <a:ext cx="5583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41D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Cramps</a:t>
            </a:r>
            <a:endParaRPr lang="en-US" sz="938" dirty="0"/>
          </a:p>
        </p:txBody>
      </p:sp>
      <p:sp>
        <p:nvSpPr>
          <p:cNvPr id="9" name="Shape 6"/>
          <p:cNvSpPr/>
          <p:nvPr/>
        </p:nvSpPr>
        <p:spPr>
          <a:xfrm>
            <a:off x="1758479" y="4095750"/>
            <a:ext cx="798463" cy="352425"/>
          </a:xfrm>
          <a:prstGeom prst="roundRect">
            <a:avLst>
              <a:gd name="adj" fmla="val 50000"/>
            </a:avLst>
          </a:prstGeom>
          <a:solidFill>
            <a:srgbClr val="E8472A"/>
          </a:solidFill>
          <a:ln/>
        </p:spPr>
      </p:sp>
      <p:sp>
        <p:nvSpPr>
          <p:cNvPr id="10" name="Text 7"/>
          <p:cNvSpPr/>
          <p:nvPr/>
        </p:nvSpPr>
        <p:spPr>
          <a:xfrm>
            <a:off x="1891829" y="4171950"/>
            <a:ext cx="6079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Cravings</a:t>
            </a:r>
            <a:endParaRPr lang="en-US" sz="938" dirty="0"/>
          </a:p>
        </p:txBody>
      </p:sp>
      <p:sp>
        <p:nvSpPr>
          <p:cNvPr id="11" name="Shape 8"/>
          <p:cNvSpPr/>
          <p:nvPr/>
        </p:nvSpPr>
        <p:spPr>
          <a:xfrm>
            <a:off x="2633142" y="4095750"/>
            <a:ext cx="90576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76017" y="4181475"/>
            <a:ext cx="6962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41D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Headache</a:t>
            </a:r>
            <a:endParaRPr lang="en-US" sz="938" dirty="0"/>
          </a:p>
        </p:txBody>
      </p:sp>
      <p:sp>
        <p:nvSpPr>
          <p:cNvPr id="13" name="Text 10"/>
          <p:cNvSpPr/>
          <p:nvPr/>
        </p:nvSpPr>
        <p:spPr>
          <a:xfrm>
            <a:off x="3786560" y="1714500"/>
            <a:ext cx="4654818" cy="268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Rings &amp; data: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PhaseRing (signature dish + hill waves) · ScoreRing · SuccessRing · HormoneChart · StreakDots · AppProgressBar </a:t>
            </a:r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Inputs: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AppButton · ChipGroup · SelectList · WheelSheet (barrel picker) · LanguagePicker </a:t>
            </a:r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Surfaces &amp; feedback: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PeachBg · GraceBanner (grace/drift/care) · WearInvite · LoadingView · BioLock · GoalOrb + carousel </a:t>
            </a:r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A181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Navigation &amp; identity: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24E4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TabBar + NavIcon glyphs · SettingsIcon (17 line icons) · NutriAvatar · NutriOrb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Exact theme.ts values: coral #E8472A · gradient #F5641E→#FF9142 · pill 999 · 4px grid · warm card shadow.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8553450" y="1714500"/>
            <a:ext cx="2724150" cy="1631454"/>
          </a:xfrm>
          <a:prstGeom prst="roundRect">
            <a:avLst>
              <a:gd name="adj" fmla="val 12844"/>
            </a:avLst>
          </a:prstGeom>
          <a:solidFill>
            <a:srgbClr val="FCF1EC"/>
          </a:solidFill>
          <a:ln/>
        </p:spPr>
      </p:sp>
      <p:sp>
        <p:nvSpPr>
          <p:cNvPr id="15" name="Text 12"/>
          <p:cNvSpPr/>
          <p:nvPr/>
        </p:nvSpPr>
        <p:spPr>
          <a:xfrm>
            <a:off x="8724900" y="1885950"/>
            <a:ext cx="2619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4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Tip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8724900" y="2147888"/>
            <a:ext cx="2457450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86"/>
              </a:lnSpc>
              <a:buNone/>
            </a:pPr>
            <a:r>
              <a:rPr lang="en-US" sz="900" dirty="0">
                <a:solidFill>
                  <a:srgbClr val="3F3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Progesterone rises and your metabolism revs up — magnesium and B6 take the edge off PMS.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2793504"/>
            <a:ext cx="381000" cy="371475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0" y="2793504"/>
            <a:ext cx="381000" cy="3810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793504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E5936">
                  <a:alpha val="100000"/>
                </a:srgbClr>
              </a:gs>
              <a:gs pos="34000">
                <a:srgbClr val="FFD9CB">
                  <a:alpha val="100000"/>
                </a:srgbClr>
              </a:gs>
              <a:gs pos="70000">
                <a:srgbClr val="FFF6F1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79078" cy="3048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325" y="762000"/>
            <a:ext cx="8314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UI KIT · APP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914400" y="1162050"/>
            <a:ext cx="649605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flow, playable.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128838"/>
            <a:ext cx="510159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90"/>
              </a:lnSpc>
              <a:buNone/>
            </a:pPr>
            <a:r>
              <a:rPr lang="en-US" sz="1200" b="1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ui_kits/app/index.html </a:t>
            </a:r>
            <a:pPr algn="l" indent="0" marL="0">
              <a:lnSpc>
                <a:spcPct val="143590"/>
              </a:lnSpc>
              <a:buNone/>
            </a:pPr>
            <a:r>
              <a:rPr lang="en-US" sz="1200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walks the real journey: Welcome (peach radial, wings, language pills) → onboarding (progress head, GoalCarousel, chips) → the tab bar app: </a:t>
            </a:r>
            <a:pPr algn="l" indent="0" marL="0">
              <a:lnSpc>
                <a:spcPct val="143590"/>
              </a:lnSpc>
              <a:buNone/>
            </a:pPr>
            <a:r>
              <a:rPr lang="en-US" sz="1200" b="1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Cycle </a:t>
            </a:r>
            <a:pPr algn="l" indent="0" marL="0">
              <a:lnSpc>
                <a:spcPct val="143590"/>
              </a:lnSpc>
              <a:buNone/>
            </a:pPr>
            <a:r>
              <a:rPr lang="en-US" sz="1200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(PhaseRing + GraceBanner + WearInvite), </a:t>
            </a:r>
            <a:pPr algn="l" indent="0" marL="0">
              <a:lnSpc>
                <a:spcPct val="143590"/>
              </a:lnSpc>
              <a:buNone/>
            </a:pPr>
            <a:r>
              <a:rPr lang="en-US" sz="1200" b="1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NutriLog </a:t>
            </a:r>
            <a:pPr algn="l" indent="0" marL="0">
              <a:lnSpc>
                <a:spcPct val="143590"/>
              </a:lnSpc>
              <a:buNone/>
            </a:pPr>
            <a:r>
              <a:rPr lang="en-US" sz="1200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(week strip, Daily Tip / Body Insight, Nutri Basics checklist, TODAY'S MEAL, "log today"), </a:t>
            </a:r>
            <a:pPr algn="l" indent="0" marL="0">
              <a:lnSpc>
                <a:spcPct val="143590"/>
              </a:lnSpc>
              <a:buNone/>
            </a:pPr>
            <a:r>
              <a:rPr lang="en-US" sz="1200" b="1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Progress </a:t>
            </a:r>
            <a:pPr algn="l" indent="0" marL="0">
              <a:lnSpc>
                <a:spcPct val="143590"/>
              </a:lnSpc>
              <a:buNone/>
            </a:pPr>
            <a:r>
              <a:rPr lang="en-US" sz="1200" dirty="0">
                <a:solidFill>
                  <a:srgbClr val="241D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(ScoreRing, streaks, hormone curves). Matched against the Figma screen exports in refs/.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38588"/>
            <a:ext cx="533400" cy="5238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3938588"/>
            <a:ext cx="533400" cy="52387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3938588"/>
            <a:ext cx="533400" cy="5238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0" y="3938588"/>
            <a:ext cx="533400" cy="52387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666750"/>
            <a:ext cx="2952750" cy="507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USING THE SYSTEM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139952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1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stylesheet in, everything on.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033588"/>
            <a:ext cx="5276421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styles.css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tokens + self-hosted fonts (Poppins, Instrument Sans, Inter, Glacial, Reenie Beanie, Bricolage)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tokens/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colors · typography · radius &amp; shadows (v1 via data-theme="ns-v1")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components/web · components/app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30 React primitives with .d.ts + .prompt.md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ui_kits/web · ui_kits/app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full-screen recreations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guidelines/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15 foundation specimen cards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assets/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logos, imagery, mascots, icons, fonts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export/nutrisync.tokens.json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W3C tokens for Figma (Tokens Studio) · </a:t>
            </a:r>
            <a:pPr algn="l" indent="0" marL="0">
              <a:lnSpc>
                <a:spcPct val="162162"/>
              </a:lnSpc>
              <a:buNone/>
            </a:pPr>
            <a:r>
              <a:rPr lang="en-US" sz="1125" b="1" dirty="0">
                <a:solidFill>
                  <a:srgbClr val="FFC16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SKILL.md </a:t>
            </a:r>
            <a:pPr algn="l" indent="0" marL="0">
              <a:lnSpc>
                <a:spcPct val="162162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— agent entrypoint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6494338" y="2033588"/>
            <a:ext cx="4783262" cy="285750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51513" y="2290763"/>
            <a:ext cx="4412409" cy="238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Ground rules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/>
                </a:solidFill>
                <a:highlight>
                  <a:srgbClr val="FFFFFF"/>
                </a:highlight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Coral #ff3a00 leads; pink seconds; blue is a section accent. Poppins display at weight 400, never bold. Pills everywhere (24/30/100). Warm brown shadows only — never grey. Photography warm and editorial; mascots in the app. Keep the pilot disclaimer near any pricing. No emoji, no icon fonts — exported SVG/PNG assets only. Copy exact values; never snap to a 4/8 grid on web.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14400" y="5195888"/>
            <a:ext cx="11399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080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Sources: githubjuanjose/nutrisync-proyecto (repos/web2) · nutrisync-web · nutrisync-app — sync state in github.md · © 2026 NutriSync Collective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2026-09-06T06:22:24Z</dcterms:created>
  <dcterms:modified xsi:type="dcterms:W3CDTF">2026-09-06T06:22:24Z</dcterms:modified>
</cp:coreProperties>
</file>